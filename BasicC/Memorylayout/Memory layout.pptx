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7" r:id="rId2"/>
    <p:sldId id="262" r:id="rId3"/>
    <p:sldId id="256" r:id="rId4"/>
    <p:sldId id="259" r:id="rId5"/>
    <p:sldId id="258" r:id="rId6"/>
    <p:sldId id="260" r:id="rId7"/>
    <p:sldId id="261" r:id="rId8"/>
    <p:sldId id="265" r:id="rId9"/>
    <p:sldId id="263" r:id="rId10"/>
    <p:sldId id="264"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59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6ED2B1-949B-43F1-9127-D2E97EA64BBD}" type="datetimeFigureOut">
              <a:rPr lang="en-US" smtClean="0"/>
              <a:t>6/12/2026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70804A-0B56-406D-9036-BF00A093CC11}" type="slidenum">
              <a:rPr lang="en-US" smtClean="0"/>
              <a:t>‹#›</a:t>
            </a:fld>
            <a:endParaRPr lang="en-US"/>
          </a:p>
        </p:txBody>
      </p:sp>
    </p:spTree>
    <p:extLst>
      <p:ext uri="{BB962C8B-B14F-4D97-AF65-F5344CB8AC3E}">
        <p14:creationId xmlns:p14="http://schemas.microsoft.com/office/powerpoint/2010/main" val="3801950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0804A-0B56-406D-9036-BF00A093CC11}" type="slidenum">
              <a:rPr lang="en-US" smtClean="0"/>
              <a:t>3</a:t>
            </a:fld>
            <a:endParaRPr lang="en-US"/>
          </a:p>
        </p:txBody>
      </p:sp>
    </p:spTree>
    <p:extLst>
      <p:ext uri="{BB962C8B-B14F-4D97-AF65-F5344CB8AC3E}">
        <p14:creationId xmlns:p14="http://schemas.microsoft.com/office/powerpoint/2010/main" val="38997080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0804A-0B56-406D-9036-BF00A093CC11}" type="slidenum">
              <a:rPr lang="en-US" smtClean="0"/>
              <a:t>4</a:t>
            </a:fld>
            <a:endParaRPr lang="en-US"/>
          </a:p>
        </p:txBody>
      </p:sp>
    </p:spTree>
    <p:extLst>
      <p:ext uri="{BB962C8B-B14F-4D97-AF65-F5344CB8AC3E}">
        <p14:creationId xmlns:p14="http://schemas.microsoft.com/office/powerpoint/2010/main" val="5294411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0804A-0B56-406D-9036-BF00A093CC11}" type="slidenum">
              <a:rPr lang="en-US" smtClean="0"/>
              <a:t>5</a:t>
            </a:fld>
            <a:endParaRPr lang="en-US"/>
          </a:p>
        </p:txBody>
      </p:sp>
    </p:spTree>
    <p:extLst>
      <p:ext uri="{BB962C8B-B14F-4D97-AF65-F5344CB8AC3E}">
        <p14:creationId xmlns:p14="http://schemas.microsoft.com/office/powerpoint/2010/main" val="36501705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0804A-0B56-406D-9036-BF00A093CC11}" type="slidenum">
              <a:rPr lang="en-US" smtClean="0"/>
              <a:t>7</a:t>
            </a:fld>
            <a:endParaRPr lang="en-US"/>
          </a:p>
        </p:txBody>
      </p:sp>
    </p:spTree>
    <p:extLst>
      <p:ext uri="{BB962C8B-B14F-4D97-AF65-F5344CB8AC3E}">
        <p14:creationId xmlns:p14="http://schemas.microsoft.com/office/powerpoint/2010/main" val="2632133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0804A-0B56-406D-9036-BF00A093CC11}" type="slidenum">
              <a:rPr lang="en-US" smtClean="0"/>
              <a:t>9</a:t>
            </a:fld>
            <a:endParaRPr lang="en-US"/>
          </a:p>
        </p:txBody>
      </p:sp>
    </p:spTree>
    <p:extLst>
      <p:ext uri="{BB962C8B-B14F-4D97-AF65-F5344CB8AC3E}">
        <p14:creationId xmlns:p14="http://schemas.microsoft.com/office/powerpoint/2010/main" val="27660426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0804A-0B56-406D-9036-BF00A093CC11}" type="slidenum">
              <a:rPr lang="en-US" smtClean="0"/>
              <a:t>10</a:t>
            </a:fld>
            <a:endParaRPr lang="en-US"/>
          </a:p>
        </p:txBody>
      </p:sp>
    </p:spTree>
    <p:extLst>
      <p:ext uri="{BB962C8B-B14F-4D97-AF65-F5344CB8AC3E}">
        <p14:creationId xmlns:p14="http://schemas.microsoft.com/office/powerpoint/2010/main" val="16999886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A7DBB54-11E0-488E-B009-D5743A6C94B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8BFB4F-2DB2-49F6-9A36-2B3C7DCDF4EE}" type="slidenum">
              <a:rPr lang="en-US" smtClean="0"/>
              <a:t>‹#›</a:t>
            </a:fld>
            <a:endParaRPr lang="en-US"/>
          </a:p>
        </p:txBody>
      </p:sp>
    </p:spTree>
    <p:extLst>
      <p:ext uri="{BB962C8B-B14F-4D97-AF65-F5344CB8AC3E}">
        <p14:creationId xmlns:p14="http://schemas.microsoft.com/office/powerpoint/2010/main" val="1279693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A7DBB54-11E0-488E-B009-D5743A6C94B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8BFB4F-2DB2-49F6-9A36-2B3C7DCDF4EE}" type="slidenum">
              <a:rPr lang="en-US" smtClean="0"/>
              <a:t>‹#›</a:t>
            </a:fld>
            <a:endParaRPr lang="en-US"/>
          </a:p>
        </p:txBody>
      </p:sp>
    </p:spTree>
    <p:extLst>
      <p:ext uri="{BB962C8B-B14F-4D97-AF65-F5344CB8AC3E}">
        <p14:creationId xmlns:p14="http://schemas.microsoft.com/office/powerpoint/2010/main" val="583095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A7DBB54-11E0-488E-B009-D5743A6C94B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8BFB4F-2DB2-49F6-9A36-2B3C7DCDF4EE}" type="slidenum">
              <a:rPr lang="en-US" smtClean="0"/>
              <a:t>‹#›</a:t>
            </a:fld>
            <a:endParaRPr lang="en-US"/>
          </a:p>
        </p:txBody>
      </p:sp>
    </p:spTree>
    <p:extLst>
      <p:ext uri="{BB962C8B-B14F-4D97-AF65-F5344CB8AC3E}">
        <p14:creationId xmlns:p14="http://schemas.microsoft.com/office/powerpoint/2010/main" val="2259872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A7DBB54-11E0-488E-B009-D5743A6C94B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8BFB4F-2DB2-49F6-9A36-2B3C7DCDF4EE}" type="slidenum">
              <a:rPr lang="en-US" smtClean="0"/>
              <a:t>‹#›</a:t>
            </a:fld>
            <a:endParaRPr lang="en-US"/>
          </a:p>
        </p:txBody>
      </p:sp>
    </p:spTree>
    <p:extLst>
      <p:ext uri="{BB962C8B-B14F-4D97-AF65-F5344CB8AC3E}">
        <p14:creationId xmlns:p14="http://schemas.microsoft.com/office/powerpoint/2010/main" val="13728538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A7DBB54-11E0-488E-B009-D5743A6C94B4}" type="datetimeFigureOut">
              <a:rPr lang="en-US" smtClean="0"/>
              <a:t>6/12/2026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8BFB4F-2DB2-49F6-9A36-2B3C7DCDF4EE}" type="slidenum">
              <a:rPr lang="en-US" smtClean="0"/>
              <a:t>‹#›</a:t>
            </a:fld>
            <a:endParaRPr lang="en-US"/>
          </a:p>
        </p:txBody>
      </p:sp>
    </p:spTree>
    <p:extLst>
      <p:ext uri="{BB962C8B-B14F-4D97-AF65-F5344CB8AC3E}">
        <p14:creationId xmlns:p14="http://schemas.microsoft.com/office/powerpoint/2010/main" val="3404413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A7DBB54-11E0-488E-B009-D5743A6C94B4}" type="datetimeFigureOut">
              <a:rPr lang="en-US" smtClean="0"/>
              <a:t>6/12/2026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8BFB4F-2DB2-49F6-9A36-2B3C7DCDF4EE}" type="slidenum">
              <a:rPr lang="en-US" smtClean="0"/>
              <a:t>‹#›</a:t>
            </a:fld>
            <a:endParaRPr lang="en-US"/>
          </a:p>
        </p:txBody>
      </p:sp>
    </p:spTree>
    <p:extLst>
      <p:ext uri="{BB962C8B-B14F-4D97-AF65-F5344CB8AC3E}">
        <p14:creationId xmlns:p14="http://schemas.microsoft.com/office/powerpoint/2010/main" val="693986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7DBB54-11E0-488E-B009-D5743A6C94B4}" type="datetimeFigureOut">
              <a:rPr lang="en-US" smtClean="0"/>
              <a:t>6/12/2026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8BFB4F-2DB2-49F6-9A36-2B3C7DCDF4EE}" type="slidenum">
              <a:rPr lang="en-US" smtClean="0"/>
              <a:t>‹#›</a:t>
            </a:fld>
            <a:endParaRPr lang="en-US"/>
          </a:p>
        </p:txBody>
      </p:sp>
    </p:spTree>
    <p:extLst>
      <p:ext uri="{BB962C8B-B14F-4D97-AF65-F5344CB8AC3E}">
        <p14:creationId xmlns:p14="http://schemas.microsoft.com/office/powerpoint/2010/main" val="3912923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A7DBB54-11E0-488E-B009-D5743A6C94B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8BFB4F-2DB2-49F6-9A36-2B3C7DCDF4EE}" type="slidenum">
              <a:rPr lang="en-US" smtClean="0"/>
              <a:t>‹#›</a:t>
            </a:fld>
            <a:endParaRPr lang="en-US"/>
          </a:p>
        </p:txBody>
      </p:sp>
    </p:spTree>
    <p:extLst>
      <p:ext uri="{BB962C8B-B14F-4D97-AF65-F5344CB8AC3E}">
        <p14:creationId xmlns:p14="http://schemas.microsoft.com/office/powerpoint/2010/main" val="3010629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A7DBB54-11E0-488E-B009-D5743A6C94B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8BFB4F-2DB2-49F6-9A36-2B3C7DCDF4EE}" type="slidenum">
              <a:rPr lang="en-US" smtClean="0"/>
              <a:t>‹#›</a:t>
            </a:fld>
            <a:endParaRPr lang="en-US"/>
          </a:p>
        </p:txBody>
      </p:sp>
    </p:spTree>
    <p:extLst>
      <p:ext uri="{BB962C8B-B14F-4D97-AF65-F5344CB8AC3E}">
        <p14:creationId xmlns:p14="http://schemas.microsoft.com/office/powerpoint/2010/main" val="4129694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A7DBB54-11E0-488E-B009-D5743A6C94B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8BFB4F-2DB2-49F6-9A36-2B3C7DCDF4EE}" type="slidenum">
              <a:rPr lang="en-US" smtClean="0"/>
              <a:t>‹#›</a:t>
            </a:fld>
            <a:endParaRPr lang="en-US"/>
          </a:p>
        </p:txBody>
      </p:sp>
    </p:spTree>
    <p:extLst>
      <p:ext uri="{BB962C8B-B14F-4D97-AF65-F5344CB8AC3E}">
        <p14:creationId xmlns:p14="http://schemas.microsoft.com/office/powerpoint/2010/main" val="1531550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A7DBB54-11E0-488E-B009-D5743A6C94B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8BFB4F-2DB2-49F6-9A36-2B3C7DCDF4EE}" type="slidenum">
              <a:rPr lang="en-US" smtClean="0"/>
              <a:t>‹#›</a:t>
            </a:fld>
            <a:endParaRPr lang="en-US"/>
          </a:p>
        </p:txBody>
      </p:sp>
    </p:spTree>
    <p:extLst>
      <p:ext uri="{BB962C8B-B14F-4D97-AF65-F5344CB8AC3E}">
        <p14:creationId xmlns:p14="http://schemas.microsoft.com/office/powerpoint/2010/main" val="1111578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7DBB54-11E0-488E-B009-D5743A6C94B4}" type="datetimeFigureOut">
              <a:rPr lang="en-US" smtClean="0"/>
              <a:t>6/12/2026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BFB4F-2DB2-49F6-9A36-2B3C7DCDF4EE}" type="slidenum">
              <a:rPr lang="en-US" smtClean="0"/>
              <a:t>‹#›</a:t>
            </a:fld>
            <a:endParaRPr lang="en-US"/>
          </a:p>
        </p:txBody>
      </p:sp>
    </p:spTree>
    <p:extLst>
      <p:ext uri="{BB962C8B-B14F-4D97-AF65-F5344CB8AC3E}">
        <p14:creationId xmlns:p14="http://schemas.microsoft.com/office/powerpoint/2010/main" val="38671696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4266" y="1490560"/>
            <a:ext cx="10515600" cy="1325563"/>
          </a:xfrm>
        </p:spPr>
        <p:txBody>
          <a:bodyPr/>
          <a:lstStyle/>
          <a:p>
            <a:r>
              <a:rPr lang="en-US" b="1" dirty="0"/>
              <a:t>Memory layout</a:t>
            </a:r>
          </a:p>
        </p:txBody>
      </p:sp>
      <p:sp>
        <p:nvSpPr>
          <p:cNvPr id="3" name="TextBox 2"/>
          <p:cNvSpPr txBox="1"/>
          <p:nvPr/>
        </p:nvSpPr>
        <p:spPr>
          <a:xfrm>
            <a:off x="1029810" y="3204838"/>
            <a:ext cx="9956572" cy="1477328"/>
          </a:xfrm>
          <a:prstGeom prst="rect">
            <a:avLst/>
          </a:prstGeom>
          <a:noFill/>
        </p:spPr>
        <p:txBody>
          <a:bodyPr wrap="none" rtlCol="0">
            <a:spAutoFit/>
          </a:bodyPr>
          <a:lstStyle/>
          <a:p>
            <a:pPr marL="285750" indent="-285750">
              <a:buFontTx/>
              <a:buChar char="-"/>
            </a:pPr>
            <a:r>
              <a:rPr lang="en-US" dirty="0" err="1" smtClean="0"/>
              <a:t>Còn</a:t>
            </a:r>
            <a:r>
              <a:rPr lang="en-US" dirty="0" smtClean="0"/>
              <a:t> </a:t>
            </a:r>
            <a:r>
              <a:rPr lang="en-US" dirty="0" err="1" smtClean="0"/>
              <a:t>bài</a:t>
            </a:r>
            <a:r>
              <a:rPr lang="en-US" dirty="0" smtClean="0"/>
              <a:t> </a:t>
            </a:r>
            <a:r>
              <a:rPr lang="en-US" dirty="0" err="1" smtClean="0"/>
              <a:t>tập</a:t>
            </a:r>
            <a:r>
              <a:rPr lang="en-US" dirty="0" smtClean="0"/>
              <a:t> </a:t>
            </a:r>
            <a:r>
              <a:rPr lang="en-US" dirty="0" err="1" smtClean="0"/>
              <a:t>bên</a:t>
            </a:r>
            <a:r>
              <a:rPr lang="en-US" dirty="0" smtClean="0"/>
              <a:t> </a:t>
            </a:r>
            <a:r>
              <a:rPr lang="en-US" dirty="0" err="1" smtClean="0"/>
              <a:t>gfg</a:t>
            </a:r>
            <a:endParaRPr lang="en-US" dirty="0"/>
          </a:p>
          <a:p>
            <a:r>
              <a:rPr lang="vi-VN" dirty="0" smtClean="0"/>
              <a:t>- </a:t>
            </a:r>
            <a:r>
              <a:rPr lang="vi-VN" dirty="0"/>
              <a:t>Giải thích các hiện tượng lỗi hay gặp: stack overflow, segmentation fault    </a:t>
            </a:r>
            <a:endParaRPr lang="en-US" dirty="0" smtClean="0"/>
          </a:p>
          <a:p>
            <a:pPr marL="285750" indent="-285750">
              <a:buFontTx/>
              <a:buChar char="-"/>
            </a:pPr>
            <a:r>
              <a:rPr lang="vi-VN" dirty="0" smtClean="0"/>
              <a:t>Build </a:t>
            </a:r>
            <a:r>
              <a:rPr lang="vi-VN" dirty="0"/>
              <a:t>thử một chương trình C bằng gcc, tìm hiểu lệnh để in ra các segment của chương </a:t>
            </a:r>
            <a:r>
              <a:rPr lang="vi-VN" dirty="0" smtClean="0"/>
              <a:t>trình</a:t>
            </a:r>
            <a:endParaRPr lang="en-US" dirty="0" smtClean="0"/>
          </a:p>
          <a:p>
            <a:pPr marL="285750" indent="-285750">
              <a:buFontTx/>
              <a:buChar char="-"/>
            </a:pPr>
            <a:endParaRPr lang="en-US" dirty="0"/>
          </a:p>
          <a:p>
            <a:pPr marL="285750" indent="-285750">
              <a:buFontTx/>
              <a:buChar char="-"/>
            </a:pPr>
            <a:r>
              <a:rPr lang="en-US" dirty="0" err="1" smtClean="0"/>
              <a:t>Vẫn</a:t>
            </a:r>
            <a:r>
              <a:rPr lang="en-US" dirty="0" smtClean="0"/>
              <a:t> </a:t>
            </a:r>
            <a:r>
              <a:rPr lang="en-US" dirty="0" err="1" smtClean="0"/>
              <a:t>chưa</a:t>
            </a:r>
            <a:r>
              <a:rPr lang="en-US" dirty="0" smtClean="0"/>
              <a:t> </a:t>
            </a:r>
            <a:r>
              <a:rPr lang="en-US" dirty="0" err="1" smtClean="0"/>
              <a:t>đũ</a:t>
            </a:r>
            <a:r>
              <a:rPr lang="en-US" dirty="0" smtClean="0"/>
              <a:t> </a:t>
            </a:r>
            <a:r>
              <a:rPr lang="en-US" dirty="0" err="1" smtClean="0"/>
              <a:t>hiểu</a:t>
            </a:r>
            <a:r>
              <a:rPr lang="en-US" dirty="0" smtClean="0"/>
              <a:t> </a:t>
            </a:r>
            <a:r>
              <a:rPr lang="en-US" dirty="0" err="1" smtClean="0"/>
              <a:t>các</a:t>
            </a:r>
            <a:r>
              <a:rPr lang="en-US" dirty="0" smtClean="0"/>
              <a:t> </a:t>
            </a:r>
            <a:r>
              <a:rPr lang="en-US" dirty="0" err="1" smtClean="0"/>
              <a:t>vị</a:t>
            </a:r>
            <a:r>
              <a:rPr lang="en-US" dirty="0" smtClean="0"/>
              <a:t> </a:t>
            </a:r>
            <a:r>
              <a:rPr lang="en-US" dirty="0" err="1" smtClean="0"/>
              <a:t>trí</a:t>
            </a:r>
            <a:r>
              <a:rPr lang="en-US" dirty="0" smtClean="0"/>
              <a:t> </a:t>
            </a:r>
            <a:r>
              <a:rPr lang="en-US" dirty="0" err="1" smtClean="0"/>
              <a:t>lưa</a:t>
            </a:r>
            <a:r>
              <a:rPr lang="en-US" dirty="0" smtClean="0"/>
              <a:t> </a:t>
            </a:r>
            <a:r>
              <a:rPr lang="en-US" dirty="0" err="1" smtClean="0"/>
              <a:t>các</a:t>
            </a:r>
            <a:r>
              <a:rPr lang="en-US" dirty="0" smtClean="0"/>
              <a:t> </a:t>
            </a:r>
            <a:r>
              <a:rPr lang="en-US" dirty="0" err="1" smtClean="0"/>
              <a:t>biến</a:t>
            </a:r>
            <a:r>
              <a:rPr lang="en-US" dirty="0" smtClean="0"/>
              <a:t>, </a:t>
            </a:r>
            <a:r>
              <a:rPr lang="en-US" dirty="0" err="1" smtClean="0"/>
              <a:t>các</a:t>
            </a:r>
            <a:r>
              <a:rPr lang="en-US" dirty="0" smtClean="0"/>
              <a:t> </a:t>
            </a:r>
            <a:r>
              <a:rPr lang="en-US" dirty="0" err="1" smtClean="0"/>
              <a:t>giá</a:t>
            </a:r>
            <a:r>
              <a:rPr lang="en-US" dirty="0" smtClean="0"/>
              <a:t> </a:t>
            </a:r>
            <a:r>
              <a:rPr lang="en-US" dirty="0" err="1" smtClean="0"/>
              <a:t>trị</a:t>
            </a:r>
            <a:r>
              <a:rPr lang="en-US" dirty="0" smtClean="0"/>
              <a:t> const.</a:t>
            </a:r>
            <a:endParaRPr lang="en-US" dirty="0"/>
          </a:p>
        </p:txBody>
      </p:sp>
    </p:spTree>
    <p:extLst>
      <p:ext uri="{BB962C8B-B14F-4D97-AF65-F5344CB8AC3E}">
        <p14:creationId xmlns:p14="http://schemas.microsoft.com/office/powerpoint/2010/main" val="166639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64229" y="496389"/>
            <a:ext cx="1918154" cy="369332"/>
          </a:xfrm>
          <a:prstGeom prst="rect">
            <a:avLst/>
          </a:prstGeom>
          <a:noFill/>
        </p:spPr>
        <p:txBody>
          <a:bodyPr wrap="none" rtlCol="0">
            <a:spAutoFit/>
          </a:bodyPr>
          <a:lstStyle/>
          <a:p>
            <a:r>
              <a:rPr lang="en-US" dirty="0" err="1" smtClean="0"/>
              <a:t>Tìm</a:t>
            </a:r>
            <a:r>
              <a:rPr lang="en-US" dirty="0" smtClean="0"/>
              <a:t> </a:t>
            </a:r>
            <a:r>
              <a:rPr lang="en-US" dirty="0" err="1" smtClean="0"/>
              <a:t>hiểu</a:t>
            </a:r>
            <a:r>
              <a:rPr lang="en-US" dirty="0" smtClean="0"/>
              <a:t> keyword:</a:t>
            </a:r>
            <a:endParaRPr lang="en-US" dirty="0"/>
          </a:p>
        </p:txBody>
      </p:sp>
      <p:sp>
        <p:nvSpPr>
          <p:cNvPr id="5" name="TextBox 4"/>
          <p:cNvSpPr txBox="1"/>
          <p:nvPr/>
        </p:nvSpPr>
        <p:spPr>
          <a:xfrm>
            <a:off x="1193074" y="1140823"/>
            <a:ext cx="1681422" cy="646331"/>
          </a:xfrm>
          <a:prstGeom prst="rect">
            <a:avLst/>
          </a:prstGeom>
          <a:noFill/>
        </p:spPr>
        <p:txBody>
          <a:bodyPr wrap="none" rtlCol="0">
            <a:spAutoFit/>
          </a:bodyPr>
          <a:lstStyle/>
          <a:p>
            <a:r>
              <a:rPr lang="en-US" dirty="0"/>
              <a:t>virtual memory </a:t>
            </a:r>
            <a:br>
              <a:rPr lang="en-US" dirty="0"/>
            </a:br>
            <a:endParaRPr lang="en-US" dirty="0"/>
          </a:p>
        </p:txBody>
      </p:sp>
    </p:spTree>
    <p:extLst>
      <p:ext uri="{BB962C8B-B14F-4D97-AF65-F5344CB8AC3E}">
        <p14:creationId xmlns:p14="http://schemas.microsoft.com/office/powerpoint/2010/main" val="1869869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3"/>
          <a:stretch>
            <a:fillRect/>
          </a:stretch>
        </p:blipFill>
        <p:spPr>
          <a:xfrm>
            <a:off x="2520519" y="219268"/>
            <a:ext cx="5943600" cy="2939415"/>
          </a:xfrm>
          <a:prstGeom prst="rect">
            <a:avLst/>
          </a:prstGeom>
        </p:spPr>
      </p:pic>
      <p:sp>
        <p:nvSpPr>
          <p:cNvPr id="6" name="Rectangle 5"/>
          <p:cNvSpPr/>
          <p:nvPr/>
        </p:nvSpPr>
        <p:spPr>
          <a:xfrm>
            <a:off x="4376691" y="2050742"/>
            <a:ext cx="2050742" cy="6835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1433" y="3288010"/>
            <a:ext cx="6096000" cy="1277786"/>
          </a:xfrm>
          <a:prstGeom prst="rect">
            <a:avLst/>
          </a:prstGeom>
        </p:spPr>
        <p:txBody>
          <a:bodyPr>
            <a:spAutoFit/>
          </a:bodyPr>
          <a:lstStyle/>
          <a:p>
            <a:pPr marL="342900" marR="0" lvl="0" indent="-342900">
              <a:lnSpc>
                <a:spcPct val="107000"/>
              </a:lnSpc>
              <a:spcBef>
                <a:spcPts val="0"/>
              </a:spcBef>
              <a:spcAft>
                <a:spcPts val="0"/>
              </a:spcAft>
              <a:buFont typeface="+mj-lt"/>
              <a:buAutoNum type="arabicPeriod"/>
            </a:pPr>
            <a:r>
              <a:rPr lang="en-US" dirty="0" smtClean="0">
                <a:effectLst/>
                <a:latin typeface="Calibri" panose="020F0502020204030204" pitchFamily="34" charset="0"/>
                <a:ea typeface="Calibri" panose="020F0502020204030204" pitchFamily="34" charset="0"/>
                <a:cs typeface="Times New Roman" panose="02020603050405020304" pitchFamily="18" charset="0"/>
              </a:rPr>
              <a:t>Text:</a:t>
            </a:r>
          </a:p>
          <a:p>
            <a:pPr marL="457200" marR="0">
              <a:lnSpc>
                <a:spcPct val="107000"/>
              </a:lnSpc>
              <a:spcBef>
                <a:spcPts val="0"/>
              </a:spcBef>
              <a:spcAft>
                <a:spcPts val="0"/>
              </a:spcAft>
            </a:pPr>
            <a:r>
              <a:rPr lang="en-US" dirty="0" smtClean="0">
                <a:effectLst/>
                <a:latin typeface="Calibri" panose="020F0502020204030204" pitchFamily="34" charset="0"/>
                <a:ea typeface="Calibri" panose="020F0502020204030204" pitchFamily="34" charset="0"/>
                <a:cs typeface="Times New Roman" panose="02020603050405020304" pitchFamily="18" charset="0"/>
              </a:rPr>
              <a:t>- ở </a:t>
            </a:r>
            <a:r>
              <a:rPr lang="en-US" dirty="0" err="1" smtClean="0">
                <a:effectLst/>
                <a:latin typeface="Calibri" panose="020F0502020204030204" pitchFamily="34" charset="0"/>
                <a:ea typeface="Calibri" panose="020F0502020204030204" pitchFamily="34" charset="0"/>
                <a:cs typeface="Times New Roman" panose="02020603050405020304" pitchFamily="18" charset="0"/>
              </a:rPr>
              <a:t>địa</a:t>
            </a:r>
            <a:r>
              <a:rPr lang="en-US"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dirty="0" err="1" smtClean="0">
                <a:effectLst/>
                <a:latin typeface="Calibri" panose="020F0502020204030204" pitchFamily="34" charset="0"/>
                <a:ea typeface="Calibri" panose="020F0502020204030204" pitchFamily="34" charset="0"/>
                <a:cs typeface="Times New Roman" panose="02020603050405020304" pitchFamily="18" charset="0"/>
              </a:rPr>
              <a:t>chỉ</a:t>
            </a:r>
            <a:r>
              <a:rPr lang="en-US"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dirty="0" err="1" smtClean="0">
                <a:effectLst/>
                <a:latin typeface="Calibri" panose="020F0502020204030204" pitchFamily="34" charset="0"/>
                <a:ea typeface="Calibri" panose="020F0502020204030204" pitchFamily="34" charset="0"/>
                <a:cs typeface="Times New Roman" panose="02020603050405020304" pitchFamily="18" charset="0"/>
              </a:rPr>
              <a:t>thấp</a:t>
            </a:r>
            <a:r>
              <a:rPr lang="en-US"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dirty="0" err="1" smtClean="0">
                <a:effectLst/>
                <a:latin typeface="Calibri" panose="020F0502020204030204" pitchFamily="34" charset="0"/>
                <a:ea typeface="Calibri" panose="020F0502020204030204" pitchFamily="34" charset="0"/>
                <a:cs typeface="Times New Roman" panose="02020603050405020304" pitchFamily="18" charset="0"/>
              </a:rPr>
              <a:t>nhất</a:t>
            </a:r>
            <a:r>
              <a:rPr lang="en-US"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dirty="0" err="1" smtClean="0">
                <a:effectLst/>
                <a:latin typeface="Calibri" panose="020F0502020204030204" pitchFamily="34" charset="0"/>
                <a:ea typeface="Calibri" panose="020F0502020204030204" pitchFamily="34" charset="0"/>
                <a:cs typeface="Times New Roman" panose="02020603050405020304" pitchFamily="18" charset="0"/>
              </a:rPr>
              <a:t>trong</a:t>
            </a:r>
            <a:r>
              <a:rPr lang="en-US"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dirty="0" err="1" smtClean="0">
                <a:effectLst/>
                <a:latin typeface="Calibri" panose="020F0502020204030204" pitchFamily="34" charset="0"/>
                <a:ea typeface="Calibri" panose="020F0502020204030204" pitchFamily="34" charset="0"/>
                <a:cs typeface="Times New Roman" panose="02020603050405020304" pitchFamily="18" charset="0"/>
              </a:rPr>
              <a:t>vùng</a:t>
            </a:r>
            <a:r>
              <a:rPr lang="en-US"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dirty="0" err="1" smtClean="0">
                <a:effectLst/>
                <a:latin typeface="Calibri" panose="020F0502020204030204" pitchFamily="34" charset="0"/>
                <a:ea typeface="Calibri" panose="020F0502020204030204" pitchFamily="34" charset="0"/>
                <a:cs typeface="Times New Roman" panose="02020603050405020304" pitchFamily="18" charset="0"/>
              </a:rPr>
              <a:t>nhớ</a:t>
            </a:r>
            <a:endParaRPr lang="en-US" dirty="0" smtClean="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0"/>
              </a:spcAft>
            </a:pPr>
            <a:r>
              <a:rPr lang="en-US"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dirty="0" err="1" smtClean="0">
                <a:effectLst/>
                <a:latin typeface="Calibri" panose="020F0502020204030204" pitchFamily="34" charset="0"/>
                <a:ea typeface="Calibri" panose="020F0502020204030204" pitchFamily="34" charset="0"/>
                <a:cs typeface="Times New Roman" panose="02020603050405020304" pitchFamily="18" charset="0"/>
              </a:rPr>
              <a:t>chỉ</a:t>
            </a:r>
            <a:r>
              <a:rPr lang="en-US"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dirty="0" err="1" smtClean="0">
                <a:effectLst/>
                <a:latin typeface="Calibri" panose="020F0502020204030204" pitchFamily="34" charset="0"/>
                <a:ea typeface="Calibri" panose="020F0502020204030204" pitchFamily="34" charset="0"/>
                <a:cs typeface="Times New Roman" panose="02020603050405020304" pitchFamily="18" charset="0"/>
              </a:rPr>
              <a:t>có</a:t>
            </a:r>
            <a:r>
              <a:rPr lang="en-US"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dirty="0" err="1" smtClean="0">
                <a:effectLst/>
                <a:latin typeface="Calibri" panose="020F0502020204030204" pitchFamily="34" charset="0"/>
                <a:ea typeface="Calibri" panose="020F0502020204030204" pitchFamily="34" charset="0"/>
                <a:cs typeface="Times New Roman" panose="02020603050405020304" pitchFamily="18" charset="0"/>
              </a:rPr>
              <a:t>thể</a:t>
            </a:r>
            <a:r>
              <a:rPr lang="en-US"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dirty="0" err="1" smtClean="0">
                <a:effectLst/>
                <a:latin typeface="Calibri" panose="020F0502020204030204" pitchFamily="34" charset="0"/>
                <a:ea typeface="Calibri" panose="020F0502020204030204" pitchFamily="34" charset="0"/>
                <a:cs typeface="Times New Roman" panose="02020603050405020304" pitchFamily="18" charset="0"/>
              </a:rPr>
              <a:t>được</a:t>
            </a:r>
            <a:r>
              <a:rPr lang="en-US"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dirty="0" err="1" smtClean="0">
                <a:effectLst/>
                <a:latin typeface="Calibri" panose="020F0502020204030204" pitchFamily="34" charset="0"/>
                <a:ea typeface="Calibri" panose="020F0502020204030204" pitchFamily="34" charset="0"/>
                <a:cs typeface="Times New Roman" panose="02020603050405020304" pitchFamily="18" charset="0"/>
              </a:rPr>
              <a:t>đọc</a:t>
            </a:r>
            <a:r>
              <a:rPr lang="en-US"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dirty="0" err="1" smtClean="0">
                <a:effectLst/>
                <a:latin typeface="Calibri" panose="020F0502020204030204" pitchFamily="34" charset="0"/>
                <a:ea typeface="Calibri" panose="020F0502020204030204" pitchFamily="34" charset="0"/>
                <a:cs typeface="Times New Roman" panose="02020603050405020304" pitchFamily="18" charset="0"/>
              </a:rPr>
              <a:t>trong</a:t>
            </a:r>
            <a:r>
              <a:rPr lang="en-US"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dirty="0" err="1" smtClean="0">
                <a:effectLst/>
                <a:latin typeface="Calibri" panose="020F0502020204030204" pitchFamily="34" charset="0"/>
                <a:ea typeface="Calibri" panose="020F0502020204030204" pitchFamily="34" charset="0"/>
                <a:cs typeface="Times New Roman" panose="02020603050405020304" pitchFamily="18" charset="0"/>
              </a:rPr>
              <a:t>quá</a:t>
            </a:r>
            <a:r>
              <a:rPr lang="en-US"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dirty="0" err="1" smtClean="0">
                <a:effectLst/>
                <a:latin typeface="Calibri" panose="020F0502020204030204" pitchFamily="34" charset="0"/>
                <a:ea typeface="Calibri" panose="020F0502020204030204" pitchFamily="34" charset="0"/>
                <a:cs typeface="Times New Roman" panose="02020603050405020304" pitchFamily="18" charset="0"/>
              </a:rPr>
              <a:t>trình</a:t>
            </a:r>
            <a:r>
              <a:rPr lang="en-US"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dirty="0" err="1" smtClean="0">
                <a:effectLst/>
                <a:latin typeface="Calibri" panose="020F0502020204030204" pitchFamily="34" charset="0"/>
                <a:ea typeface="Calibri" panose="020F0502020204030204" pitchFamily="34" charset="0"/>
                <a:cs typeface="Times New Roman" panose="02020603050405020304" pitchFamily="18" charset="0"/>
              </a:rPr>
              <a:t>thực</a:t>
            </a:r>
            <a:r>
              <a:rPr lang="en-US"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dirty="0" err="1" smtClean="0">
                <a:effectLst/>
                <a:latin typeface="Calibri" panose="020F0502020204030204" pitchFamily="34" charset="0"/>
                <a:ea typeface="Calibri" panose="020F0502020204030204" pitchFamily="34" charset="0"/>
                <a:cs typeface="Times New Roman" panose="02020603050405020304" pitchFamily="18" charset="0"/>
              </a:rPr>
              <a:t>thi</a:t>
            </a:r>
            <a:r>
              <a:rPr lang="en-US" dirty="0" smtClean="0">
                <a:effectLst/>
                <a:latin typeface="Calibri" panose="020F0502020204030204" pitchFamily="34" charset="0"/>
                <a:ea typeface="Calibri" panose="020F0502020204030204" pitchFamily="34" charset="0"/>
                <a:cs typeface="Times New Roman" panose="02020603050405020304" pitchFamily="18" charset="0"/>
              </a:rPr>
              <a:t>.</a:t>
            </a:r>
          </a:p>
          <a:p>
            <a:pPr marL="457200" marR="0">
              <a:lnSpc>
                <a:spcPct val="107000"/>
              </a:lnSpc>
              <a:spcBef>
                <a:spcPts val="0"/>
              </a:spcBef>
              <a:spcAft>
                <a:spcPts val="800"/>
              </a:spcAft>
            </a:pPr>
            <a:r>
              <a:rPr lang="en-US"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dirty="0" err="1" smtClean="0">
                <a:effectLst/>
                <a:latin typeface="Calibri" panose="020F0502020204030204" pitchFamily="34" charset="0"/>
                <a:ea typeface="Calibri" panose="020F0502020204030204" pitchFamily="34" charset="0"/>
                <a:cs typeface="Times New Roman" panose="02020603050405020304" pitchFamily="18" charset="0"/>
              </a:rPr>
              <a:t>chứa</a:t>
            </a:r>
            <a:r>
              <a:rPr lang="en-US"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dirty="0" err="1" smtClean="0">
                <a:effectLst/>
                <a:latin typeface="Calibri" panose="020F0502020204030204" pitchFamily="34" charset="0"/>
                <a:ea typeface="Calibri" panose="020F0502020204030204" pitchFamily="34" charset="0"/>
                <a:cs typeface="Times New Roman" panose="02020603050405020304" pitchFamily="18" charset="0"/>
              </a:rPr>
              <a:t>chuowg</a:t>
            </a:r>
            <a:r>
              <a:rPr lang="en-US"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dirty="0" err="1" smtClean="0">
                <a:effectLst/>
                <a:latin typeface="Calibri" panose="020F0502020204030204" pitchFamily="34" charset="0"/>
                <a:ea typeface="Calibri" panose="020F0502020204030204" pitchFamily="34" charset="0"/>
                <a:cs typeface="Times New Roman" panose="02020603050405020304" pitchFamily="18" charset="0"/>
              </a:rPr>
              <a:t>trình</a:t>
            </a:r>
            <a:r>
              <a:rPr lang="en-US"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t</a:t>
            </a:r>
            <a:r>
              <a:rPr lang="en-US" dirty="0" err="1" smtClean="0">
                <a:effectLst/>
                <a:latin typeface="Calibri" panose="020F0502020204030204" pitchFamily="34" charset="0"/>
                <a:ea typeface="Calibri" panose="020F0502020204030204" pitchFamily="34" charset="0"/>
                <a:cs typeface="Times New Roman" panose="02020603050405020304" pitchFamily="18" charset="0"/>
              </a:rPr>
              <a:t>hực</a:t>
            </a:r>
            <a:r>
              <a:rPr lang="en-US"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dirty="0" err="1" smtClean="0">
                <a:effectLst/>
                <a:latin typeface="Calibri" panose="020F0502020204030204" pitchFamily="34" charset="0"/>
                <a:ea typeface="Calibri" panose="020F0502020204030204" pitchFamily="34" charset="0"/>
                <a:cs typeface="Times New Roman" panose="02020603050405020304" pitchFamily="18" charset="0"/>
              </a:rPr>
              <a:t>thi</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7"/>
          <p:cNvSpPr/>
          <p:nvPr/>
        </p:nvSpPr>
        <p:spPr>
          <a:xfrm>
            <a:off x="590365" y="4780938"/>
            <a:ext cx="6096000" cy="981423"/>
          </a:xfrm>
          <a:prstGeom prst="rect">
            <a:avLst/>
          </a:prstGeom>
        </p:spPr>
        <p:txBody>
          <a:bodyPr>
            <a:spAutoFit/>
          </a:bodyPr>
          <a:lstStyle/>
          <a:p>
            <a:pPr marR="0" lvl="0">
              <a:lnSpc>
                <a:spcPct val="107000"/>
              </a:lnSpc>
              <a:spcBef>
                <a:spcPts val="0"/>
              </a:spcBef>
              <a:spcAft>
                <a:spcPts val="0"/>
              </a:spcAft>
            </a:pPr>
            <a:r>
              <a:rPr lang="en-US" dirty="0" smtClean="0">
                <a:latin typeface="Calibri" panose="020F0502020204030204" pitchFamily="34" charset="0"/>
                <a:ea typeface="Calibri" panose="020F0502020204030204" pitchFamily="34" charset="0"/>
                <a:cs typeface="Times New Roman" panose="02020603050405020304" pitchFamily="18" charset="0"/>
              </a:rPr>
              <a:t>2. Data</a:t>
            </a:r>
          </a:p>
          <a:p>
            <a:pPr marL="285750" marR="0" lvl="0" indent="-285750">
              <a:lnSpc>
                <a:spcPct val="107000"/>
              </a:lnSpc>
              <a:spcBef>
                <a:spcPts val="0"/>
              </a:spcBef>
              <a:spcAft>
                <a:spcPts val="0"/>
              </a:spcAft>
              <a:buFontTx/>
              <a:buChar char="-"/>
            </a:pPr>
            <a:r>
              <a:rPr lang="en-US" dirty="0" err="1" smtClean="0">
                <a:effectLst/>
                <a:latin typeface="Calibri" panose="020F0502020204030204" pitchFamily="34" charset="0"/>
                <a:ea typeface="Calibri" panose="020F0502020204030204" pitchFamily="34" charset="0"/>
                <a:cs typeface="Times New Roman" panose="02020603050405020304" pitchFamily="18" charset="0"/>
              </a:rPr>
              <a:t>chứa</a:t>
            </a:r>
            <a:r>
              <a:rPr lang="en-US"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dirty="0" err="1" smtClean="0">
                <a:effectLst/>
                <a:latin typeface="Calibri" panose="020F0502020204030204" pitchFamily="34" charset="0"/>
                <a:ea typeface="Calibri" panose="020F0502020204030204" pitchFamily="34" charset="0"/>
                <a:cs typeface="Times New Roman" panose="02020603050405020304" pitchFamily="18" charset="0"/>
              </a:rPr>
              <a:t>biến</a:t>
            </a:r>
            <a:r>
              <a:rPr lang="en-US"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dirty="0" err="1" smtClean="0">
                <a:effectLst/>
                <a:latin typeface="Calibri" panose="020F0502020204030204" pitchFamily="34" charset="0"/>
                <a:ea typeface="Calibri" panose="020F0502020204030204" pitchFamily="34" charset="0"/>
                <a:cs typeface="Times New Roman" panose="02020603050405020304" pitchFamily="18" charset="0"/>
              </a:rPr>
              <a:t>toàn</a:t>
            </a:r>
            <a:r>
              <a:rPr lang="en-US"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dirty="0" err="1" smtClean="0">
                <a:effectLst/>
                <a:latin typeface="Calibri" panose="020F0502020204030204" pitchFamily="34" charset="0"/>
                <a:ea typeface="Calibri" panose="020F0502020204030204" pitchFamily="34" charset="0"/>
                <a:cs typeface="Times New Roman" panose="02020603050405020304" pitchFamily="18" charset="0"/>
              </a:rPr>
              <a:t>cục</a:t>
            </a:r>
            <a:r>
              <a:rPr lang="en-US"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dirty="0" err="1" smtClean="0">
                <a:effectLst/>
                <a:latin typeface="Calibri" panose="020F0502020204030204" pitchFamily="34" charset="0"/>
                <a:ea typeface="Calibri" panose="020F0502020204030204" pitchFamily="34" charset="0"/>
                <a:cs typeface="Times New Roman" panose="02020603050405020304" pitchFamily="18" charset="0"/>
              </a:rPr>
              <a:t>và</a:t>
            </a:r>
            <a:r>
              <a:rPr lang="en-US"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dirty="0" err="1" smtClean="0">
                <a:effectLst/>
                <a:latin typeface="Calibri" panose="020F0502020204030204" pitchFamily="34" charset="0"/>
                <a:ea typeface="Calibri" panose="020F0502020204030204" pitchFamily="34" charset="0"/>
                <a:cs typeface="Times New Roman" panose="02020603050405020304" pitchFamily="18" charset="0"/>
              </a:rPr>
              <a:t>biến</a:t>
            </a:r>
            <a:r>
              <a:rPr lang="en-US" dirty="0" smtClean="0">
                <a:effectLst/>
                <a:latin typeface="Calibri" panose="020F0502020204030204" pitchFamily="34" charset="0"/>
                <a:ea typeface="Calibri" panose="020F0502020204030204" pitchFamily="34" charset="0"/>
                <a:cs typeface="Times New Roman" panose="02020603050405020304" pitchFamily="18" charset="0"/>
              </a:rPr>
              <a:t> static</a:t>
            </a:r>
          </a:p>
          <a:p>
            <a:pPr marL="285750" marR="0" lvl="0" indent="-285750">
              <a:lnSpc>
                <a:spcPct val="107000"/>
              </a:lnSpc>
              <a:spcBef>
                <a:spcPts val="0"/>
              </a:spcBef>
              <a:spcAft>
                <a:spcPts val="0"/>
              </a:spcAft>
              <a:buFontTx/>
              <a:buChar char="-"/>
            </a:pPr>
            <a:r>
              <a:rPr lang="en-US" dirty="0" err="1" smtClean="0">
                <a:latin typeface="Calibri" panose="020F0502020204030204" pitchFamily="34" charset="0"/>
                <a:ea typeface="Calibri" panose="020F0502020204030204" pitchFamily="34" charset="0"/>
                <a:cs typeface="Times New Roman" panose="02020603050405020304" pitchFamily="18" charset="0"/>
              </a:rPr>
              <a:t>Kích</a:t>
            </a:r>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dirty="0" err="1" smtClean="0">
                <a:latin typeface="Calibri" panose="020F0502020204030204" pitchFamily="34" charset="0"/>
                <a:ea typeface="Calibri" panose="020F0502020204030204" pitchFamily="34" charset="0"/>
                <a:cs typeface="Times New Roman" panose="02020603050405020304" pitchFamily="18" charset="0"/>
              </a:rPr>
              <a:t>thước</a:t>
            </a:r>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dirty="0" err="1" smtClean="0">
                <a:latin typeface="Calibri" panose="020F0502020204030204" pitchFamily="34" charset="0"/>
                <a:ea typeface="Calibri" panose="020F0502020204030204" pitchFamily="34" charset="0"/>
                <a:cs typeface="Times New Roman" panose="02020603050405020304" pitchFamily="18" charset="0"/>
              </a:rPr>
              <a:t>tùy</a:t>
            </a:r>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dirty="0" err="1" smtClean="0">
                <a:latin typeface="Calibri" panose="020F0502020204030204" pitchFamily="34" charset="0"/>
                <a:ea typeface="Calibri" panose="020F0502020204030204" pitchFamily="34" charset="0"/>
                <a:cs typeface="Times New Roman" panose="02020603050405020304" pitchFamily="18" charset="0"/>
              </a:rPr>
              <a:t>thuộc</a:t>
            </a:r>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dirty="0" err="1" smtClean="0">
                <a:latin typeface="Calibri" panose="020F0502020204030204" pitchFamily="34" charset="0"/>
                <a:ea typeface="Calibri" panose="020F0502020204030204" pitchFamily="34" charset="0"/>
                <a:cs typeface="Times New Roman" panose="02020603050405020304" pitchFamily="18" charset="0"/>
              </a:rPr>
              <a:t>và</a:t>
            </a:r>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dirty="0" err="1" smtClean="0">
                <a:latin typeface="Calibri" panose="020F0502020204030204" pitchFamily="34" charset="0"/>
                <a:ea typeface="Calibri" panose="020F0502020204030204" pitchFamily="34" charset="0"/>
                <a:cs typeface="Times New Roman" panose="02020603050405020304" pitchFamily="18" charset="0"/>
              </a:rPr>
              <a:t>kiểu</a:t>
            </a:r>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dirty="0" err="1" smtClean="0">
                <a:latin typeface="Calibri" panose="020F0502020204030204" pitchFamily="34" charset="0"/>
                <a:ea typeface="Calibri" panose="020F0502020204030204" pitchFamily="34" charset="0"/>
                <a:cs typeface="Times New Roman" panose="02020603050405020304" pitchFamily="18" charset="0"/>
              </a:rPr>
              <a:t>dữa</a:t>
            </a:r>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dirty="0" err="1" smtClean="0">
                <a:latin typeface="Calibri" panose="020F0502020204030204" pitchFamily="34" charset="0"/>
                <a:ea typeface="Calibri" panose="020F0502020204030204" pitchFamily="34" charset="0"/>
                <a:cs typeface="Times New Roman" panose="02020603050405020304" pitchFamily="18" charset="0"/>
              </a:rPr>
              <a:t>liệu</a:t>
            </a:r>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dirty="0" err="1" smtClean="0">
                <a:latin typeface="Calibri" panose="020F0502020204030204" pitchFamily="34" charset="0"/>
                <a:ea typeface="Calibri" panose="020F0502020204030204" pitchFamily="34" charset="0"/>
                <a:cs typeface="Times New Roman" panose="02020603050405020304" pitchFamily="18" charset="0"/>
              </a:rPr>
              <a:t>và</a:t>
            </a:r>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dirty="0" err="1" smtClean="0">
                <a:latin typeface="Calibri" panose="020F0502020204030204" pitchFamily="34" charset="0"/>
                <a:ea typeface="Calibri" panose="020F0502020204030204" pitchFamily="34" charset="0"/>
                <a:cs typeface="Times New Roman" panose="02020603050405020304" pitchFamily="18" charset="0"/>
              </a:rPr>
              <a:t>số</a:t>
            </a:r>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dirty="0" err="1" smtClean="0">
                <a:latin typeface="Calibri" panose="020F0502020204030204" pitchFamily="34" charset="0"/>
                <a:ea typeface="Calibri" panose="020F0502020204030204" pitchFamily="34" charset="0"/>
                <a:cs typeface="Times New Roman" panose="02020603050405020304" pitchFamily="18" charset="0"/>
              </a:rPr>
              <a:t>lượng</a:t>
            </a:r>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dirty="0" err="1" smtClean="0">
                <a:latin typeface="Calibri" panose="020F0502020204030204" pitchFamily="34" charset="0"/>
                <a:ea typeface="Calibri" panose="020F0502020204030204" pitchFamily="34" charset="0"/>
                <a:cs typeface="Times New Roman" panose="02020603050405020304" pitchFamily="18" charset="0"/>
              </a:rPr>
              <a:t>biến</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p:cNvSpPr txBox="1"/>
          <p:nvPr/>
        </p:nvSpPr>
        <p:spPr>
          <a:xfrm>
            <a:off x="3756137" y="2107551"/>
            <a:ext cx="633956" cy="369332"/>
          </a:xfrm>
          <a:prstGeom prst="rect">
            <a:avLst/>
          </a:prstGeom>
          <a:noFill/>
        </p:spPr>
        <p:txBody>
          <a:bodyPr wrap="none" rtlCol="0">
            <a:spAutoFit/>
          </a:bodyPr>
          <a:lstStyle/>
          <a:p>
            <a:r>
              <a:rPr lang="en-US" b="1" dirty="0" smtClean="0">
                <a:solidFill>
                  <a:srgbClr val="FF0000"/>
                </a:solidFill>
              </a:rPr>
              <a:t>Data</a:t>
            </a:r>
            <a:endParaRPr lang="en-US" b="1" dirty="0">
              <a:solidFill>
                <a:srgbClr val="FF0000"/>
              </a:solidFill>
            </a:endParaRPr>
          </a:p>
        </p:txBody>
      </p:sp>
      <p:sp>
        <p:nvSpPr>
          <p:cNvPr id="10" name="TextBox 9"/>
          <p:cNvSpPr txBox="1"/>
          <p:nvPr/>
        </p:nvSpPr>
        <p:spPr>
          <a:xfrm>
            <a:off x="6427433" y="4971495"/>
            <a:ext cx="5929508" cy="369332"/>
          </a:xfrm>
          <a:prstGeom prst="rect">
            <a:avLst/>
          </a:prstGeom>
          <a:noFill/>
        </p:spPr>
        <p:txBody>
          <a:bodyPr wrap="none" rtlCol="0">
            <a:spAutoFit/>
          </a:bodyPr>
          <a:lstStyle/>
          <a:p>
            <a:r>
              <a:rPr lang="en-US" dirty="0" smtClean="0"/>
              <a:t>A. </a:t>
            </a:r>
            <a:r>
              <a:rPr lang="en-US" dirty="0" err="1" smtClean="0"/>
              <a:t>Initialozed</a:t>
            </a:r>
            <a:r>
              <a:rPr lang="en-US" dirty="0" smtClean="0"/>
              <a:t> data: </a:t>
            </a:r>
            <a:r>
              <a:rPr lang="en-US" dirty="0" err="1" smtClean="0"/>
              <a:t>biến</a:t>
            </a:r>
            <a:r>
              <a:rPr lang="en-US" dirty="0" smtClean="0"/>
              <a:t> </a:t>
            </a:r>
            <a:r>
              <a:rPr lang="en-US" dirty="0" err="1" smtClean="0"/>
              <a:t>toàn</a:t>
            </a:r>
            <a:r>
              <a:rPr lang="en-US" dirty="0" smtClean="0"/>
              <a:t> </a:t>
            </a:r>
            <a:r>
              <a:rPr lang="en-US" dirty="0" err="1" smtClean="0"/>
              <a:t>cục</a:t>
            </a:r>
            <a:r>
              <a:rPr lang="en-US" dirty="0" smtClean="0"/>
              <a:t>, </a:t>
            </a:r>
            <a:r>
              <a:rPr lang="en-US" dirty="0" err="1" smtClean="0"/>
              <a:t>bến</a:t>
            </a:r>
            <a:r>
              <a:rPr lang="en-US" dirty="0" smtClean="0"/>
              <a:t> static </a:t>
            </a:r>
            <a:r>
              <a:rPr lang="en-US" dirty="0" err="1" smtClean="0"/>
              <a:t>đã</a:t>
            </a:r>
            <a:r>
              <a:rPr lang="en-US" dirty="0" smtClean="0"/>
              <a:t> </a:t>
            </a:r>
            <a:r>
              <a:rPr lang="en-US" dirty="0" err="1" smtClean="0"/>
              <a:t>được</a:t>
            </a:r>
            <a:r>
              <a:rPr lang="en-US" dirty="0" smtClean="0"/>
              <a:t> </a:t>
            </a:r>
            <a:r>
              <a:rPr lang="en-US" dirty="0" err="1" smtClean="0"/>
              <a:t>khởi</a:t>
            </a:r>
            <a:r>
              <a:rPr lang="en-US" dirty="0" smtClean="0"/>
              <a:t> </a:t>
            </a:r>
            <a:r>
              <a:rPr lang="en-US" dirty="0" err="1" smtClean="0"/>
              <a:t>tạo</a:t>
            </a:r>
            <a:endParaRPr lang="en-US" dirty="0"/>
          </a:p>
        </p:txBody>
      </p:sp>
      <p:sp>
        <p:nvSpPr>
          <p:cNvPr id="11" name="TextBox 10"/>
          <p:cNvSpPr txBox="1"/>
          <p:nvPr/>
        </p:nvSpPr>
        <p:spPr>
          <a:xfrm>
            <a:off x="6427432" y="5323150"/>
            <a:ext cx="5921621" cy="1200329"/>
          </a:xfrm>
          <a:prstGeom prst="rect">
            <a:avLst/>
          </a:prstGeom>
          <a:noFill/>
        </p:spPr>
        <p:txBody>
          <a:bodyPr wrap="none" rtlCol="0">
            <a:spAutoFit/>
          </a:bodyPr>
          <a:lstStyle/>
          <a:p>
            <a:r>
              <a:rPr lang="en-US" dirty="0"/>
              <a:t>B</a:t>
            </a:r>
            <a:r>
              <a:rPr lang="en-US" dirty="0" smtClean="0"/>
              <a:t>. </a:t>
            </a:r>
            <a:r>
              <a:rPr lang="en-US" dirty="0" err="1" smtClean="0"/>
              <a:t>Unitialized</a:t>
            </a:r>
            <a:r>
              <a:rPr lang="en-US" dirty="0" smtClean="0"/>
              <a:t> data(BSS): </a:t>
            </a:r>
          </a:p>
          <a:p>
            <a:pPr marL="285750" indent="-285750">
              <a:buFontTx/>
              <a:buChar char="-"/>
            </a:pPr>
            <a:r>
              <a:rPr lang="en-US" dirty="0" err="1" smtClean="0"/>
              <a:t>biến</a:t>
            </a:r>
            <a:r>
              <a:rPr lang="en-US" dirty="0" smtClean="0"/>
              <a:t> </a:t>
            </a:r>
            <a:r>
              <a:rPr lang="en-US" dirty="0" err="1" smtClean="0"/>
              <a:t>toàn</a:t>
            </a:r>
            <a:r>
              <a:rPr lang="en-US" dirty="0" smtClean="0"/>
              <a:t> </a:t>
            </a:r>
            <a:r>
              <a:rPr lang="en-US" dirty="0" err="1" smtClean="0"/>
              <a:t>cục</a:t>
            </a:r>
            <a:r>
              <a:rPr lang="en-US" dirty="0"/>
              <a:t> </a:t>
            </a:r>
            <a:r>
              <a:rPr lang="en-US" dirty="0" err="1" smtClean="0"/>
              <a:t>và</a:t>
            </a:r>
            <a:r>
              <a:rPr lang="en-US" dirty="0" smtClean="0"/>
              <a:t> </a:t>
            </a:r>
            <a:r>
              <a:rPr lang="en-US" dirty="0" err="1" smtClean="0"/>
              <a:t>biến</a:t>
            </a:r>
            <a:r>
              <a:rPr lang="en-US" dirty="0" smtClean="0"/>
              <a:t> static </a:t>
            </a:r>
            <a:r>
              <a:rPr lang="en-US" dirty="0" err="1" smtClean="0"/>
              <a:t>chưa</a:t>
            </a:r>
            <a:r>
              <a:rPr lang="en-US" dirty="0" smtClean="0"/>
              <a:t> </a:t>
            </a:r>
            <a:r>
              <a:rPr lang="en-US" dirty="0" err="1" smtClean="0"/>
              <a:t>khởi</a:t>
            </a:r>
            <a:r>
              <a:rPr lang="en-US" dirty="0" smtClean="0"/>
              <a:t> </a:t>
            </a:r>
            <a:r>
              <a:rPr lang="en-US" dirty="0" err="1" smtClean="0"/>
              <a:t>tạo</a:t>
            </a:r>
            <a:endParaRPr lang="en-US" dirty="0" smtClean="0"/>
          </a:p>
          <a:p>
            <a:pPr marL="285750" indent="-285750">
              <a:buFontTx/>
              <a:buChar char="-"/>
            </a:pPr>
            <a:r>
              <a:rPr lang="en-US" dirty="0" err="1" smtClean="0"/>
              <a:t>Các</a:t>
            </a:r>
            <a:r>
              <a:rPr lang="en-US" dirty="0" smtClean="0"/>
              <a:t> </a:t>
            </a:r>
            <a:r>
              <a:rPr lang="en-US" dirty="0" err="1" smtClean="0"/>
              <a:t>biến</a:t>
            </a:r>
            <a:r>
              <a:rPr lang="en-US" dirty="0" smtClean="0"/>
              <a:t> </a:t>
            </a:r>
            <a:r>
              <a:rPr lang="en-US" dirty="0" err="1" smtClean="0"/>
              <a:t>này</a:t>
            </a:r>
            <a:r>
              <a:rPr lang="en-US" dirty="0" smtClean="0"/>
              <a:t> </a:t>
            </a:r>
            <a:r>
              <a:rPr lang="en-US" dirty="0" err="1" smtClean="0"/>
              <a:t>đươc</a:t>
            </a:r>
            <a:r>
              <a:rPr lang="en-US" dirty="0" smtClean="0"/>
              <a:t> </a:t>
            </a:r>
            <a:r>
              <a:rPr lang="en-US" dirty="0" err="1" smtClean="0"/>
              <a:t>khởi</a:t>
            </a:r>
            <a:r>
              <a:rPr lang="en-US" dirty="0" smtClean="0"/>
              <a:t> </a:t>
            </a:r>
            <a:r>
              <a:rPr lang="en-US" dirty="0" err="1" smtClean="0"/>
              <a:t>tạo</a:t>
            </a:r>
            <a:r>
              <a:rPr lang="en-US" dirty="0" smtClean="0"/>
              <a:t> </a:t>
            </a:r>
            <a:r>
              <a:rPr lang="en-US" dirty="0" err="1" smtClean="0"/>
              <a:t>bằng</a:t>
            </a:r>
            <a:r>
              <a:rPr lang="en-US" dirty="0" smtClean="0"/>
              <a:t> 0 </a:t>
            </a:r>
            <a:r>
              <a:rPr lang="en-US" dirty="0" err="1" smtClean="0"/>
              <a:t>khi</a:t>
            </a:r>
            <a:r>
              <a:rPr lang="en-US" dirty="0" smtClean="0"/>
              <a:t> </a:t>
            </a:r>
            <a:r>
              <a:rPr lang="en-US" dirty="0" err="1" smtClean="0"/>
              <a:t>chạy</a:t>
            </a:r>
            <a:r>
              <a:rPr lang="en-US" dirty="0" smtClean="0"/>
              <a:t> </a:t>
            </a:r>
            <a:r>
              <a:rPr lang="en-US" dirty="0" err="1" smtClean="0"/>
              <a:t>chương</a:t>
            </a:r>
            <a:r>
              <a:rPr lang="en-US" dirty="0" smtClean="0"/>
              <a:t> </a:t>
            </a:r>
            <a:r>
              <a:rPr lang="en-US" dirty="0" err="1" smtClean="0"/>
              <a:t>trình</a:t>
            </a:r>
            <a:endParaRPr lang="en-US" dirty="0"/>
          </a:p>
          <a:p>
            <a:r>
              <a:rPr lang="en-US" dirty="0" smtClean="0"/>
              <a:t>LMA sang VMA (???)</a:t>
            </a:r>
            <a:endParaRPr lang="en-US" dirty="0"/>
          </a:p>
        </p:txBody>
      </p:sp>
    </p:spTree>
    <p:extLst>
      <p:ext uri="{BB962C8B-B14F-4D97-AF65-F5344CB8AC3E}">
        <p14:creationId xmlns:p14="http://schemas.microsoft.com/office/powerpoint/2010/main" val="3747433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3"/>
          <a:stretch>
            <a:fillRect/>
          </a:stretch>
        </p:blipFill>
        <p:spPr>
          <a:xfrm>
            <a:off x="2520519" y="219268"/>
            <a:ext cx="5943600" cy="2939415"/>
          </a:xfrm>
          <a:prstGeom prst="rect">
            <a:avLst/>
          </a:prstGeom>
        </p:spPr>
      </p:pic>
      <p:sp>
        <p:nvSpPr>
          <p:cNvPr id="7" name="Rectangle 6"/>
          <p:cNvSpPr/>
          <p:nvPr/>
        </p:nvSpPr>
        <p:spPr>
          <a:xfrm>
            <a:off x="331433" y="3288010"/>
            <a:ext cx="6096000" cy="2166875"/>
          </a:xfrm>
          <a:prstGeom prst="rect">
            <a:avLst/>
          </a:prstGeom>
        </p:spPr>
        <p:txBody>
          <a:bodyPr>
            <a:spAutoFit/>
          </a:bodyPr>
          <a:lstStyle/>
          <a:p>
            <a:pPr marL="342900" marR="0" lvl="0" indent="-342900">
              <a:lnSpc>
                <a:spcPct val="107000"/>
              </a:lnSpc>
              <a:spcBef>
                <a:spcPts val="0"/>
              </a:spcBef>
              <a:spcAft>
                <a:spcPts val="0"/>
              </a:spcAft>
              <a:buFont typeface="+mj-lt"/>
              <a:buAutoNum type="arabicPeriod"/>
            </a:pPr>
            <a:r>
              <a:rPr lang="en-US" dirty="0" smtClean="0">
                <a:effectLst/>
                <a:latin typeface="Calibri" panose="020F0502020204030204" pitchFamily="34" charset="0"/>
                <a:ea typeface="Calibri" panose="020F0502020204030204" pitchFamily="34" charset="0"/>
                <a:cs typeface="Times New Roman" panose="02020603050405020304" pitchFamily="18" charset="0"/>
              </a:rPr>
              <a:t>Heap:</a:t>
            </a:r>
          </a:p>
          <a:p>
            <a:pPr marL="285750" marR="0" lvl="0" indent="-285750">
              <a:lnSpc>
                <a:spcPct val="107000"/>
              </a:lnSpc>
              <a:spcBef>
                <a:spcPts val="0"/>
              </a:spcBef>
              <a:spcAft>
                <a:spcPts val="0"/>
              </a:spcAft>
              <a:buFontTx/>
              <a:buChar char="-"/>
            </a:pPr>
            <a:r>
              <a:rPr lang="en-US" dirty="0" err="1" smtClean="0">
                <a:latin typeface="Calibri" panose="020F0502020204030204" pitchFamily="34" charset="0"/>
                <a:ea typeface="Calibri" panose="020F0502020204030204" pitchFamily="34" charset="0"/>
                <a:cs typeface="Times New Roman" panose="02020603050405020304" pitchFamily="18" charset="0"/>
              </a:rPr>
              <a:t>Dùng</a:t>
            </a:r>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dirty="0" err="1" smtClean="0">
                <a:latin typeface="Calibri" panose="020F0502020204030204" pitchFamily="34" charset="0"/>
                <a:ea typeface="Calibri" panose="020F0502020204030204" pitchFamily="34" charset="0"/>
                <a:cs typeface="Times New Roman" panose="02020603050405020304" pitchFamily="18" charset="0"/>
              </a:rPr>
              <a:t>khi</a:t>
            </a:r>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dirty="0" err="1" smtClean="0">
                <a:latin typeface="Calibri" panose="020F0502020204030204" pitchFamily="34" charset="0"/>
                <a:ea typeface="Calibri" panose="020F0502020204030204" pitchFamily="34" charset="0"/>
                <a:cs typeface="Times New Roman" panose="02020603050405020304" pitchFamily="18" charset="0"/>
              </a:rPr>
              <a:t>cấp</a:t>
            </a:r>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dirty="0" err="1" smtClean="0">
                <a:latin typeface="Calibri" panose="020F0502020204030204" pitchFamily="34" charset="0"/>
                <a:ea typeface="Calibri" panose="020F0502020204030204" pitchFamily="34" charset="0"/>
                <a:cs typeface="Times New Roman" panose="02020603050405020304" pitchFamily="18" charset="0"/>
              </a:rPr>
              <a:t>phát</a:t>
            </a:r>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dirty="0" err="1" smtClean="0">
                <a:latin typeface="Calibri" panose="020F0502020204030204" pitchFamily="34" charset="0"/>
                <a:ea typeface="Calibri" panose="020F0502020204030204" pitchFamily="34" charset="0"/>
                <a:cs typeface="Times New Roman" panose="02020603050405020304" pitchFamily="18" charset="0"/>
              </a:rPr>
              <a:t>động,kiền</a:t>
            </a:r>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dirty="0" err="1" smtClean="0">
                <a:latin typeface="Calibri" panose="020F0502020204030204" pitchFamily="34" charset="0"/>
                <a:ea typeface="Calibri" panose="020F0502020204030204" pitchFamily="34" charset="0"/>
                <a:cs typeface="Times New Roman" panose="02020603050405020304" pitchFamily="18" charset="0"/>
              </a:rPr>
              <a:t>kề</a:t>
            </a:r>
            <a:r>
              <a:rPr lang="en-US" dirty="0" smtClean="0">
                <a:latin typeface="Calibri" panose="020F0502020204030204" pitchFamily="34" charset="0"/>
                <a:ea typeface="Calibri" panose="020F0502020204030204" pitchFamily="34" charset="0"/>
                <a:cs typeface="Times New Roman" panose="02020603050405020304" pitchFamily="18" charset="0"/>
              </a:rPr>
              <a:t> BSS </a:t>
            </a:r>
            <a:r>
              <a:rPr lang="en-US" dirty="0" err="1" smtClean="0">
                <a:latin typeface="Calibri" panose="020F0502020204030204" pitchFamily="34" charset="0"/>
                <a:ea typeface="Calibri" panose="020F0502020204030204" pitchFamily="34" charset="0"/>
                <a:cs typeface="Times New Roman" panose="02020603050405020304" pitchFamily="18" charset="0"/>
              </a:rPr>
              <a:t>và</a:t>
            </a:r>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dirty="0" err="1" smtClean="0">
                <a:latin typeface="Calibri" panose="020F0502020204030204" pitchFamily="34" charset="0"/>
                <a:ea typeface="Calibri" panose="020F0502020204030204" pitchFamily="34" charset="0"/>
                <a:cs typeface="Times New Roman" panose="02020603050405020304" pitchFamily="18" charset="0"/>
              </a:rPr>
              <a:t>nở</a:t>
            </a:r>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dirty="0" err="1" smtClean="0">
                <a:latin typeface="Calibri" panose="020F0502020204030204" pitchFamily="34" charset="0"/>
                <a:ea typeface="Calibri" panose="020F0502020204030204" pitchFamily="34" charset="0"/>
                <a:cs typeface="Times New Roman" panose="02020603050405020304" pitchFamily="18" charset="0"/>
              </a:rPr>
              <a:t>ra</a:t>
            </a:r>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dirty="0" err="1" smtClean="0">
                <a:latin typeface="Calibri" panose="020F0502020204030204" pitchFamily="34" charset="0"/>
                <a:ea typeface="Calibri" panose="020F0502020204030204" pitchFamily="34" charset="0"/>
                <a:cs typeface="Times New Roman" panose="02020603050405020304" pitchFamily="18" charset="0"/>
              </a:rPr>
              <a:t>để</a:t>
            </a:r>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dirty="0" err="1" smtClean="0">
                <a:latin typeface="Calibri" panose="020F0502020204030204" pitchFamily="34" charset="0"/>
                <a:ea typeface="Calibri" panose="020F0502020204030204" pitchFamily="34" charset="0"/>
                <a:cs typeface="Times New Roman" panose="02020603050405020304" pitchFamily="18" charset="0"/>
              </a:rPr>
              <a:t>vị</a:t>
            </a:r>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dirty="0" err="1" smtClean="0">
                <a:latin typeface="Calibri" panose="020F0502020204030204" pitchFamily="34" charset="0"/>
                <a:ea typeface="Calibri" panose="020F0502020204030204" pitchFamily="34" charset="0"/>
                <a:cs typeface="Times New Roman" panose="02020603050405020304" pitchFamily="18" charset="0"/>
              </a:rPr>
              <a:t>trí</a:t>
            </a:r>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dirty="0" err="1" smtClean="0">
                <a:latin typeface="Calibri" panose="020F0502020204030204" pitchFamily="34" charset="0"/>
                <a:ea typeface="Calibri" panose="020F0502020204030204" pitchFamily="34" charset="0"/>
                <a:cs typeface="Times New Roman" panose="02020603050405020304" pitchFamily="18" charset="0"/>
              </a:rPr>
              <a:t>cao</a:t>
            </a:r>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dirty="0" err="1" smtClean="0">
                <a:latin typeface="Calibri" panose="020F0502020204030204" pitchFamily="34" charset="0"/>
                <a:ea typeface="Calibri" panose="020F0502020204030204" pitchFamily="34" charset="0"/>
                <a:cs typeface="Times New Roman" panose="02020603050405020304" pitchFamily="18" charset="0"/>
              </a:rPr>
              <a:t>dần</a:t>
            </a:r>
            <a:r>
              <a:rPr lang="en-US" dirty="0" smtClean="0">
                <a:latin typeface="Calibri" panose="020F0502020204030204" pitchFamily="34" charset="0"/>
                <a:ea typeface="Calibri" panose="020F0502020204030204" pitchFamily="34" charset="0"/>
                <a:cs typeface="Times New Roman" panose="02020603050405020304" pitchFamily="18" charset="0"/>
              </a:rPr>
              <a:t>.(</a:t>
            </a:r>
            <a:r>
              <a:rPr lang="en-US" dirty="0" err="1" smtClean="0">
                <a:latin typeface="Calibri" panose="020F0502020204030204" pitchFamily="34" charset="0"/>
                <a:ea typeface="Calibri" panose="020F0502020204030204" pitchFamily="34" charset="0"/>
                <a:cs typeface="Times New Roman" panose="02020603050405020304" pitchFamily="18" charset="0"/>
              </a:rPr>
              <a:t>quản</a:t>
            </a:r>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dirty="0" err="1" smtClean="0">
                <a:latin typeface="Calibri" panose="020F0502020204030204" pitchFamily="34" charset="0"/>
                <a:ea typeface="Calibri" panose="020F0502020204030204" pitchFamily="34" charset="0"/>
                <a:cs typeface="Times New Roman" panose="02020603050405020304" pitchFamily="18" charset="0"/>
              </a:rPr>
              <a:t>lí</a:t>
            </a:r>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dirty="0" err="1" smtClean="0">
                <a:latin typeface="Calibri" panose="020F0502020204030204" pitchFamily="34" charset="0"/>
                <a:ea typeface="Calibri" panose="020F0502020204030204" pitchFamily="34" charset="0"/>
                <a:cs typeface="Times New Roman" panose="02020603050405020304" pitchFamily="18" charset="0"/>
              </a:rPr>
              <a:t>bới</a:t>
            </a:r>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dirty="0" err="1" smtClean="0">
                <a:latin typeface="Calibri" panose="020F0502020204030204" pitchFamily="34" charset="0"/>
                <a:ea typeface="Calibri" panose="020F0502020204030204" pitchFamily="34" charset="0"/>
                <a:cs typeface="Times New Roman" panose="02020603050405020304" pitchFamily="18" charset="0"/>
              </a:rPr>
              <a:t>malloc</a:t>
            </a:r>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dirty="0" err="1" smtClean="0">
                <a:latin typeface="Calibri" panose="020F0502020204030204" pitchFamily="34" charset="0"/>
                <a:ea typeface="Calibri" panose="020F0502020204030204" pitchFamily="34" charset="0"/>
                <a:cs typeface="Times New Roman" panose="02020603050405020304" pitchFamily="18" charset="0"/>
              </a:rPr>
              <a:t>realloc</a:t>
            </a:r>
            <a:r>
              <a:rPr lang="en-US" dirty="0" smtClean="0">
                <a:latin typeface="Calibri" panose="020F0502020204030204" pitchFamily="34" charset="0"/>
                <a:ea typeface="Calibri" panose="020F0502020204030204" pitchFamily="34" charset="0"/>
                <a:cs typeface="Times New Roman" panose="02020603050405020304" pitchFamily="18" charset="0"/>
              </a:rPr>
              <a:t>, free().</a:t>
            </a:r>
          </a:p>
          <a:p>
            <a:pPr marL="285750" marR="0" lvl="0" indent="-285750">
              <a:lnSpc>
                <a:spcPct val="107000"/>
              </a:lnSpc>
              <a:spcBef>
                <a:spcPts val="0"/>
              </a:spcBef>
              <a:spcAft>
                <a:spcPts val="0"/>
              </a:spcAft>
              <a:buFontTx/>
              <a:buChar char="-"/>
            </a:pPr>
            <a:r>
              <a:rPr lang="vi-VN" dirty="0" smtClean="0">
                <a:solidFill>
                  <a:srgbClr val="FF0000"/>
                </a:solidFill>
              </a:rPr>
              <a:t>Vùng nhớ heap được dùng chung bởi tất cả các thư viện chia sẻ (shared libraries) và các module được nạp động trong cùng một tiến trình.</a:t>
            </a:r>
            <a:endParaRPr lang="en-US" dirty="0" smtClean="0">
              <a:solidFill>
                <a:srgbClr val="FF0000"/>
              </a:solidFill>
            </a:endParaRPr>
          </a:p>
          <a:p>
            <a:pPr marL="285750" marR="0" lvl="0" indent="-285750">
              <a:lnSpc>
                <a:spcPct val="107000"/>
              </a:lnSpc>
              <a:spcBef>
                <a:spcPts val="0"/>
              </a:spcBef>
              <a:spcAft>
                <a:spcPts val="0"/>
              </a:spcAft>
              <a:buFontTx/>
              <a:buChar char="-"/>
            </a:pPr>
            <a:r>
              <a:rPr lang="en-US" dirty="0" smtClean="0"/>
              <a:t>Heap </a:t>
            </a:r>
            <a:r>
              <a:rPr lang="en-US" dirty="0" err="1" smtClean="0"/>
              <a:t>thuộc</a:t>
            </a:r>
            <a:r>
              <a:rPr lang="en-US" dirty="0" smtClean="0"/>
              <a:t> </a:t>
            </a:r>
            <a:r>
              <a:rPr lang="en-US" dirty="0" err="1" smtClean="0"/>
              <a:t>về</a:t>
            </a:r>
            <a:r>
              <a:rPr lang="en-US" dirty="0" smtClean="0"/>
              <a:t> </a:t>
            </a:r>
            <a:r>
              <a:rPr lang="en-US" b="1" dirty="0" err="1" smtClean="0"/>
              <a:t>toàn</a:t>
            </a:r>
            <a:r>
              <a:rPr lang="en-US" b="1" dirty="0" smtClean="0"/>
              <a:t> </a:t>
            </a:r>
            <a:r>
              <a:rPr lang="en-US" b="1" dirty="0" err="1" smtClean="0"/>
              <a:t>bộ</a:t>
            </a:r>
            <a:r>
              <a:rPr lang="en-US" b="1" dirty="0" smtClean="0"/>
              <a:t> process.</a:t>
            </a:r>
            <a:endParaRPr lang="en-US" dirty="0" smtClean="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2" name="Picture 1"/>
          <p:cNvPicPr>
            <a:picLocks noChangeAspect="1"/>
          </p:cNvPicPr>
          <p:nvPr/>
        </p:nvPicPr>
        <p:blipFill>
          <a:blip r:embed="rId4"/>
          <a:stretch>
            <a:fillRect/>
          </a:stretch>
        </p:blipFill>
        <p:spPr>
          <a:xfrm>
            <a:off x="6427433" y="3303260"/>
            <a:ext cx="2553056" cy="1676634"/>
          </a:xfrm>
          <a:prstGeom prst="rect">
            <a:avLst/>
          </a:prstGeom>
        </p:spPr>
      </p:pic>
      <p:pic>
        <p:nvPicPr>
          <p:cNvPr id="3" name="Picture 2"/>
          <p:cNvPicPr>
            <a:picLocks noChangeAspect="1"/>
          </p:cNvPicPr>
          <p:nvPr/>
        </p:nvPicPr>
        <p:blipFill>
          <a:blip r:embed="rId5"/>
          <a:stretch>
            <a:fillRect/>
          </a:stretch>
        </p:blipFill>
        <p:spPr>
          <a:xfrm>
            <a:off x="9331904" y="3551660"/>
            <a:ext cx="2086266" cy="1343212"/>
          </a:xfrm>
          <a:prstGeom prst="rect">
            <a:avLst/>
          </a:prstGeom>
        </p:spPr>
      </p:pic>
      <p:sp>
        <p:nvSpPr>
          <p:cNvPr id="12" name="Rectangle 11"/>
          <p:cNvSpPr/>
          <p:nvPr/>
        </p:nvSpPr>
        <p:spPr>
          <a:xfrm>
            <a:off x="6632723" y="4048217"/>
            <a:ext cx="664722" cy="36398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p:cNvCxnSpPr/>
          <p:nvPr/>
        </p:nvCxnSpPr>
        <p:spPr>
          <a:xfrm flipV="1">
            <a:off x="7670307" y="4154686"/>
            <a:ext cx="1661597" cy="1138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6427433" y="5554980"/>
            <a:ext cx="5513107" cy="646331"/>
          </a:xfrm>
          <a:prstGeom prst="rect">
            <a:avLst/>
          </a:prstGeom>
          <a:noFill/>
        </p:spPr>
        <p:txBody>
          <a:bodyPr wrap="square" rtlCol="0">
            <a:spAutoFit/>
          </a:bodyPr>
          <a:lstStyle/>
          <a:p>
            <a:r>
              <a:rPr lang="en-US" dirty="0" err="1" smtClean="0"/>
              <a:t>Bên</a:t>
            </a:r>
            <a:r>
              <a:rPr lang="en-US" dirty="0" smtClean="0"/>
              <a:t> </a:t>
            </a:r>
            <a:r>
              <a:rPr lang="en-US" dirty="0" err="1" smtClean="0"/>
              <a:t>trong</a:t>
            </a:r>
            <a:r>
              <a:rPr lang="en-US" dirty="0" smtClean="0"/>
              <a:t> foo() </a:t>
            </a:r>
            <a:r>
              <a:rPr lang="en-US" dirty="0" err="1" smtClean="0"/>
              <a:t>thuộc</a:t>
            </a:r>
            <a:r>
              <a:rPr lang="en-US" dirty="0" smtClean="0"/>
              <a:t> 1 </a:t>
            </a:r>
            <a:r>
              <a:rPr lang="en-US" dirty="0" err="1" smtClean="0"/>
              <a:t>thư</a:t>
            </a:r>
            <a:r>
              <a:rPr lang="en-US" dirty="0" smtClean="0"/>
              <a:t> </a:t>
            </a:r>
            <a:r>
              <a:rPr lang="en-US" dirty="0" err="1" smtClean="0"/>
              <a:t>viện</a:t>
            </a:r>
            <a:r>
              <a:rPr lang="en-US" dirty="0" smtClean="0"/>
              <a:t> </a:t>
            </a:r>
            <a:r>
              <a:rPr lang="en-US" dirty="0" err="1" smtClean="0"/>
              <a:t>động</a:t>
            </a:r>
            <a:r>
              <a:rPr lang="en-US" dirty="0" smtClean="0"/>
              <a:t> </a:t>
            </a:r>
            <a:r>
              <a:rPr lang="en-US" dirty="0" err="1" smtClean="0"/>
              <a:t>khác</a:t>
            </a:r>
            <a:r>
              <a:rPr lang="en-US" dirty="0" smtClean="0"/>
              <a:t> </a:t>
            </a:r>
            <a:r>
              <a:rPr lang="en-US" dirty="0" err="1" smtClean="0"/>
              <a:t>vẫn</a:t>
            </a:r>
            <a:r>
              <a:rPr lang="en-US" dirty="0" smtClean="0"/>
              <a:t> </a:t>
            </a:r>
            <a:r>
              <a:rPr lang="en-US" dirty="0" err="1" smtClean="0"/>
              <a:t>dùng</a:t>
            </a:r>
            <a:r>
              <a:rPr lang="en-US" dirty="0" smtClean="0"/>
              <a:t> </a:t>
            </a:r>
            <a:r>
              <a:rPr lang="en-US" dirty="0" err="1" smtClean="0"/>
              <a:t>được</a:t>
            </a:r>
            <a:endParaRPr lang="en-US" dirty="0"/>
          </a:p>
        </p:txBody>
      </p:sp>
    </p:spTree>
    <p:extLst>
      <p:ext uri="{BB962C8B-B14F-4D97-AF65-F5344CB8AC3E}">
        <p14:creationId xmlns:p14="http://schemas.microsoft.com/office/powerpoint/2010/main" val="2804679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3"/>
          <a:stretch>
            <a:fillRect/>
          </a:stretch>
        </p:blipFill>
        <p:spPr>
          <a:xfrm>
            <a:off x="2520519" y="219268"/>
            <a:ext cx="5943600" cy="2939415"/>
          </a:xfrm>
          <a:prstGeom prst="rect">
            <a:avLst/>
          </a:prstGeom>
        </p:spPr>
      </p:pic>
      <p:sp>
        <p:nvSpPr>
          <p:cNvPr id="7" name="Rectangle 6"/>
          <p:cNvSpPr/>
          <p:nvPr/>
        </p:nvSpPr>
        <p:spPr>
          <a:xfrm>
            <a:off x="331433" y="3288010"/>
            <a:ext cx="6096000" cy="1277786"/>
          </a:xfrm>
          <a:prstGeom prst="rect">
            <a:avLst/>
          </a:prstGeom>
        </p:spPr>
        <p:txBody>
          <a:bodyPr>
            <a:spAutoFit/>
          </a:bodyPr>
          <a:lstStyle/>
          <a:p>
            <a:pPr marL="342900" marR="0" lvl="0" indent="-342900">
              <a:lnSpc>
                <a:spcPct val="107000"/>
              </a:lnSpc>
              <a:spcBef>
                <a:spcPts val="0"/>
              </a:spcBef>
              <a:spcAft>
                <a:spcPts val="0"/>
              </a:spcAft>
              <a:buFont typeface="+mj-lt"/>
              <a:buAutoNum type="arabicPeriod"/>
            </a:pPr>
            <a:r>
              <a:rPr lang="en-US" dirty="0" smtClean="0">
                <a:latin typeface="Calibri" panose="020F0502020204030204" pitchFamily="34" charset="0"/>
                <a:ea typeface="Calibri" panose="020F0502020204030204" pitchFamily="34" charset="0"/>
                <a:cs typeface="Times New Roman" panose="02020603050405020304" pitchFamily="18" charset="0"/>
              </a:rPr>
              <a:t>Stack:</a:t>
            </a:r>
          </a:p>
          <a:p>
            <a:pPr marL="342900" marR="0" lvl="0" indent="-342900">
              <a:lnSpc>
                <a:spcPct val="107000"/>
              </a:lnSpc>
              <a:spcBef>
                <a:spcPts val="0"/>
              </a:spcBef>
              <a:spcAft>
                <a:spcPts val="0"/>
              </a:spcAft>
              <a:buFont typeface="+mj-lt"/>
              <a:buAutoNum type="arabicPeriod"/>
            </a:pPr>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endParaRPr lang="en-US" dirty="0" smtClean="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8" name="Rectangle 17"/>
          <p:cNvSpPr/>
          <p:nvPr/>
        </p:nvSpPr>
        <p:spPr>
          <a:xfrm>
            <a:off x="518160" y="3584555"/>
            <a:ext cx="6096000" cy="1200329"/>
          </a:xfrm>
          <a:prstGeom prst="rect">
            <a:avLst/>
          </a:prstGeom>
        </p:spPr>
        <p:txBody>
          <a:bodyPr>
            <a:spAutoFit/>
          </a:bodyPr>
          <a:lstStyle/>
          <a:p>
            <a:r>
              <a:rPr lang="en-US" dirty="0" smtClean="0"/>
              <a:t>- </a:t>
            </a:r>
            <a:r>
              <a:rPr lang="vi-VN" dirty="0" smtClean="0"/>
              <a:t>Biến cục bộ (local variables)</a:t>
            </a:r>
            <a:endParaRPr lang="en-US" dirty="0" smtClean="0"/>
          </a:p>
          <a:p>
            <a:pPr marL="285750" indent="-285750">
              <a:buFontTx/>
              <a:buChar char="-"/>
            </a:pPr>
            <a:r>
              <a:rPr lang="vi-VN" dirty="0" smtClean="0"/>
              <a:t>Tham số hàm (function parameters)</a:t>
            </a:r>
            <a:endParaRPr lang="en-US" dirty="0" smtClean="0"/>
          </a:p>
          <a:p>
            <a:pPr marL="285750" indent="-285750">
              <a:buFontTx/>
              <a:buChar char="-"/>
            </a:pPr>
            <a:r>
              <a:rPr lang="vi-VN" dirty="0" smtClean="0"/>
              <a:t>Địa chỉ quay về sau khi hàm kết thúc (return address)</a:t>
            </a:r>
            <a:endParaRPr lang="en-US" dirty="0" smtClean="0"/>
          </a:p>
          <a:p>
            <a:pPr marL="285750" indent="-285750">
              <a:buFontTx/>
              <a:buChar char="-"/>
            </a:pPr>
            <a:r>
              <a:rPr lang="vi-VN" dirty="0" smtClean="0"/>
              <a:t>Một số thanh ghi được lưu tạm</a:t>
            </a:r>
            <a:endParaRPr lang="en-US" dirty="0"/>
          </a:p>
        </p:txBody>
      </p:sp>
      <p:pic>
        <p:nvPicPr>
          <p:cNvPr id="19" name="Picture 18"/>
          <p:cNvPicPr>
            <a:picLocks noChangeAspect="1"/>
          </p:cNvPicPr>
          <p:nvPr/>
        </p:nvPicPr>
        <p:blipFill>
          <a:blip r:embed="rId4"/>
          <a:stretch>
            <a:fillRect/>
          </a:stretch>
        </p:blipFill>
        <p:spPr>
          <a:xfrm>
            <a:off x="7367488" y="3584555"/>
            <a:ext cx="1419423" cy="1448002"/>
          </a:xfrm>
          <a:prstGeom prst="rect">
            <a:avLst/>
          </a:prstGeom>
        </p:spPr>
      </p:pic>
      <p:sp>
        <p:nvSpPr>
          <p:cNvPr id="20" name="Rectangle 19"/>
          <p:cNvSpPr/>
          <p:nvPr/>
        </p:nvSpPr>
        <p:spPr>
          <a:xfrm>
            <a:off x="7412476" y="3744910"/>
            <a:ext cx="1190503" cy="36398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3715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50423" y="2670407"/>
            <a:ext cx="7950926" cy="1077218"/>
          </a:xfrm>
          <a:prstGeom prst="rect">
            <a:avLst/>
          </a:prstGeom>
        </p:spPr>
        <p:txBody>
          <a:bodyPr wrap="square">
            <a:spAutoFit/>
          </a:bodyPr>
          <a:lstStyle/>
          <a:p>
            <a:pPr algn="ctr"/>
            <a:r>
              <a:rPr lang="en-US" sz="3200" b="1" dirty="0">
                <a:solidFill>
                  <a:srgbClr val="1F2328"/>
                </a:solidFill>
                <a:latin typeface="Mona Sans VF"/>
              </a:rPr>
              <a:t>Understanding the Memory Layout of Linux Executables</a:t>
            </a:r>
            <a:endParaRPr lang="en-US" sz="3200" b="1" i="0" dirty="0">
              <a:solidFill>
                <a:srgbClr val="1F2328"/>
              </a:solidFill>
              <a:effectLst/>
              <a:latin typeface="Mona Sans VF"/>
            </a:endParaRPr>
          </a:p>
        </p:txBody>
      </p:sp>
    </p:spTree>
    <p:extLst>
      <p:ext uri="{BB962C8B-B14F-4D97-AF65-F5344CB8AC3E}">
        <p14:creationId xmlns:p14="http://schemas.microsoft.com/office/powerpoint/2010/main" val="214080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3"/>
          <a:stretch>
            <a:fillRect/>
          </a:stretch>
        </p:blipFill>
        <p:spPr>
          <a:xfrm>
            <a:off x="2520519" y="219268"/>
            <a:ext cx="5943600" cy="2939415"/>
          </a:xfrm>
          <a:prstGeom prst="rect">
            <a:avLst/>
          </a:prstGeom>
        </p:spPr>
      </p:pic>
      <p:sp>
        <p:nvSpPr>
          <p:cNvPr id="7" name="Rectangle 6"/>
          <p:cNvSpPr/>
          <p:nvPr/>
        </p:nvSpPr>
        <p:spPr>
          <a:xfrm>
            <a:off x="331433" y="3288010"/>
            <a:ext cx="6096000" cy="1277786"/>
          </a:xfrm>
          <a:prstGeom prst="rect">
            <a:avLst/>
          </a:prstGeom>
        </p:spPr>
        <p:txBody>
          <a:bodyPr>
            <a:spAutoFit/>
          </a:bodyPr>
          <a:lstStyle/>
          <a:p>
            <a:pPr marL="342900" marR="0" lvl="0" indent="-342900">
              <a:lnSpc>
                <a:spcPct val="107000"/>
              </a:lnSpc>
              <a:spcBef>
                <a:spcPts val="0"/>
              </a:spcBef>
              <a:spcAft>
                <a:spcPts val="0"/>
              </a:spcAft>
              <a:buFont typeface="+mj-lt"/>
              <a:buAutoNum type="arabicPeriod"/>
            </a:pPr>
            <a:r>
              <a:rPr lang="en-US" dirty="0" smtClean="0">
                <a:latin typeface="Calibri" panose="020F0502020204030204" pitchFamily="34" charset="0"/>
                <a:ea typeface="Calibri" panose="020F0502020204030204" pitchFamily="34" charset="0"/>
                <a:cs typeface="Times New Roman" panose="02020603050405020304" pitchFamily="18" charset="0"/>
              </a:rPr>
              <a:t>Stack:</a:t>
            </a:r>
          </a:p>
          <a:p>
            <a:pPr marL="342900" marR="0" lvl="0" indent="-342900">
              <a:lnSpc>
                <a:spcPct val="107000"/>
              </a:lnSpc>
              <a:spcBef>
                <a:spcPts val="0"/>
              </a:spcBef>
              <a:spcAft>
                <a:spcPts val="0"/>
              </a:spcAft>
              <a:buFont typeface="+mj-lt"/>
              <a:buAutoNum type="arabicPeriod"/>
            </a:pPr>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endParaRPr lang="en-US" dirty="0" smtClean="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8" name="Rectangle 17"/>
          <p:cNvSpPr/>
          <p:nvPr/>
        </p:nvSpPr>
        <p:spPr>
          <a:xfrm>
            <a:off x="518160" y="3584555"/>
            <a:ext cx="6096000" cy="1200329"/>
          </a:xfrm>
          <a:prstGeom prst="rect">
            <a:avLst/>
          </a:prstGeom>
        </p:spPr>
        <p:txBody>
          <a:bodyPr>
            <a:spAutoFit/>
          </a:bodyPr>
          <a:lstStyle/>
          <a:p>
            <a:r>
              <a:rPr lang="en-US" dirty="0" smtClean="0"/>
              <a:t>- </a:t>
            </a:r>
            <a:r>
              <a:rPr lang="vi-VN" dirty="0" smtClean="0"/>
              <a:t>Biến cục bộ (local variables)</a:t>
            </a:r>
            <a:endParaRPr lang="en-US" dirty="0" smtClean="0"/>
          </a:p>
          <a:p>
            <a:pPr marL="285750" indent="-285750">
              <a:buFontTx/>
              <a:buChar char="-"/>
            </a:pPr>
            <a:r>
              <a:rPr lang="vi-VN" dirty="0" smtClean="0"/>
              <a:t>Tham số hàm (function parameters)</a:t>
            </a:r>
            <a:endParaRPr lang="en-US" dirty="0" smtClean="0"/>
          </a:p>
          <a:p>
            <a:pPr marL="285750" indent="-285750">
              <a:buFontTx/>
              <a:buChar char="-"/>
            </a:pPr>
            <a:r>
              <a:rPr lang="vi-VN" dirty="0" smtClean="0"/>
              <a:t>Địa chỉ quay về sau khi hàm kết thúc (return address)</a:t>
            </a:r>
            <a:endParaRPr lang="en-US" dirty="0" smtClean="0"/>
          </a:p>
          <a:p>
            <a:pPr marL="285750" indent="-285750">
              <a:buFontTx/>
              <a:buChar char="-"/>
            </a:pPr>
            <a:r>
              <a:rPr lang="vi-VN" dirty="0" smtClean="0"/>
              <a:t>Một số thanh ghi được lưu tạm</a:t>
            </a:r>
            <a:r>
              <a:rPr lang="en-US" dirty="0" smtClean="0"/>
              <a:t>c</a:t>
            </a:r>
            <a:endParaRPr lang="en-US" dirty="0"/>
          </a:p>
        </p:txBody>
      </p:sp>
      <p:pic>
        <p:nvPicPr>
          <p:cNvPr id="19" name="Picture 18"/>
          <p:cNvPicPr>
            <a:picLocks noChangeAspect="1"/>
          </p:cNvPicPr>
          <p:nvPr/>
        </p:nvPicPr>
        <p:blipFill>
          <a:blip r:embed="rId4"/>
          <a:stretch>
            <a:fillRect/>
          </a:stretch>
        </p:blipFill>
        <p:spPr>
          <a:xfrm>
            <a:off x="7367488" y="3584555"/>
            <a:ext cx="1419423" cy="1448002"/>
          </a:xfrm>
          <a:prstGeom prst="rect">
            <a:avLst/>
          </a:prstGeom>
        </p:spPr>
      </p:pic>
      <p:sp>
        <p:nvSpPr>
          <p:cNvPr id="20" name="Rectangle 19"/>
          <p:cNvSpPr/>
          <p:nvPr/>
        </p:nvSpPr>
        <p:spPr>
          <a:xfrm>
            <a:off x="7412476" y="3744910"/>
            <a:ext cx="1190503" cy="36398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856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194668" y="1189111"/>
            <a:ext cx="6722097" cy="369332"/>
          </a:xfrm>
          <a:prstGeom prst="rect">
            <a:avLst/>
          </a:prstGeom>
        </p:spPr>
        <p:txBody>
          <a:bodyPr wrap="none">
            <a:spAutoFit/>
          </a:bodyPr>
          <a:lstStyle/>
          <a:p>
            <a:r>
              <a:rPr lang="en-US" dirty="0" err="1" smtClean="0"/>
              <a:t>Khai</a:t>
            </a:r>
            <a:r>
              <a:rPr lang="en-US" dirty="0" smtClean="0"/>
              <a:t> </a:t>
            </a:r>
            <a:r>
              <a:rPr lang="en-US" dirty="0" err="1" smtClean="0"/>
              <a:t>báo</a:t>
            </a:r>
            <a:r>
              <a:rPr lang="en-US" dirty="0" smtClean="0"/>
              <a:t>: </a:t>
            </a:r>
            <a:r>
              <a:rPr lang="en-US" dirty="0" err="1" smtClean="0"/>
              <a:t>là</a:t>
            </a:r>
            <a:r>
              <a:rPr lang="en-US" dirty="0" smtClean="0"/>
              <a:t> </a:t>
            </a:r>
            <a:r>
              <a:rPr lang="en-US" dirty="0" err="1"/>
              <a:t>thông</a:t>
            </a:r>
            <a:r>
              <a:rPr lang="en-US" dirty="0"/>
              <a:t> </a:t>
            </a:r>
            <a:r>
              <a:rPr lang="en-US" dirty="0" err="1"/>
              <a:t>báo</a:t>
            </a:r>
            <a:r>
              <a:rPr lang="en-US" dirty="0"/>
              <a:t> </a:t>
            </a:r>
            <a:r>
              <a:rPr lang="en-US" dirty="0" err="1"/>
              <a:t>các</a:t>
            </a:r>
            <a:r>
              <a:rPr lang="en-US" dirty="0"/>
              <a:t> </a:t>
            </a:r>
            <a:r>
              <a:rPr lang="en-US" dirty="0" err="1"/>
              <a:t>thuộc</a:t>
            </a:r>
            <a:r>
              <a:rPr lang="en-US" dirty="0"/>
              <a:t> </a:t>
            </a:r>
            <a:r>
              <a:rPr lang="en-US" dirty="0" err="1"/>
              <a:t>tính</a:t>
            </a:r>
            <a:r>
              <a:rPr lang="en-US" dirty="0"/>
              <a:t> </a:t>
            </a:r>
            <a:r>
              <a:rPr lang="en-US" dirty="0" err="1"/>
              <a:t>của</a:t>
            </a:r>
            <a:r>
              <a:rPr lang="en-US" dirty="0"/>
              <a:t> </a:t>
            </a:r>
            <a:r>
              <a:rPr lang="en-US" dirty="0" err="1"/>
              <a:t>một</a:t>
            </a:r>
            <a:r>
              <a:rPr lang="en-US" dirty="0"/>
              <a:t> </a:t>
            </a:r>
            <a:r>
              <a:rPr lang="en-US" dirty="0" err="1" smtClean="0"/>
              <a:t>biến</a:t>
            </a:r>
            <a:r>
              <a:rPr lang="en-US" dirty="0" smtClean="0"/>
              <a:t> (</a:t>
            </a:r>
            <a:r>
              <a:rPr lang="en-US" dirty="0" err="1" smtClean="0"/>
              <a:t>tên</a:t>
            </a:r>
            <a:r>
              <a:rPr lang="en-US" dirty="0" smtClean="0"/>
              <a:t>, </a:t>
            </a:r>
            <a:r>
              <a:rPr lang="en-US" dirty="0" err="1" smtClean="0"/>
              <a:t>kiểu</a:t>
            </a:r>
            <a:r>
              <a:rPr lang="en-US" dirty="0" smtClean="0"/>
              <a:t> </a:t>
            </a:r>
            <a:r>
              <a:rPr lang="en-US" dirty="0" err="1" smtClean="0"/>
              <a:t>dữ</a:t>
            </a:r>
            <a:r>
              <a:rPr lang="en-US" dirty="0" smtClean="0"/>
              <a:t> </a:t>
            </a:r>
            <a:r>
              <a:rPr lang="en-US" dirty="0" err="1" smtClean="0"/>
              <a:t>liệu</a:t>
            </a:r>
            <a:r>
              <a:rPr lang="en-US" dirty="0" smtClean="0"/>
              <a:t>) </a:t>
            </a:r>
            <a:endParaRPr lang="en-US" dirty="0"/>
          </a:p>
        </p:txBody>
      </p:sp>
      <p:sp>
        <p:nvSpPr>
          <p:cNvPr id="5" name="Rectangle 4"/>
          <p:cNvSpPr/>
          <p:nvPr/>
        </p:nvSpPr>
        <p:spPr>
          <a:xfrm>
            <a:off x="2194667" y="2003363"/>
            <a:ext cx="8315866" cy="646331"/>
          </a:xfrm>
          <a:prstGeom prst="rect">
            <a:avLst/>
          </a:prstGeom>
        </p:spPr>
        <p:txBody>
          <a:bodyPr wrap="none">
            <a:spAutoFit/>
          </a:bodyPr>
          <a:lstStyle/>
          <a:p>
            <a:r>
              <a:rPr lang="en-US" dirty="0" err="1" smtClean="0"/>
              <a:t>Định</a:t>
            </a:r>
            <a:r>
              <a:rPr lang="en-US" dirty="0" smtClean="0"/>
              <a:t> </a:t>
            </a:r>
            <a:r>
              <a:rPr lang="en-US" dirty="0" err="1" smtClean="0"/>
              <a:t>nghĩ</a:t>
            </a:r>
            <a:r>
              <a:rPr lang="en-US" dirty="0" err="1"/>
              <a:t>a</a:t>
            </a:r>
            <a:r>
              <a:rPr lang="en-US" dirty="0" smtClean="0"/>
              <a:t>: </a:t>
            </a:r>
            <a:r>
              <a:rPr lang="en-US" dirty="0" err="1" smtClean="0"/>
              <a:t>là</a:t>
            </a:r>
            <a:r>
              <a:rPr lang="en-US" dirty="0" smtClean="0"/>
              <a:t> </a:t>
            </a:r>
            <a:r>
              <a:rPr lang="en-US" dirty="0" err="1" smtClean="0"/>
              <a:t>yêu</a:t>
            </a:r>
            <a:r>
              <a:rPr lang="en-US" dirty="0" smtClean="0"/>
              <a:t> </a:t>
            </a:r>
            <a:r>
              <a:rPr lang="en-US" dirty="0" err="1" smtClean="0"/>
              <a:t>cầu</a:t>
            </a:r>
            <a:r>
              <a:rPr lang="en-US" dirty="0" smtClean="0"/>
              <a:t> </a:t>
            </a:r>
            <a:r>
              <a:rPr lang="en-US" dirty="0" err="1" smtClean="0"/>
              <a:t>cấp</a:t>
            </a:r>
            <a:r>
              <a:rPr lang="en-US" dirty="0" smtClean="0"/>
              <a:t> </a:t>
            </a:r>
            <a:r>
              <a:rPr lang="en-US" dirty="0" err="1" smtClean="0"/>
              <a:t>phát</a:t>
            </a:r>
            <a:r>
              <a:rPr lang="en-US" dirty="0" smtClean="0"/>
              <a:t> </a:t>
            </a:r>
            <a:r>
              <a:rPr lang="en-US" dirty="0" err="1" smtClean="0"/>
              <a:t>bộ</a:t>
            </a:r>
            <a:r>
              <a:rPr lang="en-US" dirty="0" smtClean="0"/>
              <a:t> </a:t>
            </a:r>
            <a:r>
              <a:rPr lang="en-US" dirty="0" err="1" smtClean="0"/>
              <a:t>nhớ</a:t>
            </a:r>
            <a:r>
              <a:rPr lang="en-US" dirty="0" smtClean="0"/>
              <a:t> </a:t>
            </a:r>
            <a:r>
              <a:rPr lang="en-US" dirty="0" err="1" smtClean="0"/>
              <a:t>cho</a:t>
            </a:r>
            <a:r>
              <a:rPr lang="en-US" dirty="0" smtClean="0"/>
              <a:t> </a:t>
            </a:r>
            <a:r>
              <a:rPr lang="en-US" dirty="0" err="1" smtClean="0"/>
              <a:t>biến</a:t>
            </a:r>
            <a:r>
              <a:rPr lang="en-US" dirty="0" smtClean="0"/>
              <a:t> </a:t>
            </a:r>
            <a:r>
              <a:rPr lang="en-US" dirty="0" err="1" smtClean="0"/>
              <a:t>đó</a:t>
            </a:r>
            <a:r>
              <a:rPr lang="en-US" dirty="0"/>
              <a:t>, </a:t>
            </a:r>
            <a:r>
              <a:rPr lang="en-US" dirty="0" err="1"/>
              <a:t>đồng</a:t>
            </a:r>
            <a:r>
              <a:rPr lang="en-US" dirty="0"/>
              <a:t> </a:t>
            </a:r>
            <a:r>
              <a:rPr lang="en-US" dirty="0" err="1"/>
              <a:t>thời</a:t>
            </a:r>
            <a:r>
              <a:rPr lang="en-US" dirty="0"/>
              <a:t> </a:t>
            </a:r>
            <a:r>
              <a:rPr lang="en-US" dirty="0" err="1"/>
              <a:t>đóng</a:t>
            </a:r>
            <a:r>
              <a:rPr lang="en-US" dirty="0"/>
              <a:t> </a:t>
            </a:r>
            <a:r>
              <a:rPr lang="en-US" dirty="0" err="1"/>
              <a:t>vai</a:t>
            </a:r>
            <a:r>
              <a:rPr lang="en-US" dirty="0"/>
              <a:t> </a:t>
            </a:r>
            <a:r>
              <a:rPr lang="en-US" dirty="0" err="1"/>
              <a:t>trò</a:t>
            </a:r>
            <a:r>
              <a:rPr lang="en-US" dirty="0"/>
              <a:t> </a:t>
            </a:r>
            <a:r>
              <a:rPr lang="en-US" dirty="0" err="1" smtClean="0"/>
              <a:t>là</a:t>
            </a:r>
            <a:r>
              <a:rPr lang="en-US" dirty="0" smtClean="0"/>
              <a:t> </a:t>
            </a:r>
            <a:r>
              <a:rPr lang="en-US" dirty="0" err="1"/>
              <a:t>khai</a:t>
            </a:r>
            <a:r>
              <a:rPr lang="en-US" dirty="0"/>
              <a:t> </a:t>
            </a:r>
            <a:r>
              <a:rPr lang="en-US" dirty="0" err="1"/>
              <a:t>báo</a:t>
            </a:r>
            <a:r>
              <a:rPr lang="en-US" dirty="0"/>
              <a:t> </a:t>
            </a:r>
            <a:endParaRPr lang="en-US" dirty="0" smtClean="0"/>
          </a:p>
          <a:p>
            <a:r>
              <a:rPr lang="en-US" dirty="0" err="1" smtClean="0"/>
              <a:t>cho</a:t>
            </a:r>
            <a:r>
              <a:rPr lang="en-US" dirty="0" smtClean="0"/>
              <a:t> </a:t>
            </a:r>
            <a:r>
              <a:rPr lang="en-US" dirty="0" err="1"/>
              <a:t>phần</a:t>
            </a:r>
            <a:r>
              <a:rPr lang="en-US" dirty="0"/>
              <a:t> </a:t>
            </a:r>
            <a:r>
              <a:rPr lang="en-US" dirty="0" err="1"/>
              <a:t>còn</a:t>
            </a:r>
            <a:r>
              <a:rPr lang="en-US" dirty="0"/>
              <a:t> </a:t>
            </a:r>
            <a:r>
              <a:rPr lang="en-US" dirty="0" err="1"/>
              <a:t>lại</a:t>
            </a:r>
            <a:r>
              <a:rPr lang="en-US" dirty="0"/>
              <a:t> </a:t>
            </a:r>
            <a:r>
              <a:rPr lang="en-US" dirty="0" err="1"/>
              <a:t>của</a:t>
            </a:r>
            <a:r>
              <a:rPr lang="en-US" dirty="0"/>
              <a:t> </a:t>
            </a:r>
            <a:r>
              <a:rPr lang="en-US" dirty="0" smtClean="0"/>
              <a:t>file .c </a:t>
            </a:r>
            <a:r>
              <a:rPr lang="en-US" dirty="0" err="1" smtClean="0"/>
              <a:t>đó</a:t>
            </a:r>
            <a:r>
              <a:rPr lang="en-US" dirty="0" smtClean="0"/>
              <a:t>.</a:t>
            </a:r>
            <a:endParaRPr lang="en-US" dirty="0"/>
          </a:p>
        </p:txBody>
      </p:sp>
      <p:sp>
        <p:nvSpPr>
          <p:cNvPr id="7" name="Rectangle 6"/>
          <p:cNvSpPr/>
          <p:nvPr/>
        </p:nvSpPr>
        <p:spPr>
          <a:xfrm>
            <a:off x="2194667" y="2817615"/>
            <a:ext cx="9229321" cy="646331"/>
          </a:xfrm>
          <a:prstGeom prst="rect">
            <a:avLst/>
          </a:prstGeom>
        </p:spPr>
        <p:txBody>
          <a:bodyPr wrap="none">
            <a:spAutoFit/>
          </a:bodyPr>
          <a:lstStyle/>
          <a:p>
            <a:r>
              <a:rPr lang="en-US" dirty="0" err="1" smtClean="0"/>
              <a:t>Nếu</a:t>
            </a:r>
            <a:r>
              <a:rPr lang="en-US" dirty="0" smtClean="0"/>
              <a:t> 1 </a:t>
            </a:r>
            <a:r>
              <a:rPr lang="en-US" dirty="0" err="1" smtClean="0"/>
              <a:t>biến</a:t>
            </a:r>
            <a:r>
              <a:rPr lang="en-US" dirty="0" smtClean="0"/>
              <a:t> </a:t>
            </a:r>
            <a:r>
              <a:rPr lang="en-US" dirty="0" err="1" smtClean="0"/>
              <a:t>được</a:t>
            </a:r>
            <a:r>
              <a:rPr lang="en-US" dirty="0" smtClean="0"/>
              <a:t> </a:t>
            </a:r>
            <a:r>
              <a:rPr lang="en-US" dirty="0" err="1" smtClean="0"/>
              <a:t>định</a:t>
            </a:r>
            <a:r>
              <a:rPr lang="en-US" dirty="0" smtClean="0"/>
              <a:t> </a:t>
            </a:r>
            <a:r>
              <a:rPr lang="en-US" dirty="0" err="1" smtClean="0"/>
              <a:t>nghĩa</a:t>
            </a:r>
            <a:r>
              <a:rPr lang="en-US" dirty="0" smtClean="0"/>
              <a:t> ở 1 file .C </a:t>
            </a:r>
            <a:r>
              <a:rPr lang="en-US" dirty="0" err="1" smtClean="0"/>
              <a:t>khác</a:t>
            </a:r>
            <a:r>
              <a:rPr lang="en-US" dirty="0" smtClean="0"/>
              <a:t> </a:t>
            </a:r>
            <a:r>
              <a:rPr lang="en-US" dirty="0" err="1" smtClean="0"/>
              <a:t>với</a:t>
            </a:r>
            <a:r>
              <a:rPr lang="en-US" dirty="0" smtClean="0"/>
              <a:t> </a:t>
            </a:r>
            <a:r>
              <a:rPr lang="en-US" dirty="0" err="1" smtClean="0"/>
              <a:t>nơi</a:t>
            </a:r>
            <a:r>
              <a:rPr lang="en-US" dirty="0" smtClean="0"/>
              <a:t> file .C </a:t>
            </a:r>
            <a:r>
              <a:rPr lang="en-US" dirty="0" err="1" smtClean="0"/>
              <a:t>nó</a:t>
            </a:r>
            <a:r>
              <a:rPr lang="en-US" dirty="0" smtClean="0"/>
              <a:t> </a:t>
            </a:r>
            <a:r>
              <a:rPr lang="en-US" dirty="0" err="1" smtClean="0"/>
              <a:t>được</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thì</a:t>
            </a:r>
            <a:r>
              <a:rPr lang="en-US" dirty="0" smtClean="0"/>
              <a:t> </a:t>
            </a:r>
            <a:r>
              <a:rPr lang="en-US" dirty="0" err="1" smtClean="0"/>
              <a:t>phải</a:t>
            </a:r>
            <a:r>
              <a:rPr lang="en-US" dirty="0" smtClean="0"/>
              <a:t> </a:t>
            </a:r>
            <a:r>
              <a:rPr lang="en-US" dirty="0" err="1" smtClean="0"/>
              <a:t>khai</a:t>
            </a:r>
            <a:r>
              <a:rPr lang="en-US" dirty="0" smtClean="0"/>
              <a:t> </a:t>
            </a:r>
            <a:r>
              <a:rPr lang="en-US" dirty="0" err="1" smtClean="0"/>
              <a:t>báo</a:t>
            </a:r>
            <a:r>
              <a:rPr lang="en-US" dirty="0" smtClean="0"/>
              <a:t> </a:t>
            </a:r>
            <a:r>
              <a:rPr lang="en-US" dirty="0" err="1" smtClean="0"/>
              <a:t>biến</a:t>
            </a:r>
            <a:endParaRPr lang="en-US" dirty="0" smtClean="0"/>
          </a:p>
          <a:p>
            <a:r>
              <a:rPr lang="en-US" dirty="0" err="1" smtClean="0"/>
              <a:t>đó</a:t>
            </a:r>
            <a:r>
              <a:rPr lang="en-US" dirty="0" smtClean="0"/>
              <a:t> </a:t>
            </a:r>
            <a:r>
              <a:rPr lang="en-US" dirty="0" err="1" smtClean="0"/>
              <a:t>với</a:t>
            </a:r>
            <a:r>
              <a:rPr lang="en-US" dirty="0" smtClean="0"/>
              <a:t> </a:t>
            </a:r>
            <a:r>
              <a:rPr lang="en-US" dirty="0" err="1" smtClean="0"/>
              <a:t>từ</a:t>
            </a:r>
            <a:r>
              <a:rPr lang="en-US" dirty="0" smtClean="0"/>
              <a:t> </a:t>
            </a:r>
            <a:r>
              <a:rPr lang="en-US" dirty="0" err="1" smtClean="0"/>
              <a:t>khóa</a:t>
            </a:r>
            <a:r>
              <a:rPr lang="en-US" dirty="0" smtClean="0"/>
              <a:t> extern</a:t>
            </a:r>
            <a:endParaRPr lang="en-US" dirty="0"/>
          </a:p>
        </p:txBody>
      </p:sp>
    </p:spTree>
    <p:extLst>
      <p:ext uri="{BB962C8B-B14F-4D97-AF65-F5344CB8AC3E}">
        <p14:creationId xmlns:p14="http://schemas.microsoft.com/office/powerpoint/2010/main" val="1717303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3835" y="605637"/>
            <a:ext cx="1750416" cy="369332"/>
          </a:xfrm>
          <a:prstGeom prst="rect">
            <a:avLst/>
          </a:prstGeom>
        </p:spPr>
        <p:txBody>
          <a:bodyPr wrap="none">
            <a:spAutoFit/>
          </a:bodyPr>
          <a:lstStyle/>
          <a:p>
            <a:r>
              <a:rPr lang="en-US" dirty="0" smtClean="0"/>
              <a:t>External variable</a:t>
            </a:r>
            <a:endParaRPr lang="en-US" dirty="0"/>
          </a:p>
        </p:txBody>
      </p:sp>
      <p:sp>
        <p:nvSpPr>
          <p:cNvPr id="3" name="Rectangle 2"/>
          <p:cNvSpPr/>
          <p:nvPr/>
        </p:nvSpPr>
        <p:spPr>
          <a:xfrm>
            <a:off x="603835" y="1138535"/>
            <a:ext cx="6096000" cy="923330"/>
          </a:xfrm>
          <a:prstGeom prst="rect">
            <a:avLst/>
          </a:prstGeom>
        </p:spPr>
        <p:txBody>
          <a:bodyPr>
            <a:spAutoFit/>
          </a:bodyPr>
          <a:lstStyle/>
          <a:p>
            <a:r>
              <a:rPr lang="vi-VN" dirty="0"/>
              <a:t>Các biến bên ngoài được định nghĩa bên ngoài bất kỳ hàm nào, và do đó có khả năng được sử dụng bởi nhiều hàm. </a:t>
            </a:r>
            <a:endParaRPr lang="en-US" dirty="0"/>
          </a:p>
        </p:txBody>
      </p:sp>
      <p:sp>
        <p:nvSpPr>
          <p:cNvPr id="4" name="Rectangle 3"/>
          <p:cNvSpPr/>
          <p:nvPr/>
        </p:nvSpPr>
        <p:spPr>
          <a:xfrm>
            <a:off x="1367246" y="5575389"/>
            <a:ext cx="6096000" cy="923330"/>
          </a:xfrm>
          <a:prstGeom prst="rect">
            <a:avLst/>
          </a:prstGeom>
        </p:spPr>
        <p:txBody>
          <a:bodyPr>
            <a:spAutoFit/>
          </a:bodyPr>
          <a:lstStyle/>
          <a:p>
            <a:r>
              <a:rPr lang="en-US" dirty="0" err="1" smtClean="0"/>
              <a:t>Các</a:t>
            </a:r>
            <a:r>
              <a:rPr lang="en-US" dirty="0" smtClean="0"/>
              <a:t> h</a:t>
            </a:r>
            <a:r>
              <a:rPr lang="vi-VN" dirty="0" smtClean="0"/>
              <a:t>àm </a:t>
            </a:r>
            <a:r>
              <a:rPr lang="vi-VN" dirty="0"/>
              <a:t>luôn luôn là đối tượng bên ngoài, bởi vì ngôn ngữ C không cho phép định nghĩa một hàm bên trong một hàm khác.</a:t>
            </a:r>
            <a:endParaRPr lang="en-US" dirty="0"/>
          </a:p>
        </p:txBody>
      </p:sp>
      <p:sp>
        <p:nvSpPr>
          <p:cNvPr id="6" name="TextBox 5"/>
          <p:cNvSpPr txBox="1"/>
          <p:nvPr/>
        </p:nvSpPr>
        <p:spPr>
          <a:xfrm>
            <a:off x="1367246" y="2333897"/>
            <a:ext cx="10783145" cy="1200329"/>
          </a:xfrm>
          <a:prstGeom prst="rect">
            <a:avLst/>
          </a:prstGeom>
          <a:noFill/>
        </p:spPr>
        <p:txBody>
          <a:bodyPr wrap="none" rtlCol="0">
            <a:spAutoFit/>
          </a:bodyPr>
          <a:lstStyle/>
          <a:p>
            <a:r>
              <a:rPr lang="en-US" dirty="0" err="1" smtClean="0"/>
              <a:t>Nó</a:t>
            </a:r>
            <a:r>
              <a:rPr lang="en-US" dirty="0" smtClean="0"/>
              <a:t> </a:t>
            </a:r>
            <a:r>
              <a:rPr lang="en-US" dirty="0" err="1" smtClean="0"/>
              <a:t>có</a:t>
            </a:r>
            <a:r>
              <a:rPr lang="en-US" dirty="0" smtClean="0"/>
              <a:t> </a:t>
            </a:r>
            <a:r>
              <a:rPr lang="en-US" dirty="0" err="1" smtClean="0"/>
              <a:t>khả</a:t>
            </a:r>
            <a:r>
              <a:rPr lang="en-US" dirty="0" smtClean="0"/>
              <a:t> </a:t>
            </a:r>
            <a:r>
              <a:rPr lang="en-US" dirty="0" err="1" smtClean="0"/>
              <a:t>năng</a:t>
            </a:r>
            <a:r>
              <a:rPr lang="en-US" dirty="0" smtClean="0"/>
              <a:t> </a:t>
            </a:r>
            <a:r>
              <a:rPr lang="en-US" dirty="0" err="1" smtClean="0"/>
              <a:t>tồn</a:t>
            </a:r>
            <a:r>
              <a:rPr lang="en-US" dirty="0" smtClean="0"/>
              <a:t> </a:t>
            </a:r>
            <a:r>
              <a:rPr lang="en-US" dirty="0" err="1" smtClean="0"/>
              <a:t>tại</a:t>
            </a:r>
            <a:r>
              <a:rPr lang="en-US" dirty="0" smtClean="0"/>
              <a:t> </a:t>
            </a:r>
            <a:r>
              <a:rPr lang="en-US" dirty="0" err="1" smtClean="0"/>
              <a:t>vĩnh</a:t>
            </a:r>
            <a:r>
              <a:rPr lang="en-US" dirty="0" smtClean="0"/>
              <a:t> </a:t>
            </a:r>
            <a:r>
              <a:rPr lang="en-US" dirty="0" err="1" smtClean="0"/>
              <a:t>viễn</a:t>
            </a:r>
            <a:r>
              <a:rPr lang="en-US" dirty="0" smtClean="0"/>
              <a:t> </a:t>
            </a:r>
            <a:r>
              <a:rPr lang="en-US" dirty="0" err="1" smtClean="0"/>
              <a:t>trong</a:t>
            </a:r>
            <a:r>
              <a:rPr lang="en-US" dirty="0" smtClean="0"/>
              <a:t> </a:t>
            </a:r>
            <a:r>
              <a:rPr lang="en-US" dirty="0" err="1" smtClean="0"/>
              <a:t>suốt</a:t>
            </a:r>
            <a:r>
              <a:rPr lang="en-US" dirty="0" smtClean="0"/>
              <a:t> </a:t>
            </a:r>
            <a:r>
              <a:rPr lang="en-US" dirty="0" err="1" smtClean="0"/>
              <a:t>quá</a:t>
            </a:r>
            <a:r>
              <a:rPr lang="en-US" dirty="0" smtClean="0"/>
              <a:t> </a:t>
            </a:r>
            <a:r>
              <a:rPr lang="en-US" dirty="0" err="1" smtClean="0"/>
              <a:t>trình</a:t>
            </a:r>
            <a:r>
              <a:rPr lang="en-US" dirty="0" smtClean="0"/>
              <a:t> </a:t>
            </a:r>
            <a:r>
              <a:rPr lang="en-US" dirty="0" err="1" smtClean="0"/>
              <a:t>chương</a:t>
            </a:r>
            <a:r>
              <a:rPr lang="en-US" dirty="0" smtClean="0"/>
              <a:t> </a:t>
            </a:r>
            <a:r>
              <a:rPr lang="en-US" dirty="0" err="1" smtClean="0"/>
              <a:t>trình</a:t>
            </a:r>
            <a:r>
              <a:rPr lang="en-US" dirty="0" smtClean="0"/>
              <a:t> </a:t>
            </a:r>
            <a:r>
              <a:rPr lang="en-US" dirty="0" err="1" smtClean="0"/>
              <a:t>chạy</a:t>
            </a:r>
            <a:r>
              <a:rPr lang="en-US" dirty="0" smtClean="0"/>
              <a:t>. </a:t>
            </a:r>
            <a:r>
              <a:rPr lang="en-US" dirty="0" err="1" smtClean="0"/>
              <a:t>Nó</a:t>
            </a:r>
            <a:r>
              <a:rPr lang="en-US" dirty="0" smtClean="0"/>
              <a:t> </a:t>
            </a:r>
            <a:r>
              <a:rPr lang="en-US" dirty="0" err="1" smtClean="0"/>
              <a:t>giữ</a:t>
            </a:r>
            <a:r>
              <a:rPr lang="en-US" dirty="0" smtClean="0"/>
              <a:t> </a:t>
            </a:r>
            <a:r>
              <a:rPr lang="en-US" dirty="0" err="1" smtClean="0"/>
              <a:t>giá</a:t>
            </a:r>
            <a:r>
              <a:rPr lang="en-US" dirty="0" smtClean="0"/>
              <a:t> </a:t>
            </a:r>
            <a:r>
              <a:rPr lang="en-US" dirty="0" err="1" smtClean="0"/>
              <a:t>trình</a:t>
            </a:r>
            <a:r>
              <a:rPr lang="en-US" dirty="0" smtClean="0"/>
              <a:t> </a:t>
            </a:r>
            <a:r>
              <a:rPr lang="en-US" dirty="0" err="1" smtClean="0"/>
              <a:t>từ</a:t>
            </a:r>
            <a:r>
              <a:rPr lang="en-US" dirty="0" smtClean="0"/>
              <a:t> </a:t>
            </a:r>
            <a:r>
              <a:rPr lang="en-US" dirty="0" err="1" smtClean="0"/>
              <a:t>lần</a:t>
            </a:r>
            <a:r>
              <a:rPr lang="en-US" dirty="0" smtClean="0"/>
              <a:t/>
            </a:r>
            <a:br>
              <a:rPr lang="en-US" dirty="0" smtClean="0"/>
            </a:br>
            <a:r>
              <a:rPr lang="en-US" dirty="0" err="1" smtClean="0"/>
              <a:t>gọi</a:t>
            </a:r>
            <a:r>
              <a:rPr lang="en-US" dirty="0" smtClean="0"/>
              <a:t> </a:t>
            </a:r>
            <a:r>
              <a:rPr lang="en-US" dirty="0" err="1" smtClean="0"/>
              <a:t>hàm</a:t>
            </a:r>
            <a:r>
              <a:rPr lang="en-US" dirty="0" smtClean="0"/>
              <a:t> </a:t>
            </a:r>
            <a:r>
              <a:rPr lang="en-US" dirty="0" err="1" smtClean="0"/>
              <a:t>này</a:t>
            </a:r>
            <a:r>
              <a:rPr lang="en-US" dirty="0" smtClean="0"/>
              <a:t> sang </a:t>
            </a:r>
            <a:r>
              <a:rPr lang="en-US" dirty="0" err="1" smtClean="0"/>
              <a:t>lần</a:t>
            </a:r>
            <a:r>
              <a:rPr lang="en-US" dirty="0" smtClean="0"/>
              <a:t> </a:t>
            </a:r>
            <a:r>
              <a:rPr lang="en-US" dirty="0" err="1" smtClean="0"/>
              <a:t>gọi</a:t>
            </a:r>
            <a:r>
              <a:rPr lang="en-US" dirty="0" smtClean="0"/>
              <a:t> </a:t>
            </a:r>
            <a:r>
              <a:rPr lang="en-US" dirty="0" err="1" smtClean="0"/>
              <a:t>hàm</a:t>
            </a:r>
            <a:r>
              <a:rPr lang="en-US" dirty="0" smtClean="0"/>
              <a:t> </a:t>
            </a:r>
            <a:r>
              <a:rPr lang="en-US" dirty="0" err="1" smtClean="0"/>
              <a:t>tiếp</a:t>
            </a:r>
            <a:r>
              <a:rPr lang="en-US" dirty="0" smtClean="0"/>
              <a:t> </a:t>
            </a:r>
            <a:r>
              <a:rPr lang="en-US" dirty="0" err="1" smtClean="0"/>
              <a:t>theo.</a:t>
            </a:r>
            <a:r>
              <a:rPr lang="en-US" dirty="0" smtClean="0"/>
              <a:t/>
            </a:r>
            <a:br>
              <a:rPr lang="en-US" dirty="0" smtClean="0"/>
            </a:br>
            <a:r>
              <a:rPr lang="en-US" dirty="0" err="1" smtClean="0"/>
              <a:t>Nói</a:t>
            </a:r>
            <a:r>
              <a:rPr lang="en-US" dirty="0" smtClean="0"/>
              <a:t> </a:t>
            </a:r>
            <a:r>
              <a:rPr lang="en-US" dirty="0" err="1" smtClean="0"/>
              <a:t>cũng</a:t>
            </a:r>
            <a:r>
              <a:rPr lang="en-US" dirty="0" smtClean="0"/>
              <a:t> </a:t>
            </a:r>
            <a:r>
              <a:rPr lang="en-US" dirty="0" err="1" smtClean="0"/>
              <a:t>được</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cho</a:t>
            </a:r>
            <a:r>
              <a:rPr lang="en-US" dirty="0" smtClean="0"/>
              <a:t> </a:t>
            </a:r>
            <a:r>
              <a:rPr lang="en-US" dirty="0" err="1" smtClean="0"/>
              <a:t>viecj</a:t>
            </a:r>
            <a:r>
              <a:rPr lang="en-US" dirty="0" smtClean="0"/>
              <a:t> </a:t>
            </a:r>
            <a:r>
              <a:rPr lang="en-US" dirty="0" err="1" smtClean="0"/>
              <a:t>truyền</a:t>
            </a:r>
            <a:r>
              <a:rPr lang="en-US" dirty="0" smtClean="0"/>
              <a:t> </a:t>
            </a:r>
            <a:r>
              <a:rPr lang="en-US" dirty="0" err="1" smtClean="0"/>
              <a:t>dũ</a:t>
            </a:r>
            <a:r>
              <a:rPr lang="en-US" dirty="0" smtClean="0"/>
              <a:t> </a:t>
            </a:r>
            <a:r>
              <a:rPr lang="en-US" dirty="0" err="1" smtClean="0"/>
              <a:t>liệu</a:t>
            </a:r>
            <a:r>
              <a:rPr lang="en-US" dirty="0"/>
              <a:t> </a:t>
            </a:r>
            <a:r>
              <a:rPr lang="en-US" dirty="0" err="1" smtClean="0"/>
              <a:t>khi</a:t>
            </a:r>
            <a:r>
              <a:rPr lang="en-US" dirty="0" smtClean="0"/>
              <a:t> 2 hay </a:t>
            </a:r>
            <a:r>
              <a:rPr lang="en-US" dirty="0" err="1" smtClean="0"/>
              <a:t>nhiều</a:t>
            </a:r>
            <a:r>
              <a:rPr lang="en-US" dirty="0" smtClean="0"/>
              <a:t> </a:t>
            </a:r>
            <a:r>
              <a:rPr lang="en-US" dirty="0" err="1" smtClean="0"/>
              <a:t>hàm</a:t>
            </a:r>
            <a:r>
              <a:rPr lang="en-US" dirty="0" smtClean="0"/>
              <a:t> </a:t>
            </a:r>
            <a:r>
              <a:rPr lang="en-US" dirty="0" err="1" smtClean="0"/>
              <a:t>cần</a:t>
            </a:r>
            <a:r>
              <a:rPr lang="en-US" dirty="0" smtClean="0"/>
              <a:t> chia </a:t>
            </a:r>
            <a:r>
              <a:rPr lang="en-US" dirty="0" err="1" smtClean="0"/>
              <a:t>sẻ</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Nó</a:t>
            </a:r>
            <a:r>
              <a:rPr lang="en-US" dirty="0" smtClean="0"/>
              <a:t> </a:t>
            </a:r>
            <a:r>
              <a:rPr lang="en-US" dirty="0" err="1" smtClean="0"/>
              <a:t>giúp</a:t>
            </a:r>
            <a:r>
              <a:rPr lang="en-US" dirty="0" smtClean="0"/>
              <a:t> </a:t>
            </a:r>
            <a:r>
              <a:rPr lang="en-US" dirty="0" err="1" smtClean="0"/>
              <a:t>tránh</a:t>
            </a:r>
            <a:r>
              <a:rPr lang="en-US" dirty="0" smtClean="0"/>
              <a:t> </a:t>
            </a:r>
            <a:r>
              <a:rPr lang="en-US" dirty="0" err="1" smtClean="0"/>
              <a:t>việ</a:t>
            </a:r>
            <a:r>
              <a:rPr lang="en-US" dirty="0" smtClean="0"/>
              <a:t> </a:t>
            </a:r>
            <a:r>
              <a:rPr lang="en-US" dirty="0" err="1" smtClean="0"/>
              <a:t>truyền</a:t>
            </a:r>
            <a:r>
              <a:rPr lang="en-US" dirty="0" smtClean="0"/>
              <a:t> </a:t>
            </a:r>
            <a:br>
              <a:rPr lang="en-US" dirty="0" smtClean="0"/>
            </a:br>
            <a:r>
              <a:rPr lang="en-US" dirty="0" err="1" smtClean="0"/>
              <a:t>hàng</a:t>
            </a:r>
            <a:r>
              <a:rPr lang="en-US" dirty="0" smtClean="0"/>
              <a:t> </a:t>
            </a:r>
            <a:r>
              <a:rPr lang="en-US" dirty="0" err="1" smtClean="0"/>
              <a:t>dái</a:t>
            </a:r>
            <a:r>
              <a:rPr lang="en-US" dirty="0" smtClean="0"/>
              <a:t> </a:t>
            </a:r>
            <a:r>
              <a:rPr lang="en-US" dirty="0" err="1" smtClean="0"/>
              <a:t>các</a:t>
            </a:r>
            <a:r>
              <a:rPr lang="en-US" dirty="0" smtClean="0"/>
              <a:t> </a:t>
            </a:r>
            <a:r>
              <a:rPr lang="en-US" dirty="0" err="1" smtClean="0"/>
              <a:t>đối</a:t>
            </a:r>
            <a:r>
              <a:rPr lang="en-US" dirty="0" smtClean="0"/>
              <a:t> </a:t>
            </a:r>
            <a:r>
              <a:rPr lang="en-US" dirty="0" err="1" smtClean="0"/>
              <a:t>số</a:t>
            </a:r>
            <a:r>
              <a:rPr lang="en-US" dirty="0" smtClean="0"/>
              <a:t> </a:t>
            </a:r>
            <a:r>
              <a:rPr lang="en-US" dirty="0" err="1" smtClean="0"/>
              <a:t>dài</a:t>
            </a:r>
            <a:r>
              <a:rPr lang="en-US" dirty="0" smtClean="0"/>
              <a:t> </a:t>
            </a:r>
            <a:r>
              <a:rPr lang="en-US" dirty="0" err="1" smtClean="0"/>
              <a:t>dòng</a:t>
            </a:r>
            <a:r>
              <a:rPr lang="en-US" dirty="0" smtClean="0"/>
              <a:t>. </a:t>
            </a:r>
            <a:endParaRPr lang="en-US" dirty="0"/>
          </a:p>
        </p:txBody>
      </p:sp>
      <p:sp>
        <p:nvSpPr>
          <p:cNvPr id="8" name="Rectangle 7"/>
          <p:cNvSpPr/>
          <p:nvPr/>
        </p:nvSpPr>
        <p:spPr>
          <a:xfrm>
            <a:off x="2761228" y="4017892"/>
            <a:ext cx="2129557" cy="369332"/>
          </a:xfrm>
          <a:prstGeom prst="rect">
            <a:avLst/>
          </a:prstGeom>
        </p:spPr>
        <p:txBody>
          <a:bodyPr wrap="none">
            <a:spAutoFit/>
          </a:bodyPr>
          <a:lstStyle/>
          <a:p>
            <a:r>
              <a:rPr lang="en-US" dirty="0" smtClean="0"/>
              <a:t>double </a:t>
            </a:r>
            <a:r>
              <a:rPr lang="en-US" dirty="0" err="1"/>
              <a:t>atof</a:t>
            </a:r>
            <a:r>
              <a:rPr lang="en-US" dirty="0"/>
              <a:t>(char []);</a:t>
            </a:r>
          </a:p>
        </p:txBody>
      </p:sp>
      <p:sp>
        <p:nvSpPr>
          <p:cNvPr id="9" name="TextBox 8"/>
          <p:cNvSpPr txBox="1"/>
          <p:nvPr/>
        </p:nvSpPr>
        <p:spPr>
          <a:xfrm>
            <a:off x="1793966" y="3683726"/>
            <a:ext cx="7810087" cy="369332"/>
          </a:xfrm>
          <a:prstGeom prst="rect">
            <a:avLst/>
          </a:prstGeom>
          <a:noFill/>
        </p:spPr>
        <p:txBody>
          <a:bodyPr wrap="none" rtlCol="0">
            <a:spAutoFit/>
          </a:bodyPr>
          <a:lstStyle/>
          <a:p>
            <a:r>
              <a:rPr lang="en-US" dirty="0" err="1" smtClean="0"/>
              <a:t>Khai</a:t>
            </a:r>
            <a:r>
              <a:rPr lang="en-US" dirty="0" smtClean="0"/>
              <a:t> </a:t>
            </a:r>
            <a:r>
              <a:rPr lang="en-US" dirty="0" err="1" smtClean="0"/>
              <a:t>báo</a:t>
            </a:r>
            <a:r>
              <a:rPr lang="en-US" dirty="0" smtClean="0"/>
              <a:t> </a:t>
            </a:r>
            <a:r>
              <a:rPr lang="en-US" dirty="0" err="1" smtClean="0"/>
              <a:t>hàm</a:t>
            </a:r>
            <a:r>
              <a:rPr lang="en-US" dirty="0" smtClean="0"/>
              <a:t> </a:t>
            </a:r>
            <a:r>
              <a:rPr lang="en-US" dirty="0" err="1" smtClean="0"/>
              <a:t>mà</a:t>
            </a:r>
            <a:r>
              <a:rPr lang="en-US" dirty="0" smtClean="0"/>
              <a:t> </a:t>
            </a:r>
            <a:r>
              <a:rPr lang="en-US" dirty="0" err="1" smtClean="0"/>
              <a:t>không</a:t>
            </a:r>
            <a:r>
              <a:rPr lang="en-US" dirty="0" smtClean="0"/>
              <a:t> </a:t>
            </a:r>
            <a:r>
              <a:rPr lang="en-US" dirty="0" err="1" smtClean="0"/>
              <a:t>ghi</a:t>
            </a:r>
            <a:r>
              <a:rPr lang="en-US" dirty="0" smtClean="0"/>
              <a:t> </a:t>
            </a:r>
            <a:r>
              <a:rPr lang="en-US" dirty="0" err="1" smtClean="0"/>
              <a:t>rõ</a:t>
            </a:r>
            <a:r>
              <a:rPr lang="en-US" dirty="0" smtClean="0"/>
              <a:t> </a:t>
            </a:r>
            <a:r>
              <a:rPr lang="en-US" dirty="0" err="1" smtClean="0"/>
              <a:t>khiể</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trả</a:t>
            </a:r>
            <a:r>
              <a:rPr lang="en-US" dirty="0" smtClean="0"/>
              <a:t> </a:t>
            </a:r>
            <a:r>
              <a:rPr lang="en-US" dirty="0" err="1" smtClean="0"/>
              <a:t>về</a:t>
            </a:r>
            <a:r>
              <a:rPr lang="en-US" dirty="0" smtClean="0"/>
              <a:t> </a:t>
            </a:r>
            <a:r>
              <a:rPr lang="en-US" dirty="0" err="1" smtClean="0"/>
              <a:t>thì</a:t>
            </a:r>
            <a:r>
              <a:rPr lang="en-US" dirty="0" smtClean="0"/>
              <a:t> </a:t>
            </a:r>
            <a:r>
              <a:rPr lang="en-US" dirty="0" err="1" smtClean="0"/>
              <a:t>nó</a:t>
            </a:r>
            <a:r>
              <a:rPr lang="en-US" dirty="0" smtClean="0"/>
              <a:t> </a:t>
            </a:r>
            <a:r>
              <a:rPr lang="en-US" dirty="0" err="1" smtClean="0"/>
              <a:t>mặc</a:t>
            </a:r>
            <a:r>
              <a:rPr lang="en-US" dirty="0" smtClean="0"/>
              <a:t> </a:t>
            </a:r>
            <a:r>
              <a:rPr lang="en-US" dirty="0" err="1" smtClean="0"/>
              <a:t>định</a:t>
            </a:r>
            <a:r>
              <a:rPr lang="en-US" dirty="0" smtClean="0"/>
              <a:t> </a:t>
            </a:r>
            <a:r>
              <a:rPr lang="en-US" dirty="0" err="1" smtClean="0"/>
              <a:t>trả</a:t>
            </a:r>
            <a:r>
              <a:rPr lang="en-US" dirty="0" smtClean="0"/>
              <a:t> </a:t>
            </a:r>
            <a:r>
              <a:rPr lang="en-US" dirty="0" err="1" smtClean="0"/>
              <a:t>về</a:t>
            </a:r>
            <a:r>
              <a:rPr lang="en-US" dirty="0" smtClean="0"/>
              <a:t> </a:t>
            </a:r>
            <a:r>
              <a:rPr lang="en-US" dirty="0" err="1" smtClean="0"/>
              <a:t>triueer</a:t>
            </a:r>
            <a:r>
              <a:rPr lang="en-US" dirty="0" smtClean="0"/>
              <a:t> </a:t>
            </a:r>
            <a:r>
              <a:rPr lang="en-US" dirty="0" err="1" smtClean="0"/>
              <a:t>int</a:t>
            </a:r>
            <a:endParaRPr lang="en-US" dirty="0"/>
          </a:p>
        </p:txBody>
      </p:sp>
      <p:sp>
        <p:nvSpPr>
          <p:cNvPr id="10" name="TextBox 9"/>
          <p:cNvSpPr txBox="1"/>
          <p:nvPr/>
        </p:nvSpPr>
        <p:spPr>
          <a:xfrm>
            <a:off x="1663338" y="4323975"/>
            <a:ext cx="9842182" cy="923330"/>
          </a:xfrm>
          <a:prstGeom prst="rect">
            <a:avLst/>
          </a:prstGeom>
          <a:noFill/>
        </p:spPr>
        <p:txBody>
          <a:bodyPr wrap="none" rtlCol="0">
            <a:spAutoFit/>
          </a:bodyPr>
          <a:lstStyle/>
          <a:p>
            <a:r>
              <a:rPr lang="en-US" dirty="0" err="1" smtClean="0"/>
              <a:t>Trong</a:t>
            </a:r>
            <a:r>
              <a:rPr lang="en-US" dirty="0" smtClean="0"/>
              <a:t> C </a:t>
            </a:r>
            <a:r>
              <a:rPr lang="en-US" dirty="0" err="1" smtClean="0"/>
              <a:t>cũ</a:t>
            </a:r>
            <a:r>
              <a:rPr lang="en-US" dirty="0" smtClean="0"/>
              <a:t> </a:t>
            </a:r>
            <a:r>
              <a:rPr lang="en-US" dirty="0" err="1" smtClean="0"/>
              <a:t>nếu</a:t>
            </a:r>
            <a:r>
              <a:rPr lang="en-US" dirty="0"/>
              <a:t> </a:t>
            </a:r>
            <a:r>
              <a:rPr lang="en-US" dirty="0" err="1" smtClean="0"/>
              <a:t>không</a:t>
            </a:r>
            <a:r>
              <a:rPr lang="en-US" dirty="0" smtClean="0"/>
              <a:t> </a:t>
            </a:r>
            <a:r>
              <a:rPr lang="en-US" dirty="0" err="1" smtClean="0"/>
              <a:t>có</a:t>
            </a:r>
            <a:r>
              <a:rPr lang="en-US" dirty="0" smtClean="0"/>
              <a:t> </a:t>
            </a:r>
            <a:r>
              <a:rPr lang="en-US" dirty="0" err="1" smtClean="0"/>
              <a:t>truyền</a:t>
            </a:r>
            <a:r>
              <a:rPr lang="en-US" dirty="0" smtClean="0"/>
              <a:t> </a:t>
            </a:r>
            <a:r>
              <a:rPr lang="en-US" dirty="0" err="1" smtClean="0"/>
              <a:t>tham</a:t>
            </a:r>
            <a:r>
              <a:rPr lang="en-US" dirty="0" smtClean="0"/>
              <a:t> </a:t>
            </a:r>
            <a:r>
              <a:rPr lang="en-US" dirty="0" err="1" smtClean="0"/>
              <a:t>số</a:t>
            </a:r>
            <a:r>
              <a:rPr lang="en-US" dirty="0" smtClean="0"/>
              <a:t> </a:t>
            </a:r>
            <a:r>
              <a:rPr lang="en-US" dirty="0" err="1" smtClean="0"/>
              <a:t>vào</a:t>
            </a:r>
            <a:r>
              <a:rPr lang="en-US" dirty="0" smtClean="0"/>
              <a:t> </a:t>
            </a:r>
            <a:r>
              <a:rPr lang="en-US" dirty="0" err="1" smtClean="0"/>
              <a:t>hàm</a:t>
            </a:r>
            <a:r>
              <a:rPr lang="en-US" dirty="0" smtClean="0"/>
              <a:t> </a:t>
            </a:r>
            <a:r>
              <a:rPr lang="en-US" dirty="0" err="1" smtClean="0"/>
              <a:t>thì</a:t>
            </a:r>
            <a:r>
              <a:rPr lang="en-US" dirty="0" smtClean="0"/>
              <a:t> </a:t>
            </a:r>
            <a:r>
              <a:rPr lang="en-US" dirty="0" err="1" smtClean="0"/>
              <a:t>ghi</a:t>
            </a:r>
            <a:r>
              <a:rPr lang="en-US" dirty="0" smtClean="0"/>
              <a:t> void, </a:t>
            </a:r>
            <a:r>
              <a:rPr lang="en-US" dirty="0" err="1" smtClean="0"/>
              <a:t>nếu</a:t>
            </a:r>
            <a:r>
              <a:rPr lang="en-US" dirty="0" smtClean="0"/>
              <a:t> </a:t>
            </a:r>
            <a:r>
              <a:rPr lang="en-US" dirty="0" err="1" smtClean="0"/>
              <a:t>để</a:t>
            </a:r>
            <a:r>
              <a:rPr lang="en-US" dirty="0" smtClean="0"/>
              <a:t> </a:t>
            </a:r>
            <a:r>
              <a:rPr lang="en-US" dirty="0" err="1" smtClean="0"/>
              <a:t>trống</a:t>
            </a:r>
            <a:r>
              <a:rPr lang="en-US" dirty="0" smtClean="0"/>
              <a:t>, </a:t>
            </a:r>
            <a:r>
              <a:rPr lang="en-US" dirty="0" err="1" smtClean="0"/>
              <a:t>nó</a:t>
            </a:r>
            <a:r>
              <a:rPr lang="en-US" dirty="0" smtClean="0"/>
              <a:t> </a:t>
            </a:r>
            <a:r>
              <a:rPr lang="en-US" dirty="0" err="1" smtClean="0"/>
              <a:t>sẽ</a:t>
            </a:r>
            <a:r>
              <a:rPr lang="en-US" dirty="0" smtClean="0"/>
              <a:t> </a:t>
            </a:r>
            <a:r>
              <a:rPr lang="en-US" dirty="0" err="1" smtClean="0"/>
              <a:t>tự</a:t>
            </a:r>
            <a:r>
              <a:rPr lang="en-US" dirty="0" smtClean="0"/>
              <a:t> </a:t>
            </a:r>
            <a:r>
              <a:rPr lang="en-US" dirty="0" err="1" smtClean="0"/>
              <a:t>động</a:t>
            </a:r>
            <a:r>
              <a:rPr lang="en-US" dirty="0" smtClean="0"/>
              <a:t> </a:t>
            </a:r>
          </a:p>
          <a:p>
            <a:r>
              <a:rPr lang="en-US" dirty="0" err="1"/>
              <a:t>h</a:t>
            </a:r>
            <a:r>
              <a:rPr lang="en-US" dirty="0" err="1" smtClean="0"/>
              <a:t>iểu</a:t>
            </a:r>
            <a:r>
              <a:rPr lang="en-US" dirty="0" smtClean="0"/>
              <a:t> </a:t>
            </a:r>
            <a:r>
              <a:rPr lang="en-US" dirty="0" err="1" smtClean="0"/>
              <a:t>là</a:t>
            </a:r>
            <a:r>
              <a:rPr lang="en-US" dirty="0" smtClean="0"/>
              <a:t> </a:t>
            </a:r>
            <a:r>
              <a:rPr lang="en-US" dirty="0" err="1" smtClean="0"/>
              <a:t>tắt</a:t>
            </a:r>
            <a:r>
              <a:rPr lang="en-US" dirty="0" smtClean="0"/>
              <a:t> </a:t>
            </a:r>
            <a:r>
              <a:rPr lang="en-US" dirty="0" err="1" smtClean="0"/>
              <a:t>tính</a:t>
            </a:r>
            <a:r>
              <a:rPr lang="en-US" dirty="0" smtClean="0"/>
              <a:t> </a:t>
            </a:r>
            <a:r>
              <a:rPr lang="en-US" dirty="0" err="1" smtClean="0"/>
              <a:t>năng</a:t>
            </a:r>
            <a:r>
              <a:rPr lang="en-US" dirty="0" smtClean="0"/>
              <a:t> </a:t>
            </a:r>
            <a:r>
              <a:rPr lang="en-US" dirty="0" err="1" smtClean="0"/>
              <a:t>kiểm</a:t>
            </a:r>
            <a:r>
              <a:rPr lang="en-US" dirty="0" smtClean="0"/>
              <a:t> </a:t>
            </a:r>
            <a:r>
              <a:rPr lang="en-US" dirty="0" err="1" smtClean="0"/>
              <a:t>tra</a:t>
            </a:r>
            <a:r>
              <a:rPr lang="en-US" dirty="0" smtClean="0"/>
              <a:t> </a:t>
            </a:r>
            <a:r>
              <a:rPr lang="en-US" dirty="0" err="1" smtClean="0"/>
              <a:t>chứ</a:t>
            </a:r>
            <a:r>
              <a:rPr lang="en-US" dirty="0" smtClean="0"/>
              <a:t> </a:t>
            </a:r>
            <a:r>
              <a:rPr lang="en-US" dirty="0" err="1" smtClean="0"/>
              <a:t>không</a:t>
            </a:r>
            <a:r>
              <a:rPr lang="en-US" dirty="0" smtClean="0"/>
              <a:t> </a:t>
            </a:r>
            <a:r>
              <a:rPr lang="en-US" dirty="0" err="1" smtClean="0"/>
              <a:t>phải</a:t>
            </a:r>
            <a:r>
              <a:rPr lang="en-US" dirty="0" smtClean="0"/>
              <a:t> </a:t>
            </a:r>
            <a:r>
              <a:rPr lang="en-US" dirty="0" err="1" smtClean="0"/>
              <a:t>là</a:t>
            </a:r>
            <a:r>
              <a:rPr lang="en-US" dirty="0" smtClean="0"/>
              <a:t> </a:t>
            </a:r>
            <a:r>
              <a:rPr lang="en-US" dirty="0" err="1" smtClean="0"/>
              <a:t>không</a:t>
            </a:r>
            <a:r>
              <a:rPr lang="en-US" dirty="0" smtClean="0"/>
              <a:t> </a:t>
            </a:r>
            <a:r>
              <a:rPr lang="en-US" dirty="0" err="1" smtClean="0"/>
              <a:t>truyền</a:t>
            </a:r>
            <a:r>
              <a:rPr lang="en-US" dirty="0" smtClean="0"/>
              <a:t> </a:t>
            </a:r>
            <a:r>
              <a:rPr lang="en-US" dirty="0" err="1" smtClean="0"/>
              <a:t>tham</a:t>
            </a:r>
            <a:r>
              <a:rPr lang="en-US" dirty="0" smtClean="0"/>
              <a:t> </a:t>
            </a:r>
            <a:r>
              <a:rPr lang="en-US" dirty="0" err="1" smtClean="0"/>
              <a:t>số</a:t>
            </a:r>
            <a:r>
              <a:rPr lang="en-US" dirty="0" smtClean="0"/>
              <a:t>. </a:t>
            </a:r>
            <a:r>
              <a:rPr lang="en-US" dirty="0" err="1" smtClean="0"/>
              <a:t>Lúc</a:t>
            </a:r>
            <a:r>
              <a:rPr lang="en-US" dirty="0" smtClean="0"/>
              <a:t> </a:t>
            </a:r>
            <a:r>
              <a:rPr lang="en-US" dirty="0" err="1" smtClean="0"/>
              <a:t>này</a:t>
            </a:r>
            <a:r>
              <a:rPr lang="en-US" dirty="0" smtClean="0"/>
              <a:t> </a:t>
            </a:r>
            <a:r>
              <a:rPr lang="en-US" dirty="0" err="1" smtClean="0"/>
              <a:t>nó</a:t>
            </a:r>
            <a:r>
              <a:rPr lang="en-US" dirty="0" smtClean="0"/>
              <a:t> </a:t>
            </a:r>
            <a:r>
              <a:rPr lang="en-US" dirty="0" err="1" smtClean="0"/>
              <a:t>hiểu</a:t>
            </a:r>
            <a:r>
              <a:rPr lang="en-US" dirty="0" smtClean="0"/>
              <a:t> </a:t>
            </a:r>
            <a:r>
              <a:rPr lang="en-US" dirty="0" err="1" smtClean="0"/>
              <a:t>là</a:t>
            </a:r>
            <a:r>
              <a:rPr lang="en-US" dirty="0" smtClean="0"/>
              <a:t> </a:t>
            </a:r>
            <a:r>
              <a:rPr lang="en-US" dirty="0" err="1" smtClean="0"/>
              <a:t>truyền</a:t>
            </a:r>
            <a:r>
              <a:rPr lang="en-US" dirty="0" smtClean="0"/>
              <a:t> </a:t>
            </a:r>
            <a:r>
              <a:rPr lang="en-US" dirty="0" err="1" smtClean="0"/>
              <a:t>gì</a:t>
            </a:r>
            <a:r>
              <a:rPr lang="en-US" dirty="0" smtClean="0"/>
              <a:t> </a:t>
            </a:r>
            <a:r>
              <a:rPr lang="en-US" dirty="0" err="1" smtClean="0"/>
              <a:t>vào</a:t>
            </a:r>
            <a:r>
              <a:rPr lang="en-US" dirty="0" smtClean="0"/>
              <a:t> </a:t>
            </a:r>
          </a:p>
          <a:p>
            <a:r>
              <a:rPr lang="en-US" dirty="0" err="1" smtClean="0"/>
              <a:t>Cũng</a:t>
            </a:r>
            <a:r>
              <a:rPr lang="en-US" dirty="0" smtClean="0"/>
              <a:t> </a:t>
            </a:r>
            <a:r>
              <a:rPr lang="en-US" dirty="0" err="1" smtClean="0"/>
              <a:t>được</a:t>
            </a:r>
            <a:r>
              <a:rPr lang="en-US" dirty="0" smtClean="0"/>
              <a:t>.</a:t>
            </a:r>
          </a:p>
        </p:txBody>
      </p:sp>
    </p:spTree>
    <p:extLst>
      <p:ext uri="{BB962C8B-B14F-4D97-AF65-F5344CB8AC3E}">
        <p14:creationId xmlns:p14="http://schemas.microsoft.com/office/powerpoint/2010/main" val="3867710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54495" y="588220"/>
            <a:ext cx="10509737" cy="646331"/>
          </a:xfrm>
          <a:prstGeom prst="rect">
            <a:avLst/>
          </a:prstGeom>
        </p:spPr>
        <p:txBody>
          <a:bodyPr wrap="none">
            <a:spAutoFit/>
          </a:bodyPr>
          <a:lstStyle/>
          <a:p>
            <a:r>
              <a:rPr lang="it-IT" b="1" dirty="0" smtClean="0"/>
              <a:t>Phạm </a:t>
            </a:r>
            <a:r>
              <a:rPr lang="it-IT" b="1" dirty="0"/>
              <a:t>vi (scope)</a:t>
            </a:r>
            <a:r>
              <a:rPr lang="it-IT" dirty="0"/>
              <a:t> của </a:t>
            </a:r>
            <a:r>
              <a:rPr lang="it-IT" dirty="0" smtClean="0"/>
              <a:t>một của 1 tên hàm hoặc tên biến là phần chương trình mà trong đó cái tên được sử dụng</a:t>
            </a:r>
          </a:p>
          <a:p>
            <a:endParaRPr lang="en-US" dirty="0"/>
          </a:p>
        </p:txBody>
      </p:sp>
      <p:sp>
        <p:nvSpPr>
          <p:cNvPr id="6" name="TextBox 5"/>
          <p:cNvSpPr txBox="1"/>
          <p:nvPr/>
        </p:nvSpPr>
        <p:spPr>
          <a:xfrm>
            <a:off x="879566" y="1436914"/>
            <a:ext cx="1217000" cy="369332"/>
          </a:xfrm>
          <a:prstGeom prst="rect">
            <a:avLst/>
          </a:prstGeom>
          <a:noFill/>
        </p:spPr>
        <p:txBody>
          <a:bodyPr wrap="none" rtlCol="0">
            <a:spAutoFit/>
          </a:bodyPr>
          <a:lstStyle/>
          <a:p>
            <a:r>
              <a:rPr lang="en-US" dirty="0" smtClean="0"/>
              <a:t>Header file</a:t>
            </a:r>
            <a:endParaRPr lang="en-US" dirty="0"/>
          </a:p>
        </p:txBody>
      </p:sp>
    </p:spTree>
    <p:extLst>
      <p:ext uri="{BB962C8B-B14F-4D97-AF65-F5344CB8AC3E}">
        <p14:creationId xmlns:p14="http://schemas.microsoft.com/office/powerpoint/2010/main" val="3352510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773563" y="788976"/>
            <a:ext cx="5582429" cy="1228896"/>
          </a:xfrm>
          <a:prstGeom prst="rect">
            <a:avLst/>
          </a:prstGeom>
        </p:spPr>
      </p:pic>
      <p:sp>
        <p:nvSpPr>
          <p:cNvPr id="5" name="TextBox 4"/>
          <p:cNvSpPr txBox="1"/>
          <p:nvPr/>
        </p:nvSpPr>
        <p:spPr>
          <a:xfrm>
            <a:off x="1428206" y="2342606"/>
            <a:ext cx="9909764" cy="923330"/>
          </a:xfrm>
          <a:prstGeom prst="rect">
            <a:avLst/>
          </a:prstGeom>
          <a:noFill/>
        </p:spPr>
        <p:txBody>
          <a:bodyPr wrap="none" rtlCol="0">
            <a:spAutoFit/>
          </a:bodyPr>
          <a:lstStyle/>
          <a:p>
            <a:r>
              <a:rPr lang="en-US" dirty="0" err="1" smtClean="0"/>
              <a:t>Nếu</a:t>
            </a:r>
            <a:r>
              <a:rPr lang="en-US" dirty="0" smtClean="0"/>
              <a:t> </a:t>
            </a:r>
            <a:r>
              <a:rPr lang="en-US" dirty="0" err="1" smtClean="0"/>
              <a:t>được</a:t>
            </a:r>
            <a:r>
              <a:rPr lang="en-US" dirty="0" smtClean="0"/>
              <a:t> </a:t>
            </a:r>
            <a:r>
              <a:rPr lang="en-US" dirty="0" err="1" smtClean="0"/>
              <a:t>khai</a:t>
            </a:r>
            <a:r>
              <a:rPr lang="en-US" dirty="0" smtClean="0"/>
              <a:t> </a:t>
            </a:r>
            <a:r>
              <a:rPr lang="en-US" dirty="0" err="1" smtClean="0"/>
              <a:t>báo</a:t>
            </a:r>
            <a:r>
              <a:rPr lang="en-US" dirty="0" smtClean="0"/>
              <a:t> </a:t>
            </a:r>
            <a:r>
              <a:rPr lang="en-US" dirty="0" err="1" smtClean="0"/>
              <a:t>với</a:t>
            </a:r>
            <a:r>
              <a:rPr lang="en-US" dirty="0" smtClean="0"/>
              <a:t> </a:t>
            </a:r>
            <a:r>
              <a:rPr lang="en-US" dirty="0" err="1" smtClean="0"/>
              <a:t>từ</a:t>
            </a:r>
            <a:r>
              <a:rPr lang="en-US" dirty="0" smtClean="0"/>
              <a:t> </a:t>
            </a:r>
            <a:r>
              <a:rPr lang="en-US" dirty="0" err="1" smtClean="0"/>
              <a:t>khóa</a:t>
            </a:r>
            <a:r>
              <a:rPr lang="en-US" dirty="0" smtClean="0"/>
              <a:t> static </a:t>
            </a:r>
            <a:r>
              <a:rPr lang="en-US" dirty="0" err="1" smtClean="0"/>
              <a:t>như</a:t>
            </a:r>
            <a:r>
              <a:rPr lang="en-US" dirty="0" smtClean="0"/>
              <a:t> </a:t>
            </a:r>
            <a:r>
              <a:rPr lang="en-US" dirty="0" err="1" smtClean="0"/>
              <a:t>trên</a:t>
            </a:r>
            <a:r>
              <a:rPr lang="en-US" dirty="0" smtClean="0"/>
              <a:t> </a:t>
            </a:r>
            <a:r>
              <a:rPr lang="en-US" dirty="0" err="1" smtClean="0"/>
              <a:t>thì</a:t>
            </a:r>
            <a:r>
              <a:rPr lang="en-US" dirty="0" smtClean="0"/>
              <a:t> </a:t>
            </a:r>
            <a:r>
              <a:rPr lang="en-US" dirty="0" err="1" smtClean="0"/>
              <a:t>chỉ</a:t>
            </a:r>
            <a:r>
              <a:rPr lang="en-US" dirty="0" smtClean="0"/>
              <a:t> </a:t>
            </a:r>
            <a:r>
              <a:rPr lang="en-US" dirty="0" err="1" smtClean="0"/>
              <a:t>có</a:t>
            </a:r>
            <a:r>
              <a:rPr lang="en-US" dirty="0" smtClean="0"/>
              <a:t> 2 </a:t>
            </a:r>
            <a:r>
              <a:rPr lang="en-US" dirty="0" err="1" smtClean="0"/>
              <a:t>hàm</a:t>
            </a:r>
            <a:r>
              <a:rPr lang="en-US" dirty="0" smtClean="0"/>
              <a:t> </a:t>
            </a:r>
            <a:r>
              <a:rPr lang="en-US" dirty="0" err="1" smtClean="0"/>
              <a:t>getch</a:t>
            </a:r>
            <a:r>
              <a:rPr lang="en-US" dirty="0" smtClean="0"/>
              <a:t>() </a:t>
            </a:r>
            <a:r>
              <a:rPr lang="en-US" dirty="0" err="1" smtClean="0"/>
              <a:t>và</a:t>
            </a:r>
            <a:r>
              <a:rPr lang="en-US" dirty="0" smtClean="0"/>
              <a:t> </a:t>
            </a:r>
            <a:r>
              <a:rPr lang="en-US" dirty="0" err="1" smtClean="0"/>
              <a:t>ungetch</a:t>
            </a:r>
            <a:r>
              <a:rPr lang="en-US" dirty="0" smtClean="0"/>
              <a:t>() </a:t>
            </a:r>
            <a:r>
              <a:rPr lang="en-US" dirty="0" err="1" smtClean="0"/>
              <a:t>được</a:t>
            </a:r>
            <a:r>
              <a:rPr lang="en-US" dirty="0" smtClean="0"/>
              <a:t> </a:t>
            </a:r>
            <a:r>
              <a:rPr lang="en-US" dirty="0" err="1" smtClean="0"/>
              <a:t>sử</a:t>
            </a:r>
            <a:r>
              <a:rPr lang="en-US" dirty="0" smtClean="0"/>
              <a:t> </a:t>
            </a:r>
            <a:r>
              <a:rPr lang="en-US" dirty="0" err="1" smtClean="0"/>
              <a:t>dụng</a:t>
            </a:r>
            <a:endParaRPr lang="en-US" dirty="0" smtClean="0"/>
          </a:p>
          <a:p>
            <a:r>
              <a:rPr lang="en-US" dirty="0" smtClean="0"/>
              <a:t>2 </a:t>
            </a:r>
            <a:r>
              <a:rPr lang="en-US" dirty="0" err="1" smtClean="0"/>
              <a:t>biến</a:t>
            </a:r>
            <a:r>
              <a:rPr lang="en-US" dirty="0" smtClean="0"/>
              <a:t> </a:t>
            </a:r>
            <a:r>
              <a:rPr lang="en-US" dirty="0" err="1" smtClean="0"/>
              <a:t>trên</a:t>
            </a:r>
            <a:r>
              <a:rPr lang="en-US" dirty="0"/>
              <a:t> </a:t>
            </a:r>
            <a:r>
              <a:rPr lang="en-US" dirty="0" smtClean="0"/>
              <a:t>(</a:t>
            </a:r>
            <a:r>
              <a:rPr lang="en-US" dirty="0" err="1" smtClean="0"/>
              <a:t>dù</a:t>
            </a:r>
            <a:r>
              <a:rPr lang="en-US" dirty="0" smtClean="0"/>
              <a:t> </a:t>
            </a:r>
            <a:r>
              <a:rPr lang="en-US" dirty="0" err="1" smtClean="0"/>
              <a:t>đây</a:t>
            </a:r>
            <a:r>
              <a:rPr lang="en-US" dirty="0" smtClean="0"/>
              <a:t> </a:t>
            </a:r>
            <a:r>
              <a:rPr lang="en-US" dirty="0" err="1" smtClean="0"/>
              <a:t>là</a:t>
            </a:r>
            <a:r>
              <a:rPr lang="en-US" dirty="0" smtClean="0"/>
              <a:t> 2 </a:t>
            </a:r>
            <a:r>
              <a:rPr lang="en-US" dirty="0" err="1" smtClean="0"/>
              <a:t>biến</a:t>
            </a:r>
            <a:r>
              <a:rPr lang="en-US" dirty="0" smtClean="0"/>
              <a:t> external), </a:t>
            </a:r>
            <a:r>
              <a:rPr lang="en-US" dirty="0" err="1" smtClean="0"/>
              <a:t>và</a:t>
            </a:r>
            <a:r>
              <a:rPr lang="en-US" dirty="0" smtClean="0"/>
              <a:t> </a:t>
            </a:r>
            <a:r>
              <a:rPr lang="en-US" dirty="0" err="1" smtClean="0"/>
              <a:t>nếu</a:t>
            </a:r>
            <a:r>
              <a:rPr lang="en-US" dirty="0" smtClean="0"/>
              <a:t> ở </a:t>
            </a:r>
            <a:r>
              <a:rPr lang="en-US" dirty="0" err="1" smtClean="0"/>
              <a:t>các</a:t>
            </a:r>
            <a:r>
              <a:rPr lang="en-US" dirty="0" smtClean="0"/>
              <a:t> file </a:t>
            </a:r>
            <a:r>
              <a:rPr lang="en-US" dirty="0" err="1" smtClean="0"/>
              <a:t>khác</a:t>
            </a:r>
            <a:r>
              <a:rPr lang="en-US" dirty="0" smtClean="0"/>
              <a:t> </a:t>
            </a:r>
            <a:r>
              <a:rPr lang="en-US" dirty="0" err="1" smtClean="0"/>
              <a:t>có</a:t>
            </a:r>
            <a:r>
              <a:rPr lang="en-US" dirty="0" smtClean="0"/>
              <a:t> </a:t>
            </a:r>
            <a:r>
              <a:rPr lang="en-US" dirty="0" err="1" smtClean="0"/>
              <a:t>biến</a:t>
            </a:r>
            <a:r>
              <a:rPr lang="en-US" dirty="0" smtClean="0"/>
              <a:t> external </a:t>
            </a:r>
            <a:r>
              <a:rPr lang="en-US" dirty="0" err="1" smtClean="0"/>
              <a:t>cũng</a:t>
            </a:r>
            <a:r>
              <a:rPr lang="en-US" dirty="0" smtClean="0"/>
              <a:t> </a:t>
            </a:r>
            <a:r>
              <a:rPr lang="en-US" dirty="0" err="1" smtClean="0"/>
              <a:t>tên</a:t>
            </a:r>
            <a:r>
              <a:rPr lang="en-US" dirty="0" smtClean="0"/>
              <a:t> </a:t>
            </a:r>
            <a:r>
              <a:rPr lang="en-US" dirty="0" err="1" smtClean="0"/>
              <a:t>thì</a:t>
            </a:r>
            <a:r>
              <a:rPr lang="en-US" dirty="0" smtClean="0"/>
              <a:t> </a:t>
            </a:r>
            <a:r>
              <a:rPr lang="en-US" dirty="0" err="1" smtClean="0"/>
              <a:t>cũng</a:t>
            </a:r>
            <a:r>
              <a:rPr lang="en-US" dirty="0" smtClean="0"/>
              <a:t> </a:t>
            </a:r>
            <a:r>
              <a:rPr lang="en-US" dirty="0" err="1" smtClean="0"/>
              <a:t>không</a:t>
            </a:r>
            <a:r>
              <a:rPr lang="en-US" dirty="0" smtClean="0"/>
              <a:t> </a:t>
            </a:r>
            <a:r>
              <a:rPr lang="en-US" dirty="0" err="1" smtClean="0"/>
              <a:t>bị</a:t>
            </a:r>
            <a:endParaRPr lang="en-US" dirty="0" smtClean="0"/>
          </a:p>
          <a:p>
            <a:r>
              <a:rPr lang="en-US" dirty="0" err="1"/>
              <a:t>v</a:t>
            </a:r>
            <a:r>
              <a:rPr lang="en-US" dirty="0" err="1" smtClean="0"/>
              <a:t>ấn</a:t>
            </a:r>
            <a:r>
              <a:rPr lang="en-US" dirty="0" smtClean="0"/>
              <a:t> </a:t>
            </a:r>
            <a:r>
              <a:rPr lang="en-US" dirty="0" err="1" smtClean="0"/>
              <a:t>đề</a:t>
            </a:r>
            <a:r>
              <a:rPr lang="en-US" dirty="0" smtClean="0"/>
              <a:t> </a:t>
            </a:r>
            <a:r>
              <a:rPr lang="en-US" dirty="0" err="1" smtClean="0"/>
              <a:t>gì</a:t>
            </a:r>
            <a:r>
              <a:rPr lang="en-US" dirty="0" smtClean="0"/>
              <a:t>.</a:t>
            </a:r>
            <a:endParaRPr lang="en-US" dirty="0"/>
          </a:p>
        </p:txBody>
      </p:sp>
      <p:sp>
        <p:nvSpPr>
          <p:cNvPr id="8" name="TextBox 7"/>
          <p:cNvSpPr txBox="1"/>
          <p:nvPr/>
        </p:nvSpPr>
        <p:spPr>
          <a:xfrm>
            <a:off x="1428206" y="3635948"/>
            <a:ext cx="10079811" cy="369332"/>
          </a:xfrm>
          <a:prstGeom prst="rect">
            <a:avLst/>
          </a:prstGeom>
          <a:noFill/>
        </p:spPr>
        <p:txBody>
          <a:bodyPr wrap="none" rtlCol="0">
            <a:spAutoFit/>
          </a:bodyPr>
          <a:lstStyle/>
          <a:p>
            <a:r>
              <a:rPr lang="en-US" dirty="0" err="1" smtClean="0"/>
              <a:t>Nếu</a:t>
            </a:r>
            <a:r>
              <a:rPr lang="en-US" dirty="0" smtClean="0"/>
              <a:t> 1 </a:t>
            </a:r>
            <a:r>
              <a:rPr lang="en-US" dirty="0" err="1" smtClean="0"/>
              <a:t>hàm</a:t>
            </a:r>
            <a:r>
              <a:rPr lang="en-US" dirty="0" smtClean="0"/>
              <a:t> </a:t>
            </a:r>
            <a:r>
              <a:rPr lang="en-US" dirty="0" err="1" smtClean="0"/>
              <a:t>được</a:t>
            </a:r>
            <a:r>
              <a:rPr lang="en-US" dirty="0" smtClean="0"/>
              <a:t> </a:t>
            </a:r>
            <a:r>
              <a:rPr lang="en-US" dirty="0" err="1" smtClean="0"/>
              <a:t>khai</a:t>
            </a:r>
            <a:r>
              <a:rPr lang="en-US" dirty="0" smtClean="0"/>
              <a:t> </a:t>
            </a:r>
            <a:r>
              <a:rPr lang="en-US" dirty="0" err="1" smtClean="0"/>
              <a:t>báo</a:t>
            </a:r>
            <a:r>
              <a:rPr lang="en-US" dirty="0" smtClean="0"/>
              <a:t> </a:t>
            </a:r>
            <a:r>
              <a:rPr lang="en-US" dirty="0" err="1" smtClean="0"/>
              <a:t>với</a:t>
            </a:r>
            <a:r>
              <a:rPr lang="en-US" dirty="0" smtClean="0"/>
              <a:t> </a:t>
            </a:r>
            <a:r>
              <a:rPr lang="en-US" dirty="0" err="1" smtClean="0"/>
              <a:t>từ</a:t>
            </a:r>
            <a:r>
              <a:rPr lang="en-US" dirty="0" smtClean="0"/>
              <a:t> </a:t>
            </a:r>
            <a:r>
              <a:rPr lang="en-US" dirty="0" err="1" smtClean="0"/>
              <a:t>khóa</a:t>
            </a:r>
            <a:r>
              <a:rPr lang="en-US" dirty="0" smtClean="0"/>
              <a:t> static, </a:t>
            </a:r>
            <a:r>
              <a:rPr lang="en-US" dirty="0" err="1" smtClean="0"/>
              <a:t>thì</a:t>
            </a:r>
            <a:r>
              <a:rPr lang="en-US" dirty="0" smtClean="0"/>
              <a:t> </a:t>
            </a:r>
            <a:r>
              <a:rPr lang="en-US" dirty="0" err="1" smtClean="0"/>
              <a:t>tên</a:t>
            </a:r>
            <a:r>
              <a:rPr lang="en-US" dirty="0" smtClean="0"/>
              <a:t> </a:t>
            </a:r>
            <a:r>
              <a:rPr lang="en-US" dirty="0" err="1" smtClean="0"/>
              <a:t>của</a:t>
            </a:r>
            <a:r>
              <a:rPr lang="en-US" dirty="0" smtClean="0"/>
              <a:t> </a:t>
            </a:r>
            <a:r>
              <a:rPr lang="en-US" dirty="0" err="1" smtClean="0"/>
              <a:t>nó</a:t>
            </a:r>
            <a:r>
              <a:rPr lang="en-US" dirty="0" smtClean="0"/>
              <a:t> </a:t>
            </a:r>
            <a:r>
              <a:rPr lang="en-US" dirty="0" err="1" smtClean="0"/>
              <a:t>sẽ</a:t>
            </a:r>
            <a:r>
              <a:rPr lang="en-US" dirty="0" smtClean="0"/>
              <a:t> </a:t>
            </a:r>
            <a:r>
              <a:rPr lang="en-US" dirty="0" err="1" smtClean="0"/>
              <a:t>bị</a:t>
            </a:r>
            <a:r>
              <a:rPr lang="en-US" dirty="0" smtClean="0"/>
              <a:t> </a:t>
            </a:r>
            <a:r>
              <a:rPr lang="en-US" dirty="0" err="1" smtClean="0"/>
              <a:t>ẩn</a:t>
            </a:r>
            <a:r>
              <a:rPr lang="en-US" dirty="0" smtClean="0"/>
              <a:t> </a:t>
            </a:r>
            <a:r>
              <a:rPr lang="en-US" dirty="0" err="1" smtClean="0"/>
              <a:t>đi</a:t>
            </a:r>
            <a:r>
              <a:rPr lang="en-US" dirty="0" smtClean="0"/>
              <a:t> </a:t>
            </a:r>
            <a:r>
              <a:rPr lang="en-US" dirty="0" err="1" smtClean="0"/>
              <a:t>bên</a:t>
            </a:r>
            <a:r>
              <a:rPr lang="en-US" dirty="0" smtClean="0"/>
              <a:t> </a:t>
            </a:r>
            <a:r>
              <a:rPr lang="en-US" dirty="0" err="1" smtClean="0"/>
              <a:t>ngoài</a:t>
            </a:r>
            <a:r>
              <a:rPr lang="en-US" dirty="0" smtClean="0"/>
              <a:t> </a:t>
            </a:r>
            <a:r>
              <a:rPr lang="en-US" dirty="0" err="1" smtClean="0"/>
              <a:t>tệp</a:t>
            </a:r>
            <a:r>
              <a:rPr lang="en-US" dirty="0" smtClean="0"/>
              <a:t> </a:t>
            </a:r>
            <a:r>
              <a:rPr lang="en-US" dirty="0" err="1" smtClean="0"/>
              <a:t>mà</a:t>
            </a:r>
            <a:r>
              <a:rPr lang="en-US" dirty="0" smtClean="0"/>
              <a:t> </a:t>
            </a:r>
            <a:r>
              <a:rPr lang="en-US" dirty="0" err="1" smtClean="0"/>
              <a:t>nó</a:t>
            </a:r>
            <a:r>
              <a:rPr lang="en-US" dirty="0" smtClean="0"/>
              <a:t> </a:t>
            </a:r>
            <a:r>
              <a:rPr lang="en-US" dirty="0" err="1" smtClean="0"/>
              <a:t>được</a:t>
            </a:r>
            <a:r>
              <a:rPr lang="en-US" dirty="0" smtClean="0"/>
              <a:t> </a:t>
            </a:r>
            <a:r>
              <a:rPr lang="en-US" dirty="0" err="1" smtClean="0"/>
              <a:t>khái</a:t>
            </a:r>
            <a:r>
              <a:rPr lang="en-US" dirty="0" smtClean="0"/>
              <a:t> </a:t>
            </a:r>
            <a:r>
              <a:rPr lang="en-US" dirty="0" err="1" smtClean="0"/>
              <a:t>báo</a:t>
            </a:r>
            <a:r>
              <a:rPr lang="en-US" dirty="0" smtClean="0"/>
              <a:t>.</a:t>
            </a:r>
            <a:endParaRPr lang="en-US" dirty="0"/>
          </a:p>
        </p:txBody>
      </p:sp>
      <p:sp>
        <p:nvSpPr>
          <p:cNvPr id="11" name="TextBox 10"/>
          <p:cNvSpPr txBox="1"/>
          <p:nvPr/>
        </p:nvSpPr>
        <p:spPr>
          <a:xfrm>
            <a:off x="1297577" y="505097"/>
            <a:ext cx="1546257" cy="369332"/>
          </a:xfrm>
          <a:prstGeom prst="rect">
            <a:avLst/>
          </a:prstGeom>
          <a:noFill/>
        </p:spPr>
        <p:txBody>
          <a:bodyPr wrap="none" rtlCol="0">
            <a:spAutoFit/>
          </a:bodyPr>
          <a:lstStyle/>
          <a:p>
            <a:r>
              <a:rPr lang="en-US" dirty="0" err="1" smtClean="0"/>
              <a:t>Từ</a:t>
            </a:r>
            <a:r>
              <a:rPr lang="en-US" dirty="0" smtClean="0"/>
              <a:t> </a:t>
            </a:r>
            <a:r>
              <a:rPr lang="en-US" dirty="0" err="1" smtClean="0"/>
              <a:t>khóa</a:t>
            </a:r>
            <a:r>
              <a:rPr lang="en-US" dirty="0" smtClean="0"/>
              <a:t> static:</a:t>
            </a:r>
            <a:endParaRPr lang="en-US" dirty="0"/>
          </a:p>
        </p:txBody>
      </p:sp>
    </p:spTree>
    <p:extLst>
      <p:ext uri="{BB962C8B-B14F-4D97-AF65-F5344CB8AC3E}">
        <p14:creationId xmlns:p14="http://schemas.microsoft.com/office/powerpoint/2010/main" val="3717870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69807" y="522514"/>
            <a:ext cx="9632765" cy="2308324"/>
          </a:xfrm>
          <a:prstGeom prst="rect">
            <a:avLst/>
          </a:prstGeom>
          <a:noFill/>
        </p:spPr>
        <p:txBody>
          <a:bodyPr wrap="none" rtlCol="0">
            <a:spAutoFit/>
          </a:bodyPr>
          <a:lstStyle/>
          <a:p>
            <a:r>
              <a:rPr lang="en-US" dirty="0" err="1" smtClean="0"/>
              <a:t>Biến</a:t>
            </a:r>
            <a:r>
              <a:rPr lang="en-US" dirty="0" smtClean="0"/>
              <a:t> register:</a:t>
            </a:r>
          </a:p>
          <a:p>
            <a:endParaRPr lang="en-US" dirty="0"/>
          </a:p>
          <a:p>
            <a:pPr marL="285750" indent="-285750">
              <a:buFontTx/>
              <a:buChar char="-"/>
            </a:pPr>
            <a:r>
              <a:rPr lang="en-US" dirty="0" err="1" smtClean="0"/>
              <a:t>Thông</a:t>
            </a:r>
            <a:r>
              <a:rPr lang="en-US" dirty="0" smtClean="0"/>
              <a:t> </a:t>
            </a:r>
            <a:r>
              <a:rPr lang="en-US" dirty="0" err="1" smtClean="0"/>
              <a:t>báo</a:t>
            </a:r>
            <a:r>
              <a:rPr lang="en-US" dirty="0" smtClean="0"/>
              <a:t> </a:t>
            </a:r>
            <a:r>
              <a:rPr lang="en-US" dirty="0" err="1" smtClean="0"/>
              <a:t>cho</a:t>
            </a:r>
            <a:r>
              <a:rPr lang="en-US" dirty="0" smtClean="0"/>
              <a:t> compiler </a:t>
            </a:r>
            <a:r>
              <a:rPr lang="en-US" dirty="0" err="1" smtClean="0"/>
              <a:t>biết</a:t>
            </a:r>
            <a:r>
              <a:rPr lang="en-US" dirty="0" smtClean="0"/>
              <a:t> </a:t>
            </a:r>
            <a:r>
              <a:rPr lang="en-US" dirty="0" err="1" smtClean="0"/>
              <a:t>đây</a:t>
            </a:r>
            <a:r>
              <a:rPr lang="en-US" dirty="0" smtClean="0"/>
              <a:t> </a:t>
            </a:r>
            <a:r>
              <a:rPr lang="en-US" dirty="0" err="1" smtClean="0"/>
              <a:t>là</a:t>
            </a:r>
            <a:r>
              <a:rPr lang="en-US" dirty="0" smtClean="0"/>
              <a:t> </a:t>
            </a:r>
            <a:r>
              <a:rPr lang="en-US" dirty="0" err="1" smtClean="0"/>
              <a:t>biến</a:t>
            </a:r>
            <a:r>
              <a:rPr lang="en-US" dirty="0" smtClean="0"/>
              <a:t> </a:t>
            </a:r>
            <a:r>
              <a:rPr lang="en-US" dirty="0" err="1" smtClean="0"/>
              <a:t>được</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thường</a:t>
            </a:r>
            <a:r>
              <a:rPr lang="en-US" dirty="0" smtClean="0"/>
              <a:t> </a:t>
            </a:r>
            <a:r>
              <a:rPr lang="en-US" dirty="0" err="1" smtClean="0"/>
              <a:t>xuyên</a:t>
            </a:r>
            <a:r>
              <a:rPr lang="en-US" dirty="0" smtClean="0"/>
              <a:t>.</a:t>
            </a:r>
          </a:p>
          <a:p>
            <a:pPr marL="285750" indent="-285750">
              <a:buFontTx/>
              <a:buChar char="-"/>
            </a:pPr>
            <a:r>
              <a:rPr lang="en-US" dirty="0" err="1" smtClean="0"/>
              <a:t>Dùng</a:t>
            </a:r>
            <a:r>
              <a:rPr lang="en-US" dirty="0" smtClean="0"/>
              <a:t> </a:t>
            </a:r>
            <a:r>
              <a:rPr lang="en-US" dirty="0" err="1" smtClean="0"/>
              <a:t>trực</a:t>
            </a:r>
            <a:r>
              <a:rPr lang="en-US" dirty="0" smtClean="0"/>
              <a:t> </a:t>
            </a:r>
            <a:r>
              <a:rPr lang="en-US" dirty="0" err="1" smtClean="0"/>
              <a:t>tiếp</a:t>
            </a:r>
            <a:r>
              <a:rPr lang="en-US" dirty="0" smtClean="0"/>
              <a:t> </a:t>
            </a:r>
            <a:r>
              <a:rPr lang="en-US" dirty="0" err="1" smtClean="0"/>
              <a:t>thanh</a:t>
            </a:r>
            <a:r>
              <a:rPr lang="en-US" dirty="0" smtClean="0"/>
              <a:t> </a:t>
            </a:r>
            <a:r>
              <a:rPr lang="en-US" dirty="0" err="1" smtClean="0"/>
              <a:t>ghi</a:t>
            </a:r>
            <a:r>
              <a:rPr lang="en-US" dirty="0" smtClean="0"/>
              <a:t> </a:t>
            </a:r>
            <a:r>
              <a:rPr lang="en-US" dirty="0" err="1" smtClean="0"/>
              <a:t>máy</a:t>
            </a:r>
            <a:r>
              <a:rPr lang="en-US" dirty="0" smtClean="0"/>
              <a:t> </a:t>
            </a:r>
            <a:r>
              <a:rPr lang="en-US" dirty="0" err="1" smtClean="0"/>
              <a:t>tính</a:t>
            </a:r>
            <a:r>
              <a:rPr lang="en-US" dirty="0" smtClean="0"/>
              <a:t> </a:t>
            </a:r>
            <a:r>
              <a:rPr lang="en-US" dirty="0" err="1" smtClean="0"/>
              <a:t>để</a:t>
            </a:r>
            <a:r>
              <a:rPr lang="en-US" dirty="0" smtClean="0"/>
              <a:t> </a:t>
            </a:r>
            <a:r>
              <a:rPr lang="en-US" dirty="0" err="1" smtClean="0"/>
              <a:t>lưu</a:t>
            </a:r>
            <a:r>
              <a:rPr lang="en-US" dirty="0" smtClean="0"/>
              <a:t>, </a:t>
            </a:r>
            <a:r>
              <a:rPr lang="en-US" dirty="0" err="1" smtClean="0"/>
              <a:t>thay</a:t>
            </a:r>
            <a:r>
              <a:rPr lang="en-US" dirty="0" smtClean="0"/>
              <a:t> </a:t>
            </a:r>
            <a:r>
              <a:rPr lang="en-US" dirty="0" err="1" smtClean="0"/>
              <a:t>vì</a:t>
            </a:r>
            <a:r>
              <a:rPr lang="en-US" dirty="0" smtClean="0"/>
              <a:t> RAM </a:t>
            </a:r>
            <a:r>
              <a:rPr lang="en-US" dirty="0" err="1" smtClean="0"/>
              <a:t>để</a:t>
            </a:r>
            <a:r>
              <a:rPr lang="en-US" dirty="0" smtClean="0"/>
              <a:t> tang </a:t>
            </a:r>
            <a:r>
              <a:rPr lang="en-US" dirty="0" err="1" smtClean="0"/>
              <a:t>tốc</a:t>
            </a:r>
            <a:r>
              <a:rPr lang="en-US" dirty="0" smtClean="0"/>
              <a:t> </a:t>
            </a:r>
            <a:r>
              <a:rPr lang="en-US" dirty="0" err="1" smtClean="0"/>
              <a:t>độ</a:t>
            </a:r>
            <a:r>
              <a:rPr lang="en-US" dirty="0" smtClean="0"/>
              <a:t> </a:t>
            </a:r>
            <a:r>
              <a:rPr lang="en-US" dirty="0" err="1" smtClean="0"/>
              <a:t>xử</a:t>
            </a:r>
            <a:r>
              <a:rPr lang="en-US" dirty="0" smtClean="0"/>
              <a:t> </a:t>
            </a:r>
            <a:r>
              <a:rPr lang="en-US" dirty="0" err="1" smtClean="0"/>
              <a:t>lí</a:t>
            </a:r>
            <a:r>
              <a:rPr lang="en-US" dirty="0" smtClean="0"/>
              <a:t>. </a:t>
            </a:r>
            <a:r>
              <a:rPr lang="en-US" dirty="0" err="1" smtClean="0"/>
              <a:t>Nhưng</a:t>
            </a:r>
            <a:r>
              <a:rPr lang="en-US" dirty="0" smtClean="0"/>
              <a:t> </a:t>
            </a:r>
            <a:r>
              <a:rPr lang="en-US" dirty="0" err="1" smtClean="0"/>
              <a:t>gặp</a:t>
            </a:r>
            <a:r>
              <a:rPr lang="en-US" dirty="0" smtClean="0"/>
              <a:t> </a:t>
            </a:r>
            <a:r>
              <a:rPr lang="en-US" dirty="0" err="1" smtClean="0"/>
              <a:t>giời</a:t>
            </a:r>
            <a:r>
              <a:rPr lang="en-US" dirty="0" smtClean="0"/>
              <a:t> </a:t>
            </a:r>
            <a:r>
              <a:rPr lang="en-US" dirty="0" err="1" smtClean="0"/>
              <a:t>hạn</a:t>
            </a:r>
            <a:r>
              <a:rPr lang="en-US" dirty="0" smtClean="0"/>
              <a:t> </a:t>
            </a:r>
            <a:r>
              <a:rPr lang="en-US" dirty="0" err="1" smtClean="0"/>
              <a:t>về</a:t>
            </a:r>
            <a:endParaRPr lang="en-US" dirty="0" smtClean="0"/>
          </a:p>
          <a:p>
            <a:r>
              <a:rPr lang="en-US" dirty="0" err="1" smtClean="0"/>
              <a:t>mặt</a:t>
            </a:r>
            <a:r>
              <a:rPr lang="en-US" dirty="0" smtClean="0"/>
              <a:t> </a:t>
            </a:r>
            <a:r>
              <a:rPr lang="en-US" dirty="0" err="1" smtClean="0"/>
              <a:t>phaanfcuwngs</a:t>
            </a:r>
            <a:r>
              <a:rPr lang="en-US" dirty="0" smtClean="0"/>
              <a:t> (</a:t>
            </a:r>
            <a:r>
              <a:rPr lang="en-US" dirty="0" err="1" smtClean="0"/>
              <a:t>số</a:t>
            </a:r>
            <a:r>
              <a:rPr lang="en-US" dirty="0" smtClean="0"/>
              <a:t> </a:t>
            </a:r>
            <a:r>
              <a:rPr lang="en-US" dirty="0" err="1" smtClean="0"/>
              <a:t>lương</a:t>
            </a:r>
            <a:r>
              <a:rPr lang="en-US" dirty="0" smtClean="0"/>
              <a:t>).</a:t>
            </a:r>
          </a:p>
          <a:p>
            <a:pPr marL="285750" indent="-285750">
              <a:buFontTx/>
              <a:buChar char="-"/>
            </a:pPr>
            <a:r>
              <a:rPr lang="en-US" dirty="0" err="1" smtClean="0"/>
              <a:t>Chỉ</a:t>
            </a:r>
            <a:r>
              <a:rPr lang="en-US" dirty="0" smtClean="0"/>
              <a:t> </a:t>
            </a:r>
            <a:r>
              <a:rPr lang="en-US" dirty="0" err="1" smtClean="0"/>
              <a:t>được</a:t>
            </a:r>
            <a:r>
              <a:rPr lang="en-US" dirty="0" smtClean="0"/>
              <a:t> </a:t>
            </a:r>
            <a:r>
              <a:rPr lang="en-US" dirty="0" err="1" smtClean="0"/>
              <a:t>dùng</a:t>
            </a:r>
            <a:r>
              <a:rPr lang="en-US" dirty="0" smtClean="0"/>
              <a:t> </a:t>
            </a:r>
            <a:r>
              <a:rPr lang="en-US" dirty="0" err="1" smtClean="0"/>
              <a:t>cho</a:t>
            </a:r>
            <a:r>
              <a:rPr lang="en-US" dirty="0" smtClean="0"/>
              <a:t> </a:t>
            </a:r>
            <a:r>
              <a:rPr lang="en-US" dirty="0" err="1" smtClean="0"/>
              <a:t>biến</a:t>
            </a:r>
            <a:r>
              <a:rPr lang="en-US" dirty="0" smtClean="0"/>
              <a:t> </a:t>
            </a:r>
            <a:r>
              <a:rPr lang="en-US" dirty="0" err="1" smtClean="0"/>
              <a:t>tự</a:t>
            </a:r>
            <a:r>
              <a:rPr lang="en-US" dirty="0" smtClean="0"/>
              <a:t> </a:t>
            </a:r>
            <a:r>
              <a:rPr lang="en-US" dirty="0" err="1" smtClean="0"/>
              <a:t>động</a:t>
            </a:r>
            <a:r>
              <a:rPr lang="en-US" dirty="0" smtClean="0"/>
              <a:t>(</a:t>
            </a:r>
            <a:r>
              <a:rPr lang="en-US" dirty="0" err="1" smtClean="0"/>
              <a:t>biến</a:t>
            </a:r>
            <a:r>
              <a:rPr lang="en-US" dirty="0" smtClean="0"/>
              <a:t> local).</a:t>
            </a:r>
          </a:p>
          <a:p>
            <a:pPr marL="285750" indent="-285750">
              <a:buFontTx/>
              <a:buChar char="-"/>
            </a:pPr>
            <a:r>
              <a:rPr lang="en-US" dirty="0" err="1" smtClean="0"/>
              <a:t>Từ</a:t>
            </a:r>
            <a:r>
              <a:rPr lang="en-US" dirty="0" smtClean="0"/>
              <a:t> </a:t>
            </a:r>
            <a:r>
              <a:rPr lang="en-US" dirty="0" err="1" smtClean="0"/>
              <a:t>khóa</a:t>
            </a:r>
            <a:r>
              <a:rPr lang="en-US" dirty="0" smtClean="0"/>
              <a:t> register </a:t>
            </a:r>
            <a:r>
              <a:rPr lang="en-US" dirty="0" err="1" smtClean="0"/>
              <a:t>sé</a:t>
            </a:r>
            <a:r>
              <a:rPr lang="en-US" dirty="0" smtClean="0"/>
              <a:t> </a:t>
            </a:r>
            <a:r>
              <a:rPr lang="en-US" dirty="0" err="1" smtClean="0"/>
              <a:t>bị</a:t>
            </a:r>
            <a:r>
              <a:rPr lang="en-US" dirty="0" smtClean="0"/>
              <a:t> </a:t>
            </a:r>
            <a:r>
              <a:rPr lang="en-US" dirty="0" err="1" smtClean="0"/>
              <a:t>bỏ</a:t>
            </a:r>
            <a:r>
              <a:rPr lang="en-US" dirty="0" smtClean="0"/>
              <a:t> qua </a:t>
            </a:r>
            <a:r>
              <a:rPr lang="en-US" dirty="0" err="1" smtClean="0"/>
              <a:t>nếu</a:t>
            </a:r>
            <a:r>
              <a:rPr lang="en-US" dirty="0" smtClean="0"/>
              <a:t> </a:t>
            </a:r>
            <a:r>
              <a:rPr lang="en-US" dirty="0" err="1" smtClean="0"/>
              <a:t>khai</a:t>
            </a:r>
            <a:r>
              <a:rPr lang="en-US" dirty="0" smtClean="0"/>
              <a:t> </a:t>
            </a:r>
            <a:r>
              <a:rPr lang="en-US" dirty="0" err="1" smtClean="0"/>
              <a:t>báo</a:t>
            </a:r>
            <a:r>
              <a:rPr lang="en-US" dirty="0" smtClean="0"/>
              <a:t> </a:t>
            </a:r>
            <a:r>
              <a:rPr lang="en-US" dirty="0" err="1" smtClean="0"/>
              <a:t>dư</a:t>
            </a:r>
            <a:r>
              <a:rPr lang="en-US" dirty="0" smtClean="0"/>
              <a:t> </a:t>
            </a:r>
            <a:r>
              <a:rPr lang="en-US" dirty="0" err="1" smtClean="0"/>
              <a:t>thừa</a:t>
            </a:r>
            <a:r>
              <a:rPr lang="en-US" dirty="0" smtClean="0"/>
              <a:t> </a:t>
            </a:r>
            <a:r>
              <a:rPr lang="en-US" dirty="0" err="1" smtClean="0"/>
              <a:t>hoặc</a:t>
            </a:r>
            <a:r>
              <a:rPr lang="en-US" dirty="0" smtClean="0"/>
              <a:t> </a:t>
            </a:r>
            <a:r>
              <a:rPr lang="en-US" dirty="0" err="1" smtClean="0"/>
              <a:t>đối</a:t>
            </a:r>
            <a:r>
              <a:rPr lang="en-US" dirty="0" smtClean="0"/>
              <a:t> </a:t>
            </a:r>
            <a:r>
              <a:rPr lang="en-US" dirty="0" err="1" smtClean="0"/>
              <a:t>với</a:t>
            </a:r>
            <a:r>
              <a:rPr lang="en-US" dirty="0" smtClean="0"/>
              <a:t> </a:t>
            </a:r>
            <a:r>
              <a:rPr lang="en-US" dirty="0" err="1" smtClean="0"/>
              <a:t>các</a:t>
            </a:r>
            <a:r>
              <a:rPr lang="en-US" dirty="0" smtClean="0"/>
              <a:t> </a:t>
            </a:r>
            <a:r>
              <a:rPr lang="en-US" dirty="0" err="1" smtClean="0"/>
              <a:t>bieens</a:t>
            </a:r>
            <a:r>
              <a:rPr lang="en-US" dirty="0" smtClean="0"/>
              <a:t> </a:t>
            </a:r>
            <a:r>
              <a:rPr lang="en-US" dirty="0" err="1" smtClean="0"/>
              <a:t>khoogn</a:t>
            </a:r>
            <a:r>
              <a:rPr lang="en-US" dirty="0" smtClean="0"/>
              <a:t> </a:t>
            </a:r>
            <a:r>
              <a:rPr lang="en-US" dirty="0" err="1" smtClean="0"/>
              <a:t>đuowcj</a:t>
            </a:r>
            <a:r>
              <a:rPr lang="en-US" dirty="0" smtClean="0"/>
              <a:t> </a:t>
            </a:r>
            <a:r>
              <a:rPr lang="en-US" dirty="0" err="1" smtClean="0"/>
              <a:t>phép</a:t>
            </a:r>
            <a:r>
              <a:rPr lang="en-US" dirty="0" smtClean="0"/>
              <a:t>. </a:t>
            </a:r>
          </a:p>
          <a:p>
            <a:pPr marL="285750" indent="-285750">
              <a:buFontTx/>
              <a:buChar char="-"/>
            </a:pPr>
            <a:r>
              <a:rPr lang="en-US" dirty="0" err="1" smtClean="0"/>
              <a:t>Không</a:t>
            </a:r>
            <a:r>
              <a:rPr lang="en-US" dirty="0" smtClean="0"/>
              <a:t> </a:t>
            </a:r>
            <a:r>
              <a:rPr lang="en-US" dirty="0" err="1" smtClean="0"/>
              <a:t>thể</a:t>
            </a:r>
            <a:r>
              <a:rPr lang="en-US" dirty="0" smtClean="0"/>
              <a:t> </a:t>
            </a:r>
            <a:r>
              <a:rPr lang="en-US" dirty="0" err="1" smtClean="0"/>
              <a:t>lấy</a:t>
            </a:r>
            <a:r>
              <a:rPr lang="en-US" dirty="0" smtClean="0"/>
              <a:t> </a:t>
            </a:r>
            <a:r>
              <a:rPr lang="en-US" dirty="0" err="1" smtClean="0"/>
              <a:t>được</a:t>
            </a:r>
            <a:r>
              <a:rPr lang="en-US" dirty="0" smtClean="0"/>
              <a:t> </a:t>
            </a:r>
            <a:r>
              <a:rPr lang="en-US" dirty="0" err="1" smtClean="0"/>
              <a:t>địa</a:t>
            </a:r>
            <a:r>
              <a:rPr lang="en-US" dirty="0" smtClean="0"/>
              <a:t> </a:t>
            </a:r>
            <a:r>
              <a:rPr lang="en-US" dirty="0" err="1" smtClean="0"/>
              <a:t>chỉ</a:t>
            </a:r>
            <a:r>
              <a:rPr lang="en-US" dirty="0" smtClean="0"/>
              <a:t> </a:t>
            </a:r>
            <a:r>
              <a:rPr lang="en-US" dirty="0" err="1" smtClean="0"/>
              <a:t>của</a:t>
            </a:r>
            <a:r>
              <a:rPr lang="en-US" dirty="0" smtClean="0"/>
              <a:t> </a:t>
            </a:r>
            <a:r>
              <a:rPr lang="en-US" dirty="0" err="1" smtClean="0"/>
              <a:t>biến</a:t>
            </a:r>
            <a:r>
              <a:rPr lang="en-US" dirty="0" smtClean="0"/>
              <a:t> register(</a:t>
            </a:r>
            <a:r>
              <a:rPr lang="en-US" dirty="0" err="1" smtClean="0"/>
              <a:t>dù</a:t>
            </a:r>
            <a:r>
              <a:rPr lang="en-US" dirty="0" smtClean="0"/>
              <a:t> </a:t>
            </a:r>
            <a:r>
              <a:rPr lang="en-US" dirty="0" err="1" smtClean="0"/>
              <a:t>nó</a:t>
            </a:r>
            <a:r>
              <a:rPr lang="en-US" dirty="0" smtClean="0"/>
              <a:t> </a:t>
            </a:r>
            <a:r>
              <a:rPr lang="en-US" dirty="0" err="1" smtClean="0"/>
              <a:t>có</a:t>
            </a:r>
            <a:r>
              <a:rPr lang="en-US" dirty="0"/>
              <a:t> </a:t>
            </a:r>
            <a:r>
              <a:rPr lang="en-US" dirty="0" err="1" smtClean="0"/>
              <a:t>thực</a:t>
            </a:r>
            <a:r>
              <a:rPr lang="en-US" dirty="0" smtClean="0"/>
              <a:t> </a:t>
            </a:r>
            <a:r>
              <a:rPr lang="en-US" dirty="0" err="1" smtClean="0"/>
              <a:t>sự</a:t>
            </a:r>
            <a:r>
              <a:rPr lang="en-US" dirty="0" smtClean="0"/>
              <a:t> </a:t>
            </a:r>
            <a:r>
              <a:rPr lang="en-US" dirty="0" err="1" smtClean="0"/>
              <a:t>được</a:t>
            </a:r>
            <a:r>
              <a:rPr lang="en-US" dirty="0" smtClean="0"/>
              <a:t> </a:t>
            </a:r>
            <a:r>
              <a:rPr lang="en-US" dirty="0" err="1" smtClean="0"/>
              <a:t>đặt</a:t>
            </a:r>
            <a:r>
              <a:rPr lang="en-US" dirty="0" smtClean="0"/>
              <a:t> </a:t>
            </a:r>
            <a:r>
              <a:rPr lang="en-US" dirty="0" err="1" smtClean="0"/>
              <a:t>trong</a:t>
            </a:r>
            <a:r>
              <a:rPr lang="en-US" dirty="0"/>
              <a:t> </a:t>
            </a:r>
            <a:r>
              <a:rPr lang="en-US" dirty="0" err="1" smtClean="0"/>
              <a:t>thanh</a:t>
            </a:r>
            <a:r>
              <a:rPr lang="en-US" dirty="0" smtClean="0"/>
              <a:t> </a:t>
            </a:r>
            <a:r>
              <a:rPr lang="en-US" dirty="0" err="1" smtClean="0"/>
              <a:t>ghi</a:t>
            </a:r>
            <a:r>
              <a:rPr lang="en-US" dirty="0" smtClean="0"/>
              <a:t> </a:t>
            </a:r>
            <a:r>
              <a:rPr lang="en-US" dirty="0" err="1" smtClean="0"/>
              <a:t>ko</a:t>
            </a:r>
            <a:r>
              <a:rPr lang="en-US" dirty="0" smtClean="0"/>
              <a:t>).</a:t>
            </a:r>
            <a:endParaRPr lang="en-US" dirty="0"/>
          </a:p>
        </p:txBody>
      </p:sp>
    </p:spTree>
    <p:extLst>
      <p:ext uri="{BB962C8B-B14F-4D97-AF65-F5344CB8AC3E}">
        <p14:creationId xmlns:p14="http://schemas.microsoft.com/office/powerpoint/2010/main" val="553881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882409" y="763805"/>
            <a:ext cx="1829055" cy="1428949"/>
          </a:xfrm>
          <a:prstGeom prst="rect">
            <a:avLst/>
          </a:prstGeom>
        </p:spPr>
      </p:pic>
      <p:sp>
        <p:nvSpPr>
          <p:cNvPr id="5" name="TextBox 4"/>
          <p:cNvSpPr txBox="1"/>
          <p:nvPr/>
        </p:nvSpPr>
        <p:spPr>
          <a:xfrm>
            <a:off x="827314" y="2595154"/>
            <a:ext cx="10517751" cy="646331"/>
          </a:xfrm>
          <a:prstGeom prst="rect">
            <a:avLst/>
          </a:prstGeom>
          <a:noFill/>
        </p:spPr>
        <p:txBody>
          <a:bodyPr wrap="none" rtlCol="0">
            <a:spAutoFit/>
          </a:bodyPr>
          <a:lstStyle/>
          <a:p>
            <a:r>
              <a:rPr lang="en-US" dirty="0" err="1" smtClean="0"/>
              <a:t>Việc</a:t>
            </a:r>
            <a:r>
              <a:rPr lang="en-US" dirty="0" smtClean="0"/>
              <a:t> </a:t>
            </a:r>
            <a:r>
              <a:rPr lang="en-US" dirty="0" err="1" smtClean="0"/>
              <a:t>khái</a:t>
            </a:r>
            <a:r>
              <a:rPr lang="en-US" dirty="0" smtClean="0"/>
              <a:t> </a:t>
            </a:r>
            <a:r>
              <a:rPr lang="en-US" dirty="0" err="1" smtClean="0"/>
              <a:t>báo</a:t>
            </a:r>
            <a:r>
              <a:rPr lang="en-US" dirty="0" smtClean="0"/>
              <a:t> </a:t>
            </a:r>
            <a:r>
              <a:rPr lang="en-US" dirty="0" err="1" smtClean="0"/>
              <a:t>và</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thế</a:t>
            </a:r>
            <a:r>
              <a:rPr lang="en-US" dirty="0" smtClean="0"/>
              <a:t> </a:t>
            </a:r>
            <a:r>
              <a:rPr lang="en-US" dirty="0" err="1" smtClean="0"/>
              <a:t>này</a:t>
            </a:r>
            <a:r>
              <a:rPr lang="en-US" dirty="0" smtClean="0"/>
              <a:t> </a:t>
            </a:r>
            <a:r>
              <a:rPr lang="en-US" dirty="0" err="1" smtClean="0"/>
              <a:t>là</a:t>
            </a:r>
            <a:r>
              <a:rPr lang="en-US" dirty="0" smtClean="0"/>
              <a:t> </a:t>
            </a:r>
            <a:r>
              <a:rPr lang="en-US" dirty="0" err="1" smtClean="0"/>
              <a:t>hoàn</a:t>
            </a:r>
            <a:r>
              <a:rPr lang="en-US" dirty="0" smtClean="0"/>
              <a:t> </a:t>
            </a:r>
            <a:r>
              <a:rPr lang="en-US" dirty="0" err="1" smtClean="0"/>
              <a:t>toàn</a:t>
            </a:r>
            <a:r>
              <a:rPr lang="en-US" dirty="0" smtClean="0"/>
              <a:t> </a:t>
            </a:r>
            <a:r>
              <a:rPr lang="en-US" dirty="0" err="1" smtClean="0"/>
              <a:t>đúng</a:t>
            </a:r>
            <a:r>
              <a:rPr lang="en-US" dirty="0" smtClean="0"/>
              <a:t>, </a:t>
            </a:r>
            <a:r>
              <a:rPr lang="en-US" dirty="0" err="1" smtClean="0"/>
              <a:t>biến</a:t>
            </a:r>
            <a:r>
              <a:rPr lang="en-US" dirty="0" smtClean="0"/>
              <a:t> y </a:t>
            </a:r>
            <a:r>
              <a:rPr lang="en-US" dirty="0" err="1" smtClean="0"/>
              <a:t>bên</a:t>
            </a:r>
            <a:r>
              <a:rPr lang="en-US" dirty="0" smtClean="0"/>
              <a:t> </a:t>
            </a:r>
            <a:r>
              <a:rPr lang="en-US" dirty="0" err="1" smtClean="0"/>
              <a:t>trong</a:t>
            </a:r>
            <a:r>
              <a:rPr lang="en-US" dirty="0" smtClean="0"/>
              <a:t> </a:t>
            </a:r>
            <a:r>
              <a:rPr lang="en-US" dirty="0" err="1" smtClean="0"/>
              <a:t>không</a:t>
            </a:r>
            <a:r>
              <a:rPr lang="en-US" dirty="0" smtClean="0"/>
              <a:t> </a:t>
            </a:r>
            <a:r>
              <a:rPr lang="en-US" dirty="0" err="1" smtClean="0"/>
              <a:t>liên</a:t>
            </a:r>
            <a:r>
              <a:rPr lang="en-US" dirty="0" smtClean="0"/>
              <a:t> </a:t>
            </a:r>
            <a:r>
              <a:rPr lang="en-US" dirty="0" err="1" smtClean="0"/>
              <a:t>quan</a:t>
            </a:r>
            <a:r>
              <a:rPr lang="en-US" dirty="0" smtClean="0"/>
              <a:t> </a:t>
            </a:r>
            <a:r>
              <a:rPr lang="en-US" dirty="0" err="1" smtClean="0"/>
              <a:t>gì</a:t>
            </a:r>
            <a:r>
              <a:rPr lang="en-US" dirty="0" smtClean="0"/>
              <a:t> </a:t>
            </a:r>
            <a:r>
              <a:rPr lang="en-US" dirty="0" err="1" smtClean="0"/>
              <a:t>đến</a:t>
            </a:r>
            <a:r>
              <a:rPr lang="en-US" dirty="0" smtClean="0"/>
              <a:t> </a:t>
            </a:r>
            <a:r>
              <a:rPr lang="en-US" dirty="0" err="1" smtClean="0"/>
              <a:t>biến</a:t>
            </a:r>
            <a:r>
              <a:rPr lang="en-US" dirty="0" smtClean="0"/>
              <a:t> y </a:t>
            </a:r>
            <a:r>
              <a:rPr lang="en-US" dirty="0" err="1" smtClean="0"/>
              <a:t>bên</a:t>
            </a:r>
            <a:r>
              <a:rPr lang="en-US" dirty="0" smtClean="0"/>
              <a:t> </a:t>
            </a:r>
            <a:r>
              <a:rPr lang="en-US" dirty="0" err="1" smtClean="0"/>
              <a:t>ngoài</a:t>
            </a:r>
            <a:r>
              <a:rPr lang="en-US" dirty="0" smtClean="0"/>
              <a:t>,</a:t>
            </a:r>
          </a:p>
          <a:p>
            <a:r>
              <a:rPr lang="en-US" dirty="0" err="1"/>
              <a:t>v</a:t>
            </a:r>
            <a:r>
              <a:rPr lang="en-US" dirty="0" err="1" smtClean="0"/>
              <a:t>à</a:t>
            </a:r>
            <a:r>
              <a:rPr lang="en-US" dirty="0" smtClean="0"/>
              <a:t> </a:t>
            </a:r>
            <a:r>
              <a:rPr lang="en-US" dirty="0" err="1" smtClean="0"/>
              <a:t>trong</a:t>
            </a:r>
            <a:r>
              <a:rPr lang="en-US" dirty="0" smtClean="0"/>
              <a:t> </a:t>
            </a:r>
            <a:r>
              <a:rPr lang="en-US" dirty="0" err="1" smtClean="0"/>
              <a:t>phạm</a:t>
            </a:r>
            <a:r>
              <a:rPr lang="en-US" dirty="0" smtClean="0"/>
              <a:t> vi </a:t>
            </a:r>
            <a:r>
              <a:rPr lang="en-US" dirty="0" err="1" smtClean="0"/>
              <a:t>hàm</a:t>
            </a:r>
            <a:r>
              <a:rPr lang="en-US" dirty="0" smtClean="0"/>
              <a:t> f </a:t>
            </a:r>
            <a:r>
              <a:rPr lang="en-US" dirty="0" err="1" smtClean="0"/>
              <a:t>thì</a:t>
            </a:r>
            <a:r>
              <a:rPr lang="en-US" dirty="0" smtClean="0"/>
              <a:t> </a:t>
            </a:r>
            <a:r>
              <a:rPr lang="en-US" dirty="0" err="1" smtClean="0"/>
              <a:t>nếu</a:t>
            </a:r>
            <a:r>
              <a:rPr lang="en-US" dirty="0" smtClean="0"/>
              <a:t> ta </a:t>
            </a:r>
            <a:r>
              <a:rPr lang="en-US" dirty="0" err="1" smtClean="0"/>
              <a:t>sử</a:t>
            </a:r>
            <a:r>
              <a:rPr lang="en-US" dirty="0" smtClean="0"/>
              <a:t> </a:t>
            </a:r>
            <a:r>
              <a:rPr lang="en-US" dirty="0" err="1" smtClean="0"/>
              <a:t>dụng</a:t>
            </a:r>
            <a:r>
              <a:rPr lang="en-US" dirty="0" smtClean="0"/>
              <a:t> </a:t>
            </a:r>
            <a:r>
              <a:rPr lang="en-US" dirty="0" err="1" smtClean="0"/>
              <a:t>biến</a:t>
            </a:r>
            <a:r>
              <a:rPr lang="en-US" dirty="0" smtClean="0"/>
              <a:t> y </a:t>
            </a:r>
            <a:r>
              <a:rPr lang="en-US" dirty="0" err="1" smtClean="0"/>
              <a:t>thì</a:t>
            </a:r>
            <a:r>
              <a:rPr lang="en-US" dirty="0" smtClean="0"/>
              <a:t> </a:t>
            </a:r>
            <a:r>
              <a:rPr lang="en-US" dirty="0" err="1" smtClean="0"/>
              <a:t>mặc</a:t>
            </a:r>
            <a:r>
              <a:rPr lang="en-US" dirty="0" smtClean="0"/>
              <a:t> </a:t>
            </a:r>
            <a:r>
              <a:rPr lang="en-US" dirty="0" err="1" smtClean="0"/>
              <a:t>định</a:t>
            </a:r>
            <a:r>
              <a:rPr lang="en-US" dirty="0" smtClean="0"/>
              <a:t> </a:t>
            </a:r>
            <a:r>
              <a:rPr lang="en-US" dirty="0" err="1" smtClean="0"/>
              <a:t>hiểu</a:t>
            </a:r>
            <a:r>
              <a:rPr lang="en-US" dirty="0" smtClean="0"/>
              <a:t> </a:t>
            </a:r>
            <a:r>
              <a:rPr lang="en-US" dirty="0" err="1" smtClean="0"/>
              <a:t>biến</a:t>
            </a:r>
            <a:r>
              <a:rPr lang="en-US" dirty="0" smtClean="0"/>
              <a:t> double y.</a:t>
            </a:r>
            <a:endParaRPr lang="en-US" dirty="0"/>
          </a:p>
        </p:txBody>
      </p:sp>
    </p:spTree>
    <p:extLst>
      <p:ext uri="{BB962C8B-B14F-4D97-AF65-F5344CB8AC3E}">
        <p14:creationId xmlns:p14="http://schemas.microsoft.com/office/powerpoint/2010/main" val="3231158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49829" y="234280"/>
            <a:ext cx="6096000" cy="646331"/>
          </a:xfrm>
          <a:prstGeom prst="rect">
            <a:avLst/>
          </a:prstGeom>
        </p:spPr>
        <p:txBody>
          <a:bodyPr>
            <a:spAutoFit/>
          </a:bodyPr>
          <a:lstStyle/>
          <a:p>
            <a:r>
              <a:rPr lang="en-US" dirty="0" err="1"/>
              <a:t>Một</a:t>
            </a:r>
            <a:r>
              <a:rPr lang="en-US" dirty="0"/>
              <a:t> con </a:t>
            </a:r>
            <a:r>
              <a:rPr lang="en-US" dirty="0" err="1"/>
              <a:t>trỏ</a:t>
            </a:r>
            <a:r>
              <a:rPr lang="en-US" dirty="0"/>
              <a:t> (pointer) </a:t>
            </a:r>
            <a:r>
              <a:rPr lang="en-US" dirty="0" err="1"/>
              <a:t>là</a:t>
            </a:r>
            <a:r>
              <a:rPr lang="en-US" dirty="0"/>
              <a:t> </a:t>
            </a:r>
            <a:r>
              <a:rPr lang="en-US" dirty="0" err="1"/>
              <a:t>một</a:t>
            </a:r>
            <a:r>
              <a:rPr lang="en-US" dirty="0"/>
              <a:t> </a:t>
            </a:r>
            <a:r>
              <a:rPr lang="en-US" dirty="0" err="1"/>
              <a:t>biến</a:t>
            </a:r>
            <a:r>
              <a:rPr lang="en-US" dirty="0"/>
              <a:t> </a:t>
            </a:r>
            <a:r>
              <a:rPr lang="en-US" dirty="0" err="1"/>
              <a:t>chứa</a:t>
            </a:r>
            <a:r>
              <a:rPr lang="en-US" dirty="0"/>
              <a:t> </a:t>
            </a:r>
            <a:r>
              <a:rPr lang="en-US" dirty="0" err="1"/>
              <a:t>địa</a:t>
            </a:r>
            <a:r>
              <a:rPr lang="en-US" dirty="0"/>
              <a:t> </a:t>
            </a:r>
            <a:r>
              <a:rPr lang="en-US" dirty="0" err="1"/>
              <a:t>chỉ</a:t>
            </a:r>
            <a:r>
              <a:rPr lang="en-US" dirty="0"/>
              <a:t> </a:t>
            </a:r>
            <a:r>
              <a:rPr lang="en-US" dirty="0" err="1"/>
              <a:t>của</a:t>
            </a:r>
            <a:r>
              <a:rPr lang="en-US" dirty="0"/>
              <a:t> </a:t>
            </a:r>
            <a:r>
              <a:rPr lang="en-US" dirty="0" err="1"/>
              <a:t>một</a:t>
            </a:r>
            <a:r>
              <a:rPr lang="en-US" dirty="0"/>
              <a:t> </a:t>
            </a:r>
            <a:r>
              <a:rPr lang="en-US" dirty="0" err="1"/>
              <a:t>biến</a:t>
            </a:r>
            <a:r>
              <a:rPr lang="en-US" dirty="0"/>
              <a:t> </a:t>
            </a:r>
            <a:r>
              <a:rPr lang="en-US" dirty="0" err="1" smtClean="0"/>
              <a:t>khác</a:t>
            </a:r>
            <a:r>
              <a:rPr lang="en-US" dirty="0" smtClean="0"/>
              <a:t>.</a:t>
            </a:r>
            <a:endParaRPr lang="en-US" dirty="0"/>
          </a:p>
        </p:txBody>
      </p:sp>
      <p:sp>
        <p:nvSpPr>
          <p:cNvPr id="6" name="TextBox 5"/>
          <p:cNvSpPr txBox="1"/>
          <p:nvPr/>
        </p:nvSpPr>
        <p:spPr>
          <a:xfrm>
            <a:off x="1349829" y="2005987"/>
            <a:ext cx="9787166" cy="369332"/>
          </a:xfrm>
          <a:prstGeom prst="rect">
            <a:avLst/>
          </a:prstGeom>
          <a:noFill/>
        </p:spPr>
        <p:txBody>
          <a:bodyPr wrap="none" rtlCol="0">
            <a:spAutoFit/>
          </a:bodyPr>
          <a:lstStyle/>
          <a:p>
            <a:r>
              <a:rPr lang="en-US" dirty="0" smtClean="0"/>
              <a:t>Con </a:t>
            </a:r>
            <a:r>
              <a:rPr lang="en-US" dirty="0" err="1" smtClean="0"/>
              <a:t>trỏ</a:t>
            </a:r>
            <a:r>
              <a:rPr lang="en-US" dirty="0" smtClean="0"/>
              <a:t> </a:t>
            </a:r>
            <a:r>
              <a:rPr lang="en-US" dirty="0" err="1" smtClean="0"/>
              <a:t>kiểu</a:t>
            </a:r>
            <a:r>
              <a:rPr lang="en-US" dirty="0" smtClean="0"/>
              <a:t> void </a:t>
            </a:r>
            <a:r>
              <a:rPr lang="en-US" dirty="0" err="1" smtClean="0"/>
              <a:t>có</a:t>
            </a:r>
            <a:r>
              <a:rPr lang="en-US" dirty="0" smtClean="0"/>
              <a:t> </a:t>
            </a:r>
            <a:r>
              <a:rPr lang="en-US" dirty="0" err="1" smtClean="0"/>
              <a:t>thể</a:t>
            </a:r>
            <a:r>
              <a:rPr lang="en-US" dirty="0" smtClean="0"/>
              <a:t> </a:t>
            </a:r>
            <a:r>
              <a:rPr lang="en-US" dirty="0" err="1" smtClean="0"/>
              <a:t>dùng</a:t>
            </a:r>
            <a:r>
              <a:rPr lang="en-US" dirty="0" smtClean="0"/>
              <a:t> </a:t>
            </a:r>
            <a:r>
              <a:rPr lang="en-US" dirty="0" err="1" smtClean="0"/>
              <a:t>đẻ</a:t>
            </a:r>
            <a:r>
              <a:rPr lang="en-US" dirty="0" smtClean="0"/>
              <a:t> </a:t>
            </a:r>
            <a:r>
              <a:rPr lang="en-US" dirty="0" err="1" smtClean="0"/>
              <a:t>chứa</a:t>
            </a:r>
            <a:r>
              <a:rPr lang="en-US" dirty="0" smtClean="0"/>
              <a:t> </a:t>
            </a:r>
            <a:r>
              <a:rPr lang="en-US" dirty="0" err="1" smtClean="0"/>
              <a:t>bất</a:t>
            </a:r>
            <a:r>
              <a:rPr lang="en-US" dirty="0" smtClean="0"/>
              <a:t> </a:t>
            </a:r>
            <a:r>
              <a:rPr lang="en-US" dirty="0" err="1" smtClean="0"/>
              <a:t>kì</a:t>
            </a:r>
            <a:r>
              <a:rPr lang="en-US" dirty="0" smtClean="0"/>
              <a:t> </a:t>
            </a:r>
            <a:r>
              <a:rPr lang="en-US" dirty="0" err="1" smtClean="0"/>
              <a:t>kiểu</a:t>
            </a:r>
            <a:r>
              <a:rPr lang="en-US" dirty="0" smtClean="0"/>
              <a:t> con </a:t>
            </a:r>
            <a:r>
              <a:rPr lang="en-US" dirty="0" err="1" smtClean="0"/>
              <a:t>trỏ</a:t>
            </a:r>
            <a:r>
              <a:rPr lang="en-US" dirty="0" smtClean="0"/>
              <a:t> </a:t>
            </a:r>
            <a:r>
              <a:rPr lang="en-US" dirty="0" err="1" smtClean="0"/>
              <a:t>nhưng</a:t>
            </a:r>
            <a:r>
              <a:rPr lang="en-US" dirty="0" smtClean="0"/>
              <a:t> </a:t>
            </a:r>
            <a:r>
              <a:rPr lang="en-US" dirty="0" err="1" smtClean="0"/>
              <a:t>bản</a:t>
            </a:r>
            <a:r>
              <a:rPr lang="en-US" dirty="0" smtClean="0"/>
              <a:t> </a:t>
            </a:r>
            <a:r>
              <a:rPr lang="en-US" dirty="0" err="1" smtClean="0"/>
              <a:t>thân</a:t>
            </a:r>
            <a:r>
              <a:rPr lang="en-US" dirty="0" smtClean="0"/>
              <a:t> </a:t>
            </a:r>
            <a:r>
              <a:rPr lang="en-US" dirty="0" err="1" smtClean="0"/>
              <a:t>nó</a:t>
            </a:r>
            <a:r>
              <a:rPr lang="en-US" dirty="0" smtClean="0"/>
              <a:t> </a:t>
            </a:r>
            <a:r>
              <a:rPr lang="en-US" dirty="0" err="1" smtClean="0"/>
              <a:t>không</a:t>
            </a:r>
            <a:r>
              <a:rPr lang="en-US" dirty="0" smtClean="0"/>
              <a:t> </a:t>
            </a:r>
            <a:r>
              <a:rPr lang="en-US" dirty="0" err="1" smtClean="0"/>
              <a:t>thể</a:t>
            </a:r>
            <a:r>
              <a:rPr lang="en-US" dirty="0" smtClean="0"/>
              <a:t> </a:t>
            </a:r>
            <a:r>
              <a:rPr lang="en-US" dirty="0" err="1" smtClean="0"/>
              <a:t>giải</a:t>
            </a:r>
            <a:r>
              <a:rPr lang="en-US" dirty="0" smtClean="0"/>
              <a:t> </a:t>
            </a:r>
            <a:r>
              <a:rPr lang="en-US" dirty="0" err="1" smtClean="0"/>
              <a:t>tham</a:t>
            </a:r>
            <a:r>
              <a:rPr lang="en-US" dirty="0" smtClean="0"/>
              <a:t> </a:t>
            </a:r>
            <a:r>
              <a:rPr lang="en-US" dirty="0" err="1" smtClean="0"/>
              <a:t>chiếu</a:t>
            </a:r>
            <a:endParaRPr lang="en-US" dirty="0"/>
          </a:p>
        </p:txBody>
      </p:sp>
      <p:sp>
        <p:nvSpPr>
          <p:cNvPr id="8" name="TextBox 7"/>
          <p:cNvSpPr txBox="1"/>
          <p:nvPr/>
        </p:nvSpPr>
        <p:spPr>
          <a:xfrm>
            <a:off x="2029097" y="2595154"/>
            <a:ext cx="6701193" cy="369332"/>
          </a:xfrm>
          <a:prstGeom prst="rect">
            <a:avLst/>
          </a:prstGeom>
          <a:noFill/>
        </p:spPr>
        <p:txBody>
          <a:bodyPr wrap="none" rtlCol="0">
            <a:spAutoFit/>
          </a:bodyPr>
          <a:lstStyle/>
          <a:p>
            <a:r>
              <a:rPr lang="en-US" dirty="0" err="1" smtClean="0"/>
              <a:t>Các</a:t>
            </a:r>
            <a:r>
              <a:rPr lang="en-US" dirty="0" smtClean="0"/>
              <a:t> </a:t>
            </a:r>
            <a:r>
              <a:rPr lang="en-US" dirty="0" err="1" smtClean="0"/>
              <a:t>toán</a:t>
            </a:r>
            <a:r>
              <a:rPr lang="en-US" dirty="0" smtClean="0"/>
              <a:t> </a:t>
            </a:r>
            <a:r>
              <a:rPr lang="en-US" dirty="0" err="1" smtClean="0"/>
              <a:t>tử</a:t>
            </a:r>
            <a:r>
              <a:rPr lang="en-US" dirty="0" smtClean="0"/>
              <a:t> ‘&amp;’ </a:t>
            </a:r>
            <a:r>
              <a:rPr lang="en-US" dirty="0" err="1" smtClean="0"/>
              <a:t>hoặc</a:t>
            </a:r>
            <a:r>
              <a:rPr lang="en-US" dirty="0" smtClean="0"/>
              <a:t> ‘*’ </a:t>
            </a:r>
            <a:r>
              <a:rPr lang="en-US" dirty="0" err="1" smtClean="0"/>
              <a:t>có</a:t>
            </a:r>
            <a:r>
              <a:rPr lang="en-US" dirty="0" smtClean="0"/>
              <a:t> </a:t>
            </a:r>
            <a:r>
              <a:rPr lang="en-US" dirty="0" err="1" smtClean="0"/>
              <a:t>ưu</a:t>
            </a:r>
            <a:r>
              <a:rPr lang="en-US" dirty="0" smtClean="0"/>
              <a:t> </a:t>
            </a:r>
            <a:r>
              <a:rPr lang="en-US" dirty="0" err="1" smtClean="0"/>
              <a:t>tiên</a:t>
            </a:r>
            <a:r>
              <a:rPr lang="en-US" dirty="0" smtClean="0"/>
              <a:t> </a:t>
            </a:r>
            <a:r>
              <a:rPr lang="en-US" dirty="0" err="1" smtClean="0"/>
              <a:t>liến</a:t>
            </a:r>
            <a:r>
              <a:rPr lang="en-US" dirty="0" smtClean="0"/>
              <a:t> </a:t>
            </a:r>
            <a:r>
              <a:rPr lang="en-US" dirty="0" err="1" smtClean="0"/>
              <a:t>kết</a:t>
            </a:r>
            <a:r>
              <a:rPr lang="en-US" dirty="0" smtClean="0"/>
              <a:t> </a:t>
            </a:r>
            <a:r>
              <a:rPr lang="en-US" dirty="0" err="1" smtClean="0"/>
              <a:t>cao</a:t>
            </a:r>
            <a:r>
              <a:rPr lang="en-US" dirty="0" smtClean="0"/>
              <a:t> </a:t>
            </a:r>
            <a:r>
              <a:rPr lang="en-US" dirty="0" err="1" smtClean="0"/>
              <a:t>hơn</a:t>
            </a:r>
            <a:r>
              <a:rPr lang="en-US" dirty="0" smtClean="0"/>
              <a:t> </a:t>
            </a:r>
            <a:r>
              <a:rPr lang="en-US" dirty="0" err="1" smtClean="0"/>
              <a:t>các</a:t>
            </a:r>
            <a:r>
              <a:rPr lang="en-US" dirty="0" smtClean="0"/>
              <a:t> </a:t>
            </a:r>
            <a:r>
              <a:rPr lang="en-US" dirty="0" err="1" smtClean="0"/>
              <a:t>toán</a:t>
            </a:r>
            <a:r>
              <a:rPr lang="en-US" dirty="0" smtClean="0"/>
              <a:t> </a:t>
            </a:r>
            <a:r>
              <a:rPr lang="en-US" dirty="0" err="1" smtClean="0"/>
              <a:t>tử</a:t>
            </a:r>
            <a:r>
              <a:rPr lang="en-US" dirty="0" smtClean="0"/>
              <a:t> </a:t>
            </a:r>
            <a:r>
              <a:rPr lang="en-US" dirty="0" err="1" smtClean="0"/>
              <a:t>số</a:t>
            </a:r>
            <a:r>
              <a:rPr lang="en-US" dirty="0" smtClean="0"/>
              <a:t> </a:t>
            </a:r>
            <a:r>
              <a:rPr lang="en-US" dirty="0" err="1" smtClean="0"/>
              <a:t>học</a:t>
            </a:r>
            <a:r>
              <a:rPr lang="en-US" dirty="0" smtClean="0"/>
              <a:t>.</a:t>
            </a:r>
            <a:endParaRPr lang="en-US" dirty="0"/>
          </a:p>
        </p:txBody>
      </p:sp>
      <p:sp>
        <p:nvSpPr>
          <p:cNvPr id="2" name="Rectangle 1"/>
          <p:cNvSpPr/>
          <p:nvPr/>
        </p:nvSpPr>
        <p:spPr>
          <a:xfrm>
            <a:off x="1240639" y="3533894"/>
            <a:ext cx="2865785" cy="369332"/>
          </a:xfrm>
          <a:prstGeom prst="rect">
            <a:avLst/>
          </a:prstGeom>
        </p:spPr>
        <p:txBody>
          <a:bodyPr wrap="none">
            <a:spAutoFit/>
          </a:bodyPr>
          <a:lstStyle/>
          <a:p>
            <a:r>
              <a:rPr lang="en-US" dirty="0"/>
              <a:t>Con </a:t>
            </a:r>
            <a:r>
              <a:rPr lang="en-US" dirty="0" err="1"/>
              <a:t>trỏ</a:t>
            </a:r>
            <a:r>
              <a:rPr lang="en-US" dirty="0"/>
              <a:t> </a:t>
            </a:r>
            <a:r>
              <a:rPr lang="en-US" dirty="0" err="1"/>
              <a:t>và</a:t>
            </a:r>
            <a:r>
              <a:rPr lang="en-US" dirty="0"/>
              <a:t> </a:t>
            </a:r>
            <a:r>
              <a:rPr lang="en-US" dirty="0" err="1"/>
              <a:t>Tham</a:t>
            </a:r>
            <a:r>
              <a:rPr lang="en-US" dirty="0"/>
              <a:t> </a:t>
            </a:r>
            <a:r>
              <a:rPr lang="en-US" dirty="0" err="1"/>
              <a:t>số</a:t>
            </a:r>
            <a:r>
              <a:rPr lang="en-US" dirty="0"/>
              <a:t> </a:t>
            </a:r>
            <a:r>
              <a:rPr lang="en-US" dirty="0" err="1"/>
              <a:t>của</a:t>
            </a:r>
            <a:r>
              <a:rPr lang="en-US" dirty="0"/>
              <a:t> </a:t>
            </a:r>
            <a:r>
              <a:rPr lang="en-US" dirty="0" err="1"/>
              <a:t>Hàm</a:t>
            </a:r>
            <a:endParaRPr lang="en-US" dirty="0"/>
          </a:p>
        </p:txBody>
      </p:sp>
      <p:pic>
        <p:nvPicPr>
          <p:cNvPr id="3" name="Picture 2"/>
          <p:cNvPicPr>
            <a:picLocks noChangeAspect="1"/>
          </p:cNvPicPr>
          <p:nvPr/>
        </p:nvPicPr>
        <p:blipFill>
          <a:blip r:embed="rId2"/>
          <a:stretch>
            <a:fillRect/>
          </a:stretch>
        </p:blipFill>
        <p:spPr>
          <a:xfrm>
            <a:off x="2029097" y="4180984"/>
            <a:ext cx="1695687" cy="476316"/>
          </a:xfrm>
          <a:prstGeom prst="rect">
            <a:avLst/>
          </a:prstGeom>
        </p:spPr>
      </p:pic>
      <p:pic>
        <p:nvPicPr>
          <p:cNvPr id="5" name="Picture 4"/>
          <p:cNvPicPr>
            <a:picLocks noChangeAspect="1"/>
          </p:cNvPicPr>
          <p:nvPr/>
        </p:nvPicPr>
        <p:blipFill>
          <a:blip r:embed="rId3"/>
          <a:stretch>
            <a:fillRect/>
          </a:stretch>
        </p:blipFill>
        <p:spPr>
          <a:xfrm>
            <a:off x="879565" y="4668007"/>
            <a:ext cx="4478569" cy="1856066"/>
          </a:xfrm>
          <a:prstGeom prst="rect">
            <a:avLst/>
          </a:prstGeom>
        </p:spPr>
      </p:pic>
      <p:pic>
        <p:nvPicPr>
          <p:cNvPr id="7" name="Picture 6"/>
          <p:cNvPicPr>
            <a:picLocks noChangeAspect="1"/>
          </p:cNvPicPr>
          <p:nvPr/>
        </p:nvPicPr>
        <p:blipFill>
          <a:blip r:embed="rId4"/>
          <a:stretch>
            <a:fillRect/>
          </a:stretch>
        </p:blipFill>
        <p:spPr>
          <a:xfrm>
            <a:off x="5529942" y="4735677"/>
            <a:ext cx="6513087" cy="1788396"/>
          </a:xfrm>
          <a:prstGeom prst="rect">
            <a:avLst/>
          </a:prstGeom>
        </p:spPr>
      </p:pic>
      <p:sp>
        <p:nvSpPr>
          <p:cNvPr id="9" name="Rectangle 8"/>
          <p:cNvSpPr/>
          <p:nvPr/>
        </p:nvSpPr>
        <p:spPr>
          <a:xfrm>
            <a:off x="2717081" y="1342655"/>
            <a:ext cx="649601" cy="369332"/>
          </a:xfrm>
          <a:prstGeom prst="rect">
            <a:avLst/>
          </a:prstGeom>
        </p:spPr>
        <p:txBody>
          <a:bodyPr wrap="none">
            <a:spAutoFit/>
          </a:bodyPr>
          <a:lstStyle/>
          <a:p>
            <a:r>
              <a:rPr lang="en-US" dirty="0"/>
              <a:t>pa++</a:t>
            </a:r>
          </a:p>
        </p:txBody>
      </p:sp>
      <p:sp>
        <p:nvSpPr>
          <p:cNvPr id="10" name="Rectangle 9"/>
          <p:cNvSpPr/>
          <p:nvPr/>
        </p:nvSpPr>
        <p:spPr>
          <a:xfrm>
            <a:off x="1828806" y="1342655"/>
            <a:ext cx="748923" cy="369332"/>
          </a:xfrm>
          <a:prstGeom prst="rect">
            <a:avLst/>
          </a:prstGeom>
        </p:spPr>
        <p:txBody>
          <a:bodyPr wrap="none">
            <a:spAutoFit/>
          </a:bodyPr>
          <a:lstStyle/>
          <a:p>
            <a:r>
              <a:rPr lang="en-US" dirty="0"/>
              <a:t>pa = a</a:t>
            </a:r>
          </a:p>
        </p:txBody>
      </p:sp>
      <p:sp>
        <p:nvSpPr>
          <p:cNvPr id="11" name="TextBox 10"/>
          <p:cNvSpPr txBox="1"/>
          <p:nvPr/>
        </p:nvSpPr>
        <p:spPr>
          <a:xfrm>
            <a:off x="1628503" y="1036320"/>
            <a:ext cx="5279972" cy="369332"/>
          </a:xfrm>
          <a:prstGeom prst="rect">
            <a:avLst/>
          </a:prstGeom>
          <a:noFill/>
        </p:spPr>
        <p:txBody>
          <a:bodyPr wrap="none" rtlCol="0">
            <a:spAutoFit/>
          </a:bodyPr>
          <a:lstStyle/>
          <a:p>
            <a:r>
              <a:rPr lang="en-US" dirty="0" smtClean="0"/>
              <a:t>Con </a:t>
            </a:r>
            <a:r>
              <a:rPr lang="en-US" dirty="0" err="1" smtClean="0"/>
              <a:t>trỏ</a:t>
            </a:r>
            <a:r>
              <a:rPr lang="en-US" dirty="0" smtClean="0"/>
              <a:t> </a:t>
            </a:r>
            <a:r>
              <a:rPr lang="en-US" dirty="0" err="1" smtClean="0"/>
              <a:t>là</a:t>
            </a:r>
            <a:r>
              <a:rPr lang="en-US" dirty="0" smtClean="0"/>
              <a:t> 1 </a:t>
            </a:r>
            <a:r>
              <a:rPr lang="en-US" dirty="0" err="1" smtClean="0"/>
              <a:t>biến</a:t>
            </a:r>
            <a:r>
              <a:rPr lang="en-US" dirty="0" smtClean="0"/>
              <a:t> </a:t>
            </a:r>
            <a:r>
              <a:rPr lang="en-US" dirty="0" err="1" smtClean="0"/>
              <a:t>nên</a:t>
            </a:r>
            <a:r>
              <a:rPr lang="en-US" dirty="0" smtClean="0"/>
              <a:t> </a:t>
            </a:r>
            <a:r>
              <a:rPr lang="en-US" dirty="0" err="1" smtClean="0"/>
              <a:t>các</a:t>
            </a:r>
            <a:r>
              <a:rPr lang="en-US" dirty="0" smtClean="0"/>
              <a:t> </a:t>
            </a:r>
            <a:r>
              <a:rPr lang="en-US" dirty="0" err="1" smtClean="0"/>
              <a:t>câu</a:t>
            </a:r>
            <a:r>
              <a:rPr lang="en-US" dirty="0" smtClean="0"/>
              <a:t> </a:t>
            </a:r>
            <a:r>
              <a:rPr lang="en-US" dirty="0" err="1" smtClean="0"/>
              <a:t>lên</a:t>
            </a:r>
            <a:r>
              <a:rPr lang="en-US" dirty="0" smtClean="0"/>
              <a:t> </a:t>
            </a:r>
            <a:r>
              <a:rPr lang="en-US" dirty="0" err="1" smtClean="0"/>
              <a:t>như</a:t>
            </a:r>
            <a:r>
              <a:rPr lang="en-US" dirty="0" smtClean="0"/>
              <a:t> </a:t>
            </a:r>
            <a:r>
              <a:rPr lang="en-US" dirty="0" err="1" smtClean="0"/>
              <a:t>thế</a:t>
            </a:r>
            <a:r>
              <a:rPr lang="en-US" dirty="0" smtClean="0"/>
              <a:t> </a:t>
            </a:r>
            <a:r>
              <a:rPr lang="en-US" dirty="0" err="1" smtClean="0"/>
              <a:t>này</a:t>
            </a:r>
            <a:r>
              <a:rPr lang="en-US" dirty="0" smtClean="0"/>
              <a:t> </a:t>
            </a:r>
            <a:r>
              <a:rPr lang="en-US" dirty="0" err="1" smtClean="0"/>
              <a:t>là</a:t>
            </a:r>
            <a:r>
              <a:rPr lang="en-US" dirty="0" smtClean="0"/>
              <a:t> </a:t>
            </a:r>
            <a:r>
              <a:rPr lang="en-US" dirty="0" err="1" smtClean="0"/>
              <a:t>hơn</a:t>
            </a:r>
            <a:r>
              <a:rPr lang="en-US" dirty="0" smtClean="0"/>
              <a:t> </a:t>
            </a:r>
            <a:r>
              <a:rPr lang="en-US" dirty="0" err="1" smtClean="0"/>
              <a:t>lệ</a:t>
            </a:r>
            <a:endParaRPr lang="en-US" dirty="0"/>
          </a:p>
        </p:txBody>
      </p:sp>
    </p:spTree>
    <p:extLst>
      <p:ext uri="{BB962C8B-B14F-4D97-AF65-F5344CB8AC3E}">
        <p14:creationId xmlns:p14="http://schemas.microsoft.com/office/powerpoint/2010/main" val="18854977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96764" y="811610"/>
            <a:ext cx="1533739" cy="581106"/>
          </a:xfrm>
          <a:prstGeom prst="rect">
            <a:avLst/>
          </a:prstGeom>
        </p:spPr>
      </p:pic>
      <p:pic>
        <p:nvPicPr>
          <p:cNvPr id="5" name="Picture 4"/>
          <p:cNvPicPr>
            <a:picLocks noChangeAspect="1"/>
          </p:cNvPicPr>
          <p:nvPr/>
        </p:nvPicPr>
        <p:blipFill>
          <a:blip r:embed="rId3"/>
          <a:stretch>
            <a:fillRect/>
          </a:stretch>
        </p:blipFill>
        <p:spPr>
          <a:xfrm>
            <a:off x="792481" y="1274733"/>
            <a:ext cx="5625736" cy="1230407"/>
          </a:xfrm>
          <a:prstGeom prst="rect">
            <a:avLst/>
          </a:prstGeom>
        </p:spPr>
      </p:pic>
      <p:sp>
        <p:nvSpPr>
          <p:cNvPr id="6" name="Rectangle 5"/>
          <p:cNvSpPr/>
          <p:nvPr/>
        </p:nvSpPr>
        <p:spPr>
          <a:xfrm>
            <a:off x="1184366" y="2453089"/>
            <a:ext cx="6096000" cy="646331"/>
          </a:xfrm>
          <a:prstGeom prst="rect">
            <a:avLst/>
          </a:prstGeom>
        </p:spPr>
        <p:txBody>
          <a:bodyPr>
            <a:spAutoFit/>
          </a:bodyPr>
          <a:lstStyle/>
          <a:p>
            <a:r>
              <a:rPr lang="vi-VN" dirty="0"/>
              <a:t>định nghĩa một mảng có kích thước là 10, nghĩa là một khối gồm 10 đối tượng liên tiếp </a:t>
            </a:r>
            <a:r>
              <a:rPr lang="vi-VN" dirty="0" smtClean="0"/>
              <a:t>nhau</a:t>
            </a:r>
            <a:r>
              <a:rPr lang="en-US" dirty="0" smtClean="0"/>
              <a:t>.</a:t>
            </a:r>
            <a:endParaRPr lang="en-US" dirty="0"/>
          </a:p>
        </p:txBody>
      </p:sp>
      <p:pic>
        <p:nvPicPr>
          <p:cNvPr id="7" name="Picture 6"/>
          <p:cNvPicPr>
            <a:picLocks noChangeAspect="1"/>
          </p:cNvPicPr>
          <p:nvPr/>
        </p:nvPicPr>
        <p:blipFill>
          <a:blip r:embed="rId4"/>
          <a:stretch>
            <a:fillRect/>
          </a:stretch>
        </p:blipFill>
        <p:spPr>
          <a:xfrm>
            <a:off x="711723" y="3336667"/>
            <a:ext cx="1448002" cy="523948"/>
          </a:xfrm>
          <a:prstGeom prst="rect">
            <a:avLst/>
          </a:prstGeom>
        </p:spPr>
      </p:pic>
      <p:pic>
        <p:nvPicPr>
          <p:cNvPr id="8" name="Picture 7"/>
          <p:cNvPicPr>
            <a:picLocks noChangeAspect="1"/>
          </p:cNvPicPr>
          <p:nvPr/>
        </p:nvPicPr>
        <p:blipFill>
          <a:blip r:embed="rId5"/>
          <a:stretch>
            <a:fillRect/>
          </a:stretch>
        </p:blipFill>
        <p:spPr>
          <a:xfrm>
            <a:off x="792481" y="3788310"/>
            <a:ext cx="1457528" cy="504895"/>
          </a:xfrm>
          <a:prstGeom prst="rect">
            <a:avLst/>
          </a:prstGeom>
        </p:spPr>
      </p:pic>
      <p:pic>
        <p:nvPicPr>
          <p:cNvPr id="9" name="Picture 8"/>
          <p:cNvPicPr>
            <a:picLocks noChangeAspect="1"/>
          </p:cNvPicPr>
          <p:nvPr/>
        </p:nvPicPr>
        <p:blipFill>
          <a:blip r:embed="rId6"/>
          <a:stretch>
            <a:fillRect/>
          </a:stretch>
        </p:blipFill>
        <p:spPr>
          <a:xfrm>
            <a:off x="711723" y="4454895"/>
            <a:ext cx="5026769" cy="1545311"/>
          </a:xfrm>
          <a:prstGeom prst="rect">
            <a:avLst/>
          </a:prstGeom>
        </p:spPr>
      </p:pic>
      <p:sp>
        <p:nvSpPr>
          <p:cNvPr id="10" name="Rectangle 1"/>
          <p:cNvSpPr>
            <a:spLocks noChangeArrowheads="1"/>
          </p:cNvSpPr>
          <p:nvPr/>
        </p:nvSpPr>
        <p:spPr bwMode="auto">
          <a:xfrm>
            <a:off x="957942" y="6181220"/>
            <a:ext cx="632737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err="1" smtClean="0">
                <a:ln>
                  <a:noFill/>
                </a:ln>
                <a:solidFill>
                  <a:schemeClr val="tx1"/>
                </a:solidFill>
                <a:effectLst/>
                <a:latin typeface="Arial" panose="020B0604020202020204" pitchFamily="34" charset="0"/>
              </a:rPr>
              <a:t>tên</a:t>
            </a:r>
            <a:r>
              <a:rPr kumimoji="0" lang="en-US" altLang="en-US" sz="1800" b="1" i="0" u="none" strike="noStrike" cap="none" normalizeH="0" baseline="0" dirty="0" smtClean="0">
                <a:ln>
                  <a:noFill/>
                </a:ln>
                <a:solidFill>
                  <a:schemeClr val="tx1"/>
                </a:solidFill>
                <a:effectLst/>
                <a:latin typeface="Arial" panose="020B0604020202020204" pitchFamily="34" charset="0"/>
              </a:rPr>
              <a:t> </a:t>
            </a:r>
            <a:r>
              <a:rPr kumimoji="0" lang="en-US" altLang="en-US" sz="1800" b="1" i="0" u="none" strike="noStrike" cap="none" normalizeH="0" baseline="0" dirty="0" err="1" smtClean="0">
                <a:ln>
                  <a:noFill/>
                </a:ln>
                <a:solidFill>
                  <a:schemeClr val="tx1"/>
                </a:solidFill>
                <a:effectLst/>
                <a:latin typeface="Arial" panose="020B0604020202020204" pitchFamily="34" charset="0"/>
              </a:rPr>
              <a:t>mảng</a:t>
            </a:r>
            <a:r>
              <a:rPr kumimoji="0" lang="en-US" altLang="en-US" sz="1800" b="1" i="0" u="none" strike="noStrike" cap="none" normalizeH="0" baseline="0" dirty="0" smtClean="0">
                <a:ln>
                  <a:noFill/>
                </a:ln>
                <a:solidFill>
                  <a:schemeClr val="tx1"/>
                </a:solidFill>
                <a:effectLst/>
                <a:latin typeface="Arial" panose="020B0604020202020204" pitchFamily="34" charset="0"/>
              </a:rPr>
              <a:t> </a:t>
            </a:r>
            <a:r>
              <a:rPr kumimoji="0" lang="en-US" altLang="en-US" sz="1800" b="1" i="0" u="none" strike="noStrike" cap="none" normalizeH="0" baseline="0" dirty="0" err="1" smtClean="0">
                <a:ln>
                  <a:noFill/>
                </a:ln>
                <a:solidFill>
                  <a:schemeClr val="tx1"/>
                </a:solidFill>
                <a:effectLst/>
                <a:latin typeface="Arial" panose="020B0604020202020204" pitchFamily="34" charset="0"/>
              </a:rPr>
              <a:t>không</a:t>
            </a:r>
            <a:r>
              <a:rPr kumimoji="0" lang="en-US" altLang="en-US" sz="1800" b="1" i="0" u="none" strike="noStrike" cap="none" normalizeH="0" baseline="0" dirty="0" smtClean="0">
                <a:ln>
                  <a:noFill/>
                </a:ln>
                <a:solidFill>
                  <a:schemeClr val="tx1"/>
                </a:solidFill>
                <a:effectLst/>
                <a:latin typeface="Arial" panose="020B0604020202020204" pitchFamily="34" charset="0"/>
              </a:rPr>
              <a:t> </a:t>
            </a:r>
            <a:r>
              <a:rPr kumimoji="0" lang="en-US" altLang="en-US" sz="1800" b="1" i="0" u="none" strike="noStrike" cap="none" normalizeH="0" baseline="0" dirty="0" err="1" smtClean="0">
                <a:ln>
                  <a:noFill/>
                </a:ln>
                <a:solidFill>
                  <a:schemeClr val="tx1"/>
                </a:solidFill>
                <a:effectLst/>
                <a:latin typeface="Arial" panose="020B0604020202020204" pitchFamily="34" charset="0"/>
              </a:rPr>
              <a:t>phải</a:t>
            </a:r>
            <a:r>
              <a:rPr kumimoji="0" lang="en-US" altLang="en-US" sz="1800" b="1" i="0" u="none" strike="noStrike" cap="none" normalizeH="0" baseline="0" dirty="0" smtClean="0">
                <a:ln>
                  <a:noFill/>
                </a:ln>
                <a:solidFill>
                  <a:schemeClr val="tx1"/>
                </a:solidFill>
                <a:effectLst/>
                <a:latin typeface="Arial" panose="020B0604020202020204" pitchFamily="34" charset="0"/>
              </a:rPr>
              <a:t> </a:t>
            </a:r>
            <a:r>
              <a:rPr kumimoji="0" lang="en-US" altLang="en-US" sz="1800" b="1" i="0" u="none" strike="noStrike" cap="none" normalizeH="0" baseline="0" dirty="0" err="1" smtClean="0">
                <a:ln>
                  <a:noFill/>
                </a:ln>
                <a:solidFill>
                  <a:schemeClr val="tx1"/>
                </a:solidFill>
                <a:effectLst/>
                <a:latin typeface="Arial" panose="020B0604020202020204" pitchFamily="34" charset="0"/>
              </a:rPr>
              <a:t>là</a:t>
            </a:r>
            <a:r>
              <a:rPr kumimoji="0" lang="en-US" altLang="en-US" sz="1800" b="1" i="0" u="none" strike="noStrike" cap="none" normalizeH="0" baseline="0" dirty="0" smtClean="0">
                <a:ln>
                  <a:noFill/>
                </a:ln>
                <a:solidFill>
                  <a:schemeClr val="tx1"/>
                </a:solidFill>
                <a:effectLst/>
                <a:latin typeface="Arial" panose="020B0604020202020204" pitchFamily="34" charset="0"/>
              </a:rPr>
              <a:t> </a:t>
            </a:r>
            <a:r>
              <a:rPr kumimoji="0" lang="en-US" altLang="en-US" sz="1800" b="1" i="0" u="none" strike="noStrike" cap="none" normalizeH="0" baseline="0" dirty="0" err="1" smtClean="0">
                <a:ln>
                  <a:noFill/>
                </a:ln>
                <a:solidFill>
                  <a:schemeClr val="tx1"/>
                </a:solidFill>
                <a:effectLst/>
                <a:latin typeface="Arial" panose="020B0604020202020204" pitchFamily="34" charset="0"/>
              </a:rPr>
              <a:t>một</a:t>
            </a:r>
            <a:r>
              <a:rPr kumimoji="0" lang="en-US" altLang="en-US" sz="1800" b="1" i="0" u="none" strike="noStrike" cap="none" normalizeH="0" baseline="0" dirty="0" smtClean="0">
                <a:ln>
                  <a:noFill/>
                </a:ln>
                <a:solidFill>
                  <a:schemeClr val="tx1"/>
                </a:solidFill>
                <a:effectLst/>
                <a:latin typeface="Arial" panose="020B0604020202020204" pitchFamily="34" charset="0"/>
              </a:rPr>
              <a:t> </a:t>
            </a:r>
            <a:r>
              <a:rPr kumimoji="0" lang="en-US" altLang="en-US" sz="1800" b="1" i="0" u="none" strike="noStrike" cap="none" normalizeH="0" baseline="0" dirty="0" err="1" smtClean="0">
                <a:ln>
                  <a:noFill/>
                </a:ln>
                <a:solidFill>
                  <a:schemeClr val="tx1"/>
                </a:solidFill>
                <a:effectLst/>
                <a:latin typeface="Arial" panose="020B0604020202020204" pitchFamily="34" charset="0"/>
              </a:rPr>
              <a:t>biến</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err="1" smtClean="0">
                <a:ln>
                  <a:noFill/>
                </a:ln>
                <a:solidFill>
                  <a:schemeClr val="tx1"/>
                </a:solidFill>
                <a:effectLst/>
                <a:latin typeface="Arial" panose="020B0604020202020204" pitchFamily="34" charset="0"/>
              </a:rPr>
              <a:t>các</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err="1" smtClean="0">
                <a:ln>
                  <a:noFill/>
                </a:ln>
                <a:solidFill>
                  <a:schemeClr val="tx1"/>
                </a:solidFill>
                <a:effectLst/>
                <a:latin typeface="Arial" panose="020B0604020202020204" pitchFamily="34" charset="0"/>
              </a:rPr>
              <a:t>cấu</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err="1" smtClean="0">
                <a:ln>
                  <a:noFill/>
                </a:ln>
                <a:solidFill>
                  <a:schemeClr val="tx1"/>
                </a:solidFill>
                <a:effectLst/>
                <a:latin typeface="Arial" panose="020B0604020202020204" pitchFamily="34" charset="0"/>
              </a:rPr>
              <a:t>trúc</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err="1" smtClean="0">
                <a:ln>
                  <a:noFill/>
                </a:ln>
                <a:solidFill>
                  <a:schemeClr val="tx1"/>
                </a:solidFill>
                <a:effectLst/>
                <a:latin typeface="Arial" panose="020B0604020202020204" pitchFamily="34" charset="0"/>
              </a:rPr>
              <a:t>lệnh</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err="1" smtClean="0">
                <a:ln>
                  <a:noFill/>
                </a:ln>
                <a:solidFill>
                  <a:schemeClr val="tx1"/>
                </a:solidFill>
                <a:effectLst/>
                <a:latin typeface="Arial" panose="020B0604020202020204" pitchFamily="34" charset="0"/>
              </a:rPr>
              <a:t>như</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8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1" name="TextBox 10"/>
          <p:cNvSpPr txBox="1"/>
          <p:nvPr/>
        </p:nvSpPr>
        <p:spPr>
          <a:xfrm>
            <a:off x="7280366" y="6287589"/>
            <a:ext cx="748923" cy="369332"/>
          </a:xfrm>
          <a:prstGeom prst="rect">
            <a:avLst/>
          </a:prstGeom>
          <a:noFill/>
        </p:spPr>
        <p:txBody>
          <a:bodyPr wrap="none" rtlCol="0">
            <a:spAutoFit/>
          </a:bodyPr>
          <a:lstStyle/>
          <a:p>
            <a:r>
              <a:rPr lang="en-US" dirty="0" smtClean="0"/>
              <a:t>a = pa</a:t>
            </a:r>
            <a:endParaRPr lang="en-US" dirty="0"/>
          </a:p>
        </p:txBody>
      </p:sp>
      <p:sp>
        <p:nvSpPr>
          <p:cNvPr id="12" name="TextBox 11"/>
          <p:cNvSpPr txBox="1"/>
          <p:nvPr/>
        </p:nvSpPr>
        <p:spPr>
          <a:xfrm>
            <a:off x="8029289" y="6278801"/>
            <a:ext cx="527773" cy="369332"/>
          </a:xfrm>
          <a:prstGeom prst="rect">
            <a:avLst/>
          </a:prstGeom>
          <a:noFill/>
        </p:spPr>
        <p:txBody>
          <a:bodyPr wrap="none" rtlCol="0">
            <a:spAutoFit/>
          </a:bodyPr>
          <a:lstStyle/>
          <a:p>
            <a:r>
              <a:rPr lang="en-US" dirty="0"/>
              <a:t>a</a:t>
            </a:r>
            <a:r>
              <a:rPr lang="en-US" dirty="0" smtClean="0"/>
              <a:t>++</a:t>
            </a:r>
            <a:endParaRPr lang="en-US" dirty="0"/>
          </a:p>
        </p:txBody>
      </p:sp>
      <p:sp>
        <p:nvSpPr>
          <p:cNvPr id="13" name="TextBox 12"/>
          <p:cNvSpPr txBox="1"/>
          <p:nvPr/>
        </p:nvSpPr>
        <p:spPr>
          <a:xfrm>
            <a:off x="8778212" y="6287589"/>
            <a:ext cx="1630575" cy="369332"/>
          </a:xfrm>
          <a:prstGeom prst="rect">
            <a:avLst/>
          </a:prstGeom>
          <a:noFill/>
        </p:spPr>
        <p:txBody>
          <a:bodyPr wrap="none" rtlCol="0">
            <a:spAutoFit/>
          </a:bodyPr>
          <a:lstStyle/>
          <a:p>
            <a:r>
              <a:rPr lang="en-US" dirty="0" err="1"/>
              <a:t>l</a:t>
            </a:r>
            <a:r>
              <a:rPr lang="en-US" dirty="0" err="1" smtClean="0"/>
              <a:t>à</a:t>
            </a:r>
            <a:r>
              <a:rPr lang="en-US" dirty="0" smtClean="0"/>
              <a:t> </a:t>
            </a:r>
            <a:r>
              <a:rPr lang="en-US" dirty="0" err="1" smtClean="0"/>
              <a:t>không</a:t>
            </a:r>
            <a:r>
              <a:rPr lang="en-US" dirty="0" smtClean="0"/>
              <a:t> </a:t>
            </a:r>
            <a:r>
              <a:rPr lang="en-US" dirty="0" err="1" smtClean="0"/>
              <a:t>hợp</a:t>
            </a:r>
            <a:r>
              <a:rPr lang="en-US" dirty="0" smtClean="0"/>
              <a:t> </a:t>
            </a:r>
            <a:r>
              <a:rPr lang="en-US" dirty="0" err="1" smtClean="0"/>
              <a:t>lệ</a:t>
            </a:r>
            <a:endParaRPr lang="en-US" dirty="0"/>
          </a:p>
        </p:txBody>
      </p:sp>
    </p:spTree>
    <p:extLst>
      <p:ext uri="{BB962C8B-B14F-4D97-AF65-F5344CB8AC3E}">
        <p14:creationId xmlns:p14="http://schemas.microsoft.com/office/powerpoint/2010/main" val="29569817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84960" y="609600"/>
            <a:ext cx="8679556" cy="646331"/>
          </a:xfrm>
          <a:prstGeom prst="rect">
            <a:avLst/>
          </a:prstGeom>
          <a:noFill/>
        </p:spPr>
        <p:txBody>
          <a:bodyPr wrap="none" rtlCol="0">
            <a:spAutoFit/>
          </a:bodyPr>
          <a:lstStyle/>
          <a:p>
            <a:r>
              <a:rPr lang="en-US" dirty="0" err="1" smtClean="0"/>
              <a:t>Khi</a:t>
            </a:r>
            <a:r>
              <a:rPr lang="en-US" dirty="0" smtClean="0"/>
              <a:t> </a:t>
            </a:r>
            <a:r>
              <a:rPr lang="en-US" dirty="0" err="1" smtClean="0"/>
              <a:t>tên</a:t>
            </a:r>
            <a:r>
              <a:rPr lang="en-US" dirty="0" smtClean="0"/>
              <a:t> </a:t>
            </a:r>
            <a:r>
              <a:rPr lang="en-US" dirty="0" err="1" smtClean="0"/>
              <a:t>mảng</a:t>
            </a:r>
            <a:r>
              <a:rPr lang="en-US" dirty="0" smtClean="0"/>
              <a:t> </a:t>
            </a:r>
            <a:r>
              <a:rPr lang="en-US" dirty="0" err="1" smtClean="0"/>
              <a:t>được</a:t>
            </a:r>
            <a:r>
              <a:rPr lang="en-US" dirty="0" smtClean="0"/>
              <a:t> </a:t>
            </a:r>
            <a:r>
              <a:rPr lang="en-US" dirty="0" err="1" smtClean="0"/>
              <a:t>truyền</a:t>
            </a:r>
            <a:r>
              <a:rPr lang="en-US" dirty="0" smtClean="0"/>
              <a:t> </a:t>
            </a:r>
            <a:r>
              <a:rPr lang="en-US" dirty="0" err="1" smtClean="0"/>
              <a:t>vào</a:t>
            </a:r>
            <a:r>
              <a:rPr lang="en-US" dirty="0" smtClean="0"/>
              <a:t> </a:t>
            </a:r>
            <a:r>
              <a:rPr lang="en-US" dirty="0" err="1" smtClean="0"/>
              <a:t>hàm</a:t>
            </a:r>
            <a:r>
              <a:rPr lang="en-US" dirty="0" smtClean="0"/>
              <a:t>, </a:t>
            </a:r>
            <a:r>
              <a:rPr lang="en-US" dirty="0" err="1" smtClean="0"/>
              <a:t>thứ</a:t>
            </a:r>
            <a:r>
              <a:rPr lang="en-US" dirty="0" smtClean="0"/>
              <a:t> </a:t>
            </a:r>
            <a:r>
              <a:rPr lang="en-US" dirty="0" err="1" smtClean="0"/>
              <a:t>thật</a:t>
            </a:r>
            <a:r>
              <a:rPr lang="en-US" dirty="0" smtClean="0"/>
              <a:t> </a:t>
            </a:r>
            <a:r>
              <a:rPr lang="en-US" dirty="0" err="1" smtClean="0"/>
              <a:t>sự</a:t>
            </a:r>
            <a:r>
              <a:rPr lang="en-US" dirty="0" smtClean="0"/>
              <a:t> </a:t>
            </a:r>
            <a:r>
              <a:rPr lang="en-US" dirty="0" err="1" smtClean="0"/>
              <a:t>truyền</a:t>
            </a:r>
            <a:r>
              <a:rPr lang="en-US" dirty="0" smtClean="0"/>
              <a:t> </a:t>
            </a:r>
            <a:r>
              <a:rPr lang="en-US" dirty="0" err="1" smtClean="0"/>
              <a:t>vào</a:t>
            </a:r>
            <a:r>
              <a:rPr lang="en-US" dirty="0" smtClean="0"/>
              <a:t> </a:t>
            </a:r>
            <a:r>
              <a:rPr lang="en-US" dirty="0" err="1" smtClean="0"/>
              <a:t>là</a:t>
            </a:r>
            <a:r>
              <a:rPr lang="en-US" dirty="0" smtClean="0"/>
              <a:t> </a:t>
            </a:r>
            <a:r>
              <a:rPr lang="en-US" dirty="0" err="1" smtClean="0"/>
              <a:t>địa</a:t>
            </a:r>
            <a:r>
              <a:rPr lang="en-US" dirty="0" smtClean="0"/>
              <a:t> </a:t>
            </a:r>
            <a:r>
              <a:rPr lang="en-US" dirty="0" err="1" smtClean="0"/>
              <a:t>chỉ</a:t>
            </a:r>
            <a:r>
              <a:rPr lang="en-US" dirty="0" smtClean="0"/>
              <a:t> </a:t>
            </a:r>
            <a:r>
              <a:rPr lang="en-US" dirty="0" err="1" smtClean="0"/>
              <a:t>của</a:t>
            </a:r>
            <a:r>
              <a:rPr lang="en-US" dirty="0" smtClean="0"/>
              <a:t> </a:t>
            </a:r>
            <a:r>
              <a:rPr lang="en-US" dirty="0" err="1" smtClean="0"/>
              <a:t>phần</a:t>
            </a:r>
            <a:r>
              <a:rPr lang="en-US" dirty="0" smtClean="0"/>
              <a:t> </a:t>
            </a:r>
            <a:r>
              <a:rPr lang="en-US" dirty="0" err="1" smtClean="0"/>
              <a:t>tử</a:t>
            </a:r>
            <a:r>
              <a:rPr lang="en-US" dirty="0" smtClean="0"/>
              <a:t> </a:t>
            </a:r>
            <a:r>
              <a:rPr lang="en-US" dirty="0" err="1" smtClean="0"/>
              <a:t>đầu</a:t>
            </a:r>
            <a:r>
              <a:rPr lang="en-US" dirty="0" smtClean="0"/>
              <a:t> </a:t>
            </a:r>
            <a:r>
              <a:rPr lang="en-US" dirty="0" err="1" smtClean="0"/>
              <a:t>tiên</a:t>
            </a:r>
            <a:r>
              <a:rPr lang="en-US" dirty="0" smtClean="0"/>
              <a:t>.</a:t>
            </a:r>
          </a:p>
          <a:p>
            <a:endParaRPr lang="en-US" dirty="0"/>
          </a:p>
        </p:txBody>
      </p:sp>
    </p:spTree>
    <p:extLst>
      <p:ext uri="{BB962C8B-B14F-4D97-AF65-F5344CB8AC3E}">
        <p14:creationId xmlns:p14="http://schemas.microsoft.com/office/powerpoint/2010/main" val="13457567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09685" y="1328449"/>
            <a:ext cx="7263463" cy="369332"/>
          </a:xfrm>
          <a:prstGeom prst="rect">
            <a:avLst/>
          </a:prstGeom>
        </p:spPr>
        <p:txBody>
          <a:bodyPr wrap="none">
            <a:spAutoFit/>
          </a:bodyPr>
          <a:lstStyle/>
          <a:p>
            <a:r>
              <a:rPr lang="en-US" dirty="0" err="1"/>
              <a:t>Một</a:t>
            </a:r>
            <a:r>
              <a:rPr lang="en-US" dirty="0"/>
              <a:t> </a:t>
            </a:r>
            <a:r>
              <a:rPr lang="en-US" dirty="0" err="1"/>
              <a:t>hằng</a:t>
            </a:r>
            <a:r>
              <a:rPr lang="en-US" dirty="0"/>
              <a:t> </a:t>
            </a:r>
            <a:r>
              <a:rPr lang="en-US" dirty="0" err="1" smtClean="0"/>
              <a:t>chuỗi</a:t>
            </a:r>
            <a:r>
              <a:rPr lang="en-US" dirty="0" smtClean="0"/>
              <a:t> </a:t>
            </a:r>
            <a:r>
              <a:rPr lang="en-US" dirty="0" err="1" smtClean="0"/>
              <a:t>thức</a:t>
            </a:r>
            <a:r>
              <a:rPr lang="en-US" dirty="0" smtClean="0"/>
              <a:t> </a:t>
            </a:r>
            <a:r>
              <a:rPr lang="en-US" dirty="0" err="1" smtClean="0"/>
              <a:t>chất</a:t>
            </a:r>
            <a:r>
              <a:rPr lang="en-US" dirty="0" smtClean="0"/>
              <a:t> </a:t>
            </a:r>
            <a:r>
              <a:rPr lang="en-US" dirty="0" err="1" smtClean="0"/>
              <a:t>là</a:t>
            </a:r>
            <a:r>
              <a:rPr lang="en-US" dirty="0" smtClean="0"/>
              <a:t> 1 </a:t>
            </a:r>
            <a:r>
              <a:rPr lang="en-US" dirty="0" err="1" smtClean="0"/>
              <a:t>mảng</a:t>
            </a:r>
            <a:r>
              <a:rPr lang="en-US" dirty="0" smtClean="0"/>
              <a:t> </a:t>
            </a:r>
            <a:r>
              <a:rPr lang="en-US" dirty="0" err="1" smtClean="0"/>
              <a:t>các</a:t>
            </a:r>
            <a:r>
              <a:rPr lang="en-US" dirty="0" smtClean="0"/>
              <a:t> </a:t>
            </a:r>
            <a:r>
              <a:rPr lang="en-US" dirty="0" err="1" smtClean="0"/>
              <a:t>kí</a:t>
            </a:r>
            <a:r>
              <a:rPr lang="en-US" dirty="0" smtClean="0"/>
              <a:t> </a:t>
            </a:r>
            <a:r>
              <a:rPr lang="en-US" dirty="0" err="1" smtClean="0"/>
              <a:t>tự</a:t>
            </a:r>
            <a:r>
              <a:rPr lang="en-US" dirty="0" smtClean="0"/>
              <a:t> </a:t>
            </a:r>
            <a:r>
              <a:rPr lang="en-US" dirty="0" err="1" smtClean="0"/>
              <a:t>và</a:t>
            </a:r>
            <a:r>
              <a:rPr lang="en-US" dirty="0" smtClean="0"/>
              <a:t> </a:t>
            </a:r>
            <a:r>
              <a:rPr lang="en-US" dirty="0" err="1" smtClean="0"/>
              <a:t>kết</a:t>
            </a:r>
            <a:r>
              <a:rPr lang="en-US" dirty="0" smtClean="0"/>
              <a:t> </a:t>
            </a:r>
            <a:r>
              <a:rPr lang="en-US" dirty="0" err="1" smtClean="0"/>
              <a:t>thúc</a:t>
            </a:r>
            <a:r>
              <a:rPr lang="en-US" dirty="0" smtClean="0"/>
              <a:t> </a:t>
            </a:r>
            <a:r>
              <a:rPr lang="en-US" dirty="0" err="1" smtClean="0"/>
              <a:t>bằng</a:t>
            </a:r>
            <a:r>
              <a:rPr lang="en-US" dirty="0" smtClean="0"/>
              <a:t> </a:t>
            </a:r>
            <a:r>
              <a:rPr lang="en-US" dirty="0" err="1" smtClean="0"/>
              <a:t>kí</a:t>
            </a:r>
            <a:r>
              <a:rPr lang="en-US" dirty="0" smtClean="0"/>
              <a:t> </a:t>
            </a:r>
            <a:r>
              <a:rPr lang="en-US" dirty="0" err="1" smtClean="0"/>
              <a:t>tự</a:t>
            </a:r>
            <a:r>
              <a:rPr lang="en-US" dirty="0" smtClean="0"/>
              <a:t> null ‘\0’</a:t>
            </a:r>
            <a:endParaRPr lang="en-US" dirty="0"/>
          </a:p>
        </p:txBody>
      </p:sp>
      <p:pic>
        <p:nvPicPr>
          <p:cNvPr id="5" name="Picture 4"/>
          <p:cNvPicPr>
            <a:picLocks noChangeAspect="1"/>
          </p:cNvPicPr>
          <p:nvPr/>
        </p:nvPicPr>
        <p:blipFill>
          <a:blip r:embed="rId2"/>
          <a:stretch>
            <a:fillRect/>
          </a:stretch>
        </p:blipFill>
        <p:spPr>
          <a:xfrm>
            <a:off x="1878030" y="2105785"/>
            <a:ext cx="6258798" cy="800212"/>
          </a:xfrm>
          <a:prstGeom prst="rect">
            <a:avLst/>
          </a:prstGeom>
        </p:spPr>
      </p:pic>
      <p:sp>
        <p:nvSpPr>
          <p:cNvPr id="6" name="Rectangle 5"/>
          <p:cNvSpPr/>
          <p:nvPr/>
        </p:nvSpPr>
        <p:spPr>
          <a:xfrm>
            <a:off x="1635896" y="2905997"/>
            <a:ext cx="6396366" cy="369332"/>
          </a:xfrm>
          <a:prstGeom prst="rect">
            <a:avLst/>
          </a:prstGeom>
        </p:spPr>
        <p:txBody>
          <a:bodyPr wrap="none">
            <a:spAutoFit/>
          </a:bodyPr>
          <a:lstStyle/>
          <a:p>
            <a:r>
              <a:rPr lang="en-US" dirty="0" err="1"/>
              <a:t>Có</a:t>
            </a:r>
            <a:r>
              <a:rPr lang="en-US" dirty="0"/>
              <a:t> </a:t>
            </a:r>
            <a:r>
              <a:rPr lang="en-US" dirty="0" err="1"/>
              <a:t>một</a:t>
            </a:r>
            <a:r>
              <a:rPr lang="en-US" dirty="0"/>
              <a:t> </a:t>
            </a:r>
            <a:r>
              <a:rPr lang="en-US" dirty="0" err="1"/>
              <a:t>điểm</a:t>
            </a:r>
            <a:r>
              <a:rPr lang="en-US" dirty="0"/>
              <a:t> </a:t>
            </a:r>
            <a:r>
              <a:rPr lang="en-US" dirty="0" err="1"/>
              <a:t>khác</a:t>
            </a:r>
            <a:r>
              <a:rPr lang="en-US" dirty="0"/>
              <a:t> </a:t>
            </a:r>
            <a:r>
              <a:rPr lang="en-US" dirty="0" err="1"/>
              <a:t>biệt</a:t>
            </a:r>
            <a:r>
              <a:rPr lang="en-US" dirty="0"/>
              <a:t> </a:t>
            </a:r>
            <a:r>
              <a:rPr lang="en-US" dirty="0" err="1"/>
              <a:t>cực</a:t>
            </a:r>
            <a:r>
              <a:rPr lang="en-US" dirty="0"/>
              <a:t> </a:t>
            </a:r>
            <a:r>
              <a:rPr lang="en-US" dirty="0" err="1"/>
              <a:t>kỳ</a:t>
            </a:r>
            <a:r>
              <a:rPr lang="en-US" dirty="0"/>
              <a:t> </a:t>
            </a:r>
            <a:r>
              <a:rPr lang="en-US" dirty="0" err="1"/>
              <a:t>quan</a:t>
            </a:r>
            <a:r>
              <a:rPr lang="en-US" dirty="0"/>
              <a:t> </a:t>
            </a:r>
            <a:r>
              <a:rPr lang="en-US" dirty="0" err="1"/>
              <a:t>trọng</a:t>
            </a:r>
            <a:r>
              <a:rPr lang="en-US" dirty="0"/>
              <a:t> </a:t>
            </a:r>
            <a:r>
              <a:rPr lang="en-US" dirty="0" err="1"/>
              <a:t>giữa</a:t>
            </a:r>
            <a:r>
              <a:rPr lang="en-US" dirty="0"/>
              <a:t> </a:t>
            </a:r>
            <a:r>
              <a:rPr lang="en-US" dirty="0" err="1"/>
              <a:t>hai</a:t>
            </a:r>
            <a:r>
              <a:rPr lang="en-US" dirty="0"/>
              <a:t> </a:t>
            </a:r>
            <a:r>
              <a:rPr lang="en-US" dirty="0" err="1"/>
              <a:t>định</a:t>
            </a:r>
            <a:r>
              <a:rPr lang="en-US" dirty="0"/>
              <a:t> </a:t>
            </a:r>
            <a:r>
              <a:rPr lang="en-US" dirty="0" err="1" smtClean="0"/>
              <a:t>nghĩa</a:t>
            </a:r>
            <a:r>
              <a:rPr lang="en-US" dirty="0" smtClean="0"/>
              <a:t> </a:t>
            </a:r>
            <a:r>
              <a:rPr lang="en-US" dirty="0" err="1" smtClean="0"/>
              <a:t>trên</a:t>
            </a:r>
            <a:r>
              <a:rPr lang="en-US" dirty="0" smtClean="0"/>
              <a:t>:</a:t>
            </a:r>
            <a:endParaRPr lang="en-US" dirty="0"/>
          </a:p>
        </p:txBody>
      </p:sp>
      <p:sp>
        <p:nvSpPr>
          <p:cNvPr id="7" name="Rectangle 6"/>
          <p:cNvSpPr/>
          <p:nvPr/>
        </p:nvSpPr>
        <p:spPr>
          <a:xfrm>
            <a:off x="1786079" y="3375549"/>
            <a:ext cx="6096000" cy="1477328"/>
          </a:xfrm>
          <a:prstGeom prst="rect">
            <a:avLst/>
          </a:prstGeom>
        </p:spPr>
        <p:txBody>
          <a:bodyPr>
            <a:spAutoFit/>
          </a:bodyPr>
          <a:lstStyle/>
          <a:p>
            <a:r>
              <a:rPr lang="vi-VN" dirty="0"/>
              <a:t>amessage là một mảng, có kích thước vừa đủ lớn để chứa chuỗi ký tự cùng với ký tự '\0' dùng để khởi tạo nó. Các ký tự riêng lẻ nằm trong mảng này có thể được thay đổi, nhưng tên mảng amessage sẽ luôn luôn tham chiếu đến cùng một vùng lưu trữ cố định đó.</a:t>
            </a:r>
            <a:endParaRPr lang="en-US" dirty="0"/>
          </a:p>
        </p:txBody>
      </p:sp>
      <p:sp>
        <p:nvSpPr>
          <p:cNvPr id="10" name="TextBox 9"/>
          <p:cNvSpPr txBox="1"/>
          <p:nvPr/>
        </p:nvSpPr>
        <p:spPr>
          <a:xfrm>
            <a:off x="1509685" y="5199017"/>
            <a:ext cx="10548209" cy="646331"/>
          </a:xfrm>
          <a:prstGeom prst="rect">
            <a:avLst/>
          </a:prstGeom>
          <a:noFill/>
        </p:spPr>
        <p:txBody>
          <a:bodyPr wrap="none" rtlCol="0">
            <a:spAutoFit/>
          </a:bodyPr>
          <a:lstStyle/>
          <a:p>
            <a:r>
              <a:rPr lang="en-US" dirty="0" err="1" smtClean="0"/>
              <a:t>pmessage</a:t>
            </a:r>
            <a:r>
              <a:rPr lang="en-US" dirty="0" smtClean="0"/>
              <a:t> </a:t>
            </a:r>
            <a:r>
              <a:rPr lang="en-US" dirty="0" err="1" smtClean="0"/>
              <a:t>là</a:t>
            </a:r>
            <a:r>
              <a:rPr lang="en-US" dirty="0" smtClean="0"/>
              <a:t> 1 con </a:t>
            </a:r>
            <a:r>
              <a:rPr lang="en-US" dirty="0" err="1" smtClean="0"/>
              <a:t>trỏ</a:t>
            </a:r>
            <a:r>
              <a:rPr lang="en-US" dirty="0" smtClean="0"/>
              <a:t>, </a:t>
            </a:r>
            <a:r>
              <a:rPr lang="en-US" dirty="0" err="1" smtClean="0"/>
              <a:t>được</a:t>
            </a:r>
            <a:r>
              <a:rPr lang="en-US" dirty="0" smtClean="0"/>
              <a:t> </a:t>
            </a:r>
            <a:r>
              <a:rPr lang="en-US" dirty="0" err="1" smtClean="0"/>
              <a:t>khởi</a:t>
            </a:r>
            <a:r>
              <a:rPr lang="en-US" dirty="0" smtClean="0"/>
              <a:t> </a:t>
            </a:r>
            <a:r>
              <a:rPr lang="en-US" dirty="0" err="1" smtClean="0"/>
              <a:t>tạo</a:t>
            </a:r>
            <a:r>
              <a:rPr lang="en-US" dirty="0" smtClean="0"/>
              <a:t> </a:t>
            </a:r>
            <a:r>
              <a:rPr lang="en-US" dirty="0" err="1" smtClean="0"/>
              <a:t>để</a:t>
            </a:r>
            <a:r>
              <a:rPr lang="en-US" dirty="0" smtClean="0"/>
              <a:t> </a:t>
            </a:r>
            <a:r>
              <a:rPr lang="en-US" dirty="0" err="1" smtClean="0"/>
              <a:t>trỏ</a:t>
            </a:r>
            <a:r>
              <a:rPr lang="en-US" dirty="0" smtClean="0"/>
              <a:t> </a:t>
            </a:r>
            <a:r>
              <a:rPr lang="en-US" dirty="0" err="1" smtClean="0"/>
              <a:t>đến</a:t>
            </a:r>
            <a:r>
              <a:rPr lang="en-US" dirty="0" smtClean="0"/>
              <a:t> 1 </a:t>
            </a:r>
            <a:r>
              <a:rPr lang="en-US" dirty="0" err="1" smtClean="0"/>
              <a:t>hằng</a:t>
            </a:r>
            <a:r>
              <a:rPr lang="en-US" dirty="0" smtClean="0"/>
              <a:t> </a:t>
            </a:r>
            <a:r>
              <a:rPr lang="en-US" dirty="0" err="1" smtClean="0"/>
              <a:t>chuỗi</a:t>
            </a:r>
            <a:r>
              <a:rPr lang="en-US" dirty="0" smtClean="0"/>
              <a:t>, </a:t>
            </a:r>
            <a:r>
              <a:rPr lang="en-US" dirty="0" err="1" smtClean="0"/>
              <a:t>và</a:t>
            </a:r>
            <a:r>
              <a:rPr lang="en-US" dirty="0" smtClean="0"/>
              <a:t> </a:t>
            </a:r>
            <a:r>
              <a:rPr lang="en-US" dirty="0" err="1" smtClean="0"/>
              <a:t>pmessage</a:t>
            </a:r>
            <a:r>
              <a:rPr lang="en-US" dirty="0" smtClean="0"/>
              <a:t> </a:t>
            </a:r>
            <a:r>
              <a:rPr lang="en-US" dirty="0" err="1" smtClean="0"/>
              <a:t>có</a:t>
            </a:r>
            <a:r>
              <a:rPr lang="en-US" dirty="0" smtClean="0"/>
              <a:t> </a:t>
            </a:r>
            <a:r>
              <a:rPr lang="en-US" dirty="0" err="1" smtClean="0"/>
              <a:t>thể</a:t>
            </a:r>
            <a:r>
              <a:rPr lang="en-US" dirty="0" smtClean="0"/>
              <a:t> </a:t>
            </a:r>
            <a:r>
              <a:rPr lang="en-US" dirty="0" err="1" smtClean="0"/>
              <a:t>được</a:t>
            </a:r>
            <a:r>
              <a:rPr lang="en-US" dirty="0" smtClean="0"/>
              <a:t> </a:t>
            </a:r>
            <a:r>
              <a:rPr lang="en-US" dirty="0" err="1" smtClean="0"/>
              <a:t>được</a:t>
            </a:r>
            <a:r>
              <a:rPr lang="en-US" dirty="0" smtClean="0"/>
              <a:t> </a:t>
            </a:r>
            <a:r>
              <a:rPr lang="en-US" dirty="0" err="1" smtClean="0"/>
              <a:t>sửa</a:t>
            </a:r>
            <a:r>
              <a:rPr lang="en-US" dirty="0" smtClean="0"/>
              <a:t> </a:t>
            </a:r>
            <a:r>
              <a:rPr lang="en-US" dirty="0" err="1" smtClean="0"/>
              <a:t>đổi</a:t>
            </a:r>
            <a:r>
              <a:rPr lang="en-US" dirty="0" smtClean="0"/>
              <a:t> </a:t>
            </a:r>
            <a:r>
              <a:rPr lang="en-US" dirty="0" err="1" smtClean="0"/>
              <a:t>để</a:t>
            </a:r>
            <a:endParaRPr lang="en-US" dirty="0" smtClean="0"/>
          </a:p>
          <a:p>
            <a:r>
              <a:rPr lang="en-US" dirty="0" err="1"/>
              <a:t>t</a:t>
            </a:r>
            <a:r>
              <a:rPr lang="en-US" dirty="0" err="1" smtClean="0"/>
              <a:t>rỏ</a:t>
            </a:r>
            <a:r>
              <a:rPr lang="en-US" dirty="0" smtClean="0"/>
              <a:t> sang </a:t>
            </a:r>
            <a:r>
              <a:rPr lang="en-US" dirty="0" err="1" smtClean="0"/>
              <a:t>vị</a:t>
            </a:r>
            <a:r>
              <a:rPr lang="en-US" dirty="0" smtClean="0"/>
              <a:t> </a:t>
            </a:r>
            <a:r>
              <a:rPr lang="en-US" dirty="0" err="1" smtClean="0"/>
              <a:t>trí</a:t>
            </a:r>
            <a:r>
              <a:rPr lang="en-US" dirty="0" smtClean="0"/>
              <a:t> </a:t>
            </a:r>
            <a:r>
              <a:rPr lang="en-US" dirty="0" err="1" smtClean="0"/>
              <a:t>khác</a:t>
            </a:r>
            <a:r>
              <a:rPr lang="en-US" dirty="0" smtClean="0"/>
              <a:t>, </a:t>
            </a:r>
            <a:r>
              <a:rPr lang="en-US" dirty="0" err="1" smtClean="0"/>
              <a:t>nhưng</a:t>
            </a:r>
            <a:r>
              <a:rPr lang="en-US" dirty="0" smtClean="0"/>
              <a:t> </a:t>
            </a:r>
            <a:r>
              <a:rPr lang="en-US" dirty="0" err="1" smtClean="0"/>
              <a:t>chương</a:t>
            </a:r>
            <a:r>
              <a:rPr lang="en-US" dirty="0" smtClean="0"/>
              <a:t> </a:t>
            </a:r>
            <a:r>
              <a:rPr lang="en-US" dirty="0" err="1" smtClean="0"/>
              <a:t>trình</a:t>
            </a:r>
            <a:r>
              <a:rPr lang="en-US" dirty="0" smtClean="0"/>
              <a:t> </a:t>
            </a:r>
            <a:r>
              <a:rPr lang="en-US" dirty="0" err="1" smtClean="0"/>
              <a:t>sẽ</a:t>
            </a:r>
            <a:r>
              <a:rPr lang="en-US" dirty="0" smtClean="0"/>
              <a:t> </a:t>
            </a:r>
            <a:r>
              <a:rPr lang="en-US" dirty="0" err="1" smtClean="0"/>
              <a:t>lỗi</a:t>
            </a:r>
            <a:r>
              <a:rPr lang="en-US" dirty="0" smtClean="0"/>
              <a:t> </a:t>
            </a:r>
            <a:r>
              <a:rPr lang="en-US" dirty="0" err="1" smtClean="0"/>
              <a:t>nếu</a:t>
            </a:r>
            <a:r>
              <a:rPr lang="en-US" dirty="0" smtClean="0"/>
              <a:t> </a:t>
            </a:r>
            <a:r>
              <a:rPr lang="en-US" dirty="0" err="1" smtClean="0"/>
              <a:t>cố</a:t>
            </a:r>
            <a:r>
              <a:rPr lang="en-US" dirty="0" smtClean="0"/>
              <a:t> </a:t>
            </a:r>
            <a:r>
              <a:rPr lang="en-US" dirty="0" err="1" smtClean="0"/>
              <a:t>tình</a:t>
            </a:r>
            <a:r>
              <a:rPr lang="en-US" dirty="0" smtClean="0"/>
              <a:t> </a:t>
            </a:r>
            <a:r>
              <a:rPr lang="en-US" dirty="0" err="1" smtClean="0"/>
              <a:t>thay</a:t>
            </a:r>
            <a:r>
              <a:rPr lang="en-US" dirty="0" smtClean="0"/>
              <a:t> </a:t>
            </a:r>
            <a:r>
              <a:rPr lang="en-US" dirty="0" err="1" smtClean="0"/>
              <a:t>đổi</a:t>
            </a:r>
            <a:r>
              <a:rPr lang="en-US" dirty="0" smtClean="0"/>
              <a:t> </a:t>
            </a:r>
            <a:r>
              <a:rPr lang="en-US" dirty="0" err="1" smtClean="0"/>
              <a:t>nội</a:t>
            </a:r>
            <a:r>
              <a:rPr lang="en-US" dirty="0" smtClean="0"/>
              <a:t> dung </a:t>
            </a:r>
            <a:r>
              <a:rPr lang="en-US" dirty="0" err="1" smtClean="0"/>
              <a:t>của</a:t>
            </a:r>
            <a:r>
              <a:rPr lang="en-US" dirty="0" smtClean="0"/>
              <a:t> </a:t>
            </a:r>
            <a:r>
              <a:rPr lang="en-US" dirty="0" err="1" smtClean="0"/>
              <a:t>chuỗi</a:t>
            </a:r>
            <a:r>
              <a:rPr lang="en-US" dirty="0" smtClean="0"/>
              <a:t> </a:t>
            </a:r>
            <a:r>
              <a:rPr lang="en-US" dirty="0" err="1" smtClean="0"/>
              <a:t>kí</a:t>
            </a:r>
            <a:r>
              <a:rPr lang="en-US" dirty="0" smtClean="0"/>
              <a:t> </a:t>
            </a:r>
            <a:r>
              <a:rPr lang="en-US" dirty="0" err="1" smtClean="0"/>
              <a:t>tự</a:t>
            </a:r>
            <a:r>
              <a:rPr lang="en-US" dirty="0"/>
              <a:t> </a:t>
            </a:r>
            <a:r>
              <a:rPr lang="en-US" dirty="0" err="1" smtClean="0"/>
              <a:t>mà</a:t>
            </a:r>
            <a:r>
              <a:rPr lang="en-US" dirty="0" smtClean="0"/>
              <a:t> </a:t>
            </a:r>
            <a:r>
              <a:rPr lang="en-US" dirty="0" err="1" smtClean="0"/>
              <a:t>nó</a:t>
            </a:r>
            <a:r>
              <a:rPr lang="en-US" dirty="0" smtClean="0"/>
              <a:t> </a:t>
            </a:r>
            <a:r>
              <a:rPr lang="en-US" dirty="0" err="1" smtClean="0"/>
              <a:t>đang</a:t>
            </a:r>
            <a:r>
              <a:rPr lang="en-US" dirty="0" smtClean="0"/>
              <a:t> </a:t>
            </a:r>
            <a:r>
              <a:rPr lang="en-US" dirty="0" err="1" smtClean="0"/>
              <a:t>trỏ</a:t>
            </a:r>
            <a:r>
              <a:rPr lang="en-US" dirty="0" smtClean="0"/>
              <a:t> </a:t>
            </a:r>
            <a:r>
              <a:rPr lang="en-US" dirty="0" err="1" smtClean="0"/>
              <a:t>tới</a:t>
            </a:r>
            <a:r>
              <a:rPr lang="en-US" dirty="0" smtClean="0"/>
              <a:t>.</a:t>
            </a:r>
            <a:endParaRPr lang="en-US" dirty="0"/>
          </a:p>
        </p:txBody>
      </p:sp>
      <p:sp>
        <p:nvSpPr>
          <p:cNvPr id="12" name="TextBox 11"/>
          <p:cNvSpPr txBox="1"/>
          <p:nvPr/>
        </p:nvSpPr>
        <p:spPr>
          <a:xfrm>
            <a:off x="1158240" y="330926"/>
            <a:ext cx="1421671" cy="369332"/>
          </a:xfrm>
          <a:prstGeom prst="rect">
            <a:avLst/>
          </a:prstGeom>
          <a:noFill/>
        </p:spPr>
        <p:txBody>
          <a:bodyPr wrap="none" rtlCol="0">
            <a:spAutoFit/>
          </a:bodyPr>
          <a:lstStyle/>
          <a:p>
            <a:r>
              <a:rPr lang="en-US" dirty="0" smtClean="0"/>
              <a:t>Con </a:t>
            </a:r>
            <a:r>
              <a:rPr lang="en-US" dirty="0" err="1" smtClean="0"/>
              <a:t>trỏ</a:t>
            </a:r>
            <a:r>
              <a:rPr lang="en-US" dirty="0" smtClean="0"/>
              <a:t> </a:t>
            </a:r>
            <a:r>
              <a:rPr lang="en-US" dirty="0" err="1" smtClean="0"/>
              <a:t>kí</a:t>
            </a:r>
            <a:r>
              <a:rPr lang="en-US" dirty="0" smtClean="0"/>
              <a:t> </a:t>
            </a:r>
            <a:r>
              <a:rPr lang="en-US" dirty="0" err="1" smtClean="0"/>
              <a:t>tự</a:t>
            </a:r>
            <a:r>
              <a:rPr lang="en-US" dirty="0" smtClean="0"/>
              <a:t>:</a:t>
            </a:r>
            <a:endParaRPr lang="en-US" dirty="0"/>
          </a:p>
        </p:txBody>
      </p:sp>
      <p:sp>
        <p:nvSpPr>
          <p:cNvPr id="13" name="Rectangle 12"/>
          <p:cNvSpPr/>
          <p:nvPr/>
        </p:nvSpPr>
        <p:spPr>
          <a:xfrm>
            <a:off x="1878030" y="6006822"/>
            <a:ext cx="2558649" cy="369332"/>
          </a:xfrm>
          <a:prstGeom prst="rect">
            <a:avLst/>
          </a:prstGeom>
        </p:spPr>
        <p:txBody>
          <a:bodyPr wrap="none">
            <a:spAutoFit/>
          </a:bodyPr>
          <a:lstStyle/>
          <a:p>
            <a:r>
              <a:rPr lang="en-US" dirty="0"/>
              <a:t>char *</a:t>
            </a:r>
            <a:r>
              <a:rPr lang="en-US" dirty="0" err="1"/>
              <a:t>lineptr</a:t>
            </a:r>
            <a:r>
              <a:rPr lang="en-US" dirty="0"/>
              <a:t>[MAXLINES];</a:t>
            </a:r>
          </a:p>
        </p:txBody>
      </p:sp>
      <p:sp>
        <p:nvSpPr>
          <p:cNvPr id="14" name="TextBox 13"/>
          <p:cNvSpPr txBox="1"/>
          <p:nvPr/>
        </p:nvSpPr>
        <p:spPr>
          <a:xfrm>
            <a:off x="4520571" y="6037901"/>
            <a:ext cx="3968394" cy="369332"/>
          </a:xfrm>
          <a:prstGeom prst="rect">
            <a:avLst/>
          </a:prstGeom>
          <a:noFill/>
        </p:spPr>
        <p:txBody>
          <a:bodyPr wrap="none" rtlCol="0">
            <a:spAutoFit/>
          </a:bodyPr>
          <a:lstStyle/>
          <a:p>
            <a:r>
              <a:rPr lang="en-US" dirty="0" err="1" smtClean="0"/>
              <a:t>Đây</a:t>
            </a:r>
            <a:r>
              <a:rPr lang="en-US" dirty="0" smtClean="0"/>
              <a:t> </a:t>
            </a:r>
            <a:r>
              <a:rPr lang="en-US" dirty="0" err="1" smtClean="0"/>
              <a:t>là</a:t>
            </a:r>
            <a:r>
              <a:rPr lang="en-US" dirty="0" smtClean="0"/>
              <a:t> </a:t>
            </a:r>
            <a:r>
              <a:rPr lang="en-US" dirty="0" err="1" smtClean="0"/>
              <a:t>cách</a:t>
            </a:r>
            <a:r>
              <a:rPr lang="en-US" dirty="0" smtClean="0"/>
              <a:t> </a:t>
            </a:r>
            <a:r>
              <a:rPr lang="en-US" dirty="0" err="1" smtClean="0"/>
              <a:t>khai</a:t>
            </a:r>
            <a:r>
              <a:rPr lang="en-US" dirty="0" smtClean="0"/>
              <a:t> </a:t>
            </a:r>
            <a:r>
              <a:rPr lang="en-US" dirty="0" err="1" smtClean="0"/>
              <a:t>báo</a:t>
            </a:r>
            <a:r>
              <a:rPr lang="en-US" dirty="0" smtClean="0"/>
              <a:t> 1 </a:t>
            </a:r>
            <a:r>
              <a:rPr lang="en-US" dirty="0" err="1" smtClean="0"/>
              <a:t>mảng</a:t>
            </a:r>
            <a:r>
              <a:rPr lang="en-US" dirty="0" smtClean="0"/>
              <a:t> </a:t>
            </a:r>
            <a:r>
              <a:rPr lang="en-US" dirty="0" err="1" smtClean="0"/>
              <a:t>các</a:t>
            </a:r>
            <a:r>
              <a:rPr lang="en-US" dirty="0" smtClean="0"/>
              <a:t> con </a:t>
            </a:r>
            <a:r>
              <a:rPr lang="en-US" dirty="0" err="1" smtClean="0"/>
              <a:t>trỏ</a:t>
            </a:r>
            <a:r>
              <a:rPr lang="en-US" dirty="0" smtClean="0"/>
              <a:t>.</a:t>
            </a:r>
            <a:endParaRPr lang="en-US" dirty="0"/>
          </a:p>
        </p:txBody>
      </p:sp>
    </p:spTree>
    <p:extLst>
      <p:ext uri="{BB962C8B-B14F-4D97-AF65-F5344CB8AC3E}">
        <p14:creationId xmlns:p14="http://schemas.microsoft.com/office/powerpoint/2010/main" val="26680608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24297" y="792480"/>
            <a:ext cx="2328651" cy="369332"/>
          </a:xfrm>
          <a:prstGeom prst="rect">
            <a:avLst/>
          </a:prstGeom>
          <a:noFill/>
        </p:spPr>
        <p:txBody>
          <a:bodyPr wrap="none" rtlCol="0">
            <a:spAutoFit/>
          </a:bodyPr>
          <a:lstStyle/>
          <a:p>
            <a:r>
              <a:rPr lang="en-US" dirty="0" smtClean="0"/>
              <a:t>Pointer to pointer (</a:t>
            </a:r>
            <a:r>
              <a:rPr lang="en-US" dirty="0" err="1" smtClean="0"/>
              <a:t>gfg</a:t>
            </a:r>
            <a:r>
              <a:rPr lang="en-US" dirty="0" smtClean="0"/>
              <a:t>)</a:t>
            </a:r>
            <a:endParaRPr lang="en-US" dirty="0"/>
          </a:p>
        </p:txBody>
      </p:sp>
    </p:spTree>
    <p:extLst>
      <p:ext uri="{BB962C8B-B14F-4D97-AF65-F5344CB8AC3E}">
        <p14:creationId xmlns:p14="http://schemas.microsoft.com/office/powerpoint/2010/main" val="40349634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75360" y="339634"/>
            <a:ext cx="910377" cy="369332"/>
          </a:xfrm>
          <a:prstGeom prst="rect">
            <a:avLst/>
          </a:prstGeom>
          <a:noFill/>
        </p:spPr>
        <p:txBody>
          <a:bodyPr wrap="none" rtlCol="0">
            <a:spAutoFit/>
          </a:bodyPr>
          <a:lstStyle/>
          <a:p>
            <a:r>
              <a:rPr lang="en-US" dirty="0" smtClean="0"/>
              <a:t>STRUCT</a:t>
            </a:r>
            <a:endParaRPr lang="en-US" dirty="0"/>
          </a:p>
        </p:txBody>
      </p:sp>
      <p:pic>
        <p:nvPicPr>
          <p:cNvPr id="5" name="Picture 4"/>
          <p:cNvPicPr>
            <a:picLocks noChangeAspect="1"/>
          </p:cNvPicPr>
          <p:nvPr/>
        </p:nvPicPr>
        <p:blipFill>
          <a:blip r:embed="rId2"/>
          <a:stretch>
            <a:fillRect/>
          </a:stretch>
        </p:blipFill>
        <p:spPr>
          <a:xfrm>
            <a:off x="1113523" y="907417"/>
            <a:ext cx="3172268" cy="619211"/>
          </a:xfrm>
          <a:prstGeom prst="rect">
            <a:avLst/>
          </a:prstGeom>
        </p:spPr>
      </p:pic>
      <p:sp>
        <p:nvSpPr>
          <p:cNvPr id="6" name="TextBox 5"/>
          <p:cNvSpPr txBox="1"/>
          <p:nvPr/>
        </p:nvSpPr>
        <p:spPr>
          <a:xfrm>
            <a:off x="1262743" y="1637211"/>
            <a:ext cx="10280763" cy="646331"/>
          </a:xfrm>
          <a:prstGeom prst="rect">
            <a:avLst/>
          </a:prstGeom>
          <a:noFill/>
        </p:spPr>
        <p:txBody>
          <a:bodyPr wrap="none" rtlCol="0">
            <a:spAutoFit/>
          </a:bodyPr>
          <a:lstStyle/>
          <a:p>
            <a:r>
              <a:rPr lang="en-US" dirty="0" smtClean="0"/>
              <a:t>1 </a:t>
            </a:r>
            <a:r>
              <a:rPr lang="en-US" dirty="0" err="1" smtClean="0"/>
              <a:t>struct</a:t>
            </a:r>
            <a:r>
              <a:rPr lang="en-US" dirty="0" smtClean="0"/>
              <a:t> </a:t>
            </a:r>
            <a:r>
              <a:rPr lang="en-US" dirty="0" err="1" smtClean="0"/>
              <a:t>lớn</a:t>
            </a:r>
            <a:r>
              <a:rPr lang="en-US" dirty="0" smtClean="0"/>
              <a:t> </a:t>
            </a:r>
            <a:r>
              <a:rPr lang="en-US" dirty="0" err="1" smtClean="0"/>
              <a:t>được</a:t>
            </a:r>
            <a:r>
              <a:rPr lang="en-US" dirty="0" smtClean="0"/>
              <a:t> </a:t>
            </a:r>
            <a:r>
              <a:rPr lang="en-US" dirty="0" err="1" smtClean="0"/>
              <a:t>được</a:t>
            </a:r>
            <a:r>
              <a:rPr lang="en-US" dirty="0" smtClean="0"/>
              <a:t> </a:t>
            </a:r>
            <a:r>
              <a:rPr lang="en-US" dirty="0" err="1" smtClean="0"/>
              <a:t>truyền</a:t>
            </a:r>
            <a:r>
              <a:rPr lang="en-US" dirty="0" smtClean="0"/>
              <a:t> </a:t>
            </a:r>
            <a:r>
              <a:rPr lang="en-US" dirty="0" err="1" smtClean="0"/>
              <a:t>vào</a:t>
            </a:r>
            <a:r>
              <a:rPr lang="en-US" dirty="0" smtClean="0"/>
              <a:t> </a:t>
            </a:r>
            <a:r>
              <a:rPr lang="en-US" dirty="0" err="1" smtClean="0"/>
              <a:t>hàm</a:t>
            </a:r>
            <a:r>
              <a:rPr lang="en-US" dirty="0" smtClean="0"/>
              <a:t> </a:t>
            </a:r>
            <a:r>
              <a:rPr lang="en-US" dirty="0" err="1" smtClean="0"/>
              <a:t>thì</a:t>
            </a:r>
            <a:r>
              <a:rPr lang="en-US" dirty="0" smtClean="0"/>
              <a:t> </a:t>
            </a:r>
            <a:r>
              <a:rPr lang="en-US" dirty="0" err="1" smtClean="0"/>
              <a:t>thông</a:t>
            </a:r>
            <a:r>
              <a:rPr lang="en-US" dirty="0" smtClean="0"/>
              <a:t> </a:t>
            </a:r>
            <a:r>
              <a:rPr lang="en-US" dirty="0" err="1" smtClean="0"/>
              <a:t>thường</a:t>
            </a:r>
            <a:r>
              <a:rPr lang="en-US" dirty="0" smtClean="0"/>
              <a:t> </a:t>
            </a:r>
            <a:r>
              <a:rPr lang="en-US" dirty="0" err="1" smtClean="0"/>
              <a:t>việc</a:t>
            </a:r>
            <a:r>
              <a:rPr lang="en-US" dirty="0" smtClean="0"/>
              <a:t> </a:t>
            </a:r>
            <a:r>
              <a:rPr lang="en-US" dirty="0" err="1" smtClean="0"/>
              <a:t>truyền</a:t>
            </a:r>
            <a:r>
              <a:rPr lang="en-US" dirty="0" smtClean="0"/>
              <a:t> con </a:t>
            </a:r>
            <a:r>
              <a:rPr lang="en-US" dirty="0" err="1" smtClean="0"/>
              <a:t>trỏ</a:t>
            </a:r>
            <a:r>
              <a:rPr lang="en-US" dirty="0" smtClean="0"/>
              <a:t> </a:t>
            </a:r>
            <a:r>
              <a:rPr lang="en-US" dirty="0" err="1" smtClean="0"/>
              <a:t>sẽ</a:t>
            </a:r>
            <a:r>
              <a:rPr lang="en-US" dirty="0" smtClean="0"/>
              <a:t> </a:t>
            </a:r>
            <a:r>
              <a:rPr lang="en-US" dirty="0" err="1" smtClean="0"/>
              <a:t>hiệu</a:t>
            </a:r>
            <a:r>
              <a:rPr lang="en-US" dirty="0" smtClean="0"/>
              <a:t> </a:t>
            </a:r>
            <a:r>
              <a:rPr lang="en-US" dirty="0" err="1" smtClean="0"/>
              <a:t>quả</a:t>
            </a:r>
            <a:r>
              <a:rPr lang="en-US" dirty="0" smtClean="0"/>
              <a:t> </a:t>
            </a:r>
            <a:r>
              <a:rPr lang="en-US" dirty="0" err="1" smtClean="0"/>
              <a:t>hơn</a:t>
            </a:r>
            <a:r>
              <a:rPr lang="en-US" dirty="0" smtClean="0"/>
              <a:t> </a:t>
            </a:r>
            <a:r>
              <a:rPr lang="en-US" dirty="0" err="1" smtClean="0"/>
              <a:t>việc</a:t>
            </a:r>
            <a:r>
              <a:rPr lang="en-US" dirty="0" smtClean="0"/>
              <a:t> </a:t>
            </a:r>
            <a:r>
              <a:rPr lang="en-US" dirty="0" err="1" smtClean="0"/>
              <a:t>sao</a:t>
            </a:r>
            <a:r>
              <a:rPr lang="en-US" dirty="0" smtClean="0"/>
              <a:t> </a:t>
            </a:r>
            <a:r>
              <a:rPr lang="en-US" dirty="0" err="1" smtClean="0"/>
              <a:t>chép</a:t>
            </a:r>
            <a:r>
              <a:rPr lang="en-US" dirty="0" smtClean="0"/>
              <a:t> </a:t>
            </a:r>
          </a:p>
          <a:p>
            <a:r>
              <a:rPr lang="en-US" dirty="0" err="1" smtClean="0"/>
              <a:t>Toàn</a:t>
            </a:r>
            <a:r>
              <a:rPr lang="en-US" dirty="0" smtClean="0"/>
              <a:t> </a:t>
            </a:r>
            <a:r>
              <a:rPr lang="en-US" dirty="0" err="1" smtClean="0"/>
              <a:t>bộ</a:t>
            </a:r>
            <a:r>
              <a:rPr lang="en-US" dirty="0" smtClean="0"/>
              <a:t> </a:t>
            </a:r>
            <a:r>
              <a:rPr lang="en-US" dirty="0" err="1" smtClean="0"/>
              <a:t>struct</a:t>
            </a:r>
            <a:r>
              <a:rPr lang="en-US" dirty="0" smtClean="0"/>
              <a:t>.</a:t>
            </a:r>
          </a:p>
        </p:txBody>
      </p:sp>
      <p:pic>
        <p:nvPicPr>
          <p:cNvPr id="7" name="Picture 6"/>
          <p:cNvPicPr>
            <a:picLocks noChangeAspect="1"/>
          </p:cNvPicPr>
          <p:nvPr/>
        </p:nvPicPr>
        <p:blipFill>
          <a:blip r:embed="rId3"/>
          <a:stretch>
            <a:fillRect/>
          </a:stretch>
        </p:blipFill>
        <p:spPr>
          <a:xfrm>
            <a:off x="1262743" y="2283542"/>
            <a:ext cx="8040222" cy="1619476"/>
          </a:xfrm>
          <a:prstGeom prst="rect">
            <a:avLst/>
          </a:prstGeom>
        </p:spPr>
      </p:pic>
      <p:sp>
        <p:nvSpPr>
          <p:cNvPr id="8" name="TextBox 7"/>
          <p:cNvSpPr txBox="1"/>
          <p:nvPr/>
        </p:nvSpPr>
        <p:spPr>
          <a:xfrm>
            <a:off x="1262743" y="3903018"/>
            <a:ext cx="9995557" cy="646331"/>
          </a:xfrm>
          <a:prstGeom prst="rect">
            <a:avLst/>
          </a:prstGeom>
          <a:noFill/>
        </p:spPr>
        <p:txBody>
          <a:bodyPr wrap="none" rtlCol="0">
            <a:spAutoFit/>
          </a:bodyPr>
          <a:lstStyle/>
          <a:p>
            <a:r>
              <a:rPr lang="en-US" dirty="0" smtClean="0"/>
              <a:t>Con </a:t>
            </a:r>
            <a:r>
              <a:rPr lang="en-US" dirty="0" err="1" smtClean="0"/>
              <a:t>trỏ</a:t>
            </a:r>
            <a:r>
              <a:rPr lang="en-US" dirty="0" smtClean="0"/>
              <a:t> </a:t>
            </a:r>
            <a:r>
              <a:rPr lang="en-US" dirty="0" err="1" smtClean="0"/>
              <a:t>trỏ</a:t>
            </a:r>
            <a:r>
              <a:rPr lang="en-US" dirty="0" smtClean="0"/>
              <a:t> </a:t>
            </a:r>
            <a:r>
              <a:rPr lang="en-US" dirty="0" err="1" smtClean="0"/>
              <a:t>đến</a:t>
            </a:r>
            <a:r>
              <a:rPr lang="en-US" dirty="0" smtClean="0"/>
              <a:t> </a:t>
            </a:r>
            <a:r>
              <a:rPr lang="en-US" dirty="0" err="1" smtClean="0"/>
              <a:t>từng</a:t>
            </a:r>
            <a:r>
              <a:rPr lang="en-US" dirty="0" smtClean="0"/>
              <a:t> member </a:t>
            </a:r>
            <a:r>
              <a:rPr lang="en-US" dirty="0" err="1" smtClean="0"/>
              <a:t>của</a:t>
            </a:r>
            <a:r>
              <a:rPr lang="en-US" dirty="0"/>
              <a:t> </a:t>
            </a:r>
            <a:r>
              <a:rPr lang="en-US" dirty="0" err="1" smtClean="0"/>
              <a:t>struct</a:t>
            </a:r>
            <a:r>
              <a:rPr lang="en-US" dirty="0"/>
              <a:t>. </a:t>
            </a:r>
            <a:r>
              <a:rPr lang="en-US" dirty="0" err="1"/>
              <a:t>Dấu</a:t>
            </a:r>
            <a:r>
              <a:rPr lang="en-US" dirty="0"/>
              <a:t> </a:t>
            </a:r>
            <a:r>
              <a:rPr lang="en-US" dirty="0" err="1"/>
              <a:t>ngoặc</a:t>
            </a:r>
            <a:r>
              <a:rPr lang="en-US" dirty="0"/>
              <a:t> </a:t>
            </a:r>
            <a:r>
              <a:rPr lang="en-US" dirty="0" err="1" smtClean="0"/>
              <a:t>trong</a:t>
            </a:r>
            <a:r>
              <a:rPr lang="en-US" dirty="0" smtClean="0"/>
              <a:t> </a:t>
            </a:r>
            <a:r>
              <a:rPr lang="en-US" dirty="0" err="1" smtClean="0"/>
              <a:t>là</a:t>
            </a:r>
            <a:r>
              <a:rPr lang="en-US" dirty="0" smtClean="0"/>
              <a:t> </a:t>
            </a:r>
            <a:r>
              <a:rPr lang="en-US" dirty="0" err="1" smtClean="0"/>
              <a:t>bắt</a:t>
            </a:r>
            <a:r>
              <a:rPr lang="en-US" dirty="0" smtClean="0"/>
              <a:t> </a:t>
            </a:r>
            <a:r>
              <a:rPr lang="en-US" dirty="0" err="1" smtClean="0"/>
              <a:t>buộc</a:t>
            </a:r>
            <a:r>
              <a:rPr lang="en-US" dirty="0" smtClean="0"/>
              <a:t> </a:t>
            </a:r>
            <a:r>
              <a:rPr lang="en-US" dirty="0" err="1" smtClean="0"/>
              <a:t>vì</a:t>
            </a:r>
            <a:r>
              <a:rPr lang="en-US" dirty="0" smtClean="0"/>
              <a:t> </a:t>
            </a:r>
            <a:r>
              <a:rPr lang="en-US" dirty="0" err="1" smtClean="0"/>
              <a:t>toán</a:t>
            </a:r>
            <a:r>
              <a:rPr lang="en-US" dirty="0" smtClean="0"/>
              <a:t> </a:t>
            </a:r>
            <a:r>
              <a:rPr lang="en-US" dirty="0" err="1" smtClean="0"/>
              <a:t>tử</a:t>
            </a:r>
            <a:r>
              <a:rPr lang="en-US" dirty="0" smtClean="0"/>
              <a:t> </a:t>
            </a:r>
            <a:r>
              <a:rPr lang="en-US" dirty="0" err="1" smtClean="0"/>
              <a:t>truy</a:t>
            </a:r>
            <a:r>
              <a:rPr lang="en-US" dirty="0" smtClean="0"/>
              <a:t> </a:t>
            </a:r>
            <a:r>
              <a:rPr lang="en-US" dirty="0" err="1" smtClean="0"/>
              <a:t>cập</a:t>
            </a:r>
            <a:r>
              <a:rPr lang="en-US" dirty="0" smtClean="0"/>
              <a:t> </a:t>
            </a:r>
            <a:r>
              <a:rPr lang="en-US" dirty="0" err="1" smtClean="0"/>
              <a:t>thành</a:t>
            </a:r>
            <a:r>
              <a:rPr lang="en-US" dirty="0" smtClean="0"/>
              <a:t> </a:t>
            </a:r>
            <a:r>
              <a:rPr lang="en-US" dirty="0" err="1" smtClean="0"/>
              <a:t>viên</a:t>
            </a:r>
            <a:r>
              <a:rPr lang="en-US" dirty="0" smtClean="0"/>
              <a:t> ‘.’ </a:t>
            </a:r>
            <a:r>
              <a:rPr lang="en-US" dirty="0" err="1" smtClean="0"/>
              <a:t>có</a:t>
            </a:r>
            <a:endParaRPr lang="en-US" dirty="0"/>
          </a:p>
          <a:p>
            <a:r>
              <a:rPr lang="en-US" dirty="0" err="1"/>
              <a:t>m</a:t>
            </a:r>
            <a:r>
              <a:rPr lang="en-US" dirty="0" err="1" smtClean="0"/>
              <a:t>ức</a:t>
            </a:r>
            <a:r>
              <a:rPr lang="en-US" dirty="0" smtClean="0"/>
              <a:t> </a:t>
            </a:r>
            <a:r>
              <a:rPr lang="en-US" dirty="0" err="1" smtClean="0"/>
              <a:t>độ</a:t>
            </a:r>
            <a:r>
              <a:rPr lang="en-US" dirty="0" smtClean="0"/>
              <a:t> </a:t>
            </a:r>
            <a:r>
              <a:rPr lang="en-US" dirty="0" err="1" smtClean="0"/>
              <a:t>ưu</a:t>
            </a:r>
            <a:r>
              <a:rPr lang="en-US" dirty="0" smtClean="0"/>
              <a:t> </a:t>
            </a:r>
            <a:r>
              <a:rPr lang="en-US" dirty="0" err="1" smtClean="0"/>
              <a:t>tiên</a:t>
            </a:r>
            <a:r>
              <a:rPr lang="en-US" dirty="0" smtClean="0"/>
              <a:t> </a:t>
            </a:r>
            <a:r>
              <a:rPr lang="en-US" dirty="0" err="1" smtClean="0"/>
              <a:t>cao</a:t>
            </a:r>
            <a:r>
              <a:rPr lang="en-US" dirty="0" smtClean="0"/>
              <a:t> </a:t>
            </a:r>
            <a:r>
              <a:rPr lang="en-US" dirty="0" err="1" smtClean="0"/>
              <a:t>hơn</a:t>
            </a:r>
            <a:r>
              <a:rPr lang="en-US" dirty="0" smtClean="0"/>
              <a:t> ‘*’.</a:t>
            </a:r>
          </a:p>
        </p:txBody>
      </p:sp>
      <p:pic>
        <p:nvPicPr>
          <p:cNvPr id="12" name="Picture 11"/>
          <p:cNvPicPr>
            <a:picLocks noChangeAspect="1"/>
          </p:cNvPicPr>
          <p:nvPr/>
        </p:nvPicPr>
        <p:blipFill>
          <a:blip r:embed="rId4"/>
          <a:stretch>
            <a:fillRect/>
          </a:stretch>
        </p:blipFill>
        <p:spPr>
          <a:xfrm>
            <a:off x="1885737" y="4874703"/>
            <a:ext cx="5372850" cy="1295581"/>
          </a:xfrm>
          <a:prstGeom prst="rect">
            <a:avLst/>
          </a:prstGeom>
        </p:spPr>
      </p:pic>
    </p:spTree>
    <p:extLst>
      <p:ext uri="{BB962C8B-B14F-4D97-AF65-F5344CB8AC3E}">
        <p14:creationId xmlns:p14="http://schemas.microsoft.com/office/powerpoint/2010/main" val="3550621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922374" y="609600"/>
            <a:ext cx="3590152" cy="4029453"/>
          </a:xfrm>
          <a:prstGeom prst="rect">
            <a:avLst/>
          </a:prstGeom>
        </p:spPr>
      </p:pic>
    </p:spTree>
    <p:extLst>
      <p:ext uri="{BB962C8B-B14F-4D97-AF65-F5344CB8AC3E}">
        <p14:creationId xmlns:p14="http://schemas.microsoft.com/office/powerpoint/2010/main" val="341147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89223" y="788516"/>
            <a:ext cx="3525965" cy="369332"/>
          </a:xfrm>
          <a:prstGeom prst="rect">
            <a:avLst/>
          </a:prstGeom>
        </p:spPr>
        <p:txBody>
          <a:bodyPr wrap="none">
            <a:spAutoFit/>
          </a:bodyPr>
          <a:lstStyle/>
          <a:p>
            <a:r>
              <a:rPr lang="en-US" dirty="0" err="1"/>
              <a:t>Bộ</a:t>
            </a:r>
            <a:r>
              <a:rPr lang="en-US" dirty="0"/>
              <a:t> </a:t>
            </a:r>
            <a:r>
              <a:rPr lang="en-US" dirty="0" err="1"/>
              <a:t>tiền</a:t>
            </a:r>
            <a:r>
              <a:rPr lang="en-US" dirty="0"/>
              <a:t> </a:t>
            </a:r>
            <a:r>
              <a:rPr lang="en-US" dirty="0" err="1"/>
              <a:t>xử</a:t>
            </a:r>
            <a:r>
              <a:rPr lang="en-US" dirty="0"/>
              <a:t> </a:t>
            </a:r>
            <a:r>
              <a:rPr lang="en-US" dirty="0" err="1"/>
              <a:t>lý</a:t>
            </a:r>
            <a:r>
              <a:rPr lang="en-US" dirty="0"/>
              <a:t> C (The C Preprocessor)</a:t>
            </a:r>
          </a:p>
        </p:txBody>
      </p:sp>
      <p:sp>
        <p:nvSpPr>
          <p:cNvPr id="6" name="Rectangle 2"/>
          <p:cNvSpPr>
            <a:spLocks noChangeArrowheads="1"/>
          </p:cNvSpPr>
          <p:nvPr/>
        </p:nvSpPr>
        <p:spPr bwMode="auto">
          <a:xfrm>
            <a:off x="1088571" y="1713952"/>
            <a:ext cx="696004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chemeClr val="tx1"/>
                </a:solidFill>
                <a:effectLst/>
                <a:latin typeface="Arial Unicode MS" panose="020B0604020202020204" pitchFamily="34" charset="-128"/>
              </a:rPr>
              <a:t>#include</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chèn</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nội</a:t>
            </a:r>
            <a:r>
              <a:rPr kumimoji="0" lang="en-US" altLang="en-US" sz="1600" b="0" i="0" u="none" strike="noStrike" cap="none" normalizeH="0" baseline="0" dirty="0" smtClean="0">
                <a:ln>
                  <a:noFill/>
                </a:ln>
                <a:solidFill>
                  <a:schemeClr val="tx1"/>
                </a:solidFill>
                <a:effectLst/>
              </a:rPr>
              <a:t> dung </a:t>
            </a:r>
            <a:r>
              <a:rPr kumimoji="0" lang="en-US" altLang="en-US" sz="1600" b="0" i="0" u="none" strike="noStrike" cap="none" normalizeH="0" baseline="0" dirty="0" err="1" smtClean="0">
                <a:ln>
                  <a:noFill/>
                </a:ln>
                <a:solidFill>
                  <a:schemeClr val="tx1"/>
                </a:solidFill>
                <a:effectLst/>
              </a:rPr>
              <a:t>của</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một</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tệp</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vào</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chương</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trình</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trong</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quá</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trình</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biên</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dịch</a:t>
            </a:r>
            <a:r>
              <a:rPr kumimoji="0" lang="en-US" altLang="en-US" sz="1600" b="0" i="0" u="none" strike="noStrike" cap="none" normalizeH="0" baseline="0" dirty="0" smtClean="0">
                <a:ln>
                  <a:noFill/>
                </a:ln>
                <a:solidFill>
                  <a:schemeClr val="tx1"/>
                </a:solidFill>
                <a:effectLst/>
              </a:rPr>
              <a:t>. </a:t>
            </a:r>
            <a:endParaRPr kumimoji="0" lang="en-US" altLang="en-US" sz="1600" b="0" i="0" u="none" strike="noStrike" cap="none" normalizeH="0" baseline="0" dirty="0" smtClean="0">
              <a:ln>
                <a:noFill/>
              </a:ln>
              <a:solidFill>
                <a:schemeClr val="tx1"/>
              </a:solidFill>
              <a:effectLst/>
              <a:latin typeface="Arial" panose="020B0604020202020204" pitchFamily="34" charset="0"/>
            </a:endParaRPr>
          </a:p>
        </p:txBody>
      </p:sp>
      <p:sp>
        <p:nvSpPr>
          <p:cNvPr id="7" name="Rectangle 6"/>
          <p:cNvSpPr/>
          <p:nvPr/>
        </p:nvSpPr>
        <p:spPr>
          <a:xfrm>
            <a:off x="1368087" y="1221572"/>
            <a:ext cx="5397631" cy="369332"/>
          </a:xfrm>
          <a:prstGeom prst="rect">
            <a:avLst/>
          </a:prstGeom>
        </p:spPr>
        <p:txBody>
          <a:bodyPr wrap="none">
            <a:spAutoFit/>
          </a:bodyPr>
          <a:lstStyle/>
          <a:p>
            <a:r>
              <a:rPr lang="vi-VN" dirty="0"/>
              <a:t>Hai tính năng được sử dụng thường xuyên nhất là:</a:t>
            </a:r>
            <a:endParaRPr lang="en-US" dirty="0"/>
          </a:p>
        </p:txBody>
      </p:sp>
      <p:sp>
        <p:nvSpPr>
          <p:cNvPr id="8" name="Rectangle 3"/>
          <p:cNvSpPr>
            <a:spLocks noChangeArrowheads="1"/>
          </p:cNvSpPr>
          <p:nvPr/>
        </p:nvSpPr>
        <p:spPr bwMode="auto">
          <a:xfrm>
            <a:off x="1088571" y="2131620"/>
            <a:ext cx="491006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chemeClr val="tx1"/>
                </a:solidFill>
                <a:effectLst/>
                <a:latin typeface="Arial Unicode MS" panose="020B0604020202020204" pitchFamily="34" charset="-128"/>
              </a:rPr>
              <a:t>#define</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thay</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thế</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một</a:t>
            </a:r>
            <a:r>
              <a:rPr kumimoji="0" lang="en-US" altLang="en-US" sz="1600" b="0" i="0" u="none" strike="noStrike" cap="none" normalizeH="0" baseline="0" dirty="0" smtClean="0">
                <a:ln>
                  <a:noFill/>
                </a:ln>
                <a:solidFill>
                  <a:schemeClr val="tx1"/>
                </a:solidFill>
                <a:effectLst/>
              </a:rPr>
              <a:t> token </a:t>
            </a:r>
            <a:r>
              <a:rPr kumimoji="0" lang="en-US" altLang="en-US" sz="1600" b="0" i="0" u="none" strike="noStrike" cap="none" normalizeH="0" baseline="0" dirty="0" err="1" smtClean="0">
                <a:ln>
                  <a:noFill/>
                </a:ln>
                <a:solidFill>
                  <a:schemeClr val="tx1"/>
                </a:solidFill>
                <a:effectLst/>
              </a:rPr>
              <a:t>bằng</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một</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chuỗi</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ký</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tự</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tùy</a:t>
            </a:r>
            <a:r>
              <a:rPr kumimoji="0" lang="en-US" altLang="en-US" sz="1600" b="0" i="0" u="none" strike="noStrike" cap="none" normalizeH="0" baseline="0" dirty="0" smtClean="0">
                <a:ln>
                  <a:noFill/>
                </a:ln>
                <a:solidFill>
                  <a:schemeClr val="tx1"/>
                </a:solidFill>
                <a:effectLst/>
              </a:rPr>
              <a:t> ý. </a:t>
            </a:r>
            <a:endParaRPr kumimoji="0" lang="en-US" altLang="en-US" sz="1600" b="0" i="0" u="none" strike="noStrike" cap="none" normalizeH="0" baseline="0" dirty="0" smtClean="0">
              <a:ln>
                <a:noFill/>
              </a:ln>
              <a:solidFill>
                <a:schemeClr val="tx1"/>
              </a:solidFill>
              <a:effectLst/>
              <a:latin typeface="Arial" panose="020B0604020202020204" pitchFamily="34" charset="0"/>
            </a:endParaRPr>
          </a:p>
        </p:txBody>
      </p:sp>
      <p:sp>
        <p:nvSpPr>
          <p:cNvPr id="9" name="Rectangle 8"/>
          <p:cNvSpPr/>
          <p:nvPr/>
        </p:nvSpPr>
        <p:spPr>
          <a:xfrm>
            <a:off x="1368087" y="2608610"/>
            <a:ext cx="6096000" cy="646331"/>
          </a:xfrm>
          <a:prstGeom prst="rect">
            <a:avLst/>
          </a:prstGeom>
        </p:spPr>
        <p:txBody>
          <a:bodyPr>
            <a:spAutoFit/>
          </a:bodyPr>
          <a:lstStyle/>
          <a:p>
            <a:r>
              <a:rPr lang="en-US" b="1" dirty="0" smtClean="0">
                <a:solidFill>
                  <a:srgbClr val="000000"/>
                </a:solidFill>
                <a:latin typeface="Helvetica-Bold"/>
              </a:rPr>
              <a:t>1. File </a:t>
            </a:r>
            <a:r>
              <a:rPr lang="en-US" b="1" dirty="0">
                <a:solidFill>
                  <a:srgbClr val="000000"/>
                </a:solidFill>
                <a:latin typeface="Helvetica-Bold"/>
              </a:rPr>
              <a:t>Inclusion</a:t>
            </a:r>
            <a:r>
              <a:rPr lang="en-US" dirty="0"/>
              <a:t> </a:t>
            </a:r>
            <a:br>
              <a:rPr lang="en-US" dirty="0"/>
            </a:br>
            <a:endParaRPr lang="en-US" dirty="0"/>
          </a:p>
        </p:txBody>
      </p:sp>
      <p:pic>
        <p:nvPicPr>
          <p:cNvPr id="10" name="Picture 9"/>
          <p:cNvPicPr>
            <a:picLocks noChangeAspect="1"/>
          </p:cNvPicPr>
          <p:nvPr/>
        </p:nvPicPr>
        <p:blipFill>
          <a:blip r:embed="rId2"/>
          <a:stretch>
            <a:fillRect/>
          </a:stretch>
        </p:blipFill>
        <p:spPr>
          <a:xfrm>
            <a:off x="1809162" y="3198087"/>
            <a:ext cx="2257740" cy="390580"/>
          </a:xfrm>
          <a:prstGeom prst="rect">
            <a:avLst/>
          </a:prstGeom>
        </p:spPr>
      </p:pic>
      <p:pic>
        <p:nvPicPr>
          <p:cNvPr id="11" name="Picture 10"/>
          <p:cNvPicPr>
            <a:picLocks noChangeAspect="1"/>
          </p:cNvPicPr>
          <p:nvPr/>
        </p:nvPicPr>
        <p:blipFill>
          <a:blip r:embed="rId3"/>
          <a:stretch>
            <a:fillRect/>
          </a:stretch>
        </p:blipFill>
        <p:spPr>
          <a:xfrm>
            <a:off x="1675793" y="4454326"/>
            <a:ext cx="2391109" cy="438211"/>
          </a:xfrm>
          <a:prstGeom prst="rect">
            <a:avLst/>
          </a:prstGeom>
        </p:spPr>
      </p:pic>
      <p:sp>
        <p:nvSpPr>
          <p:cNvPr id="12" name="Rectangle 11"/>
          <p:cNvSpPr/>
          <p:nvPr/>
        </p:nvSpPr>
        <p:spPr>
          <a:xfrm>
            <a:off x="1602377" y="3641021"/>
            <a:ext cx="6096000" cy="923330"/>
          </a:xfrm>
          <a:prstGeom prst="rect">
            <a:avLst/>
          </a:prstGeom>
        </p:spPr>
        <p:txBody>
          <a:bodyPr>
            <a:spAutoFit/>
          </a:bodyPr>
          <a:lstStyle/>
          <a:p>
            <a:r>
              <a:rPr lang="vi-VN" dirty="0"/>
              <a:t>việc tìm kiếm tệp thường bắt đầu từ thư mục chứa chương trình nguồn</a:t>
            </a:r>
            <a:r>
              <a:rPr lang="vi-VN" dirty="0" smtClean="0"/>
              <a:t>.</a:t>
            </a:r>
            <a:r>
              <a:rPr lang="en-US" dirty="0" smtClean="0"/>
              <a:t> </a:t>
            </a:r>
            <a:r>
              <a:rPr lang="en-US" dirty="0" err="1" smtClean="0"/>
              <a:t>Nếu</a:t>
            </a:r>
            <a:r>
              <a:rPr lang="en-US" dirty="0" smtClean="0"/>
              <a:t> </a:t>
            </a:r>
            <a:r>
              <a:rPr lang="en-US" dirty="0" err="1" smtClean="0"/>
              <a:t>không</a:t>
            </a:r>
            <a:r>
              <a:rPr lang="en-US" dirty="0" smtClean="0"/>
              <a:t> </a:t>
            </a:r>
            <a:r>
              <a:rPr lang="en-US" dirty="0" err="1" smtClean="0"/>
              <a:t>tìm</a:t>
            </a:r>
            <a:r>
              <a:rPr lang="en-US" dirty="0" smtClean="0"/>
              <a:t> </a:t>
            </a:r>
            <a:r>
              <a:rPr lang="en-US" dirty="0" err="1" smtClean="0"/>
              <a:t>thấy</a:t>
            </a:r>
            <a:r>
              <a:rPr lang="en-US" dirty="0" smtClean="0"/>
              <a:t> </a:t>
            </a:r>
            <a:r>
              <a:rPr lang="en-US" dirty="0" err="1" smtClean="0"/>
              <a:t>thì</a:t>
            </a:r>
            <a:r>
              <a:rPr lang="en-US" dirty="0" smtClean="0"/>
              <a:t> </a:t>
            </a:r>
            <a:r>
              <a:rPr lang="en-US" dirty="0" err="1" smtClean="0"/>
              <a:t>tìm</a:t>
            </a:r>
            <a:r>
              <a:rPr lang="en-US" dirty="0" smtClean="0"/>
              <a:t> </a:t>
            </a:r>
            <a:r>
              <a:rPr lang="en-US" dirty="0" err="1" smtClean="0"/>
              <a:t>theo</a:t>
            </a:r>
            <a:r>
              <a:rPr lang="en-US" dirty="0" smtClean="0"/>
              <a:t> </a:t>
            </a:r>
            <a:r>
              <a:rPr lang="en-US" dirty="0" err="1" smtClean="0"/>
              <a:t>quy</a:t>
            </a:r>
            <a:r>
              <a:rPr lang="en-US" dirty="0" smtClean="0"/>
              <a:t> </a:t>
            </a:r>
            <a:r>
              <a:rPr lang="en-US" dirty="0" err="1" smtClean="0"/>
              <a:t>tác</a:t>
            </a:r>
            <a:r>
              <a:rPr lang="en-US" dirty="0" smtClean="0"/>
              <a:t> </a:t>
            </a:r>
            <a:r>
              <a:rPr lang="en-US" dirty="0" err="1" smtClean="0"/>
              <a:t>của</a:t>
            </a:r>
            <a:r>
              <a:rPr lang="en-US" dirty="0" smtClean="0"/>
              <a:t> </a:t>
            </a:r>
            <a:r>
              <a:rPr lang="en-US" dirty="0" err="1" smtClean="0"/>
              <a:t>trình</a:t>
            </a:r>
            <a:r>
              <a:rPr lang="en-US" dirty="0" smtClean="0"/>
              <a:t> </a:t>
            </a:r>
            <a:r>
              <a:rPr lang="en-US" dirty="0" err="1" smtClean="0"/>
              <a:t>biên</a:t>
            </a:r>
            <a:r>
              <a:rPr lang="en-US" dirty="0" smtClean="0"/>
              <a:t> </a:t>
            </a:r>
            <a:r>
              <a:rPr lang="en-US" dirty="0" err="1" smtClean="0"/>
              <a:t>dịch</a:t>
            </a:r>
            <a:r>
              <a:rPr lang="en-US" dirty="0" smtClean="0"/>
              <a:t> </a:t>
            </a:r>
            <a:r>
              <a:rPr lang="en-US" dirty="0" err="1" smtClean="0"/>
              <a:t>hoặc</a:t>
            </a:r>
            <a:r>
              <a:rPr lang="en-US" dirty="0" smtClean="0"/>
              <a:t> </a:t>
            </a:r>
            <a:r>
              <a:rPr lang="en-US" dirty="0" err="1" smtClean="0"/>
              <a:t>hệ</a:t>
            </a:r>
            <a:r>
              <a:rPr lang="en-US" dirty="0" smtClean="0"/>
              <a:t> </a:t>
            </a:r>
            <a:r>
              <a:rPr lang="en-US" dirty="0" err="1" smtClean="0"/>
              <a:t>thống</a:t>
            </a:r>
            <a:r>
              <a:rPr lang="en-US" dirty="0" smtClean="0"/>
              <a:t> </a:t>
            </a:r>
            <a:r>
              <a:rPr lang="en-US" dirty="0" err="1" smtClean="0"/>
              <a:t>cài</a:t>
            </a:r>
            <a:r>
              <a:rPr lang="en-US" dirty="0" smtClean="0"/>
              <a:t> </a:t>
            </a:r>
            <a:r>
              <a:rPr lang="en-US" dirty="0" err="1" smtClean="0"/>
              <a:t>đặt</a:t>
            </a:r>
            <a:r>
              <a:rPr lang="en-US" dirty="0" smtClean="0"/>
              <a:t>.</a:t>
            </a:r>
            <a:endParaRPr lang="en-US" dirty="0"/>
          </a:p>
        </p:txBody>
      </p:sp>
      <p:sp>
        <p:nvSpPr>
          <p:cNvPr id="13" name="Rectangle 12"/>
          <p:cNvSpPr/>
          <p:nvPr/>
        </p:nvSpPr>
        <p:spPr>
          <a:xfrm>
            <a:off x="1675793" y="4892537"/>
            <a:ext cx="6096000" cy="646331"/>
          </a:xfrm>
          <a:prstGeom prst="rect">
            <a:avLst/>
          </a:prstGeom>
        </p:spPr>
        <p:txBody>
          <a:bodyPr>
            <a:spAutoFit/>
          </a:bodyPr>
          <a:lstStyle/>
          <a:p>
            <a:r>
              <a:rPr lang="en-US" dirty="0" err="1"/>
              <a:t>việc</a:t>
            </a:r>
            <a:r>
              <a:rPr lang="en-US" dirty="0"/>
              <a:t> </a:t>
            </a:r>
            <a:r>
              <a:rPr lang="en-US" dirty="0" err="1"/>
              <a:t>tìm</a:t>
            </a:r>
            <a:r>
              <a:rPr lang="en-US" dirty="0"/>
              <a:t> </a:t>
            </a:r>
            <a:r>
              <a:rPr lang="en-US" dirty="0" err="1"/>
              <a:t>kiếm</a:t>
            </a:r>
            <a:r>
              <a:rPr lang="en-US" dirty="0"/>
              <a:t> </a:t>
            </a:r>
            <a:r>
              <a:rPr lang="en-US" dirty="0" err="1"/>
              <a:t>sẽ</a:t>
            </a:r>
            <a:r>
              <a:rPr lang="en-US" dirty="0"/>
              <a:t> </a:t>
            </a:r>
            <a:r>
              <a:rPr lang="en-US" dirty="0" err="1"/>
              <a:t>tuân</a:t>
            </a:r>
            <a:r>
              <a:rPr lang="en-US" dirty="0"/>
              <a:t> </a:t>
            </a:r>
            <a:r>
              <a:rPr lang="en-US" dirty="0" err="1"/>
              <a:t>theo</a:t>
            </a:r>
            <a:r>
              <a:rPr lang="en-US" dirty="0"/>
              <a:t> </a:t>
            </a:r>
            <a:r>
              <a:rPr lang="en-US" dirty="0" err="1"/>
              <a:t>các</a:t>
            </a:r>
            <a:r>
              <a:rPr lang="en-US" dirty="0"/>
              <a:t> </a:t>
            </a:r>
            <a:r>
              <a:rPr lang="en-US" dirty="0" err="1"/>
              <a:t>quy</a:t>
            </a:r>
            <a:r>
              <a:rPr lang="en-US" dirty="0"/>
              <a:t> </a:t>
            </a:r>
            <a:r>
              <a:rPr lang="en-US" dirty="0" err="1"/>
              <a:t>tắc</a:t>
            </a:r>
            <a:r>
              <a:rPr lang="en-US" dirty="0"/>
              <a:t> do </a:t>
            </a:r>
            <a:r>
              <a:rPr lang="en-US" dirty="0" err="1"/>
              <a:t>trình</a:t>
            </a:r>
            <a:r>
              <a:rPr lang="en-US" dirty="0"/>
              <a:t> </a:t>
            </a:r>
            <a:r>
              <a:rPr lang="en-US" dirty="0" err="1"/>
              <a:t>biên</a:t>
            </a:r>
            <a:r>
              <a:rPr lang="en-US" dirty="0"/>
              <a:t> </a:t>
            </a:r>
            <a:r>
              <a:rPr lang="en-US" dirty="0" err="1"/>
              <a:t>dịch</a:t>
            </a:r>
            <a:r>
              <a:rPr lang="en-US" dirty="0"/>
              <a:t> </a:t>
            </a:r>
            <a:r>
              <a:rPr lang="en-US" dirty="0" err="1"/>
              <a:t>hoặc</a:t>
            </a:r>
            <a:r>
              <a:rPr lang="en-US" dirty="0"/>
              <a:t> </a:t>
            </a:r>
            <a:r>
              <a:rPr lang="en-US" dirty="0" err="1"/>
              <a:t>hệ</a:t>
            </a:r>
            <a:r>
              <a:rPr lang="en-US" dirty="0"/>
              <a:t> </a:t>
            </a:r>
            <a:r>
              <a:rPr lang="en-US" dirty="0" err="1"/>
              <a:t>thống</a:t>
            </a:r>
            <a:r>
              <a:rPr lang="en-US" dirty="0"/>
              <a:t> </a:t>
            </a:r>
            <a:r>
              <a:rPr lang="en-US" dirty="0" err="1"/>
              <a:t>cài</a:t>
            </a:r>
            <a:r>
              <a:rPr lang="en-US" dirty="0"/>
              <a:t> </a:t>
            </a:r>
            <a:r>
              <a:rPr lang="en-US" dirty="0" err="1"/>
              <a:t>đặt</a:t>
            </a:r>
            <a:r>
              <a:rPr lang="en-US" dirty="0"/>
              <a:t> </a:t>
            </a:r>
            <a:r>
              <a:rPr lang="en-US" dirty="0" err="1"/>
              <a:t>quy</a:t>
            </a:r>
            <a:r>
              <a:rPr lang="en-US" dirty="0"/>
              <a:t> </a:t>
            </a:r>
            <a:r>
              <a:rPr lang="en-US" dirty="0" err="1"/>
              <a:t>định</a:t>
            </a:r>
            <a:r>
              <a:rPr lang="en-US" dirty="0"/>
              <a:t>.</a:t>
            </a:r>
          </a:p>
        </p:txBody>
      </p:sp>
    </p:spTree>
    <p:extLst>
      <p:ext uri="{BB962C8B-B14F-4D97-AF65-F5344CB8AC3E}">
        <p14:creationId xmlns:p14="http://schemas.microsoft.com/office/powerpoint/2010/main" val="6548306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80160" y="705394"/>
            <a:ext cx="851002" cy="369332"/>
          </a:xfrm>
          <a:prstGeom prst="rect">
            <a:avLst/>
          </a:prstGeom>
          <a:noFill/>
        </p:spPr>
        <p:txBody>
          <a:bodyPr wrap="none" rtlCol="0">
            <a:spAutoFit/>
          </a:bodyPr>
          <a:lstStyle/>
          <a:p>
            <a:r>
              <a:rPr lang="en-US" dirty="0" smtClean="0"/>
              <a:t>Macro:</a:t>
            </a:r>
            <a:endParaRPr lang="en-US" dirty="0"/>
          </a:p>
        </p:txBody>
      </p:sp>
      <p:pic>
        <p:nvPicPr>
          <p:cNvPr id="5" name="Picture 4"/>
          <p:cNvPicPr>
            <a:picLocks noChangeAspect="1"/>
          </p:cNvPicPr>
          <p:nvPr/>
        </p:nvPicPr>
        <p:blipFill>
          <a:blip r:embed="rId2"/>
          <a:stretch>
            <a:fillRect/>
          </a:stretch>
        </p:blipFill>
        <p:spPr>
          <a:xfrm>
            <a:off x="1280160" y="1074726"/>
            <a:ext cx="3353268" cy="514422"/>
          </a:xfrm>
          <a:prstGeom prst="rect">
            <a:avLst/>
          </a:prstGeom>
        </p:spPr>
      </p:pic>
    </p:spTree>
    <p:extLst>
      <p:ext uri="{BB962C8B-B14F-4D97-AF65-F5344CB8AC3E}">
        <p14:creationId xmlns:p14="http://schemas.microsoft.com/office/powerpoint/2010/main" val="23666944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1548</TotalTime>
  <Words>1323</Words>
  <Application>Microsoft Office PowerPoint</Application>
  <PresentationFormat>Widescreen</PresentationFormat>
  <Paragraphs>111</Paragraphs>
  <Slides>22</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 Unicode MS</vt:lpstr>
      <vt:lpstr>Arial</vt:lpstr>
      <vt:lpstr>Calibri</vt:lpstr>
      <vt:lpstr>Calibri Light</vt:lpstr>
      <vt:lpstr>Helvetica-Bold</vt:lpstr>
      <vt:lpstr>Mona Sans VF</vt:lpstr>
      <vt:lpstr>Times New Roman</vt:lpstr>
      <vt:lpstr>Office Theme</vt:lpstr>
      <vt:lpstr>Memory layout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 layout</dc:title>
  <dc:creator>admin</dc:creator>
  <cp:lastModifiedBy>admin</cp:lastModifiedBy>
  <cp:revision>41</cp:revision>
  <dcterms:created xsi:type="dcterms:W3CDTF">2026-06-08T02:34:42Z</dcterms:created>
  <dcterms:modified xsi:type="dcterms:W3CDTF">2026-06-12T10:35:45Z</dcterms:modified>
</cp:coreProperties>
</file>