
<file path=[Content_Types].xml><?xml version="1.0" encoding="utf-8"?>
<Types xmlns="http://schemas.openxmlformats.org/package/2006/content-types">
  <Default Extension="png" ContentType="image/png"/>
  <Default Extension="svg" ContentType="image/svg+xml"/>
  <Default Extension="jpeg" ContentType="image/jpeg"/>
  <Default Extension="rels" ContentType="application/vnd.openxmlformats-package.relationships+xml"/>
  <Default Extension="xml" ContentType="application/xml"/>
  <Default Extension="fntdata" ContentType="application/x-fontdata"/>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54"/>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306" r:id="rId30"/>
    <p:sldId id="284" r:id="rId31"/>
    <p:sldId id="285" r:id="rId32"/>
    <p:sldId id="286" r:id="rId33"/>
    <p:sldId id="287" r:id="rId34"/>
    <p:sldId id="288" r:id="rId35"/>
    <p:sldId id="289" r:id="rId36"/>
    <p:sldId id="290" r:id="rId37"/>
    <p:sldId id="291" r:id="rId38"/>
    <p:sldId id="292" r:id="rId39"/>
    <p:sldId id="293" r:id="rId40"/>
    <p:sldId id="294" r:id="rId41"/>
    <p:sldId id="295" r:id="rId42"/>
    <p:sldId id="296" r:id="rId43"/>
    <p:sldId id="297" r:id="rId44"/>
    <p:sldId id="298" r:id="rId45"/>
    <p:sldId id="299" r:id="rId46"/>
    <p:sldId id="300" r:id="rId47"/>
    <p:sldId id="301" r:id="rId48"/>
    <p:sldId id="302" r:id="rId49"/>
    <p:sldId id="303" r:id="rId50"/>
    <p:sldId id="304" r:id="rId51"/>
    <p:sldId id="305" r:id="rId52"/>
    <p:sldId id="307" r:id="rId53"/>
  </p:sldIdLst>
  <p:sldSz cx="18288000" cy="10287000"/>
  <p:notesSz cx="6858000" cy="9144000"/>
  <p:embeddedFontLst>
    <p:embeddedFont>
      <p:font typeface="Arial Italics" panose="020B0604020202020204" charset="0"/>
      <p:regular r:id="rId55"/>
    </p:embeddedFont>
    <p:embeddedFont>
      <p:font typeface="Roboto" panose="020B0604020202020204" charset="0"/>
      <p:regular r:id="rId56"/>
    </p:embeddedFont>
    <p:embeddedFont>
      <p:font typeface="Arial Bold" panose="020B0704020202020204" pitchFamily="34" charset="0"/>
      <p:bold r:id="rId57"/>
    </p:embeddedFont>
    <p:embeddedFont>
      <p:font typeface="Calibri" panose="020F0502020204030204" pitchFamily="34" charset="0"/>
      <p:regular r:id="rId58"/>
      <p:bold r:id="rId59"/>
      <p:italic r:id="rId60"/>
      <p:boldItalic r:id="rId61"/>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87917" autoAdjust="0"/>
  </p:normalViewPr>
  <p:slideViewPr>
    <p:cSldViewPr>
      <p:cViewPr varScale="1">
        <p:scale>
          <a:sx n="69" d="100"/>
          <a:sy n="69" d="100"/>
        </p:scale>
        <p:origin x="834" y="66"/>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font" Target="fonts/font1.fntdata"/><Relationship Id="rId63"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font" Target="fonts/font4.fntdata"/><Relationship Id="rId5" Type="http://schemas.openxmlformats.org/officeDocument/2006/relationships/slide" Target="slides/slide4.xml"/><Relationship Id="rId61" Type="http://schemas.openxmlformats.org/officeDocument/2006/relationships/font" Target="fonts/font7.fntdata"/><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font" Target="fonts/font2.fntdata"/><Relationship Id="rId64" Type="http://schemas.openxmlformats.org/officeDocument/2006/relationships/theme" Target="theme/theme1.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font" Target="fonts/font5.fntdata"/><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notesMaster" Target="notesMasters/notesMaster1.xml"/><Relationship Id="rId62"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font" Target="fonts/font3.fntdata"/><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font" Target="fonts/font6.fntdata"/><Relationship Id="rId65"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17.07.2026</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extLst>
      <p:ext uri="{BB962C8B-B14F-4D97-AF65-F5344CB8AC3E}">
        <p14:creationId xmlns:p14="http://schemas.microsoft.com/office/powerpoint/2010/main" val="1798889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p>
        </p:txBody>
      </p:sp>
    </p:spTree>
    <p:extLst>
      <p:ext uri="{BB962C8B-B14F-4D97-AF65-F5344CB8AC3E}">
        <p14:creationId xmlns:p14="http://schemas.microsoft.com/office/powerpoint/2010/main" val="133120850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2</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p>
        </p:txBody>
      </p:sp>
    </p:spTree>
    <p:extLst>
      <p:ext uri="{BB962C8B-B14F-4D97-AF65-F5344CB8AC3E}">
        <p14:creationId xmlns:p14="http://schemas.microsoft.com/office/powerpoint/2010/main" val="130444879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3</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p>
        </p:txBody>
      </p:sp>
    </p:spTree>
    <p:extLst>
      <p:ext uri="{BB962C8B-B14F-4D97-AF65-F5344CB8AC3E}">
        <p14:creationId xmlns:p14="http://schemas.microsoft.com/office/powerpoint/2010/main" val="33732502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p>
        </p:txBody>
      </p:sp>
    </p:spTree>
    <p:extLst>
      <p:ext uri="{BB962C8B-B14F-4D97-AF65-F5344CB8AC3E}">
        <p14:creationId xmlns:p14="http://schemas.microsoft.com/office/powerpoint/2010/main" val="124757038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 Trạng thái:</a:t>
            </a:r>
          </a:p>
          <a:p>
            <a:r>
              <a:rPr lang="en-US"/>
              <a:t> 1. New: Process vừa được khởi tạo.</a:t>
            </a:r>
          </a:p>
          <a:p>
            <a:r>
              <a:rPr lang="en-US"/>
              <a:t> 2. Ready: Process chờ CPU để thực thi.</a:t>
            </a:r>
          </a:p>
          <a:p>
            <a:r>
              <a:rPr lang="en-US"/>
              <a:t> 3. Running: Process đang được CPU xử lý.</a:t>
            </a:r>
          </a:p>
          <a:p>
            <a:r>
              <a:rPr lang="en-US"/>
              <a:t> 4. Waiting: Process tạm dừng, chờ tài nguyên hoặc sự kiện.</a:t>
            </a:r>
          </a:p>
          <a:p>
            <a:r>
              <a:rPr lang="en-US"/>
              <a:t> 5. Terminated: Process kết thúc, giải phóng tài nguyên.</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p>
        </p:txBody>
      </p:sp>
    </p:spTree>
    <p:extLst>
      <p:ext uri="{BB962C8B-B14F-4D97-AF65-F5344CB8AC3E}">
        <p14:creationId xmlns:p14="http://schemas.microsoft.com/office/powerpoint/2010/main" val="369867128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p>
        </p:txBody>
      </p:sp>
    </p:spTree>
    <p:extLst>
      <p:ext uri="{BB962C8B-B14F-4D97-AF65-F5344CB8AC3E}">
        <p14:creationId xmlns:p14="http://schemas.microsoft.com/office/powerpoint/2010/main" val="169127734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p>
        </p:txBody>
      </p:sp>
    </p:spTree>
    <p:extLst>
      <p:ext uri="{BB962C8B-B14F-4D97-AF65-F5344CB8AC3E}">
        <p14:creationId xmlns:p14="http://schemas.microsoft.com/office/powerpoint/2010/main" val="47248169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p>
        </p:txBody>
      </p:sp>
    </p:spTree>
    <p:extLst>
      <p:ext uri="{BB962C8B-B14F-4D97-AF65-F5344CB8AC3E}">
        <p14:creationId xmlns:p14="http://schemas.microsoft.com/office/powerpoint/2010/main" val="274945098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p>
        </p:txBody>
      </p:sp>
    </p:spTree>
    <p:extLst>
      <p:ext uri="{BB962C8B-B14F-4D97-AF65-F5344CB8AC3E}">
        <p14:creationId xmlns:p14="http://schemas.microsoft.com/office/powerpoint/2010/main" val="72344989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p>
        </p:txBody>
      </p:sp>
    </p:spTree>
    <p:extLst>
      <p:ext uri="{BB962C8B-B14F-4D97-AF65-F5344CB8AC3E}">
        <p14:creationId xmlns:p14="http://schemas.microsoft.com/office/powerpoint/2010/main" val="35272305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p>
        </p:txBody>
      </p:sp>
    </p:spTree>
    <p:extLst>
      <p:ext uri="{BB962C8B-B14F-4D97-AF65-F5344CB8AC3E}">
        <p14:creationId xmlns:p14="http://schemas.microsoft.com/office/powerpoint/2010/main" val="400145239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p>
        </p:txBody>
      </p:sp>
    </p:spTree>
    <p:extLst>
      <p:ext uri="{BB962C8B-B14F-4D97-AF65-F5344CB8AC3E}">
        <p14:creationId xmlns:p14="http://schemas.microsoft.com/office/powerpoint/2010/main" val="267766846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p>
        </p:txBody>
      </p:sp>
    </p:spTree>
    <p:extLst>
      <p:ext uri="{BB962C8B-B14F-4D97-AF65-F5344CB8AC3E}">
        <p14:creationId xmlns:p14="http://schemas.microsoft.com/office/powerpoint/2010/main" val="195900543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p>
        </p:txBody>
      </p:sp>
    </p:spTree>
    <p:extLst>
      <p:ext uri="{BB962C8B-B14F-4D97-AF65-F5344CB8AC3E}">
        <p14:creationId xmlns:p14="http://schemas.microsoft.com/office/powerpoint/2010/main" val="426843035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p>
        </p:txBody>
      </p:sp>
    </p:spTree>
    <p:extLst>
      <p:ext uri="{BB962C8B-B14F-4D97-AF65-F5344CB8AC3E}">
        <p14:creationId xmlns:p14="http://schemas.microsoft.com/office/powerpoint/2010/main" val="36164448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p>
        </p:txBody>
      </p:sp>
    </p:spTree>
    <p:extLst>
      <p:ext uri="{BB962C8B-B14F-4D97-AF65-F5344CB8AC3E}">
        <p14:creationId xmlns:p14="http://schemas.microsoft.com/office/powerpoint/2010/main" val="423770961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argv[0], theo quy ước là tên của chính chương trình. </a:t>
            </a:r>
          </a:p>
          <a:p>
            <a:endParaRPr lang="en-US"/>
          </a:p>
          <a:p>
            <a:r>
              <a:rPr lang="en-US"/>
              <a:t>argv được kết thúc bằng một con trỏ NULL. argv[argc] == NULL </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p>
        </p:txBody>
      </p:sp>
    </p:spTree>
    <p:extLst>
      <p:ext uri="{BB962C8B-B14F-4D97-AF65-F5344CB8AC3E}">
        <p14:creationId xmlns:p14="http://schemas.microsoft.com/office/powerpoint/2010/main" val="3989875283"/>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p>
        </p:txBody>
      </p:sp>
    </p:spTree>
    <p:extLst>
      <p:ext uri="{BB962C8B-B14F-4D97-AF65-F5344CB8AC3E}">
        <p14:creationId xmlns:p14="http://schemas.microsoft.com/office/powerpoint/2010/main" val="265257518"/>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11</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p>
        </p:txBody>
      </p:sp>
    </p:spTree>
    <p:extLst>
      <p:ext uri="{BB962C8B-B14F-4D97-AF65-F5344CB8AC3E}">
        <p14:creationId xmlns:p14="http://schemas.microsoft.com/office/powerpoint/2010/main" val="1477721560"/>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dirty="0" err="1"/>
              <a:t>Nếu</a:t>
            </a:r>
            <a:r>
              <a:rPr lang="en-US" dirty="0"/>
              <a:t> main thread </a:t>
            </a:r>
            <a:r>
              <a:rPr lang="en-US" dirty="0" err="1"/>
              <a:t>gọi</a:t>
            </a:r>
            <a:r>
              <a:rPr lang="en-US" dirty="0"/>
              <a:t> </a:t>
            </a:r>
            <a:r>
              <a:rPr lang="en-US" dirty="0" err="1"/>
              <a:t>pthread_exit</a:t>
            </a:r>
            <a:r>
              <a:rPr lang="en-US" dirty="0"/>
              <a:t>(NULL); </a:t>
            </a:r>
            <a:r>
              <a:rPr lang="en-US" dirty="0" err="1"/>
              <a:t>thì</a:t>
            </a:r>
            <a:r>
              <a:rPr lang="en-US" dirty="0"/>
              <a:t> main </a:t>
            </a:r>
            <a:r>
              <a:rPr lang="en-US" dirty="0" err="1"/>
              <a:t>kết</a:t>
            </a:r>
            <a:r>
              <a:rPr lang="en-US" dirty="0"/>
              <a:t> </a:t>
            </a:r>
            <a:r>
              <a:rPr lang="en-US" dirty="0" err="1"/>
              <a:t>thúc</a:t>
            </a:r>
            <a:r>
              <a:rPr lang="en-US" dirty="0"/>
              <a:t>, </a:t>
            </a:r>
            <a:r>
              <a:rPr lang="en-US" dirty="0" err="1"/>
              <a:t>các</a:t>
            </a:r>
            <a:r>
              <a:rPr lang="en-US" dirty="0"/>
              <a:t> thread </a:t>
            </a:r>
            <a:r>
              <a:rPr lang="en-US" dirty="0" err="1"/>
              <a:t>khác</a:t>
            </a:r>
            <a:r>
              <a:rPr lang="en-US" dirty="0"/>
              <a:t> </a:t>
            </a:r>
            <a:r>
              <a:rPr lang="en-US" dirty="0" err="1"/>
              <a:t>vẫn</a:t>
            </a:r>
            <a:r>
              <a:rPr lang="en-US" dirty="0"/>
              <a:t> </a:t>
            </a:r>
            <a:r>
              <a:rPr lang="en-US" dirty="0" err="1"/>
              <a:t>chạy</a:t>
            </a:r>
            <a:r>
              <a:rPr lang="en-US" dirty="0"/>
              <a:t>.</a:t>
            </a:r>
          </a:p>
          <a:p>
            <a:endParaRPr lang="en-US" dirty="0"/>
          </a:p>
          <a:p>
            <a:r>
              <a:rPr lang="en-US" dirty="0" err="1"/>
              <a:t>Nếu</a:t>
            </a:r>
            <a:r>
              <a:rPr lang="en-US" dirty="0"/>
              <a:t> main </a:t>
            </a:r>
            <a:r>
              <a:rPr lang="en-US" dirty="0" err="1"/>
              <a:t>gọi</a:t>
            </a:r>
            <a:r>
              <a:rPr lang="en-US" dirty="0"/>
              <a:t> return 0; </a:t>
            </a:r>
            <a:r>
              <a:rPr lang="en-US" dirty="0" err="1"/>
              <a:t>hoặc</a:t>
            </a:r>
            <a:r>
              <a:rPr lang="en-US" dirty="0"/>
              <a:t> exit(0); </a:t>
            </a:r>
            <a:r>
              <a:rPr lang="en-US" dirty="0" err="1"/>
              <a:t>thì</a:t>
            </a:r>
            <a:r>
              <a:rPr lang="en-US" dirty="0"/>
              <a:t> </a:t>
            </a:r>
            <a:r>
              <a:rPr lang="en-US" dirty="0" err="1"/>
              <a:t>toàn</a:t>
            </a:r>
            <a:r>
              <a:rPr lang="en-US" dirty="0"/>
              <a:t> </a:t>
            </a:r>
            <a:r>
              <a:rPr lang="en-US" dirty="0" err="1"/>
              <a:t>bộ</a:t>
            </a:r>
            <a:r>
              <a:rPr lang="en-US" dirty="0"/>
              <a:t> process </a:t>
            </a:r>
            <a:r>
              <a:rPr lang="en-US" dirty="0" err="1"/>
              <a:t>kết</a:t>
            </a:r>
            <a:r>
              <a:rPr lang="en-US" dirty="0"/>
              <a:t> </a:t>
            </a:r>
            <a:r>
              <a:rPr lang="en-US" dirty="0" err="1"/>
              <a:t>thúc</a:t>
            </a:r>
            <a:r>
              <a:rPr lang="en-US" dirty="0"/>
              <a:t>, </a:t>
            </a:r>
            <a:r>
              <a:rPr lang="en-US" dirty="0" err="1"/>
              <a:t>tất</a:t>
            </a:r>
            <a:r>
              <a:rPr lang="en-US" dirty="0"/>
              <a:t> </a:t>
            </a:r>
            <a:r>
              <a:rPr lang="en-US" dirty="0" err="1"/>
              <a:t>cả</a:t>
            </a:r>
            <a:r>
              <a:rPr lang="en-US" dirty="0"/>
              <a:t> thread </a:t>
            </a:r>
            <a:r>
              <a:rPr lang="en-US" dirty="0" err="1"/>
              <a:t>đều</a:t>
            </a:r>
            <a:r>
              <a:rPr lang="en-US" dirty="0"/>
              <a:t> </a:t>
            </a:r>
            <a:r>
              <a:rPr lang="en-US" dirty="0" err="1"/>
              <a:t>kết</a:t>
            </a:r>
            <a:r>
              <a:rPr lang="en-US" dirty="0"/>
              <a:t> </a:t>
            </a:r>
            <a:r>
              <a:rPr lang="en-US" dirty="0" err="1" smtClean="0"/>
              <a:t>thúc</a:t>
            </a:r>
            <a:endParaRPr lang="en-US" dirty="0" smtClean="0"/>
          </a:p>
          <a:p>
            <a:endParaRPr lang="en-US" dirty="0" smtClean="0"/>
          </a:p>
          <a:p>
            <a:r>
              <a:rPr lang="en-US" dirty="0" err="1" smtClean="0"/>
              <a:t>Mỗi</a:t>
            </a:r>
            <a:r>
              <a:rPr lang="en-US" dirty="0" smtClean="0"/>
              <a:t> thread </a:t>
            </a:r>
            <a:r>
              <a:rPr lang="en-US" dirty="0" err="1" smtClean="0"/>
              <a:t>có</a:t>
            </a:r>
            <a:r>
              <a:rPr lang="en-US" baseline="0" dirty="0" smtClean="0"/>
              <a:t> 1 stack </a:t>
            </a:r>
            <a:r>
              <a:rPr lang="en-US" baseline="0" dirty="0" err="1" smtClean="0"/>
              <a:t>riêng</a:t>
            </a:r>
            <a:r>
              <a:rPr lang="en-US" baseline="0" dirty="0" smtClean="0"/>
              <a:t> </a:t>
            </a:r>
            <a:r>
              <a:rPr lang="en-US" baseline="0" dirty="0" err="1" smtClean="0"/>
              <a:t>biệt</a:t>
            </a:r>
            <a:r>
              <a:rPr lang="en-US" baseline="0" dirty="0" smtClean="0"/>
              <a:t>. </a:t>
            </a:r>
            <a:r>
              <a:rPr lang="en-US" baseline="0" dirty="0" err="1" smtClean="0"/>
              <a:t>Kích</a:t>
            </a:r>
            <a:r>
              <a:rPr lang="en-US" baseline="0" dirty="0" smtClean="0"/>
              <a:t> </a:t>
            </a:r>
            <a:r>
              <a:rPr lang="en-US" baseline="0" dirty="0" err="1" smtClean="0"/>
              <a:t>thước</a:t>
            </a:r>
            <a:r>
              <a:rPr lang="en-US" baseline="0" dirty="0" smtClean="0"/>
              <a:t> </a:t>
            </a:r>
            <a:r>
              <a:rPr lang="en-US" baseline="0" dirty="0" err="1" smtClean="0"/>
              <a:t>mỗi</a:t>
            </a:r>
            <a:r>
              <a:rPr lang="en-US" baseline="0" dirty="0" smtClean="0"/>
              <a:t> stack </a:t>
            </a:r>
            <a:r>
              <a:rPr lang="en-US" baseline="0" dirty="0" err="1" smtClean="0"/>
              <a:t>mặc</a:t>
            </a:r>
            <a:r>
              <a:rPr lang="en-US" baseline="0" dirty="0" smtClean="0"/>
              <a:t> </a:t>
            </a:r>
            <a:r>
              <a:rPr lang="en-US" baseline="0" dirty="0" err="1" smtClean="0"/>
              <a:t>định</a:t>
            </a:r>
            <a:r>
              <a:rPr lang="en-US" baseline="0" dirty="0" smtClean="0"/>
              <a:t> </a:t>
            </a:r>
            <a:r>
              <a:rPr lang="en-US" baseline="0" dirty="0" err="1" smtClean="0"/>
              <a:t>là</a:t>
            </a:r>
            <a:r>
              <a:rPr lang="en-US" baseline="0" dirty="0" smtClean="0"/>
              <a:t> 8MB</a:t>
            </a:r>
            <a:endParaRPr lang="en-US" dirty="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p>
        </p:txBody>
      </p:sp>
    </p:spTree>
    <p:extLst>
      <p:ext uri="{BB962C8B-B14F-4D97-AF65-F5344CB8AC3E}">
        <p14:creationId xmlns:p14="http://schemas.microsoft.com/office/powerpoint/2010/main" val="84616565"/>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Nếu main thread gọi pthread_exit(NULL); thì main kết thúc, các thread khác vẫn chạy.</a:t>
            </a:r>
          </a:p>
          <a:p>
            <a:endParaRPr lang="en-US"/>
          </a:p>
          <a:p>
            <a:r>
              <a:rPr lang="en-US"/>
              <a:t>Nếu main gọi return 0; hoặc exit(0); thì toàn bộ process kết thúc, tất cả thread đều kết thúc</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p>
        </p:txBody>
      </p:sp>
    </p:spTree>
    <p:extLst>
      <p:ext uri="{BB962C8B-B14F-4D97-AF65-F5344CB8AC3E}">
        <p14:creationId xmlns:p14="http://schemas.microsoft.com/office/powerpoint/2010/main" val="2357866299"/>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Nếu main thread gọi pthread_exit(NULL); thì main kết thúc, các thread khác vẫn chạy.</a:t>
            </a:r>
          </a:p>
          <a:p>
            <a:endParaRPr lang="en-US"/>
          </a:p>
          <a:p>
            <a:r>
              <a:rPr lang="en-US"/>
              <a:t>Nếu main gọi return 0; hoặc exit(0); thì toàn bộ process kết thúc, tất cả thread đều kết thúc</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p>
        </p:txBody>
      </p:sp>
    </p:spTree>
    <p:extLst>
      <p:ext uri="{BB962C8B-B14F-4D97-AF65-F5344CB8AC3E}">
        <p14:creationId xmlns:p14="http://schemas.microsoft.com/office/powerpoint/2010/main" val="3813744165"/>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Nếu main thread gọi pthread_exit(NULL); thì main kết thúc, các thread khác vẫn chạy.</a:t>
            </a:r>
          </a:p>
          <a:p>
            <a:endParaRPr lang="en-US"/>
          </a:p>
          <a:p>
            <a:r>
              <a:rPr lang="en-US"/>
              <a:t>Nếu main gọi return 0; hoặc exit(0); thì toàn bộ process kết thúc, tất cả thread đều kết thúc</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p>
        </p:txBody>
      </p:sp>
    </p:spTree>
    <p:extLst>
      <p:ext uri="{BB962C8B-B14F-4D97-AF65-F5344CB8AC3E}">
        <p14:creationId xmlns:p14="http://schemas.microsoft.com/office/powerpoint/2010/main" val="1874980078"/>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Nếu main thread gọi pthread_exit(NULL); thì main kết thúc, các thread khác vẫn chạy.</a:t>
            </a:r>
          </a:p>
          <a:p>
            <a:endParaRPr lang="en-US"/>
          </a:p>
          <a:p>
            <a:r>
              <a:rPr lang="en-US"/>
              <a:t>Nếu main gọi return 0; hoặc exit(0); thì toàn bộ process kết thúc, tất cả thread đều kết thúc</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p>
        </p:txBody>
      </p:sp>
    </p:spTree>
    <p:extLst>
      <p:ext uri="{BB962C8B-B14F-4D97-AF65-F5344CB8AC3E}">
        <p14:creationId xmlns:p14="http://schemas.microsoft.com/office/powerpoint/2010/main" val="1711093054"/>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p>
        </p:txBody>
      </p:sp>
    </p:spTree>
    <p:extLst>
      <p:ext uri="{BB962C8B-B14F-4D97-AF65-F5344CB8AC3E}">
        <p14:creationId xmlns:p14="http://schemas.microsoft.com/office/powerpoint/2010/main" val="3225621220"/>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p>
        </p:txBody>
      </p:sp>
    </p:spTree>
    <p:extLst>
      <p:ext uri="{BB962C8B-B14F-4D97-AF65-F5344CB8AC3E}">
        <p14:creationId xmlns:p14="http://schemas.microsoft.com/office/powerpoint/2010/main" val="3424902563"/>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p>
        </p:txBody>
      </p:sp>
    </p:spTree>
    <p:extLst>
      <p:ext uri="{BB962C8B-B14F-4D97-AF65-F5344CB8AC3E}">
        <p14:creationId xmlns:p14="http://schemas.microsoft.com/office/powerpoint/2010/main" val="4236452617"/>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53</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p>
        </p:txBody>
      </p:sp>
    </p:spTree>
    <p:extLst>
      <p:ext uri="{BB962C8B-B14F-4D97-AF65-F5344CB8AC3E}">
        <p14:creationId xmlns:p14="http://schemas.microsoft.com/office/powerpoint/2010/main" val="2217841156"/>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p>
        </p:txBody>
      </p:sp>
    </p:spTree>
    <p:extLst>
      <p:ext uri="{BB962C8B-B14F-4D97-AF65-F5344CB8AC3E}">
        <p14:creationId xmlns:p14="http://schemas.microsoft.com/office/powerpoint/2010/main" val="372160405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p>
        </p:txBody>
      </p:sp>
    </p:spTree>
    <p:extLst>
      <p:ext uri="{BB962C8B-B14F-4D97-AF65-F5344CB8AC3E}">
        <p14:creationId xmlns:p14="http://schemas.microsoft.com/office/powerpoint/2010/main" val="937227792"/>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Ta phải đóng các file descriptor không dùng đến nhằm tránh cạn kiệt số lượng file descriptor mà một tiến trình được phép tạo và đảm bảo pipe hoạt động đúng</a:t>
            </a:r>
          </a:p>
          <a:p>
            <a:endParaRPr lang="en-US"/>
          </a:p>
          <a:p>
            <a:r>
              <a:rPr lang="en-US"/>
              <a:t>chỉ khi mọi file descriptor của mọi tiến trình tham chiếu đến pipe đều đã được đóng thì pipe mới bị hủy </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p>
        </p:txBody>
      </p:sp>
    </p:spTree>
    <p:extLst>
      <p:ext uri="{BB962C8B-B14F-4D97-AF65-F5344CB8AC3E}">
        <p14:creationId xmlns:p14="http://schemas.microsoft.com/office/powerpoint/2010/main" val="2588198368"/>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p>
        </p:txBody>
      </p:sp>
    </p:spTree>
    <p:extLst>
      <p:ext uri="{BB962C8B-B14F-4D97-AF65-F5344CB8AC3E}">
        <p14:creationId xmlns:p14="http://schemas.microsoft.com/office/powerpoint/2010/main" val="3224680903"/>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p>
        </p:txBody>
      </p:sp>
    </p:spTree>
    <p:extLst>
      <p:ext uri="{BB962C8B-B14F-4D97-AF65-F5344CB8AC3E}">
        <p14:creationId xmlns:p14="http://schemas.microsoft.com/office/powerpoint/2010/main" val="1381163216"/>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p>
        </p:txBody>
      </p:sp>
    </p:spTree>
    <p:extLst>
      <p:ext uri="{BB962C8B-B14F-4D97-AF65-F5344CB8AC3E}">
        <p14:creationId xmlns:p14="http://schemas.microsoft.com/office/powerpoint/2010/main" val="3566245245"/>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p>
        </p:txBody>
      </p:sp>
    </p:spTree>
    <p:extLst>
      <p:ext uri="{BB962C8B-B14F-4D97-AF65-F5344CB8AC3E}">
        <p14:creationId xmlns:p14="http://schemas.microsoft.com/office/powerpoint/2010/main" val="4157075144"/>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p>
        </p:txBody>
      </p:sp>
    </p:spTree>
    <p:extLst>
      <p:ext uri="{BB962C8B-B14F-4D97-AF65-F5344CB8AC3E}">
        <p14:creationId xmlns:p14="http://schemas.microsoft.com/office/powerpoint/2010/main" val="2227754087"/>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p>
        </p:txBody>
      </p:sp>
    </p:spTree>
    <p:extLst>
      <p:ext uri="{BB962C8B-B14F-4D97-AF65-F5344CB8AC3E}">
        <p14:creationId xmlns:p14="http://schemas.microsoft.com/office/powerpoint/2010/main" val="4133171995"/>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p>
        </p:txBody>
      </p:sp>
    </p:spTree>
    <p:extLst>
      <p:ext uri="{BB962C8B-B14F-4D97-AF65-F5344CB8AC3E}">
        <p14:creationId xmlns:p14="http://schemas.microsoft.com/office/powerpoint/2010/main" val="295078271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p>
        </p:txBody>
      </p:sp>
    </p:spTree>
    <p:extLst>
      <p:ext uri="{BB962C8B-B14F-4D97-AF65-F5344CB8AC3E}">
        <p14:creationId xmlns:p14="http://schemas.microsoft.com/office/powerpoint/2010/main" val="2648789903"/>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Binary semaphore: giá trị chỉ dùng 0 hoặc 1.</a:t>
            </a:r>
          </a:p>
          <a:p>
            <a:endParaRPr lang="en-US"/>
          </a:p>
          <a:p>
            <a:r>
              <a:rPr lang="en-US"/>
              <a:t>Dùng để đồng bộ/truyền tín hiệu.</a:t>
            </a:r>
          </a:p>
          <a:p>
            <a:r>
              <a:rPr lang="en-US"/>
              <a:t>Ý nghĩa là: "có tín hiệu" hoặc "không có tín hiệu".</a:t>
            </a:r>
          </a:p>
          <a:p>
            <a:endParaRPr lang="en-US"/>
          </a:p>
          <a:p>
            <a:endParaRPr lang="en-US"/>
          </a:p>
          <a:p>
            <a:endParaRPr lang="en-US"/>
          </a:p>
          <a:p>
            <a:r>
              <a:rPr lang="en-US"/>
              <a:t>Counting semaphore: giá trị từ 0 đến N.</a:t>
            </a:r>
          </a:p>
          <a:p>
            <a:endParaRPr lang="en-US"/>
          </a:p>
          <a:p>
            <a:r>
              <a:rPr lang="en-US"/>
              <a:t>Dùng để đếm số lượng tài nguyên còn sẵn sàng hoặc đếm số sự kiện chưa được xử lý.</a:t>
            </a:r>
          </a:p>
          <a:p>
            <a:r>
              <a:rPr lang="en-US"/>
              <a:t>Có thể cho phép nhiều thread cùng đi qua miễn là giá trị semaphore vẫn lớn hơn 0.</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p>
        </p:txBody>
      </p:sp>
    </p:spTree>
    <p:extLst>
      <p:ext uri="{BB962C8B-B14F-4D97-AF65-F5344CB8AC3E}">
        <p14:creationId xmlns:p14="http://schemas.microsoft.com/office/powerpoint/2010/main" val="3116523278"/>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p>
        </p:txBody>
      </p:sp>
    </p:spTree>
    <p:extLst>
      <p:ext uri="{BB962C8B-B14F-4D97-AF65-F5344CB8AC3E}">
        <p14:creationId xmlns:p14="http://schemas.microsoft.com/office/powerpoint/2010/main" val="3974450225"/>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p>
        </p:txBody>
      </p:sp>
    </p:spTree>
    <p:extLst>
      <p:ext uri="{BB962C8B-B14F-4D97-AF65-F5344CB8AC3E}">
        <p14:creationId xmlns:p14="http://schemas.microsoft.com/office/powerpoint/2010/main" val="3484294836"/>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p>
        </p:txBody>
      </p:sp>
    </p:spTree>
    <p:extLst>
      <p:ext uri="{BB962C8B-B14F-4D97-AF65-F5344CB8AC3E}">
        <p14:creationId xmlns:p14="http://schemas.microsoft.com/office/powerpoint/2010/main" val="4156830748"/>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p>
        </p:txBody>
      </p:sp>
    </p:spTree>
    <p:extLst>
      <p:ext uri="{BB962C8B-B14F-4D97-AF65-F5344CB8AC3E}">
        <p14:creationId xmlns:p14="http://schemas.microsoft.com/office/powerpoint/2010/main" val="16202569"/>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p>
        </p:txBody>
      </p:sp>
    </p:spTree>
    <p:extLst>
      <p:ext uri="{BB962C8B-B14F-4D97-AF65-F5344CB8AC3E}">
        <p14:creationId xmlns:p14="http://schemas.microsoft.com/office/powerpoint/2010/main" val="832828606"/>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p>
        </p:txBody>
      </p:sp>
    </p:spTree>
    <p:extLst>
      <p:ext uri="{BB962C8B-B14F-4D97-AF65-F5344CB8AC3E}">
        <p14:creationId xmlns:p14="http://schemas.microsoft.com/office/powerpoint/2010/main" val="3088579286"/>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p>
        </p:txBody>
      </p:sp>
    </p:spTree>
    <p:extLst>
      <p:ext uri="{BB962C8B-B14F-4D97-AF65-F5344CB8AC3E}">
        <p14:creationId xmlns:p14="http://schemas.microsoft.com/office/powerpoint/2010/main" val="405116683"/>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mq_open(): Tạo một message queue mới hoặc mở một queue đã tồn tại. Hàm trả về một message queue descriptor, dùng trong các lời gọi hàm tiếp theo.</a:t>
            </a:r>
          </a:p>
          <a:p>
            <a:endParaRPr lang="en-US"/>
          </a:p>
          <a:p>
            <a:r>
              <a:rPr lang="en-US"/>
              <a:t>•	mq_close(): Đóng một message queue mà tiến trình đã mở trước đó.</a:t>
            </a:r>
          </a:p>
          <a:p>
            <a:endParaRPr lang="en-US"/>
          </a:p>
          <a:p>
            <a:r>
              <a:rPr lang="en-US"/>
              <a:t>•	mq_unlink():Xóa tên (name) của message queue và đánh dấu queue để xóa. Queue chỉ thực sự bị hủy sau khi tất cả các tiến trình đang mở queue đều đã đóng nó.</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p>
        </p:txBody>
      </p:sp>
    </p:spTree>
    <p:extLst>
      <p:ext uri="{BB962C8B-B14F-4D97-AF65-F5344CB8AC3E}">
        <p14:creationId xmlns:p14="http://schemas.microsoft.com/office/powerpoint/2010/main" val="909726016"/>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mq_msgsize mặc định là 8192 byte.</a:t>
            </a:r>
          </a:p>
          <a:p>
            <a:endParaRPr lang="en-US"/>
          </a:p>
          <a:p>
            <a:r>
              <a:rPr lang="en-US"/>
              <a:t>Các thông điệp trong hàng đợi được sắp xếp theo thứ tự ưu tiên giảm dần (nghĩa là 0 là mức ưu tiên thấp nhất). Khi một thông điệp mới được thêm vào hàng đợi, nó sẽ được đặt sau các thông điệp khác có cùng mức ưu tiên.</a:t>
            </a:r>
          </a:p>
          <a:p>
            <a:endParaRPr lang="en-US"/>
          </a:p>
          <a:p>
            <a:r>
              <a:rPr lang="en-US"/>
              <a:t>Nếu hàng đợi thông điệp đã đầy (nghĩa là đã đạt đến giới hạn mq_maxmsg của hàng đợi), thì một lời gọi mq_send() tiếp theo sẽ:</a:t>
            </a:r>
          </a:p>
          <a:p>
            <a:r>
              <a:rPr lang="en-US"/>
              <a:t>•	chặn cho đến khi có chỗ trống trong hàng đợi; </a:t>
            </a:r>
          </a:p>
          <a:p>
            <a:r>
              <a:rPr lang="en-US"/>
              <a:t>hoặc,</a:t>
            </a:r>
          </a:p>
          <a:p>
            <a:r>
              <a:rPr lang="en-US"/>
              <a:t>•	nếu cờ O_NONBLOCK đang có hiệu lực, sẽ thất bại ngay lập tức với lỗi EAGAIN.</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p>
        </p:txBody>
      </p:sp>
    </p:spTree>
    <p:extLst>
      <p:ext uri="{BB962C8B-B14F-4D97-AF65-F5344CB8AC3E}">
        <p14:creationId xmlns:p14="http://schemas.microsoft.com/office/powerpoint/2010/main" val="4062425368"/>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mq_msgsize mặc định là 8192 byte.</a:t>
            </a:r>
          </a:p>
          <a:p>
            <a:endParaRPr lang="en-US"/>
          </a:p>
          <a:p>
            <a:r>
              <a:rPr lang="en-US"/>
              <a:t>Các thông điệp trong hàng đợi được sắp xếp theo thứ tự ưu tiên giảm dần (nghĩa là 0 là mức ưu tiên thấp nhất). Khi một thông điệp mới được thêm vào hàng đợi, nó sẽ được đặt sau các thông điệp khác có cùng mức ưu tiên.</a:t>
            </a:r>
          </a:p>
          <a:p>
            <a:endParaRPr lang="en-US"/>
          </a:p>
          <a:p>
            <a:r>
              <a:rPr lang="en-US"/>
              <a:t>Nếu hàng đợi thông điệp đã đầy (nghĩa là đã đạt đến giới hạn mq_maxmsg của hàng đợi), thì một lời gọi mq_send() tiếp theo sẽ:</a:t>
            </a:r>
          </a:p>
          <a:p>
            <a:r>
              <a:rPr lang="en-US"/>
              <a:t>•	chặn cho đến khi có chỗ trống trong hàng đợi; </a:t>
            </a:r>
          </a:p>
          <a:p>
            <a:r>
              <a:rPr lang="en-US"/>
              <a:t>hoặc,</a:t>
            </a:r>
          </a:p>
          <a:p>
            <a:r>
              <a:rPr lang="en-US"/>
              <a:t>•	nếu cờ O_NONBLOCK đang có hiệu lực, sẽ thất bại ngay lập tức với lỗi EAGAIN.</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p>
        </p:txBody>
      </p:sp>
    </p:spTree>
    <p:extLst>
      <p:ext uri="{BB962C8B-B14F-4D97-AF65-F5344CB8AC3E}">
        <p14:creationId xmlns:p14="http://schemas.microsoft.com/office/powerpoint/2010/main" val="2371009013"/>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52</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p>
        </p:txBody>
      </p:sp>
    </p:spTree>
    <p:extLst>
      <p:ext uri="{BB962C8B-B14F-4D97-AF65-F5344CB8AC3E}">
        <p14:creationId xmlns:p14="http://schemas.microsoft.com/office/powerpoint/2010/main" val="919324920"/>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290763" y="512763"/>
            <a:ext cx="4562475" cy="2566987"/>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871B2431-D351-4C6E-A3CF-9DFAC0E3E050}" type="slidenum">
              <a:rPr lang="cs-CZ" smtClean="0"/>
              <a:t>52</a:t>
            </a:fld>
            <a:endParaRPr lang="cs-CZ"/>
          </a:p>
        </p:txBody>
      </p:sp>
    </p:spTree>
    <p:extLst>
      <p:ext uri="{BB962C8B-B14F-4D97-AF65-F5344CB8AC3E}">
        <p14:creationId xmlns:p14="http://schemas.microsoft.com/office/powerpoint/2010/main" val="35278199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7/17/2026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7/17/2026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7/17/2026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7/17/2026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7/17/2026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7/17/2026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7/17/2026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7/17/2026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7/17/2026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7/17/2026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7/17/2026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7/17/2026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7.xml"/><Relationship Id="rId5" Type="http://schemas.openxmlformats.org/officeDocument/2006/relationships/image" Target="../media/image3.png"/><Relationship Id="rId4" Type="http://schemas.openxmlformats.org/officeDocument/2006/relationships/image" Target="../media/image2.jpeg"/></Relationships>
</file>

<file path=ppt/slides/_rels/slide2.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4.jpeg"/><Relationship Id="rId7" Type="http://schemas.openxmlformats.org/officeDocument/2006/relationships/image" Target="../media/image8.svg"/><Relationship Id="rId2" Type="http://schemas.openxmlformats.org/officeDocument/2006/relationships/notesSlide" Target="../notesSlides/notesSlide2.xml"/><Relationship Id="rId1" Type="http://schemas.openxmlformats.org/officeDocument/2006/relationships/slideLayout" Target="../slideLayouts/slideLayout7.xml"/><Relationship Id="rId6" Type="http://schemas.openxmlformats.org/officeDocument/2006/relationships/image" Target="../media/image6.png"/><Relationship Id="rId11" Type="http://schemas.openxmlformats.org/officeDocument/2006/relationships/image" Target="../media/image12.svg"/><Relationship Id="rId5" Type="http://schemas.openxmlformats.org/officeDocument/2006/relationships/image" Target="../media/image6.svg"/><Relationship Id="rId10" Type="http://schemas.openxmlformats.org/officeDocument/2006/relationships/image" Target="../media/image8.png"/><Relationship Id="rId4" Type="http://schemas.openxmlformats.org/officeDocument/2006/relationships/image" Target="../media/image5.png"/><Relationship Id="rId9" Type="http://schemas.openxmlformats.org/officeDocument/2006/relationships/image" Target="../media/image10.svg"/></Relationships>
</file>

<file path=ppt/slides/_rels/slide3.xml.rels><?xml version="1.0" encoding="UTF-8" standalone="yes"?>
<Relationships xmlns="http://schemas.openxmlformats.org/package/2006/relationships"><Relationship Id="rId3" Type="http://schemas.openxmlformats.org/officeDocument/2006/relationships/image" Target="../media/image4.jpeg"/><Relationship Id="rId7" Type="http://schemas.openxmlformats.org/officeDocument/2006/relationships/image" Target="../media/image10.png"/><Relationship Id="rId2" Type="http://schemas.openxmlformats.org/officeDocument/2006/relationships/notesSlide" Target="../notesSlides/notesSlide3.xml"/><Relationship Id="rId1" Type="http://schemas.openxmlformats.org/officeDocument/2006/relationships/slideLayout" Target="../slideLayouts/slideLayout7.xml"/><Relationship Id="rId6" Type="http://schemas.openxmlformats.org/officeDocument/2006/relationships/image" Target="../media/image2.jpeg"/><Relationship Id="rId5" Type="http://schemas.openxmlformats.org/officeDocument/2006/relationships/image" Target="../media/image14.svg"/><Relationship Id="rId4" Type="http://schemas.openxmlformats.org/officeDocument/2006/relationships/image" Target="../media/image9.png"/></Relationships>
</file>

<file path=ppt/slides/_rels/slide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4.xml"/><Relationship Id="rId1" Type="http://schemas.openxmlformats.org/officeDocument/2006/relationships/slideLayout" Target="../slideLayouts/slideLayout7.xml"/><Relationship Id="rId6" Type="http://schemas.openxmlformats.org/officeDocument/2006/relationships/image" Target="../media/image13.png"/><Relationship Id="rId5" Type="http://schemas.openxmlformats.org/officeDocument/2006/relationships/image" Target="../media/image2.jpeg"/><Relationship Id="rId4" Type="http://schemas.openxmlformats.org/officeDocument/2006/relationships/image" Target="../media/image12.png"/></Relationships>
</file>

<file path=ppt/slides/_rels/slide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5.xml"/><Relationship Id="rId1" Type="http://schemas.openxmlformats.org/officeDocument/2006/relationships/slideLayout" Target="../slideLayouts/slideLayout7.xml"/><Relationship Id="rId6" Type="http://schemas.openxmlformats.org/officeDocument/2006/relationships/image" Target="../media/image14.png"/><Relationship Id="rId5" Type="http://schemas.openxmlformats.org/officeDocument/2006/relationships/image" Target="../media/image2.jpeg"/><Relationship Id="rId4" Type="http://schemas.openxmlformats.org/officeDocument/2006/relationships/image" Target="../media/image12.png"/></Relationships>
</file>

<file path=ppt/slides/_rels/slide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6.xml"/><Relationship Id="rId1" Type="http://schemas.openxmlformats.org/officeDocument/2006/relationships/slideLayout" Target="../slideLayouts/slideLayout7.xml"/><Relationship Id="rId5" Type="http://schemas.openxmlformats.org/officeDocument/2006/relationships/image" Target="../media/image2.jpeg"/><Relationship Id="rId4" Type="http://schemas.openxmlformats.org/officeDocument/2006/relationships/image" Target="../media/image12.png"/></Relationships>
</file>

<file path=ppt/slides/_rels/slide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7.xml"/><Relationship Id="rId1" Type="http://schemas.openxmlformats.org/officeDocument/2006/relationships/slideLayout" Target="../slideLayouts/slideLayout7.xml"/><Relationship Id="rId5" Type="http://schemas.openxmlformats.org/officeDocument/2006/relationships/image" Target="../media/image2.jpeg"/><Relationship Id="rId4" Type="http://schemas.openxmlformats.org/officeDocument/2006/relationships/image" Target="../media/image12.png"/></Relationships>
</file>

<file path=ppt/slides/_rels/slide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8.xml"/><Relationship Id="rId1" Type="http://schemas.openxmlformats.org/officeDocument/2006/relationships/slideLayout" Target="../slideLayouts/slideLayout7.xml"/><Relationship Id="rId6" Type="http://schemas.openxmlformats.org/officeDocument/2006/relationships/image" Target="../media/image15.png"/><Relationship Id="rId5" Type="http://schemas.openxmlformats.org/officeDocument/2006/relationships/image" Target="../media/image2.jpeg"/><Relationship Id="rId4" Type="http://schemas.openxmlformats.org/officeDocument/2006/relationships/image" Target="../media/image12.png"/></Relationships>
</file>

<file path=ppt/slides/_rels/slide9.xml.rels><?xml version="1.0" encoding="UTF-8" standalone="yes"?>
<Relationships xmlns="http://schemas.openxmlformats.org/package/2006/relationships"><Relationship Id="rId3" Type="http://schemas.openxmlformats.org/officeDocument/2006/relationships/image" Target="../media/image11.png"/><Relationship Id="rId7" Type="http://schemas.openxmlformats.org/officeDocument/2006/relationships/image" Target="../media/image17.png"/><Relationship Id="rId2" Type="http://schemas.openxmlformats.org/officeDocument/2006/relationships/notesSlide" Target="../notesSlides/notesSlide9.xml"/><Relationship Id="rId1" Type="http://schemas.openxmlformats.org/officeDocument/2006/relationships/slideLayout" Target="../slideLayouts/slideLayout7.xml"/><Relationship Id="rId6" Type="http://schemas.openxmlformats.org/officeDocument/2006/relationships/image" Target="../media/image16.png"/><Relationship Id="rId5" Type="http://schemas.openxmlformats.org/officeDocument/2006/relationships/image" Target="../media/image2.jpeg"/><Relationship Id="rId4" Type="http://schemas.openxmlformats.org/officeDocument/2006/relationships/image" Target="../media/image12.png"/></Relationships>
</file>

<file path=ppt/slides/_rels/slide1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0.xml"/><Relationship Id="rId1" Type="http://schemas.openxmlformats.org/officeDocument/2006/relationships/slideLayout" Target="../slideLayouts/slideLayout7.xml"/><Relationship Id="rId5" Type="http://schemas.openxmlformats.org/officeDocument/2006/relationships/image" Target="../media/image2.jpeg"/><Relationship Id="rId4" Type="http://schemas.openxmlformats.org/officeDocument/2006/relationships/image" Target="../media/image12.png"/></Relationships>
</file>

<file path=ppt/slides/_rels/slide1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1.xml"/><Relationship Id="rId1" Type="http://schemas.openxmlformats.org/officeDocument/2006/relationships/slideLayout" Target="../slideLayouts/slideLayout7.xml"/><Relationship Id="rId6" Type="http://schemas.openxmlformats.org/officeDocument/2006/relationships/image" Target="../media/image18.png"/><Relationship Id="rId5" Type="http://schemas.openxmlformats.org/officeDocument/2006/relationships/image" Target="../media/image2.jpeg"/><Relationship Id="rId4" Type="http://schemas.openxmlformats.org/officeDocument/2006/relationships/image" Target="../media/image12.png"/></Relationships>
</file>

<file path=ppt/slides/_rels/slide12.xml.rels><?xml version="1.0" encoding="UTF-8" standalone="yes"?>
<Relationships xmlns="http://schemas.openxmlformats.org/package/2006/relationships"><Relationship Id="rId3" Type="http://schemas.openxmlformats.org/officeDocument/2006/relationships/image" Target="../media/image11.png"/><Relationship Id="rId7" Type="http://schemas.openxmlformats.org/officeDocument/2006/relationships/image" Target="../media/image20.png"/><Relationship Id="rId2" Type="http://schemas.openxmlformats.org/officeDocument/2006/relationships/notesSlide" Target="../notesSlides/notesSlide12.xml"/><Relationship Id="rId1" Type="http://schemas.openxmlformats.org/officeDocument/2006/relationships/slideLayout" Target="../slideLayouts/slideLayout7.xml"/><Relationship Id="rId6" Type="http://schemas.openxmlformats.org/officeDocument/2006/relationships/image" Target="../media/image19.png"/><Relationship Id="rId5" Type="http://schemas.openxmlformats.org/officeDocument/2006/relationships/image" Target="../media/image2.jpeg"/><Relationship Id="rId4" Type="http://schemas.openxmlformats.org/officeDocument/2006/relationships/image" Target="../media/image12.png"/></Relationships>
</file>

<file path=ppt/slides/_rels/slide1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3.xml"/><Relationship Id="rId1" Type="http://schemas.openxmlformats.org/officeDocument/2006/relationships/slideLayout" Target="../slideLayouts/slideLayout7.xml"/><Relationship Id="rId5" Type="http://schemas.openxmlformats.org/officeDocument/2006/relationships/image" Target="../media/image2.jpeg"/><Relationship Id="rId4" Type="http://schemas.openxmlformats.org/officeDocument/2006/relationships/image" Target="../media/image12.png"/></Relationships>
</file>

<file path=ppt/slides/_rels/slide1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4.xml"/><Relationship Id="rId1" Type="http://schemas.openxmlformats.org/officeDocument/2006/relationships/slideLayout" Target="../slideLayouts/slideLayout7.xml"/><Relationship Id="rId5" Type="http://schemas.openxmlformats.org/officeDocument/2006/relationships/image" Target="../media/image2.jpeg"/><Relationship Id="rId4" Type="http://schemas.openxmlformats.org/officeDocument/2006/relationships/image" Target="../media/image12.png"/></Relationships>
</file>

<file path=ppt/slides/_rels/slide15.xml.rels><?xml version="1.0" encoding="UTF-8" standalone="yes"?>
<Relationships xmlns="http://schemas.openxmlformats.org/package/2006/relationships"><Relationship Id="rId3" Type="http://schemas.openxmlformats.org/officeDocument/2006/relationships/image" Target="../media/image11.png"/><Relationship Id="rId7" Type="http://schemas.openxmlformats.org/officeDocument/2006/relationships/image" Target="../media/image22.png"/><Relationship Id="rId2" Type="http://schemas.openxmlformats.org/officeDocument/2006/relationships/notesSlide" Target="../notesSlides/notesSlide15.xml"/><Relationship Id="rId1" Type="http://schemas.openxmlformats.org/officeDocument/2006/relationships/slideLayout" Target="../slideLayouts/slideLayout7.xml"/><Relationship Id="rId6" Type="http://schemas.openxmlformats.org/officeDocument/2006/relationships/image" Target="../media/image21.png"/><Relationship Id="rId5" Type="http://schemas.openxmlformats.org/officeDocument/2006/relationships/image" Target="../media/image2.jpeg"/><Relationship Id="rId4" Type="http://schemas.openxmlformats.org/officeDocument/2006/relationships/image" Target="../media/image12.png"/></Relationships>
</file>

<file path=ppt/slides/_rels/slide1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6.xml"/><Relationship Id="rId1" Type="http://schemas.openxmlformats.org/officeDocument/2006/relationships/slideLayout" Target="../slideLayouts/slideLayout7.xml"/><Relationship Id="rId5" Type="http://schemas.openxmlformats.org/officeDocument/2006/relationships/image" Target="../media/image2.jpeg"/><Relationship Id="rId4" Type="http://schemas.openxmlformats.org/officeDocument/2006/relationships/image" Target="../media/image12.png"/></Relationships>
</file>

<file path=ppt/slides/_rels/slide1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7.xml"/><Relationship Id="rId1" Type="http://schemas.openxmlformats.org/officeDocument/2006/relationships/slideLayout" Target="../slideLayouts/slideLayout7.xml"/><Relationship Id="rId6" Type="http://schemas.openxmlformats.org/officeDocument/2006/relationships/image" Target="../media/image23.png"/><Relationship Id="rId5" Type="http://schemas.openxmlformats.org/officeDocument/2006/relationships/image" Target="../media/image2.jpeg"/><Relationship Id="rId4" Type="http://schemas.openxmlformats.org/officeDocument/2006/relationships/image" Target="../media/image12.png"/></Relationships>
</file>

<file path=ppt/slides/_rels/slide18.xml.rels><?xml version="1.0" encoding="UTF-8" standalone="yes"?>
<Relationships xmlns="http://schemas.openxmlformats.org/package/2006/relationships"><Relationship Id="rId8" Type="http://schemas.openxmlformats.org/officeDocument/2006/relationships/image" Target="../media/image25.png"/><Relationship Id="rId3" Type="http://schemas.openxmlformats.org/officeDocument/2006/relationships/image" Target="../media/image11.png"/><Relationship Id="rId7" Type="http://schemas.openxmlformats.org/officeDocument/2006/relationships/image" Target="../media/image24.png"/><Relationship Id="rId2" Type="http://schemas.openxmlformats.org/officeDocument/2006/relationships/notesSlide" Target="../notesSlides/notesSlide18.xml"/><Relationship Id="rId1" Type="http://schemas.openxmlformats.org/officeDocument/2006/relationships/slideLayout" Target="../slideLayouts/slideLayout7.xml"/><Relationship Id="rId6" Type="http://schemas.openxmlformats.org/officeDocument/2006/relationships/image" Target="../media/image23.png"/><Relationship Id="rId5" Type="http://schemas.openxmlformats.org/officeDocument/2006/relationships/image" Target="../media/image2.jpeg"/><Relationship Id="rId4" Type="http://schemas.openxmlformats.org/officeDocument/2006/relationships/image" Target="../media/image12.png"/></Relationships>
</file>

<file path=ppt/slides/_rels/slide19.xml.rels><?xml version="1.0" encoding="UTF-8" standalone="yes"?>
<Relationships xmlns="http://schemas.openxmlformats.org/package/2006/relationships"><Relationship Id="rId3" Type="http://schemas.openxmlformats.org/officeDocument/2006/relationships/image" Target="../media/image4.jpeg"/><Relationship Id="rId7" Type="http://schemas.openxmlformats.org/officeDocument/2006/relationships/image" Target="../media/image10.png"/><Relationship Id="rId2" Type="http://schemas.openxmlformats.org/officeDocument/2006/relationships/notesSlide" Target="../notesSlides/notesSlide19.xml"/><Relationship Id="rId1" Type="http://schemas.openxmlformats.org/officeDocument/2006/relationships/slideLayout" Target="../slideLayouts/slideLayout7.xml"/><Relationship Id="rId6" Type="http://schemas.openxmlformats.org/officeDocument/2006/relationships/image" Target="../media/image2.jpeg"/><Relationship Id="rId5" Type="http://schemas.openxmlformats.org/officeDocument/2006/relationships/image" Target="../media/image14.svg"/><Relationship Id="rId4" Type="http://schemas.openxmlformats.org/officeDocument/2006/relationships/image" Target="../media/image9.png"/></Relationships>
</file>

<file path=ppt/slides/_rels/slide20.xml.rels><?xml version="1.0" encoding="UTF-8" standalone="yes"?>
<Relationships xmlns="http://schemas.openxmlformats.org/package/2006/relationships"><Relationship Id="rId3" Type="http://schemas.openxmlformats.org/officeDocument/2006/relationships/image" Target="../media/image11.png"/><Relationship Id="rId7" Type="http://schemas.openxmlformats.org/officeDocument/2006/relationships/image" Target="../media/image27.png"/><Relationship Id="rId2" Type="http://schemas.openxmlformats.org/officeDocument/2006/relationships/notesSlide" Target="../notesSlides/notesSlide20.xml"/><Relationship Id="rId1" Type="http://schemas.openxmlformats.org/officeDocument/2006/relationships/slideLayout" Target="../slideLayouts/slideLayout7.xml"/><Relationship Id="rId6" Type="http://schemas.openxmlformats.org/officeDocument/2006/relationships/image" Target="../media/image26.png"/><Relationship Id="rId5" Type="http://schemas.openxmlformats.org/officeDocument/2006/relationships/image" Target="../media/image2.jpeg"/><Relationship Id="rId4" Type="http://schemas.openxmlformats.org/officeDocument/2006/relationships/image" Target="../media/image12.png"/></Relationships>
</file>

<file path=ppt/slides/_rels/slide21.xml.rels><?xml version="1.0" encoding="UTF-8" standalone="yes"?>
<Relationships xmlns="http://schemas.openxmlformats.org/package/2006/relationships"><Relationship Id="rId3" Type="http://schemas.openxmlformats.org/officeDocument/2006/relationships/image" Target="../media/image11.png"/><Relationship Id="rId7" Type="http://schemas.openxmlformats.org/officeDocument/2006/relationships/image" Target="../media/image29.png"/><Relationship Id="rId2" Type="http://schemas.openxmlformats.org/officeDocument/2006/relationships/notesSlide" Target="../notesSlides/notesSlide21.xml"/><Relationship Id="rId1" Type="http://schemas.openxmlformats.org/officeDocument/2006/relationships/slideLayout" Target="../slideLayouts/slideLayout7.xml"/><Relationship Id="rId6" Type="http://schemas.openxmlformats.org/officeDocument/2006/relationships/image" Target="../media/image28.png"/><Relationship Id="rId5" Type="http://schemas.openxmlformats.org/officeDocument/2006/relationships/image" Target="../media/image2.jpeg"/><Relationship Id="rId4" Type="http://schemas.openxmlformats.org/officeDocument/2006/relationships/image" Target="../media/image12.png"/></Relationships>
</file>

<file path=ppt/slides/_rels/slide22.xml.rels><?xml version="1.0" encoding="UTF-8" standalone="yes"?>
<Relationships xmlns="http://schemas.openxmlformats.org/package/2006/relationships"><Relationship Id="rId3" Type="http://schemas.openxmlformats.org/officeDocument/2006/relationships/image" Target="../media/image11.png"/><Relationship Id="rId7" Type="http://schemas.openxmlformats.org/officeDocument/2006/relationships/image" Target="../media/image31.png"/><Relationship Id="rId2" Type="http://schemas.openxmlformats.org/officeDocument/2006/relationships/notesSlide" Target="../notesSlides/notesSlide22.xml"/><Relationship Id="rId1" Type="http://schemas.openxmlformats.org/officeDocument/2006/relationships/slideLayout" Target="../slideLayouts/slideLayout7.xml"/><Relationship Id="rId6" Type="http://schemas.openxmlformats.org/officeDocument/2006/relationships/image" Target="../media/image30.png"/><Relationship Id="rId5" Type="http://schemas.openxmlformats.org/officeDocument/2006/relationships/image" Target="../media/image2.jpeg"/><Relationship Id="rId4" Type="http://schemas.openxmlformats.org/officeDocument/2006/relationships/image" Target="../media/image12.png"/></Relationships>
</file>

<file path=ppt/slides/_rels/slide23.xml.rels><?xml version="1.0" encoding="UTF-8" standalone="yes"?>
<Relationships xmlns="http://schemas.openxmlformats.org/package/2006/relationships"><Relationship Id="rId8" Type="http://schemas.openxmlformats.org/officeDocument/2006/relationships/image" Target="../media/image34.png"/><Relationship Id="rId3" Type="http://schemas.openxmlformats.org/officeDocument/2006/relationships/image" Target="../media/image11.png"/><Relationship Id="rId7" Type="http://schemas.openxmlformats.org/officeDocument/2006/relationships/image" Target="../media/image33.png"/><Relationship Id="rId2" Type="http://schemas.openxmlformats.org/officeDocument/2006/relationships/notesSlide" Target="../notesSlides/notesSlide23.xml"/><Relationship Id="rId1" Type="http://schemas.openxmlformats.org/officeDocument/2006/relationships/slideLayout" Target="../slideLayouts/slideLayout7.xml"/><Relationship Id="rId6" Type="http://schemas.openxmlformats.org/officeDocument/2006/relationships/image" Target="../media/image32.png"/><Relationship Id="rId5" Type="http://schemas.openxmlformats.org/officeDocument/2006/relationships/image" Target="../media/image2.jpeg"/><Relationship Id="rId4" Type="http://schemas.openxmlformats.org/officeDocument/2006/relationships/image" Target="../media/image12.png"/></Relationships>
</file>

<file path=ppt/slides/_rels/slide2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24.xml"/><Relationship Id="rId1" Type="http://schemas.openxmlformats.org/officeDocument/2006/relationships/slideLayout" Target="../slideLayouts/slideLayout7.xml"/><Relationship Id="rId6" Type="http://schemas.openxmlformats.org/officeDocument/2006/relationships/image" Target="../media/image35.png"/><Relationship Id="rId5" Type="http://schemas.openxmlformats.org/officeDocument/2006/relationships/image" Target="../media/image2.jpeg"/><Relationship Id="rId4" Type="http://schemas.openxmlformats.org/officeDocument/2006/relationships/image" Target="../media/image12.png"/></Relationships>
</file>

<file path=ppt/slides/_rels/slide25.xml.rels><?xml version="1.0" encoding="UTF-8" standalone="yes"?>
<Relationships xmlns="http://schemas.openxmlformats.org/package/2006/relationships"><Relationship Id="rId3" Type="http://schemas.openxmlformats.org/officeDocument/2006/relationships/image" Target="../media/image11.png"/><Relationship Id="rId7" Type="http://schemas.openxmlformats.org/officeDocument/2006/relationships/image" Target="../media/image37.png"/><Relationship Id="rId2" Type="http://schemas.openxmlformats.org/officeDocument/2006/relationships/notesSlide" Target="../notesSlides/notesSlide25.xml"/><Relationship Id="rId1" Type="http://schemas.openxmlformats.org/officeDocument/2006/relationships/slideLayout" Target="../slideLayouts/slideLayout7.xml"/><Relationship Id="rId6" Type="http://schemas.openxmlformats.org/officeDocument/2006/relationships/image" Target="../media/image36.png"/><Relationship Id="rId5" Type="http://schemas.openxmlformats.org/officeDocument/2006/relationships/image" Target="../media/image2.jpeg"/><Relationship Id="rId4" Type="http://schemas.openxmlformats.org/officeDocument/2006/relationships/image" Target="../media/image12.png"/></Relationships>
</file>

<file path=ppt/slides/_rels/slide26.xml.rels><?xml version="1.0" encoding="UTF-8" standalone="yes"?>
<Relationships xmlns="http://schemas.openxmlformats.org/package/2006/relationships"><Relationship Id="rId3" Type="http://schemas.openxmlformats.org/officeDocument/2006/relationships/image" Target="../media/image11.png"/><Relationship Id="rId7" Type="http://schemas.openxmlformats.org/officeDocument/2006/relationships/image" Target="../media/image39.png"/><Relationship Id="rId2" Type="http://schemas.openxmlformats.org/officeDocument/2006/relationships/notesSlide" Target="../notesSlides/notesSlide26.xml"/><Relationship Id="rId1" Type="http://schemas.openxmlformats.org/officeDocument/2006/relationships/slideLayout" Target="../slideLayouts/slideLayout7.xml"/><Relationship Id="rId6" Type="http://schemas.openxmlformats.org/officeDocument/2006/relationships/image" Target="../media/image38.png"/><Relationship Id="rId5" Type="http://schemas.openxmlformats.org/officeDocument/2006/relationships/image" Target="../media/image2.jpeg"/><Relationship Id="rId4" Type="http://schemas.openxmlformats.org/officeDocument/2006/relationships/image" Target="../media/image12.png"/></Relationships>
</file>

<file path=ppt/slides/_rels/slide2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27.xml"/><Relationship Id="rId1" Type="http://schemas.openxmlformats.org/officeDocument/2006/relationships/slideLayout" Target="../slideLayouts/slideLayout7.xml"/><Relationship Id="rId6" Type="http://schemas.openxmlformats.org/officeDocument/2006/relationships/image" Target="../media/image40.png"/><Relationship Id="rId5" Type="http://schemas.openxmlformats.org/officeDocument/2006/relationships/image" Target="../media/image2.jpeg"/><Relationship Id="rId4" Type="http://schemas.openxmlformats.org/officeDocument/2006/relationships/image" Target="../media/image12.png"/></Relationships>
</file>

<file path=ppt/slides/_rels/slide28.xml.rels><?xml version="1.0" encoding="UTF-8" standalone="yes"?>
<Relationships xmlns="http://schemas.openxmlformats.org/package/2006/relationships"><Relationship Id="rId8" Type="http://schemas.openxmlformats.org/officeDocument/2006/relationships/image" Target="../media/image14.svg"/><Relationship Id="rId3" Type="http://schemas.openxmlformats.org/officeDocument/2006/relationships/image" Target="../media/image4.jpeg"/><Relationship Id="rId7" Type="http://schemas.openxmlformats.org/officeDocument/2006/relationships/image" Target="../media/image9.png"/><Relationship Id="rId2" Type="http://schemas.openxmlformats.org/officeDocument/2006/relationships/notesSlide" Target="../notesSlides/notesSlide28.xml"/><Relationship Id="rId1" Type="http://schemas.openxmlformats.org/officeDocument/2006/relationships/slideLayout" Target="../slideLayouts/slideLayout7.xml"/><Relationship Id="rId6" Type="http://schemas.openxmlformats.org/officeDocument/2006/relationships/image" Target="../media/image2.jpeg"/><Relationship Id="rId5" Type="http://schemas.openxmlformats.org/officeDocument/2006/relationships/image" Target="../media/image12.png"/><Relationship Id="rId4" Type="http://schemas.openxmlformats.org/officeDocument/2006/relationships/image" Target="../media/image11.png"/></Relationships>
</file>

<file path=ppt/slides/_rels/slide29.xml.rels><?xml version="1.0" encoding="UTF-8" standalone="yes"?>
<Relationships xmlns="http://schemas.openxmlformats.org/package/2006/relationships"><Relationship Id="rId3" Type="http://schemas.openxmlformats.org/officeDocument/2006/relationships/image" Target="../media/image11.png"/><Relationship Id="rId7" Type="http://schemas.openxmlformats.org/officeDocument/2006/relationships/image" Target="../media/image42.png"/><Relationship Id="rId2" Type="http://schemas.openxmlformats.org/officeDocument/2006/relationships/notesSlide" Target="../notesSlides/notesSlide29.xml"/><Relationship Id="rId1" Type="http://schemas.openxmlformats.org/officeDocument/2006/relationships/slideLayout" Target="../slideLayouts/slideLayout7.xml"/><Relationship Id="rId6" Type="http://schemas.openxmlformats.org/officeDocument/2006/relationships/image" Target="../media/image41.png"/><Relationship Id="rId5" Type="http://schemas.openxmlformats.org/officeDocument/2006/relationships/image" Target="../media/image2.jpeg"/><Relationship Id="rId4" Type="http://schemas.openxmlformats.org/officeDocument/2006/relationships/image" Target="../media/image12.png"/></Relationships>
</file>

<file path=ppt/slides/_rels/slide3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30.xml"/><Relationship Id="rId1" Type="http://schemas.openxmlformats.org/officeDocument/2006/relationships/slideLayout" Target="../slideLayouts/slideLayout7.xml"/><Relationship Id="rId5" Type="http://schemas.openxmlformats.org/officeDocument/2006/relationships/image" Target="../media/image2.jpeg"/><Relationship Id="rId4" Type="http://schemas.openxmlformats.org/officeDocument/2006/relationships/image" Target="../media/image12.png"/></Relationships>
</file>

<file path=ppt/slides/_rels/slide31.xml.rels><?xml version="1.0" encoding="UTF-8" standalone="yes"?>
<Relationships xmlns="http://schemas.openxmlformats.org/package/2006/relationships"><Relationship Id="rId8" Type="http://schemas.openxmlformats.org/officeDocument/2006/relationships/image" Target="../media/image45.png"/><Relationship Id="rId3" Type="http://schemas.openxmlformats.org/officeDocument/2006/relationships/image" Target="../media/image11.png"/><Relationship Id="rId7" Type="http://schemas.openxmlformats.org/officeDocument/2006/relationships/image" Target="../media/image44.png"/><Relationship Id="rId2" Type="http://schemas.openxmlformats.org/officeDocument/2006/relationships/notesSlide" Target="../notesSlides/notesSlide31.xml"/><Relationship Id="rId1" Type="http://schemas.openxmlformats.org/officeDocument/2006/relationships/slideLayout" Target="../slideLayouts/slideLayout7.xml"/><Relationship Id="rId6" Type="http://schemas.openxmlformats.org/officeDocument/2006/relationships/image" Target="../media/image43.png"/><Relationship Id="rId5" Type="http://schemas.openxmlformats.org/officeDocument/2006/relationships/image" Target="../media/image2.jpeg"/><Relationship Id="rId4" Type="http://schemas.openxmlformats.org/officeDocument/2006/relationships/image" Target="../media/image12.png"/></Relationships>
</file>

<file path=ppt/slides/_rels/slide32.xml.rels><?xml version="1.0" encoding="UTF-8" standalone="yes"?>
<Relationships xmlns="http://schemas.openxmlformats.org/package/2006/relationships"><Relationship Id="rId3" Type="http://schemas.openxmlformats.org/officeDocument/2006/relationships/image" Target="../media/image11.png"/><Relationship Id="rId7" Type="http://schemas.openxmlformats.org/officeDocument/2006/relationships/image" Target="../media/image47.png"/><Relationship Id="rId2" Type="http://schemas.openxmlformats.org/officeDocument/2006/relationships/notesSlide" Target="../notesSlides/notesSlide32.xml"/><Relationship Id="rId1" Type="http://schemas.openxmlformats.org/officeDocument/2006/relationships/slideLayout" Target="../slideLayouts/slideLayout7.xml"/><Relationship Id="rId6" Type="http://schemas.openxmlformats.org/officeDocument/2006/relationships/image" Target="../media/image46.png"/><Relationship Id="rId5" Type="http://schemas.openxmlformats.org/officeDocument/2006/relationships/image" Target="../media/image2.jpeg"/><Relationship Id="rId4" Type="http://schemas.openxmlformats.org/officeDocument/2006/relationships/image" Target="../media/image12.png"/></Relationships>
</file>

<file path=ppt/slides/_rels/slide3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33.xml"/><Relationship Id="rId1" Type="http://schemas.openxmlformats.org/officeDocument/2006/relationships/slideLayout" Target="../slideLayouts/slideLayout7.xml"/><Relationship Id="rId5" Type="http://schemas.openxmlformats.org/officeDocument/2006/relationships/image" Target="../media/image2.jpeg"/><Relationship Id="rId4" Type="http://schemas.openxmlformats.org/officeDocument/2006/relationships/image" Target="../media/image12.png"/></Relationships>
</file>

<file path=ppt/slides/_rels/slide34.xml.rels><?xml version="1.0" encoding="UTF-8" standalone="yes"?>
<Relationships xmlns="http://schemas.openxmlformats.org/package/2006/relationships"><Relationship Id="rId8" Type="http://schemas.openxmlformats.org/officeDocument/2006/relationships/image" Target="../media/image50.png"/><Relationship Id="rId3" Type="http://schemas.openxmlformats.org/officeDocument/2006/relationships/image" Target="../media/image11.png"/><Relationship Id="rId7" Type="http://schemas.openxmlformats.org/officeDocument/2006/relationships/image" Target="../media/image49.png"/><Relationship Id="rId2" Type="http://schemas.openxmlformats.org/officeDocument/2006/relationships/notesSlide" Target="../notesSlides/notesSlide34.xml"/><Relationship Id="rId1" Type="http://schemas.openxmlformats.org/officeDocument/2006/relationships/slideLayout" Target="../slideLayouts/slideLayout7.xml"/><Relationship Id="rId6" Type="http://schemas.openxmlformats.org/officeDocument/2006/relationships/image" Target="../media/image48.png"/><Relationship Id="rId5" Type="http://schemas.openxmlformats.org/officeDocument/2006/relationships/image" Target="../media/image2.jpeg"/><Relationship Id="rId4" Type="http://schemas.openxmlformats.org/officeDocument/2006/relationships/image" Target="../media/image12.png"/></Relationships>
</file>

<file path=ppt/slides/_rels/slide35.xml.rels><?xml version="1.0" encoding="UTF-8" standalone="yes"?>
<Relationships xmlns="http://schemas.openxmlformats.org/package/2006/relationships"><Relationship Id="rId3" Type="http://schemas.openxmlformats.org/officeDocument/2006/relationships/image" Target="../media/image11.png"/><Relationship Id="rId7" Type="http://schemas.openxmlformats.org/officeDocument/2006/relationships/image" Target="../media/image52.png"/><Relationship Id="rId2" Type="http://schemas.openxmlformats.org/officeDocument/2006/relationships/notesSlide" Target="../notesSlides/notesSlide35.xml"/><Relationship Id="rId1" Type="http://schemas.openxmlformats.org/officeDocument/2006/relationships/slideLayout" Target="../slideLayouts/slideLayout7.xml"/><Relationship Id="rId6" Type="http://schemas.openxmlformats.org/officeDocument/2006/relationships/image" Target="../media/image51.png"/><Relationship Id="rId5" Type="http://schemas.openxmlformats.org/officeDocument/2006/relationships/image" Target="../media/image2.jpeg"/><Relationship Id="rId4" Type="http://schemas.openxmlformats.org/officeDocument/2006/relationships/image" Target="../media/image12.png"/></Relationships>
</file>

<file path=ppt/slides/_rels/slide36.xml.rels><?xml version="1.0" encoding="UTF-8" standalone="yes"?>
<Relationships xmlns="http://schemas.openxmlformats.org/package/2006/relationships"><Relationship Id="rId8" Type="http://schemas.openxmlformats.org/officeDocument/2006/relationships/image" Target="../media/image55.png"/><Relationship Id="rId3" Type="http://schemas.openxmlformats.org/officeDocument/2006/relationships/image" Target="../media/image11.png"/><Relationship Id="rId7" Type="http://schemas.openxmlformats.org/officeDocument/2006/relationships/image" Target="../media/image54.png"/><Relationship Id="rId2" Type="http://schemas.openxmlformats.org/officeDocument/2006/relationships/notesSlide" Target="../notesSlides/notesSlide36.xml"/><Relationship Id="rId1" Type="http://schemas.openxmlformats.org/officeDocument/2006/relationships/slideLayout" Target="../slideLayouts/slideLayout7.xml"/><Relationship Id="rId6" Type="http://schemas.openxmlformats.org/officeDocument/2006/relationships/image" Target="../media/image53.png"/><Relationship Id="rId5" Type="http://schemas.openxmlformats.org/officeDocument/2006/relationships/image" Target="../media/image2.jpeg"/><Relationship Id="rId4" Type="http://schemas.openxmlformats.org/officeDocument/2006/relationships/image" Target="../media/image12.png"/></Relationships>
</file>

<file path=ppt/slides/_rels/slide37.xml.rels><?xml version="1.0" encoding="UTF-8" standalone="yes"?>
<Relationships xmlns="http://schemas.openxmlformats.org/package/2006/relationships"><Relationship Id="rId3" Type="http://schemas.openxmlformats.org/officeDocument/2006/relationships/image" Target="../media/image11.png"/><Relationship Id="rId7" Type="http://schemas.openxmlformats.org/officeDocument/2006/relationships/image" Target="../media/image57.png"/><Relationship Id="rId2" Type="http://schemas.openxmlformats.org/officeDocument/2006/relationships/notesSlide" Target="../notesSlides/notesSlide37.xml"/><Relationship Id="rId1" Type="http://schemas.openxmlformats.org/officeDocument/2006/relationships/slideLayout" Target="../slideLayouts/slideLayout7.xml"/><Relationship Id="rId6" Type="http://schemas.openxmlformats.org/officeDocument/2006/relationships/image" Target="../media/image56.png"/><Relationship Id="rId5" Type="http://schemas.openxmlformats.org/officeDocument/2006/relationships/image" Target="../media/image2.jpeg"/><Relationship Id="rId4" Type="http://schemas.openxmlformats.org/officeDocument/2006/relationships/image" Target="../media/image12.png"/></Relationships>
</file>

<file path=ppt/slides/_rels/slide38.xml.rels><?xml version="1.0" encoding="UTF-8" standalone="yes"?>
<Relationships xmlns="http://schemas.openxmlformats.org/package/2006/relationships"><Relationship Id="rId8" Type="http://schemas.openxmlformats.org/officeDocument/2006/relationships/image" Target="../media/image60.png"/><Relationship Id="rId3" Type="http://schemas.openxmlformats.org/officeDocument/2006/relationships/image" Target="../media/image11.png"/><Relationship Id="rId7" Type="http://schemas.openxmlformats.org/officeDocument/2006/relationships/image" Target="../media/image59.png"/><Relationship Id="rId2" Type="http://schemas.openxmlformats.org/officeDocument/2006/relationships/notesSlide" Target="../notesSlides/notesSlide38.xml"/><Relationship Id="rId1" Type="http://schemas.openxmlformats.org/officeDocument/2006/relationships/slideLayout" Target="../slideLayouts/slideLayout7.xml"/><Relationship Id="rId6" Type="http://schemas.openxmlformats.org/officeDocument/2006/relationships/image" Target="../media/image58.png"/><Relationship Id="rId5" Type="http://schemas.openxmlformats.org/officeDocument/2006/relationships/image" Target="../media/image2.jpeg"/><Relationship Id="rId4" Type="http://schemas.openxmlformats.org/officeDocument/2006/relationships/image" Target="../media/image12.png"/></Relationships>
</file>

<file path=ppt/slides/_rels/slide39.xml.rels><?xml version="1.0" encoding="UTF-8" standalone="yes"?>
<Relationships xmlns="http://schemas.openxmlformats.org/package/2006/relationships"><Relationship Id="rId8" Type="http://schemas.openxmlformats.org/officeDocument/2006/relationships/image" Target="../media/image63.png"/><Relationship Id="rId3" Type="http://schemas.openxmlformats.org/officeDocument/2006/relationships/image" Target="../media/image11.png"/><Relationship Id="rId7" Type="http://schemas.openxmlformats.org/officeDocument/2006/relationships/image" Target="../media/image62.png"/><Relationship Id="rId2" Type="http://schemas.openxmlformats.org/officeDocument/2006/relationships/notesSlide" Target="../notesSlides/notesSlide39.xml"/><Relationship Id="rId1" Type="http://schemas.openxmlformats.org/officeDocument/2006/relationships/slideLayout" Target="../slideLayouts/slideLayout7.xml"/><Relationship Id="rId6" Type="http://schemas.openxmlformats.org/officeDocument/2006/relationships/image" Target="../media/image61.png"/><Relationship Id="rId5" Type="http://schemas.openxmlformats.org/officeDocument/2006/relationships/image" Target="../media/image2.jpeg"/><Relationship Id="rId4" Type="http://schemas.openxmlformats.org/officeDocument/2006/relationships/image" Target="../media/image12.png"/></Relationships>
</file>

<file path=ppt/slides/_rels/slide4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40.xml"/><Relationship Id="rId1" Type="http://schemas.openxmlformats.org/officeDocument/2006/relationships/slideLayout" Target="../slideLayouts/slideLayout7.xml"/><Relationship Id="rId5" Type="http://schemas.openxmlformats.org/officeDocument/2006/relationships/image" Target="../media/image2.jpeg"/><Relationship Id="rId4" Type="http://schemas.openxmlformats.org/officeDocument/2006/relationships/image" Target="../media/image12.png"/></Relationships>
</file>

<file path=ppt/slides/_rels/slide4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41.xml"/><Relationship Id="rId1" Type="http://schemas.openxmlformats.org/officeDocument/2006/relationships/slideLayout" Target="../slideLayouts/slideLayout7.xml"/><Relationship Id="rId6" Type="http://schemas.openxmlformats.org/officeDocument/2006/relationships/image" Target="../media/image64.png"/><Relationship Id="rId5" Type="http://schemas.openxmlformats.org/officeDocument/2006/relationships/image" Target="../media/image2.jpeg"/><Relationship Id="rId4" Type="http://schemas.openxmlformats.org/officeDocument/2006/relationships/image" Target="../media/image12.png"/></Relationships>
</file>

<file path=ppt/slides/_rels/slide42.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42.xml"/><Relationship Id="rId1" Type="http://schemas.openxmlformats.org/officeDocument/2006/relationships/slideLayout" Target="../slideLayouts/slideLayout7.xml"/><Relationship Id="rId5" Type="http://schemas.openxmlformats.org/officeDocument/2006/relationships/image" Target="../media/image2.jpeg"/><Relationship Id="rId4" Type="http://schemas.openxmlformats.org/officeDocument/2006/relationships/image" Target="../media/image12.png"/></Relationships>
</file>

<file path=ppt/slides/_rels/slide43.xml.rels><?xml version="1.0" encoding="UTF-8" standalone="yes"?>
<Relationships xmlns="http://schemas.openxmlformats.org/package/2006/relationships"><Relationship Id="rId8" Type="http://schemas.openxmlformats.org/officeDocument/2006/relationships/image" Target="../media/image66.png"/><Relationship Id="rId3" Type="http://schemas.openxmlformats.org/officeDocument/2006/relationships/image" Target="../media/image11.png"/><Relationship Id="rId7" Type="http://schemas.openxmlformats.org/officeDocument/2006/relationships/image" Target="../media/image50.png"/><Relationship Id="rId2" Type="http://schemas.openxmlformats.org/officeDocument/2006/relationships/notesSlide" Target="../notesSlides/notesSlide43.xml"/><Relationship Id="rId1" Type="http://schemas.openxmlformats.org/officeDocument/2006/relationships/slideLayout" Target="../slideLayouts/slideLayout7.xml"/><Relationship Id="rId6" Type="http://schemas.openxmlformats.org/officeDocument/2006/relationships/image" Target="../media/image65.png"/><Relationship Id="rId5" Type="http://schemas.openxmlformats.org/officeDocument/2006/relationships/image" Target="../media/image2.jpeg"/><Relationship Id="rId4" Type="http://schemas.openxmlformats.org/officeDocument/2006/relationships/image" Target="../media/image12.png"/></Relationships>
</file>

<file path=ppt/slides/_rels/slide44.xml.rels><?xml version="1.0" encoding="UTF-8" standalone="yes"?>
<Relationships xmlns="http://schemas.openxmlformats.org/package/2006/relationships"><Relationship Id="rId8" Type="http://schemas.openxmlformats.org/officeDocument/2006/relationships/image" Target="../media/image69.png"/><Relationship Id="rId3" Type="http://schemas.openxmlformats.org/officeDocument/2006/relationships/image" Target="../media/image11.png"/><Relationship Id="rId7" Type="http://schemas.openxmlformats.org/officeDocument/2006/relationships/image" Target="../media/image68.png"/><Relationship Id="rId2" Type="http://schemas.openxmlformats.org/officeDocument/2006/relationships/notesSlide" Target="../notesSlides/notesSlide44.xml"/><Relationship Id="rId1" Type="http://schemas.openxmlformats.org/officeDocument/2006/relationships/slideLayout" Target="../slideLayouts/slideLayout7.xml"/><Relationship Id="rId6" Type="http://schemas.openxmlformats.org/officeDocument/2006/relationships/image" Target="../media/image67.png"/><Relationship Id="rId5" Type="http://schemas.openxmlformats.org/officeDocument/2006/relationships/image" Target="../media/image2.jpeg"/><Relationship Id="rId4" Type="http://schemas.openxmlformats.org/officeDocument/2006/relationships/image" Target="../media/image12.png"/></Relationships>
</file>

<file path=ppt/slides/_rels/slide45.xml.rels><?xml version="1.0" encoding="UTF-8" standalone="yes"?>
<Relationships xmlns="http://schemas.openxmlformats.org/package/2006/relationships"><Relationship Id="rId8" Type="http://schemas.openxmlformats.org/officeDocument/2006/relationships/image" Target="../media/image72.png"/><Relationship Id="rId3" Type="http://schemas.openxmlformats.org/officeDocument/2006/relationships/image" Target="../media/image11.png"/><Relationship Id="rId7" Type="http://schemas.openxmlformats.org/officeDocument/2006/relationships/image" Target="../media/image71.png"/><Relationship Id="rId2" Type="http://schemas.openxmlformats.org/officeDocument/2006/relationships/notesSlide" Target="../notesSlides/notesSlide45.xml"/><Relationship Id="rId1" Type="http://schemas.openxmlformats.org/officeDocument/2006/relationships/slideLayout" Target="../slideLayouts/slideLayout7.xml"/><Relationship Id="rId6" Type="http://schemas.openxmlformats.org/officeDocument/2006/relationships/image" Target="../media/image70.png"/><Relationship Id="rId5" Type="http://schemas.openxmlformats.org/officeDocument/2006/relationships/image" Target="../media/image2.jpeg"/><Relationship Id="rId4" Type="http://schemas.openxmlformats.org/officeDocument/2006/relationships/image" Target="../media/image12.png"/></Relationships>
</file>

<file path=ppt/slides/_rels/slide4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46.xml"/><Relationship Id="rId1" Type="http://schemas.openxmlformats.org/officeDocument/2006/relationships/slideLayout" Target="../slideLayouts/slideLayout7.xml"/><Relationship Id="rId6" Type="http://schemas.openxmlformats.org/officeDocument/2006/relationships/image" Target="../media/image73.png"/><Relationship Id="rId5" Type="http://schemas.openxmlformats.org/officeDocument/2006/relationships/image" Target="../media/image2.jpeg"/><Relationship Id="rId4" Type="http://schemas.openxmlformats.org/officeDocument/2006/relationships/image" Target="../media/image12.png"/></Relationships>
</file>

<file path=ppt/slides/_rels/slide4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47.xml"/><Relationship Id="rId1" Type="http://schemas.openxmlformats.org/officeDocument/2006/relationships/slideLayout" Target="../slideLayouts/slideLayout7.xml"/><Relationship Id="rId6" Type="http://schemas.openxmlformats.org/officeDocument/2006/relationships/image" Target="../media/image74.png"/><Relationship Id="rId5" Type="http://schemas.openxmlformats.org/officeDocument/2006/relationships/image" Target="../media/image2.jpeg"/><Relationship Id="rId4" Type="http://schemas.openxmlformats.org/officeDocument/2006/relationships/image" Target="../media/image12.png"/></Relationships>
</file>

<file path=ppt/slides/_rels/slide48.xml.rels><?xml version="1.0" encoding="UTF-8" standalone="yes"?>
<Relationships xmlns="http://schemas.openxmlformats.org/package/2006/relationships"><Relationship Id="rId8" Type="http://schemas.openxmlformats.org/officeDocument/2006/relationships/image" Target="../media/image77.png"/><Relationship Id="rId3" Type="http://schemas.openxmlformats.org/officeDocument/2006/relationships/image" Target="../media/image11.png"/><Relationship Id="rId7" Type="http://schemas.openxmlformats.org/officeDocument/2006/relationships/image" Target="../media/image76.png"/><Relationship Id="rId2" Type="http://schemas.openxmlformats.org/officeDocument/2006/relationships/notesSlide" Target="../notesSlides/notesSlide48.xml"/><Relationship Id="rId1" Type="http://schemas.openxmlformats.org/officeDocument/2006/relationships/slideLayout" Target="../slideLayouts/slideLayout7.xml"/><Relationship Id="rId6" Type="http://schemas.openxmlformats.org/officeDocument/2006/relationships/image" Target="../media/image75.png"/><Relationship Id="rId5" Type="http://schemas.openxmlformats.org/officeDocument/2006/relationships/image" Target="../media/image2.jpeg"/><Relationship Id="rId4" Type="http://schemas.openxmlformats.org/officeDocument/2006/relationships/image" Target="../media/image12.png"/></Relationships>
</file>

<file path=ppt/slides/_rels/slide49.xml.rels><?xml version="1.0" encoding="UTF-8" standalone="yes"?>
<Relationships xmlns="http://schemas.openxmlformats.org/package/2006/relationships"><Relationship Id="rId3" Type="http://schemas.openxmlformats.org/officeDocument/2006/relationships/image" Target="../media/image11.png"/><Relationship Id="rId7" Type="http://schemas.openxmlformats.org/officeDocument/2006/relationships/image" Target="../media/image79.png"/><Relationship Id="rId2" Type="http://schemas.openxmlformats.org/officeDocument/2006/relationships/notesSlide" Target="../notesSlides/notesSlide49.xml"/><Relationship Id="rId1" Type="http://schemas.openxmlformats.org/officeDocument/2006/relationships/slideLayout" Target="../slideLayouts/slideLayout7.xml"/><Relationship Id="rId6" Type="http://schemas.openxmlformats.org/officeDocument/2006/relationships/image" Target="../media/image78.png"/><Relationship Id="rId5" Type="http://schemas.openxmlformats.org/officeDocument/2006/relationships/image" Target="../media/image2.jpeg"/><Relationship Id="rId4" Type="http://schemas.openxmlformats.org/officeDocument/2006/relationships/image" Target="../media/image12.png"/></Relationships>
</file>

<file path=ppt/slides/_rels/slide50.xml.rels><?xml version="1.0" encoding="UTF-8" standalone="yes"?>
<Relationships xmlns="http://schemas.openxmlformats.org/package/2006/relationships"><Relationship Id="rId8" Type="http://schemas.openxmlformats.org/officeDocument/2006/relationships/image" Target="../media/image82.png"/><Relationship Id="rId3" Type="http://schemas.openxmlformats.org/officeDocument/2006/relationships/image" Target="../media/image11.png"/><Relationship Id="rId7" Type="http://schemas.openxmlformats.org/officeDocument/2006/relationships/image" Target="../media/image81.png"/><Relationship Id="rId2" Type="http://schemas.openxmlformats.org/officeDocument/2006/relationships/notesSlide" Target="../notesSlides/notesSlide50.xml"/><Relationship Id="rId1" Type="http://schemas.openxmlformats.org/officeDocument/2006/relationships/slideLayout" Target="../slideLayouts/slideLayout7.xml"/><Relationship Id="rId6" Type="http://schemas.openxmlformats.org/officeDocument/2006/relationships/image" Target="../media/image80.png"/><Relationship Id="rId5" Type="http://schemas.openxmlformats.org/officeDocument/2006/relationships/image" Target="../media/image2.jpeg"/><Relationship Id="rId4" Type="http://schemas.openxmlformats.org/officeDocument/2006/relationships/image" Target="../media/image12.png"/></Relationships>
</file>

<file path=ppt/slides/_rels/slide5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51.xml"/><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3" Type="http://schemas.openxmlformats.org/officeDocument/2006/relationships/image" Target="../media/image83.png"/><Relationship Id="rId2" Type="http://schemas.openxmlformats.org/officeDocument/2006/relationships/notesSlide" Target="../notesSlides/notesSlide52.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3"/>
            <a:stretch>
              <a:fillRect/>
            </a:stretch>
          </a:blipFill>
        </p:spPr>
      </p:sp>
      <p:grpSp>
        <p:nvGrpSpPr>
          <p:cNvPr id="3" name="Group 3"/>
          <p:cNvGrpSpPr/>
          <p:nvPr/>
        </p:nvGrpSpPr>
        <p:grpSpPr>
          <a:xfrm>
            <a:off x="2381" y="412404"/>
            <a:ext cx="18284428" cy="1144022"/>
            <a:chOff x="0" y="0"/>
            <a:chExt cx="24379238" cy="1525362"/>
          </a:xfrm>
        </p:grpSpPr>
        <p:sp>
          <p:nvSpPr>
            <p:cNvPr id="4" name="Freeform 4"/>
            <p:cNvSpPr/>
            <p:nvPr/>
          </p:nvSpPr>
          <p:spPr>
            <a:xfrm>
              <a:off x="0" y="0"/>
              <a:ext cx="24379238" cy="1525365"/>
            </a:xfrm>
            <a:custGeom>
              <a:avLst/>
              <a:gdLst/>
              <a:ahLst/>
              <a:cxnLst/>
              <a:rect l="l" t="t" r="r" b="b"/>
              <a:pathLst>
                <a:path w="24379238" h="1525365">
                  <a:moveTo>
                    <a:pt x="0" y="0"/>
                  </a:moveTo>
                  <a:lnTo>
                    <a:pt x="24379238" y="0"/>
                  </a:lnTo>
                  <a:lnTo>
                    <a:pt x="24379238" y="1525365"/>
                  </a:lnTo>
                  <a:lnTo>
                    <a:pt x="0" y="1525365"/>
                  </a:lnTo>
                  <a:close/>
                </a:path>
              </a:pathLst>
            </a:custGeom>
            <a:blipFill>
              <a:blip r:embed="rId4">
                <a:alphaModFix amt="0"/>
              </a:blip>
              <a:stretch>
                <a:fillRect t="-261420" b="-261420"/>
              </a:stretch>
            </a:blipFill>
          </p:spPr>
        </p:sp>
        <p:sp>
          <p:nvSpPr>
            <p:cNvPr id="5" name="TextBox 5"/>
            <p:cNvSpPr txBox="1"/>
            <p:nvPr/>
          </p:nvSpPr>
          <p:spPr>
            <a:xfrm>
              <a:off x="0" y="-190500"/>
              <a:ext cx="24379238" cy="1715862"/>
            </a:xfrm>
            <a:prstGeom prst="rect">
              <a:avLst/>
            </a:prstGeom>
          </p:spPr>
          <p:txBody>
            <a:bodyPr lIns="0" tIns="0" rIns="0" bIns="0" rtlCol="0" anchor="ctr"/>
            <a:lstStyle/>
            <a:p>
              <a:pPr algn="ctr">
                <a:lnSpc>
                  <a:spcPts val="5400"/>
                </a:lnSpc>
              </a:pPr>
              <a:r>
                <a:rPr lang="en-US" sz="3000">
                  <a:solidFill>
                    <a:srgbClr val="FFFFFF"/>
                  </a:solidFill>
                  <a:latin typeface="Arial"/>
                  <a:ea typeface="Arial"/>
                  <a:cs typeface="Arial"/>
                  <a:sym typeface="Arial"/>
                </a:rPr>
                <a:t>TỔNG CÔNG TY CÔNG NGHIỆP CÔNG NGHỆ CAO VIETTEL</a:t>
              </a:r>
            </a:p>
          </p:txBody>
        </p:sp>
      </p:grpSp>
      <p:sp>
        <p:nvSpPr>
          <p:cNvPr id="6" name="TextBox 6"/>
          <p:cNvSpPr txBox="1"/>
          <p:nvPr/>
        </p:nvSpPr>
        <p:spPr>
          <a:xfrm>
            <a:off x="92631" y="4245845"/>
            <a:ext cx="18101548" cy="1189482"/>
          </a:xfrm>
          <a:prstGeom prst="rect">
            <a:avLst/>
          </a:prstGeom>
        </p:spPr>
        <p:txBody>
          <a:bodyPr lIns="0" tIns="0" rIns="0" bIns="0" rtlCol="0" anchor="t">
            <a:spAutoFit/>
          </a:bodyPr>
          <a:lstStyle/>
          <a:p>
            <a:pPr algn="ctr">
              <a:lnSpc>
                <a:spcPts val="9504"/>
              </a:lnSpc>
            </a:pPr>
            <a:r>
              <a:rPr lang="en-US" sz="6600" b="1">
                <a:solidFill>
                  <a:srgbClr val="FFFFFF"/>
                </a:solidFill>
                <a:latin typeface="Arial Bold"/>
                <a:ea typeface="Arial Bold"/>
                <a:cs typeface="Arial Bold"/>
                <a:sym typeface="Arial Bold"/>
              </a:rPr>
              <a:t>LINUX PROGRAMMING</a:t>
            </a:r>
          </a:p>
        </p:txBody>
      </p:sp>
      <p:grpSp>
        <p:nvGrpSpPr>
          <p:cNvPr id="7" name="Group 7"/>
          <p:cNvGrpSpPr/>
          <p:nvPr/>
        </p:nvGrpSpPr>
        <p:grpSpPr>
          <a:xfrm>
            <a:off x="7411126" y="1703746"/>
            <a:ext cx="3510001" cy="1531572"/>
            <a:chOff x="0" y="0"/>
            <a:chExt cx="4680001" cy="2042096"/>
          </a:xfrm>
        </p:grpSpPr>
        <p:sp>
          <p:nvSpPr>
            <p:cNvPr id="8" name="Freeform 8"/>
            <p:cNvSpPr/>
            <p:nvPr/>
          </p:nvSpPr>
          <p:spPr>
            <a:xfrm>
              <a:off x="0" y="0"/>
              <a:ext cx="4679950" cy="2042160"/>
            </a:xfrm>
            <a:custGeom>
              <a:avLst/>
              <a:gdLst/>
              <a:ahLst/>
              <a:cxnLst/>
              <a:rect l="l" t="t" r="r" b="b"/>
              <a:pathLst>
                <a:path w="4679950" h="2042160">
                  <a:moveTo>
                    <a:pt x="0" y="0"/>
                  </a:moveTo>
                  <a:lnTo>
                    <a:pt x="4679950" y="0"/>
                  </a:lnTo>
                  <a:lnTo>
                    <a:pt x="4679950" y="2042160"/>
                  </a:lnTo>
                  <a:lnTo>
                    <a:pt x="0" y="2042160"/>
                  </a:lnTo>
                  <a:lnTo>
                    <a:pt x="0" y="0"/>
                  </a:lnTo>
                  <a:close/>
                </a:path>
              </a:pathLst>
            </a:custGeom>
            <a:blipFill>
              <a:blip r:embed="rId5"/>
              <a:stretch>
                <a:fillRect l="-2153" r="-1280" b="-2865"/>
              </a:stretch>
            </a:blipFill>
          </p:spPr>
        </p:sp>
      </p:grpSp>
      <p:grpSp>
        <p:nvGrpSpPr>
          <p:cNvPr id="9" name="Group 9"/>
          <p:cNvGrpSpPr/>
          <p:nvPr/>
        </p:nvGrpSpPr>
        <p:grpSpPr>
          <a:xfrm>
            <a:off x="23913" y="9192635"/>
            <a:ext cx="18284428" cy="882399"/>
            <a:chOff x="0" y="0"/>
            <a:chExt cx="24379238" cy="1176532"/>
          </a:xfrm>
        </p:grpSpPr>
        <p:sp>
          <p:nvSpPr>
            <p:cNvPr id="10" name="Freeform 10"/>
            <p:cNvSpPr/>
            <p:nvPr/>
          </p:nvSpPr>
          <p:spPr>
            <a:xfrm>
              <a:off x="0" y="0"/>
              <a:ext cx="24379238" cy="1176536"/>
            </a:xfrm>
            <a:custGeom>
              <a:avLst/>
              <a:gdLst/>
              <a:ahLst/>
              <a:cxnLst/>
              <a:rect l="l" t="t" r="r" b="b"/>
              <a:pathLst>
                <a:path w="24379238" h="1176536">
                  <a:moveTo>
                    <a:pt x="0" y="0"/>
                  </a:moveTo>
                  <a:lnTo>
                    <a:pt x="24379238" y="0"/>
                  </a:lnTo>
                  <a:lnTo>
                    <a:pt x="24379238" y="1176536"/>
                  </a:lnTo>
                  <a:lnTo>
                    <a:pt x="0" y="1176536"/>
                  </a:lnTo>
                  <a:close/>
                </a:path>
              </a:pathLst>
            </a:custGeom>
            <a:blipFill>
              <a:blip r:embed="rId4">
                <a:alphaModFix amt="0"/>
              </a:blip>
              <a:stretch>
                <a:fillRect t="-353753" b="-353753"/>
              </a:stretch>
            </a:blipFill>
          </p:spPr>
        </p:sp>
        <p:sp>
          <p:nvSpPr>
            <p:cNvPr id="11" name="TextBox 11"/>
            <p:cNvSpPr txBox="1"/>
            <p:nvPr/>
          </p:nvSpPr>
          <p:spPr>
            <a:xfrm>
              <a:off x="0" y="-9525"/>
              <a:ext cx="24379238" cy="1186057"/>
            </a:xfrm>
            <a:prstGeom prst="rect">
              <a:avLst/>
            </a:prstGeom>
          </p:spPr>
          <p:txBody>
            <a:bodyPr lIns="0" tIns="0" rIns="0" bIns="0" rtlCol="0" anchor="ctr"/>
            <a:lstStyle/>
            <a:p>
              <a:pPr algn="ctr">
                <a:lnSpc>
                  <a:spcPts val="2879"/>
                </a:lnSpc>
              </a:pPr>
              <a:r>
                <a:rPr lang="en-US" sz="2400" i="1">
                  <a:solidFill>
                    <a:srgbClr val="FFFFFF"/>
                  </a:solidFill>
                  <a:latin typeface="Arial Italics"/>
                  <a:ea typeface="Arial Italics"/>
                  <a:cs typeface="Arial Italics"/>
                  <a:sym typeface="Arial Italics"/>
                </a:rPr>
                <a:t>Hồ Chí Minh, tháng 7/2026</a:t>
              </a:r>
            </a:p>
          </p:txBody>
        </p:sp>
      </p:gr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3">
              <a:alphaModFix amt="70000"/>
            </a:blip>
            <a:stretch>
              <a:fillRect/>
            </a:stretch>
          </a:blipFill>
        </p:spPr>
      </p:sp>
      <p:sp>
        <p:nvSpPr>
          <p:cNvPr id="3" name="TextBox 3"/>
          <p:cNvSpPr txBox="1"/>
          <p:nvPr/>
        </p:nvSpPr>
        <p:spPr>
          <a:xfrm>
            <a:off x="1235947" y="784346"/>
            <a:ext cx="4826000" cy="714375"/>
          </a:xfrm>
          <a:prstGeom prst="rect">
            <a:avLst/>
          </a:prstGeom>
        </p:spPr>
        <p:txBody>
          <a:bodyPr lIns="0" tIns="0" rIns="0" bIns="0" rtlCol="0" anchor="t">
            <a:spAutoFit/>
          </a:bodyPr>
          <a:lstStyle/>
          <a:p>
            <a:pPr algn="ctr">
              <a:lnSpc>
                <a:spcPts val="5400"/>
              </a:lnSpc>
            </a:pPr>
            <a:r>
              <a:rPr lang="en-US" sz="4500">
                <a:solidFill>
                  <a:srgbClr val="ED1B2F"/>
                </a:solidFill>
                <a:latin typeface="Arial"/>
                <a:ea typeface="Arial"/>
                <a:cs typeface="Arial"/>
                <a:sym typeface="Arial"/>
              </a:rPr>
              <a:t>NỘI DUNG CHÍNH</a:t>
            </a:r>
          </a:p>
        </p:txBody>
      </p:sp>
      <p:sp>
        <p:nvSpPr>
          <p:cNvPr id="4" name="Freeform 4"/>
          <p:cNvSpPr/>
          <p:nvPr/>
        </p:nvSpPr>
        <p:spPr>
          <a:xfrm>
            <a:off x="2746867" y="2675668"/>
            <a:ext cx="10055123" cy="713280"/>
          </a:xfrm>
          <a:custGeom>
            <a:avLst/>
            <a:gdLst/>
            <a:ahLst/>
            <a:cxnLst/>
            <a:rect l="l" t="t" r="r" b="b"/>
            <a:pathLst>
              <a:path w="10055123" h="713280">
                <a:moveTo>
                  <a:pt x="0" y="0"/>
                </a:moveTo>
                <a:lnTo>
                  <a:pt x="10055124" y="0"/>
                </a:lnTo>
                <a:lnTo>
                  <a:pt x="10055124" y="713279"/>
                </a:lnTo>
                <a:lnTo>
                  <a:pt x="0" y="713279"/>
                </a:lnTo>
                <a:lnTo>
                  <a:pt x="0" y="0"/>
                </a:lnTo>
                <a:close/>
              </a:path>
            </a:pathLst>
          </a:custGeom>
          <a:blipFill>
            <a:blip r:embed="rId4">
              <a:extLst>
                <a:ext uri="{96DAC541-7B7A-43D3-8B79-37D633B846F1}">
                  <asvg:svgBlip xmlns:asvg="http://schemas.microsoft.com/office/drawing/2016/SVG/main" xmlns="" r:embed="rId5"/>
                </a:ext>
              </a:extLst>
            </a:blip>
            <a:stretch>
              <a:fillRect/>
            </a:stretch>
          </a:blipFill>
        </p:spPr>
      </p:sp>
      <p:sp>
        <p:nvSpPr>
          <p:cNvPr id="5" name="Freeform 5"/>
          <p:cNvSpPr/>
          <p:nvPr/>
        </p:nvSpPr>
        <p:spPr>
          <a:xfrm>
            <a:off x="1250213" y="2475738"/>
            <a:ext cx="1107577" cy="938041"/>
          </a:xfrm>
          <a:custGeom>
            <a:avLst/>
            <a:gdLst/>
            <a:ahLst/>
            <a:cxnLst/>
            <a:rect l="l" t="t" r="r" b="b"/>
            <a:pathLst>
              <a:path w="1107577" h="938041">
                <a:moveTo>
                  <a:pt x="0" y="0"/>
                </a:moveTo>
                <a:lnTo>
                  <a:pt x="1107577" y="0"/>
                </a:lnTo>
                <a:lnTo>
                  <a:pt x="1107577" y="938041"/>
                </a:lnTo>
                <a:lnTo>
                  <a:pt x="0" y="938041"/>
                </a:lnTo>
                <a:lnTo>
                  <a:pt x="0" y="0"/>
                </a:lnTo>
                <a:close/>
              </a:path>
            </a:pathLst>
          </a:custGeom>
          <a:blipFill>
            <a:blip r:embed="rId6">
              <a:extLst>
                <a:ext uri="{96DAC541-7B7A-43D3-8B79-37D633B846F1}">
                  <asvg:svgBlip xmlns:asvg="http://schemas.microsoft.com/office/drawing/2016/SVG/main" xmlns="" r:embed="rId7"/>
                </a:ext>
              </a:extLst>
            </a:blip>
            <a:stretch>
              <a:fillRect/>
            </a:stretch>
          </a:blipFill>
        </p:spPr>
      </p:sp>
      <p:sp>
        <p:nvSpPr>
          <p:cNvPr id="6" name="TextBox 6"/>
          <p:cNvSpPr txBox="1"/>
          <p:nvPr/>
        </p:nvSpPr>
        <p:spPr>
          <a:xfrm>
            <a:off x="1738963" y="2579008"/>
            <a:ext cx="148299" cy="657225"/>
          </a:xfrm>
          <a:prstGeom prst="rect">
            <a:avLst/>
          </a:prstGeom>
        </p:spPr>
        <p:txBody>
          <a:bodyPr lIns="0" tIns="0" rIns="0" bIns="0" rtlCol="0" anchor="t">
            <a:spAutoFit/>
          </a:bodyPr>
          <a:lstStyle/>
          <a:p>
            <a:pPr algn="ctr">
              <a:lnSpc>
                <a:spcPts val="5040"/>
              </a:lnSpc>
            </a:pPr>
            <a:r>
              <a:rPr lang="en-US" sz="4200">
                <a:solidFill>
                  <a:srgbClr val="FFFFFF"/>
                </a:solidFill>
                <a:latin typeface="Arial"/>
                <a:ea typeface="Arial"/>
                <a:cs typeface="Arial"/>
                <a:sym typeface="Arial"/>
              </a:rPr>
              <a:t>I</a:t>
            </a:r>
          </a:p>
        </p:txBody>
      </p:sp>
      <p:sp>
        <p:nvSpPr>
          <p:cNvPr id="7" name="TextBox 7"/>
          <p:cNvSpPr txBox="1"/>
          <p:nvPr/>
        </p:nvSpPr>
        <p:spPr>
          <a:xfrm>
            <a:off x="3265551" y="2758888"/>
            <a:ext cx="9625498" cy="476250"/>
          </a:xfrm>
          <a:prstGeom prst="rect">
            <a:avLst/>
          </a:prstGeom>
        </p:spPr>
        <p:txBody>
          <a:bodyPr lIns="0" tIns="0" rIns="0" bIns="0" rtlCol="0" anchor="t">
            <a:spAutoFit/>
          </a:bodyPr>
          <a:lstStyle/>
          <a:p>
            <a:pPr algn="l">
              <a:lnSpc>
                <a:spcPts val="3600"/>
              </a:lnSpc>
            </a:pPr>
            <a:r>
              <a:rPr lang="en-US" sz="3000">
                <a:solidFill>
                  <a:srgbClr val="FFFFFF"/>
                </a:solidFill>
                <a:latin typeface="Arial"/>
                <a:ea typeface="Arial"/>
                <a:cs typeface="Arial"/>
                <a:sym typeface="Arial"/>
              </a:rPr>
              <a:t>PROCESS</a:t>
            </a:r>
          </a:p>
        </p:txBody>
      </p:sp>
      <p:sp>
        <p:nvSpPr>
          <p:cNvPr id="8" name="Freeform 8"/>
          <p:cNvSpPr/>
          <p:nvPr/>
        </p:nvSpPr>
        <p:spPr>
          <a:xfrm>
            <a:off x="2746867" y="3858778"/>
            <a:ext cx="10055123" cy="713280"/>
          </a:xfrm>
          <a:custGeom>
            <a:avLst/>
            <a:gdLst/>
            <a:ahLst/>
            <a:cxnLst/>
            <a:rect l="l" t="t" r="r" b="b"/>
            <a:pathLst>
              <a:path w="10055123" h="713280">
                <a:moveTo>
                  <a:pt x="0" y="0"/>
                </a:moveTo>
                <a:lnTo>
                  <a:pt x="10055124" y="0"/>
                </a:lnTo>
                <a:lnTo>
                  <a:pt x="10055124" y="713279"/>
                </a:lnTo>
                <a:lnTo>
                  <a:pt x="0" y="713279"/>
                </a:lnTo>
                <a:lnTo>
                  <a:pt x="0" y="0"/>
                </a:lnTo>
                <a:close/>
              </a:path>
            </a:pathLst>
          </a:custGeom>
          <a:blipFill>
            <a:blip r:embed="rId4">
              <a:extLst>
                <a:ext uri="{96DAC541-7B7A-43D3-8B79-37D633B846F1}">
                  <asvg:svgBlip xmlns:asvg="http://schemas.microsoft.com/office/drawing/2016/SVG/main" xmlns="" r:embed="rId5"/>
                </a:ext>
              </a:extLst>
            </a:blip>
            <a:stretch>
              <a:fillRect/>
            </a:stretch>
          </a:blipFill>
        </p:spPr>
      </p:sp>
      <p:sp>
        <p:nvSpPr>
          <p:cNvPr id="9" name="Freeform 9"/>
          <p:cNvSpPr/>
          <p:nvPr/>
        </p:nvSpPr>
        <p:spPr>
          <a:xfrm>
            <a:off x="1250213" y="3662029"/>
            <a:ext cx="1107577" cy="938041"/>
          </a:xfrm>
          <a:custGeom>
            <a:avLst/>
            <a:gdLst/>
            <a:ahLst/>
            <a:cxnLst/>
            <a:rect l="l" t="t" r="r" b="b"/>
            <a:pathLst>
              <a:path w="1107577" h="938041">
                <a:moveTo>
                  <a:pt x="0" y="0"/>
                </a:moveTo>
                <a:lnTo>
                  <a:pt x="1107577" y="0"/>
                </a:lnTo>
                <a:lnTo>
                  <a:pt x="1107577" y="938041"/>
                </a:lnTo>
                <a:lnTo>
                  <a:pt x="0" y="938041"/>
                </a:lnTo>
                <a:lnTo>
                  <a:pt x="0" y="0"/>
                </a:lnTo>
                <a:close/>
              </a:path>
            </a:pathLst>
          </a:custGeom>
          <a:blipFill>
            <a:blip r:embed="rId6">
              <a:extLst>
                <a:ext uri="{96DAC541-7B7A-43D3-8B79-37D633B846F1}">
                  <asvg:svgBlip xmlns:asvg="http://schemas.microsoft.com/office/drawing/2016/SVG/main" xmlns="" r:embed="rId7"/>
                </a:ext>
              </a:extLst>
            </a:blip>
            <a:stretch>
              <a:fillRect/>
            </a:stretch>
          </a:blipFill>
        </p:spPr>
      </p:sp>
      <p:sp>
        <p:nvSpPr>
          <p:cNvPr id="10" name="TextBox 10"/>
          <p:cNvSpPr txBox="1"/>
          <p:nvPr/>
        </p:nvSpPr>
        <p:spPr>
          <a:xfrm>
            <a:off x="1664880" y="3765299"/>
            <a:ext cx="296466" cy="657225"/>
          </a:xfrm>
          <a:prstGeom prst="rect">
            <a:avLst/>
          </a:prstGeom>
        </p:spPr>
        <p:txBody>
          <a:bodyPr lIns="0" tIns="0" rIns="0" bIns="0" rtlCol="0" anchor="t">
            <a:spAutoFit/>
          </a:bodyPr>
          <a:lstStyle/>
          <a:p>
            <a:pPr algn="ctr">
              <a:lnSpc>
                <a:spcPts val="5040"/>
              </a:lnSpc>
            </a:pPr>
            <a:r>
              <a:rPr lang="en-US" sz="4200">
                <a:solidFill>
                  <a:srgbClr val="FFFFFF"/>
                </a:solidFill>
                <a:latin typeface="Arial"/>
                <a:ea typeface="Arial"/>
                <a:cs typeface="Arial"/>
                <a:sym typeface="Arial"/>
              </a:rPr>
              <a:t>II</a:t>
            </a:r>
          </a:p>
        </p:txBody>
      </p:sp>
      <p:sp>
        <p:nvSpPr>
          <p:cNvPr id="11" name="TextBox 11"/>
          <p:cNvSpPr txBox="1"/>
          <p:nvPr/>
        </p:nvSpPr>
        <p:spPr>
          <a:xfrm>
            <a:off x="3265551" y="3945179"/>
            <a:ext cx="9628908" cy="476250"/>
          </a:xfrm>
          <a:prstGeom prst="rect">
            <a:avLst/>
          </a:prstGeom>
        </p:spPr>
        <p:txBody>
          <a:bodyPr lIns="0" tIns="0" rIns="0" bIns="0" rtlCol="0" anchor="t">
            <a:spAutoFit/>
          </a:bodyPr>
          <a:lstStyle/>
          <a:p>
            <a:pPr algn="l">
              <a:lnSpc>
                <a:spcPts val="3600"/>
              </a:lnSpc>
            </a:pPr>
            <a:r>
              <a:rPr lang="en-US" sz="3000">
                <a:solidFill>
                  <a:srgbClr val="FFFFFF"/>
                </a:solidFill>
                <a:latin typeface="Arial"/>
                <a:ea typeface="Arial"/>
                <a:cs typeface="Arial"/>
                <a:sym typeface="Arial"/>
              </a:rPr>
              <a:t>THREAD</a:t>
            </a:r>
          </a:p>
        </p:txBody>
      </p:sp>
      <p:sp>
        <p:nvSpPr>
          <p:cNvPr id="12" name="Freeform 12"/>
          <p:cNvSpPr/>
          <p:nvPr/>
        </p:nvSpPr>
        <p:spPr>
          <a:xfrm>
            <a:off x="2746867" y="5046412"/>
            <a:ext cx="10052199" cy="713280"/>
          </a:xfrm>
          <a:custGeom>
            <a:avLst/>
            <a:gdLst/>
            <a:ahLst/>
            <a:cxnLst/>
            <a:rect l="l" t="t" r="r" b="b"/>
            <a:pathLst>
              <a:path w="10052199" h="713280">
                <a:moveTo>
                  <a:pt x="0" y="0"/>
                </a:moveTo>
                <a:lnTo>
                  <a:pt x="10052199" y="0"/>
                </a:lnTo>
                <a:lnTo>
                  <a:pt x="10052199" y="713279"/>
                </a:lnTo>
                <a:lnTo>
                  <a:pt x="0" y="713279"/>
                </a:lnTo>
                <a:lnTo>
                  <a:pt x="0" y="0"/>
                </a:lnTo>
                <a:close/>
              </a:path>
            </a:pathLst>
          </a:custGeom>
          <a:blipFill>
            <a:blip r:embed="rId8">
              <a:extLst>
                <a:ext uri="{96DAC541-7B7A-43D3-8B79-37D633B846F1}">
                  <asvg:svgBlip xmlns:asvg="http://schemas.microsoft.com/office/drawing/2016/SVG/main" xmlns="" r:embed="rId9"/>
                </a:ext>
              </a:extLst>
            </a:blip>
            <a:stretch>
              <a:fillRect/>
            </a:stretch>
          </a:blipFill>
        </p:spPr>
      </p:sp>
      <p:sp>
        <p:nvSpPr>
          <p:cNvPr id="13" name="Freeform 13"/>
          <p:cNvSpPr/>
          <p:nvPr/>
        </p:nvSpPr>
        <p:spPr>
          <a:xfrm>
            <a:off x="1250213" y="4848320"/>
            <a:ext cx="1107253" cy="938041"/>
          </a:xfrm>
          <a:custGeom>
            <a:avLst/>
            <a:gdLst/>
            <a:ahLst/>
            <a:cxnLst/>
            <a:rect l="l" t="t" r="r" b="b"/>
            <a:pathLst>
              <a:path w="1107253" h="938041">
                <a:moveTo>
                  <a:pt x="0" y="0"/>
                </a:moveTo>
                <a:lnTo>
                  <a:pt x="1107253" y="0"/>
                </a:lnTo>
                <a:lnTo>
                  <a:pt x="1107253" y="938041"/>
                </a:lnTo>
                <a:lnTo>
                  <a:pt x="0" y="938041"/>
                </a:lnTo>
                <a:lnTo>
                  <a:pt x="0" y="0"/>
                </a:lnTo>
                <a:close/>
              </a:path>
            </a:pathLst>
          </a:custGeom>
          <a:blipFill>
            <a:blip r:embed="rId10">
              <a:extLst>
                <a:ext uri="{96DAC541-7B7A-43D3-8B79-37D633B846F1}">
                  <asvg:svgBlip xmlns:asvg="http://schemas.microsoft.com/office/drawing/2016/SVG/main" xmlns="" r:embed="rId11"/>
                </a:ext>
              </a:extLst>
            </a:blip>
            <a:stretch>
              <a:fillRect/>
            </a:stretch>
          </a:blipFill>
        </p:spPr>
      </p:sp>
      <p:sp>
        <p:nvSpPr>
          <p:cNvPr id="14" name="TextBox 14"/>
          <p:cNvSpPr txBox="1"/>
          <p:nvPr/>
        </p:nvSpPr>
        <p:spPr>
          <a:xfrm>
            <a:off x="1590796" y="4951590"/>
            <a:ext cx="444632" cy="657225"/>
          </a:xfrm>
          <a:prstGeom prst="rect">
            <a:avLst/>
          </a:prstGeom>
        </p:spPr>
        <p:txBody>
          <a:bodyPr lIns="0" tIns="0" rIns="0" bIns="0" rtlCol="0" anchor="t">
            <a:spAutoFit/>
          </a:bodyPr>
          <a:lstStyle/>
          <a:p>
            <a:pPr algn="ctr">
              <a:lnSpc>
                <a:spcPts val="5040"/>
              </a:lnSpc>
            </a:pPr>
            <a:r>
              <a:rPr lang="en-US" sz="4200">
                <a:solidFill>
                  <a:srgbClr val="FFFFFF"/>
                </a:solidFill>
                <a:latin typeface="Arial"/>
                <a:ea typeface="Arial"/>
                <a:cs typeface="Arial"/>
                <a:sym typeface="Arial"/>
              </a:rPr>
              <a:t>III</a:t>
            </a:r>
          </a:p>
        </p:txBody>
      </p:sp>
      <p:sp>
        <p:nvSpPr>
          <p:cNvPr id="15" name="TextBox 15"/>
          <p:cNvSpPr txBox="1"/>
          <p:nvPr/>
        </p:nvSpPr>
        <p:spPr>
          <a:xfrm>
            <a:off x="3265551" y="5131470"/>
            <a:ext cx="8928516" cy="933450"/>
          </a:xfrm>
          <a:prstGeom prst="rect">
            <a:avLst/>
          </a:prstGeom>
        </p:spPr>
        <p:txBody>
          <a:bodyPr lIns="0" tIns="0" rIns="0" bIns="0" rtlCol="0" anchor="t">
            <a:spAutoFit/>
          </a:bodyPr>
          <a:lstStyle/>
          <a:p>
            <a:pPr algn="l">
              <a:lnSpc>
                <a:spcPts val="3600"/>
              </a:lnSpc>
            </a:pPr>
            <a:r>
              <a:rPr lang="en-US" sz="3000">
                <a:solidFill>
                  <a:srgbClr val="FFFFFF"/>
                </a:solidFill>
                <a:latin typeface="Arial"/>
                <a:ea typeface="Arial"/>
                <a:cs typeface="Arial"/>
                <a:sym typeface="Arial"/>
              </a:rPr>
              <a:t>INTER-PROCESS COMMUNICATION</a:t>
            </a:r>
          </a:p>
          <a:p>
            <a:pPr algn="l">
              <a:lnSpc>
                <a:spcPts val="3600"/>
              </a:lnSpc>
            </a:pPr>
            <a:endParaRPr lang="en-US" sz="3000">
              <a:solidFill>
                <a:srgbClr val="FFFFFF"/>
              </a:solidFill>
              <a:latin typeface="Arial"/>
              <a:ea typeface="Arial"/>
              <a:cs typeface="Arial"/>
              <a:sym typeface="Arial"/>
            </a:endParaRPr>
          </a:p>
        </p:txBody>
      </p:sp>
      <p:sp>
        <p:nvSpPr>
          <p:cNvPr id="16" name="TextBox 16"/>
          <p:cNvSpPr txBox="1"/>
          <p:nvPr/>
        </p:nvSpPr>
        <p:spPr>
          <a:xfrm>
            <a:off x="3265551" y="6317771"/>
            <a:ext cx="8928516" cy="476250"/>
          </a:xfrm>
          <a:prstGeom prst="rect">
            <a:avLst/>
          </a:prstGeom>
        </p:spPr>
        <p:txBody>
          <a:bodyPr lIns="0" tIns="0" rIns="0" bIns="0" rtlCol="0" anchor="t">
            <a:spAutoFit/>
          </a:bodyPr>
          <a:lstStyle/>
          <a:p>
            <a:pPr algn="l">
              <a:lnSpc>
                <a:spcPts val="3600"/>
              </a:lnSpc>
            </a:pPr>
            <a:r>
              <a:rPr lang="en-US" sz="3000">
                <a:solidFill>
                  <a:srgbClr val="FFFFFF"/>
                </a:solidFill>
                <a:latin typeface="Arial"/>
                <a:ea typeface="Arial"/>
                <a:cs typeface="Arial"/>
                <a:sym typeface="Arial"/>
              </a:rPr>
              <a:t>C LIBRARY</a:t>
            </a:r>
          </a:p>
        </p:txBody>
      </p:sp>
      <p:sp>
        <p:nvSpPr>
          <p:cNvPr id="17" name="TextBox 17"/>
          <p:cNvSpPr txBox="1"/>
          <p:nvPr/>
        </p:nvSpPr>
        <p:spPr>
          <a:xfrm>
            <a:off x="1635180" y="7324182"/>
            <a:ext cx="355865" cy="657225"/>
          </a:xfrm>
          <a:prstGeom prst="rect">
            <a:avLst/>
          </a:prstGeom>
        </p:spPr>
        <p:txBody>
          <a:bodyPr lIns="0" tIns="0" rIns="0" bIns="0" rtlCol="0" anchor="t">
            <a:spAutoFit/>
          </a:bodyPr>
          <a:lstStyle/>
          <a:p>
            <a:pPr algn="ctr">
              <a:lnSpc>
                <a:spcPts val="5040"/>
              </a:lnSpc>
            </a:pPr>
            <a:r>
              <a:rPr lang="en-US" sz="4200">
                <a:solidFill>
                  <a:srgbClr val="FFFFFF"/>
                </a:solidFill>
                <a:latin typeface="Arial"/>
                <a:ea typeface="Arial"/>
                <a:cs typeface="Arial"/>
                <a:sym typeface="Arial"/>
              </a:rPr>
              <a:t>V</a:t>
            </a:r>
          </a:p>
        </p:txBody>
      </p:sp>
      <p:sp>
        <p:nvSpPr>
          <p:cNvPr id="18" name="TextBox 18"/>
          <p:cNvSpPr txBox="1"/>
          <p:nvPr/>
        </p:nvSpPr>
        <p:spPr>
          <a:xfrm>
            <a:off x="3265551" y="7504062"/>
            <a:ext cx="8928516" cy="476250"/>
          </a:xfrm>
          <a:prstGeom prst="rect">
            <a:avLst/>
          </a:prstGeom>
        </p:spPr>
        <p:txBody>
          <a:bodyPr lIns="0" tIns="0" rIns="0" bIns="0" rtlCol="0" anchor="t">
            <a:spAutoFit/>
          </a:bodyPr>
          <a:lstStyle/>
          <a:p>
            <a:pPr algn="l">
              <a:lnSpc>
                <a:spcPts val="3600"/>
              </a:lnSpc>
            </a:pPr>
            <a:r>
              <a:rPr lang="en-US" sz="3000">
                <a:solidFill>
                  <a:srgbClr val="FFFFFF"/>
                </a:solidFill>
                <a:latin typeface="Arial"/>
                <a:ea typeface="Arial"/>
                <a:cs typeface="Arial"/>
                <a:sym typeface="Arial"/>
              </a:rPr>
              <a:t>MAKE FILE</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3">
              <a:alphaModFix amt="19999"/>
            </a:blip>
            <a:stretch>
              <a:fillRect/>
            </a:stretch>
          </a:blipFill>
        </p:spPr>
      </p:sp>
      <p:sp>
        <p:nvSpPr>
          <p:cNvPr id="3" name="Freeform 3"/>
          <p:cNvSpPr/>
          <p:nvPr/>
        </p:nvSpPr>
        <p:spPr>
          <a:xfrm>
            <a:off x="1221829" y="3061811"/>
            <a:ext cx="3059678" cy="3059678"/>
          </a:xfrm>
          <a:custGeom>
            <a:avLst/>
            <a:gdLst/>
            <a:ahLst/>
            <a:cxnLst/>
            <a:rect l="l" t="t" r="r" b="b"/>
            <a:pathLst>
              <a:path w="3059678" h="3059678">
                <a:moveTo>
                  <a:pt x="0" y="0"/>
                </a:moveTo>
                <a:lnTo>
                  <a:pt x="3059678" y="0"/>
                </a:lnTo>
                <a:lnTo>
                  <a:pt x="3059678" y="3059678"/>
                </a:lnTo>
                <a:lnTo>
                  <a:pt x="0" y="3059678"/>
                </a:lnTo>
                <a:lnTo>
                  <a:pt x="0" y="0"/>
                </a:lnTo>
                <a:close/>
              </a:path>
            </a:pathLst>
          </a:custGeom>
          <a:blipFill>
            <a:blip r:embed="rId4">
              <a:extLst>
                <a:ext uri="{96DAC541-7B7A-43D3-8B79-37D633B846F1}">
                  <asvg:svgBlip xmlns:asvg="http://schemas.microsoft.com/office/drawing/2016/SVG/main" xmlns="" r:embed="rId5"/>
                </a:ext>
              </a:extLst>
            </a:blip>
            <a:stretch>
              <a:fillRect/>
            </a:stretch>
          </a:blipFill>
        </p:spPr>
      </p:sp>
      <p:sp>
        <p:nvSpPr>
          <p:cNvPr id="4" name="TextBox 4"/>
          <p:cNvSpPr txBox="1"/>
          <p:nvPr/>
        </p:nvSpPr>
        <p:spPr>
          <a:xfrm>
            <a:off x="1887865" y="3743916"/>
            <a:ext cx="1913106" cy="369599"/>
          </a:xfrm>
          <a:prstGeom prst="rect">
            <a:avLst/>
          </a:prstGeom>
        </p:spPr>
        <p:txBody>
          <a:bodyPr lIns="0" tIns="0" rIns="0" bIns="0" rtlCol="0" anchor="t">
            <a:spAutoFit/>
          </a:bodyPr>
          <a:lstStyle/>
          <a:p>
            <a:pPr algn="just">
              <a:lnSpc>
                <a:spcPts val="2879"/>
              </a:lnSpc>
            </a:pPr>
            <a:r>
              <a:rPr lang="en-US" sz="2400">
                <a:solidFill>
                  <a:srgbClr val="FFFFFF"/>
                </a:solidFill>
                <a:latin typeface="Roboto"/>
                <a:ea typeface="Roboto"/>
                <a:cs typeface="Roboto"/>
                <a:sym typeface="Roboto"/>
              </a:rPr>
              <a:t>PHẦN</a:t>
            </a:r>
          </a:p>
        </p:txBody>
      </p:sp>
      <p:grpSp>
        <p:nvGrpSpPr>
          <p:cNvPr id="5" name="Group 5"/>
          <p:cNvGrpSpPr/>
          <p:nvPr/>
        </p:nvGrpSpPr>
        <p:grpSpPr>
          <a:xfrm>
            <a:off x="4624521" y="4498210"/>
            <a:ext cx="1487672" cy="130559"/>
            <a:chOff x="0" y="0"/>
            <a:chExt cx="1983562" cy="174079"/>
          </a:xfrm>
        </p:grpSpPr>
        <p:sp>
          <p:nvSpPr>
            <p:cNvPr id="6" name="Freeform 6"/>
            <p:cNvSpPr/>
            <p:nvPr/>
          </p:nvSpPr>
          <p:spPr>
            <a:xfrm>
              <a:off x="0" y="0"/>
              <a:ext cx="1983613" cy="174117"/>
            </a:xfrm>
            <a:custGeom>
              <a:avLst/>
              <a:gdLst/>
              <a:ahLst/>
              <a:cxnLst/>
              <a:rect l="l" t="t" r="r" b="b"/>
              <a:pathLst>
                <a:path w="1983613" h="174117">
                  <a:moveTo>
                    <a:pt x="0" y="0"/>
                  </a:moveTo>
                  <a:lnTo>
                    <a:pt x="1983613" y="0"/>
                  </a:lnTo>
                  <a:lnTo>
                    <a:pt x="1983613" y="174117"/>
                  </a:lnTo>
                  <a:lnTo>
                    <a:pt x="0" y="174117"/>
                  </a:lnTo>
                  <a:close/>
                </a:path>
              </a:pathLst>
            </a:custGeom>
            <a:blipFill>
              <a:blip r:embed="rId6">
                <a:alphaModFix amt="0"/>
              </a:blip>
              <a:stretch>
                <a:fillRect t="-171986" r="2" b="-171965"/>
              </a:stretch>
            </a:blipFill>
            <a:ln w="14288" cap="sq">
              <a:solidFill>
                <a:srgbClr val="EE0032"/>
              </a:solidFill>
              <a:prstDash val="solid"/>
              <a:miter/>
            </a:ln>
          </p:spPr>
        </p:sp>
      </p:grpSp>
      <p:sp>
        <p:nvSpPr>
          <p:cNvPr id="7" name="AutoShape 7"/>
          <p:cNvSpPr/>
          <p:nvPr/>
        </p:nvSpPr>
        <p:spPr>
          <a:xfrm>
            <a:off x="6150303" y="4552229"/>
            <a:ext cx="10156130" cy="22512"/>
          </a:xfrm>
          <a:prstGeom prst="line">
            <a:avLst/>
          </a:prstGeom>
          <a:ln w="9525" cap="rnd">
            <a:solidFill>
              <a:srgbClr val="EE0032"/>
            </a:solidFill>
            <a:prstDash val="solid"/>
            <a:headEnd type="none" w="sm" len="sm"/>
            <a:tailEnd type="none" w="sm" len="sm"/>
          </a:ln>
        </p:spPr>
      </p:sp>
      <p:grpSp>
        <p:nvGrpSpPr>
          <p:cNvPr id="8" name="Group 8"/>
          <p:cNvGrpSpPr/>
          <p:nvPr/>
        </p:nvGrpSpPr>
        <p:grpSpPr>
          <a:xfrm>
            <a:off x="530657" y="459334"/>
            <a:ext cx="2363524" cy="991476"/>
            <a:chOff x="0" y="0"/>
            <a:chExt cx="3151365" cy="1321968"/>
          </a:xfrm>
        </p:grpSpPr>
        <p:sp>
          <p:nvSpPr>
            <p:cNvPr id="9" name="Freeform 9"/>
            <p:cNvSpPr/>
            <p:nvPr/>
          </p:nvSpPr>
          <p:spPr>
            <a:xfrm>
              <a:off x="0" y="0"/>
              <a:ext cx="3151378" cy="1321943"/>
            </a:xfrm>
            <a:custGeom>
              <a:avLst/>
              <a:gdLst/>
              <a:ahLst/>
              <a:cxnLst/>
              <a:rect l="l" t="t" r="r" b="b"/>
              <a:pathLst>
                <a:path w="3151378" h="1321943">
                  <a:moveTo>
                    <a:pt x="0" y="0"/>
                  </a:moveTo>
                  <a:lnTo>
                    <a:pt x="3151378" y="0"/>
                  </a:lnTo>
                  <a:lnTo>
                    <a:pt x="3151378" y="1321943"/>
                  </a:lnTo>
                  <a:lnTo>
                    <a:pt x="0" y="1321943"/>
                  </a:lnTo>
                  <a:lnTo>
                    <a:pt x="0" y="0"/>
                  </a:lnTo>
                  <a:close/>
                </a:path>
              </a:pathLst>
            </a:custGeom>
            <a:blipFill>
              <a:blip r:embed="rId7"/>
              <a:stretch>
                <a:fillRect r="-83" b="-3484"/>
              </a:stretch>
            </a:blipFill>
          </p:spPr>
        </p:sp>
      </p:grpSp>
      <p:sp>
        <p:nvSpPr>
          <p:cNvPr id="10" name="TextBox 10"/>
          <p:cNvSpPr txBox="1"/>
          <p:nvPr/>
        </p:nvSpPr>
        <p:spPr>
          <a:xfrm>
            <a:off x="4667583" y="3887105"/>
            <a:ext cx="12984594" cy="521589"/>
          </a:xfrm>
          <a:prstGeom prst="rect">
            <a:avLst/>
          </a:prstGeom>
        </p:spPr>
        <p:txBody>
          <a:bodyPr lIns="0" tIns="0" rIns="0" bIns="0" rtlCol="0" anchor="t">
            <a:spAutoFit/>
          </a:bodyPr>
          <a:lstStyle/>
          <a:p>
            <a:pPr algn="l">
              <a:lnSpc>
                <a:spcPts val="3888"/>
              </a:lnSpc>
            </a:pPr>
            <a:r>
              <a:rPr lang="en-US" sz="3600">
                <a:solidFill>
                  <a:srgbClr val="EE0033"/>
                </a:solidFill>
                <a:latin typeface="Arial"/>
                <a:ea typeface="Arial"/>
                <a:cs typeface="Arial"/>
                <a:sym typeface="Arial"/>
              </a:rPr>
              <a:t>PROCESS</a:t>
            </a:r>
          </a:p>
        </p:txBody>
      </p:sp>
      <p:sp>
        <p:nvSpPr>
          <p:cNvPr id="11" name="TextBox 11"/>
          <p:cNvSpPr txBox="1"/>
          <p:nvPr/>
        </p:nvSpPr>
        <p:spPr>
          <a:xfrm>
            <a:off x="2167319" y="4241321"/>
            <a:ext cx="1188482" cy="1085827"/>
          </a:xfrm>
          <a:prstGeom prst="rect">
            <a:avLst/>
          </a:prstGeom>
        </p:spPr>
        <p:txBody>
          <a:bodyPr lIns="0" tIns="0" rIns="0" bIns="0" rtlCol="0" anchor="t">
            <a:spAutoFit/>
          </a:bodyPr>
          <a:lstStyle/>
          <a:p>
            <a:pPr algn="ctr">
              <a:lnSpc>
                <a:spcPts val="8098"/>
              </a:lnSpc>
            </a:pPr>
            <a:r>
              <a:rPr lang="en-US" sz="7498">
                <a:solidFill>
                  <a:srgbClr val="FFFFFF"/>
                </a:solidFill>
                <a:latin typeface="Arial"/>
                <a:ea typeface="Arial"/>
                <a:cs typeface="Arial"/>
                <a:sym typeface="Arial"/>
              </a:rPr>
              <a:t>I</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9206494"/>
            <a:ext cx="18288000" cy="1080506"/>
            <a:chOff x="0" y="0"/>
            <a:chExt cx="24384000" cy="1440675"/>
          </a:xfrm>
        </p:grpSpPr>
        <p:sp>
          <p:nvSpPr>
            <p:cNvPr id="3" name="Freeform 3"/>
            <p:cNvSpPr/>
            <p:nvPr/>
          </p:nvSpPr>
          <p:spPr>
            <a:xfrm>
              <a:off x="0" y="0"/>
              <a:ext cx="24384000" cy="1440688"/>
            </a:xfrm>
            <a:custGeom>
              <a:avLst/>
              <a:gdLst/>
              <a:ahLst/>
              <a:cxnLst/>
              <a:rect l="l" t="t" r="r" b="b"/>
              <a:pathLst>
                <a:path w="24384000" h="1440688">
                  <a:moveTo>
                    <a:pt x="0" y="0"/>
                  </a:moveTo>
                  <a:lnTo>
                    <a:pt x="24384000" y="0"/>
                  </a:lnTo>
                  <a:lnTo>
                    <a:pt x="24384000" y="1440688"/>
                  </a:lnTo>
                  <a:lnTo>
                    <a:pt x="0" y="1440688"/>
                  </a:lnTo>
                  <a:lnTo>
                    <a:pt x="0" y="0"/>
                  </a:lnTo>
                  <a:close/>
                </a:path>
              </a:pathLst>
            </a:custGeom>
            <a:blipFill>
              <a:blip r:embed="rId3"/>
              <a:stretch>
                <a:fillRect t="-364" b="-364"/>
              </a:stretch>
            </a:blipFill>
          </p:spPr>
        </p:sp>
      </p:grpSp>
      <p:grpSp>
        <p:nvGrpSpPr>
          <p:cNvPr id="4" name="Group 4"/>
          <p:cNvGrpSpPr/>
          <p:nvPr/>
        </p:nvGrpSpPr>
        <p:grpSpPr>
          <a:xfrm>
            <a:off x="15473315" y="9370285"/>
            <a:ext cx="1741541" cy="745693"/>
            <a:chOff x="0" y="0"/>
            <a:chExt cx="2322055" cy="994258"/>
          </a:xfrm>
        </p:grpSpPr>
        <p:sp>
          <p:nvSpPr>
            <p:cNvPr id="5" name="Freeform 5"/>
            <p:cNvSpPr/>
            <p:nvPr/>
          </p:nvSpPr>
          <p:spPr>
            <a:xfrm>
              <a:off x="0" y="0"/>
              <a:ext cx="2322068" cy="994283"/>
            </a:xfrm>
            <a:custGeom>
              <a:avLst/>
              <a:gdLst/>
              <a:ahLst/>
              <a:cxnLst/>
              <a:rect l="l" t="t" r="r" b="b"/>
              <a:pathLst>
                <a:path w="2322068" h="994283">
                  <a:moveTo>
                    <a:pt x="0" y="0"/>
                  </a:moveTo>
                  <a:lnTo>
                    <a:pt x="2322068" y="0"/>
                  </a:lnTo>
                  <a:lnTo>
                    <a:pt x="2322068" y="994283"/>
                  </a:lnTo>
                  <a:lnTo>
                    <a:pt x="0" y="994283"/>
                  </a:lnTo>
                  <a:lnTo>
                    <a:pt x="0" y="0"/>
                  </a:lnTo>
                  <a:close/>
                </a:path>
              </a:pathLst>
            </a:custGeom>
            <a:blipFill>
              <a:blip r:embed="rId4"/>
              <a:stretch>
                <a:fillRect b="-1456"/>
              </a:stretch>
            </a:blipFill>
          </p:spPr>
        </p:sp>
      </p:grpSp>
      <p:grpSp>
        <p:nvGrpSpPr>
          <p:cNvPr id="6" name="Group 6"/>
          <p:cNvGrpSpPr/>
          <p:nvPr/>
        </p:nvGrpSpPr>
        <p:grpSpPr>
          <a:xfrm>
            <a:off x="9981438" y="9581550"/>
            <a:ext cx="4114800" cy="392420"/>
            <a:chOff x="0" y="0"/>
            <a:chExt cx="5486400" cy="523227"/>
          </a:xfrm>
        </p:grpSpPr>
        <p:sp>
          <p:nvSpPr>
            <p:cNvPr id="7" name="Freeform 7"/>
            <p:cNvSpPr/>
            <p:nvPr/>
          </p:nvSpPr>
          <p:spPr>
            <a:xfrm>
              <a:off x="0" y="0"/>
              <a:ext cx="5486400" cy="523222"/>
            </a:xfrm>
            <a:custGeom>
              <a:avLst/>
              <a:gdLst/>
              <a:ahLst/>
              <a:cxnLst/>
              <a:rect l="l" t="t" r="r" b="b"/>
              <a:pathLst>
                <a:path w="5486400" h="523222">
                  <a:moveTo>
                    <a:pt x="0" y="0"/>
                  </a:moveTo>
                  <a:lnTo>
                    <a:pt x="5486400" y="0"/>
                  </a:lnTo>
                  <a:lnTo>
                    <a:pt x="5486400" y="523222"/>
                  </a:lnTo>
                  <a:lnTo>
                    <a:pt x="0" y="523222"/>
                  </a:lnTo>
                  <a:close/>
                </a:path>
              </a:pathLst>
            </a:custGeom>
            <a:blipFill>
              <a:blip r:embed="rId5">
                <a:alphaModFix amt="0"/>
              </a:blip>
              <a:stretch>
                <a:fillRect t="-154315" b="-154316"/>
              </a:stretch>
            </a:blipFill>
          </p:spPr>
        </p:sp>
        <p:sp>
          <p:nvSpPr>
            <p:cNvPr id="8" name="TextBox 8"/>
            <p:cNvSpPr txBox="1"/>
            <p:nvPr/>
          </p:nvSpPr>
          <p:spPr>
            <a:xfrm>
              <a:off x="0" y="-9525"/>
              <a:ext cx="5486400" cy="532752"/>
            </a:xfrm>
            <a:prstGeom prst="rect">
              <a:avLst/>
            </a:prstGeom>
          </p:spPr>
          <p:txBody>
            <a:bodyPr lIns="0" tIns="0" rIns="0" bIns="0" rtlCol="0" anchor="ctr"/>
            <a:lstStyle/>
            <a:p>
              <a:pPr algn="r">
                <a:lnSpc>
                  <a:spcPts val="2520"/>
                </a:lnSpc>
              </a:pPr>
              <a:r>
                <a:rPr lang="en-US" sz="2100">
                  <a:solidFill>
                    <a:srgbClr val="BFBFBF"/>
                  </a:solidFill>
                  <a:latin typeface="Roboto"/>
                  <a:ea typeface="Roboto"/>
                  <a:cs typeface="Roboto"/>
                  <a:sym typeface="Roboto"/>
                </a:rPr>
                <a:t>‹#›</a:t>
              </a:r>
            </a:p>
          </p:txBody>
        </p:sp>
      </p:grpSp>
      <p:grpSp>
        <p:nvGrpSpPr>
          <p:cNvPr id="9" name="Group 9"/>
          <p:cNvGrpSpPr/>
          <p:nvPr/>
        </p:nvGrpSpPr>
        <p:grpSpPr>
          <a:xfrm>
            <a:off x="451542" y="300771"/>
            <a:ext cx="15770323" cy="767782"/>
            <a:chOff x="0" y="0"/>
            <a:chExt cx="21027098" cy="1023710"/>
          </a:xfrm>
        </p:grpSpPr>
        <p:sp>
          <p:nvSpPr>
            <p:cNvPr id="10" name="Freeform 10"/>
            <p:cNvSpPr/>
            <p:nvPr/>
          </p:nvSpPr>
          <p:spPr>
            <a:xfrm>
              <a:off x="0" y="0"/>
              <a:ext cx="21027095" cy="1023711"/>
            </a:xfrm>
            <a:custGeom>
              <a:avLst/>
              <a:gdLst/>
              <a:ahLst/>
              <a:cxnLst/>
              <a:rect l="l" t="t" r="r" b="b"/>
              <a:pathLst>
                <a:path w="21027095" h="1023711">
                  <a:moveTo>
                    <a:pt x="0" y="0"/>
                  </a:moveTo>
                  <a:lnTo>
                    <a:pt x="21027095" y="0"/>
                  </a:lnTo>
                  <a:lnTo>
                    <a:pt x="21027095" y="1023711"/>
                  </a:lnTo>
                  <a:lnTo>
                    <a:pt x="0" y="1023711"/>
                  </a:lnTo>
                  <a:close/>
                </a:path>
              </a:pathLst>
            </a:custGeom>
            <a:blipFill>
              <a:blip r:embed="rId5">
                <a:alphaModFix amt="0"/>
              </a:blip>
              <a:stretch>
                <a:fillRect t="-350224" b="-350223"/>
              </a:stretch>
            </a:blipFill>
          </p:spPr>
        </p:sp>
        <p:sp>
          <p:nvSpPr>
            <p:cNvPr id="11" name="TextBox 11"/>
            <p:cNvSpPr txBox="1"/>
            <p:nvPr/>
          </p:nvSpPr>
          <p:spPr>
            <a:xfrm>
              <a:off x="0" y="19050"/>
              <a:ext cx="21027098" cy="1004660"/>
            </a:xfrm>
            <a:prstGeom prst="rect">
              <a:avLst/>
            </a:prstGeom>
          </p:spPr>
          <p:txBody>
            <a:bodyPr lIns="0" tIns="0" rIns="0" bIns="0" rtlCol="0" anchor="b"/>
            <a:lstStyle/>
            <a:p>
              <a:pPr algn="l">
                <a:lnSpc>
                  <a:spcPts val="3888"/>
                </a:lnSpc>
              </a:pPr>
              <a:r>
                <a:rPr lang="en-US" sz="3600">
                  <a:solidFill>
                    <a:srgbClr val="EE0033"/>
                  </a:solidFill>
                  <a:latin typeface="Arial"/>
                  <a:ea typeface="Arial"/>
                  <a:cs typeface="Arial"/>
                  <a:sym typeface="Arial"/>
                </a:rPr>
                <a:t>I. PROCESS:</a:t>
              </a:r>
            </a:p>
          </p:txBody>
        </p:sp>
      </p:grpSp>
      <p:sp>
        <p:nvSpPr>
          <p:cNvPr id="12" name="Freeform 12"/>
          <p:cNvSpPr/>
          <p:nvPr/>
        </p:nvSpPr>
        <p:spPr>
          <a:xfrm>
            <a:off x="5366496" y="3876394"/>
            <a:ext cx="7140283" cy="4929863"/>
          </a:xfrm>
          <a:custGeom>
            <a:avLst/>
            <a:gdLst/>
            <a:ahLst/>
            <a:cxnLst/>
            <a:rect l="l" t="t" r="r" b="b"/>
            <a:pathLst>
              <a:path w="7140283" h="4929863">
                <a:moveTo>
                  <a:pt x="0" y="0"/>
                </a:moveTo>
                <a:lnTo>
                  <a:pt x="7140283" y="0"/>
                </a:lnTo>
                <a:lnTo>
                  <a:pt x="7140283" y="4929863"/>
                </a:lnTo>
                <a:lnTo>
                  <a:pt x="0" y="4929863"/>
                </a:lnTo>
                <a:lnTo>
                  <a:pt x="0" y="0"/>
                </a:lnTo>
                <a:close/>
              </a:path>
            </a:pathLst>
          </a:custGeom>
          <a:blipFill>
            <a:blip r:embed="rId6"/>
            <a:stretch>
              <a:fillRect/>
            </a:stretch>
          </a:blipFill>
        </p:spPr>
      </p:sp>
      <p:sp>
        <p:nvSpPr>
          <p:cNvPr id="13" name="TextBox 13"/>
          <p:cNvSpPr txBox="1"/>
          <p:nvPr/>
        </p:nvSpPr>
        <p:spPr>
          <a:xfrm>
            <a:off x="840743" y="9548498"/>
            <a:ext cx="7754617" cy="323850"/>
          </a:xfrm>
          <a:prstGeom prst="rect">
            <a:avLst/>
          </a:prstGeom>
        </p:spPr>
        <p:txBody>
          <a:bodyPr lIns="0" tIns="0" rIns="0" bIns="0" rtlCol="0" anchor="t">
            <a:spAutoFit/>
          </a:bodyPr>
          <a:lstStyle/>
          <a:p>
            <a:pPr algn="l">
              <a:lnSpc>
                <a:spcPts val="2520"/>
              </a:lnSpc>
            </a:pPr>
            <a:r>
              <a:rPr lang="en-US" sz="2100" spc="450">
                <a:solidFill>
                  <a:srgbClr val="BFBFBF"/>
                </a:solidFill>
                <a:latin typeface="Arial"/>
                <a:ea typeface="Arial"/>
                <a:cs typeface="Arial"/>
                <a:sym typeface="Arial"/>
              </a:rPr>
              <a:t>www.viettelhightech.vn </a:t>
            </a:r>
          </a:p>
        </p:txBody>
      </p:sp>
      <p:sp>
        <p:nvSpPr>
          <p:cNvPr id="14" name="TextBox 14"/>
          <p:cNvSpPr txBox="1"/>
          <p:nvPr/>
        </p:nvSpPr>
        <p:spPr>
          <a:xfrm>
            <a:off x="451542" y="1237783"/>
            <a:ext cx="6887599" cy="521589"/>
          </a:xfrm>
          <a:prstGeom prst="rect">
            <a:avLst/>
          </a:prstGeom>
        </p:spPr>
        <p:txBody>
          <a:bodyPr lIns="0" tIns="0" rIns="0" bIns="0" rtlCol="0" anchor="t">
            <a:spAutoFit/>
          </a:bodyPr>
          <a:lstStyle/>
          <a:p>
            <a:pPr algn="l">
              <a:lnSpc>
                <a:spcPts val="3888"/>
              </a:lnSpc>
              <a:spcBef>
                <a:spcPct val="0"/>
              </a:spcBef>
            </a:pPr>
            <a:r>
              <a:rPr lang="en-US" sz="3600">
                <a:solidFill>
                  <a:srgbClr val="EE0033"/>
                </a:solidFill>
                <a:latin typeface="Arial"/>
                <a:ea typeface="Arial"/>
                <a:cs typeface="Arial"/>
                <a:sym typeface="Arial"/>
              </a:rPr>
              <a:t>Program và process:</a:t>
            </a:r>
          </a:p>
        </p:txBody>
      </p:sp>
      <p:sp>
        <p:nvSpPr>
          <p:cNvPr id="15" name="TextBox 15"/>
          <p:cNvSpPr txBox="1"/>
          <p:nvPr/>
        </p:nvSpPr>
        <p:spPr>
          <a:xfrm>
            <a:off x="999658" y="1921297"/>
            <a:ext cx="14123560" cy="915543"/>
          </a:xfrm>
          <a:prstGeom prst="rect">
            <a:avLst/>
          </a:prstGeom>
        </p:spPr>
        <p:txBody>
          <a:bodyPr lIns="0" tIns="0" rIns="0" bIns="0" rtlCol="0" anchor="t">
            <a:spAutoFit/>
          </a:bodyPr>
          <a:lstStyle/>
          <a:p>
            <a:pPr algn="l">
              <a:lnSpc>
                <a:spcPts val="3456"/>
              </a:lnSpc>
              <a:spcBef>
                <a:spcPct val="0"/>
              </a:spcBef>
            </a:pPr>
            <a:r>
              <a:rPr lang="en-US" sz="3200">
                <a:solidFill>
                  <a:srgbClr val="000000"/>
                </a:solidFill>
                <a:latin typeface="Arial"/>
                <a:ea typeface="Arial"/>
                <a:cs typeface="Arial"/>
                <a:sym typeface="Arial"/>
              </a:rPr>
              <a:t>    Chương trình là một tệp chứa code và dữ liệu tĩnh trong file thực thi, được lưu trên ổ đĩa.</a:t>
            </a:r>
          </a:p>
        </p:txBody>
      </p:sp>
      <p:sp>
        <p:nvSpPr>
          <p:cNvPr id="16" name="TextBox 16"/>
          <p:cNvSpPr txBox="1"/>
          <p:nvPr/>
        </p:nvSpPr>
        <p:spPr>
          <a:xfrm>
            <a:off x="999658" y="2998765"/>
            <a:ext cx="14123560" cy="477393"/>
          </a:xfrm>
          <a:prstGeom prst="rect">
            <a:avLst/>
          </a:prstGeom>
        </p:spPr>
        <p:txBody>
          <a:bodyPr lIns="0" tIns="0" rIns="0" bIns="0" rtlCol="0" anchor="t">
            <a:spAutoFit/>
          </a:bodyPr>
          <a:lstStyle/>
          <a:p>
            <a:pPr algn="l">
              <a:lnSpc>
                <a:spcPts val="3456"/>
              </a:lnSpc>
              <a:spcBef>
                <a:spcPct val="0"/>
              </a:spcBef>
            </a:pPr>
            <a:r>
              <a:rPr lang="en-US" sz="3200">
                <a:solidFill>
                  <a:srgbClr val="000000"/>
                </a:solidFill>
                <a:latin typeface="Arial"/>
                <a:ea typeface="Arial"/>
                <a:cs typeface="Arial"/>
                <a:sym typeface="Arial"/>
              </a:rPr>
              <a:t>Tiến trình là 1 chương trình đang được thực thi trên RAM.</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9206494"/>
            <a:ext cx="18288000" cy="1080506"/>
            <a:chOff x="0" y="0"/>
            <a:chExt cx="24384000" cy="1440675"/>
          </a:xfrm>
        </p:grpSpPr>
        <p:sp>
          <p:nvSpPr>
            <p:cNvPr id="3" name="Freeform 3"/>
            <p:cNvSpPr/>
            <p:nvPr/>
          </p:nvSpPr>
          <p:spPr>
            <a:xfrm>
              <a:off x="0" y="0"/>
              <a:ext cx="24384000" cy="1440688"/>
            </a:xfrm>
            <a:custGeom>
              <a:avLst/>
              <a:gdLst/>
              <a:ahLst/>
              <a:cxnLst/>
              <a:rect l="l" t="t" r="r" b="b"/>
              <a:pathLst>
                <a:path w="24384000" h="1440688">
                  <a:moveTo>
                    <a:pt x="0" y="0"/>
                  </a:moveTo>
                  <a:lnTo>
                    <a:pt x="24384000" y="0"/>
                  </a:lnTo>
                  <a:lnTo>
                    <a:pt x="24384000" y="1440688"/>
                  </a:lnTo>
                  <a:lnTo>
                    <a:pt x="0" y="1440688"/>
                  </a:lnTo>
                  <a:lnTo>
                    <a:pt x="0" y="0"/>
                  </a:lnTo>
                  <a:close/>
                </a:path>
              </a:pathLst>
            </a:custGeom>
            <a:blipFill>
              <a:blip r:embed="rId3"/>
              <a:stretch>
                <a:fillRect t="-364" b="-364"/>
              </a:stretch>
            </a:blipFill>
          </p:spPr>
        </p:sp>
      </p:grpSp>
      <p:grpSp>
        <p:nvGrpSpPr>
          <p:cNvPr id="4" name="Group 4"/>
          <p:cNvGrpSpPr/>
          <p:nvPr/>
        </p:nvGrpSpPr>
        <p:grpSpPr>
          <a:xfrm>
            <a:off x="15473315" y="9370285"/>
            <a:ext cx="1741541" cy="745693"/>
            <a:chOff x="0" y="0"/>
            <a:chExt cx="2322055" cy="994258"/>
          </a:xfrm>
        </p:grpSpPr>
        <p:sp>
          <p:nvSpPr>
            <p:cNvPr id="5" name="Freeform 5"/>
            <p:cNvSpPr/>
            <p:nvPr/>
          </p:nvSpPr>
          <p:spPr>
            <a:xfrm>
              <a:off x="0" y="0"/>
              <a:ext cx="2322068" cy="994283"/>
            </a:xfrm>
            <a:custGeom>
              <a:avLst/>
              <a:gdLst/>
              <a:ahLst/>
              <a:cxnLst/>
              <a:rect l="l" t="t" r="r" b="b"/>
              <a:pathLst>
                <a:path w="2322068" h="994283">
                  <a:moveTo>
                    <a:pt x="0" y="0"/>
                  </a:moveTo>
                  <a:lnTo>
                    <a:pt x="2322068" y="0"/>
                  </a:lnTo>
                  <a:lnTo>
                    <a:pt x="2322068" y="994283"/>
                  </a:lnTo>
                  <a:lnTo>
                    <a:pt x="0" y="994283"/>
                  </a:lnTo>
                  <a:lnTo>
                    <a:pt x="0" y="0"/>
                  </a:lnTo>
                  <a:close/>
                </a:path>
              </a:pathLst>
            </a:custGeom>
            <a:blipFill>
              <a:blip r:embed="rId4"/>
              <a:stretch>
                <a:fillRect b="-1456"/>
              </a:stretch>
            </a:blipFill>
          </p:spPr>
        </p:sp>
      </p:grpSp>
      <p:grpSp>
        <p:nvGrpSpPr>
          <p:cNvPr id="6" name="Group 6"/>
          <p:cNvGrpSpPr/>
          <p:nvPr/>
        </p:nvGrpSpPr>
        <p:grpSpPr>
          <a:xfrm>
            <a:off x="9981438" y="9581550"/>
            <a:ext cx="4114800" cy="392420"/>
            <a:chOff x="0" y="0"/>
            <a:chExt cx="5486400" cy="523227"/>
          </a:xfrm>
        </p:grpSpPr>
        <p:sp>
          <p:nvSpPr>
            <p:cNvPr id="7" name="Freeform 7"/>
            <p:cNvSpPr/>
            <p:nvPr/>
          </p:nvSpPr>
          <p:spPr>
            <a:xfrm>
              <a:off x="0" y="0"/>
              <a:ext cx="5486400" cy="523222"/>
            </a:xfrm>
            <a:custGeom>
              <a:avLst/>
              <a:gdLst/>
              <a:ahLst/>
              <a:cxnLst/>
              <a:rect l="l" t="t" r="r" b="b"/>
              <a:pathLst>
                <a:path w="5486400" h="523222">
                  <a:moveTo>
                    <a:pt x="0" y="0"/>
                  </a:moveTo>
                  <a:lnTo>
                    <a:pt x="5486400" y="0"/>
                  </a:lnTo>
                  <a:lnTo>
                    <a:pt x="5486400" y="523222"/>
                  </a:lnTo>
                  <a:lnTo>
                    <a:pt x="0" y="523222"/>
                  </a:lnTo>
                  <a:close/>
                </a:path>
              </a:pathLst>
            </a:custGeom>
            <a:blipFill>
              <a:blip r:embed="rId5">
                <a:alphaModFix amt="0"/>
              </a:blip>
              <a:stretch>
                <a:fillRect t="-154315" b="-154316"/>
              </a:stretch>
            </a:blipFill>
          </p:spPr>
        </p:sp>
        <p:sp>
          <p:nvSpPr>
            <p:cNvPr id="8" name="TextBox 8"/>
            <p:cNvSpPr txBox="1"/>
            <p:nvPr/>
          </p:nvSpPr>
          <p:spPr>
            <a:xfrm>
              <a:off x="0" y="-9525"/>
              <a:ext cx="5486400" cy="532752"/>
            </a:xfrm>
            <a:prstGeom prst="rect">
              <a:avLst/>
            </a:prstGeom>
          </p:spPr>
          <p:txBody>
            <a:bodyPr lIns="0" tIns="0" rIns="0" bIns="0" rtlCol="0" anchor="ctr"/>
            <a:lstStyle/>
            <a:p>
              <a:pPr algn="r">
                <a:lnSpc>
                  <a:spcPts val="2520"/>
                </a:lnSpc>
              </a:pPr>
              <a:r>
                <a:rPr lang="en-US" sz="2100">
                  <a:solidFill>
                    <a:srgbClr val="BFBFBF"/>
                  </a:solidFill>
                  <a:latin typeface="Roboto"/>
                  <a:ea typeface="Roboto"/>
                  <a:cs typeface="Roboto"/>
                  <a:sym typeface="Roboto"/>
                </a:rPr>
                <a:t>‹#›</a:t>
              </a:r>
            </a:p>
          </p:txBody>
        </p:sp>
      </p:grpSp>
      <p:grpSp>
        <p:nvGrpSpPr>
          <p:cNvPr id="9" name="Group 9"/>
          <p:cNvGrpSpPr/>
          <p:nvPr/>
        </p:nvGrpSpPr>
        <p:grpSpPr>
          <a:xfrm>
            <a:off x="451542" y="300771"/>
            <a:ext cx="15770323" cy="767782"/>
            <a:chOff x="0" y="0"/>
            <a:chExt cx="21027098" cy="1023710"/>
          </a:xfrm>
        </p:grpSpPr>
        <p:sp>
          <p:nvSpPr>
            <p:cNvPr id="10" name="Freeform 10"/>
            <p:cNvSpPr/>
            <p:nvPr/>
          </p:nvSpPr>
          <p:spPr>
            <a:xfrm>
              <a:off x="0" y="0"/>
              <a:ext cx="21027095" cy="1023711"/>
            </a:xfrm>
            <a:custGeom>
              <a:avLst/>
              <a:gdLst/>
              <a:ahLst/>
              <a:cxnLst/>
              <a:rect l="l" t="t" r="r" b="b"/>
              <a:pathLst>
                <a:path w="21027095" h="1023711">
                  <a:moveTo>
                    <a:pt x="0" y="0"/>
                  </a:moveTo>
                  <a:lnTo>
                    <a:pt x="21027095" y="0"/>
                  </a:lnTo>
                  <a:lnTo>
                    <a:pt x="21027095" y="1023711"/>
                  </a:lnTo>
                  <a:lnTo>
                    <a:pt x="0" y="1023711"/>
                  </a:lnTo>
                  <a:close/>
                </a:path>
              </a:pathLst>
            </a:custGeom>
            <a:blipFill>
              <a:blip r:embed="rId5">
                <a:alphaModFix amt="0"/>
              </a:blip>
              <a:stretch>
                <a:fillRect t="-350224" b="-350223"/>
              </a:stretch>
            </a:blipFill>
          </p:spPr>
        </p:sp>
        <p:sp>
          <p:nvSpPr>
            <p:cNvPr id="11" name="TextBox 11"/>
            <p:cNvSpPr txBox="1"/>
            <p:nvPr/>
          </p:nvSpPr>
          <p:spPr>
            <a:xfrm>
              <a:off x="0" y="19050"/>
              <a:ext cx="21027098" cy="1004660"/>
            </a:xfrm>
            <a:prstGeom prst="rect">
              <a:avLst/>
            </a:prstGeom>
          </p:spPr>
          <p:txBody>
            <a:bodyPr lIns="0" tIns="0" rIns="0" bIns="0" rtlCol="0" anchor="b"/>
            <a:lstStyle/>
            <a:p>
              <a:pPr algn="l">
                <a:lnSpc>
                  <a:spcPts val="3888"/>
                </a:lnSpc>
              </a:pPr>
              <a:r>
                <a:rPr lang="en-US" sz="3600">
                  <a:solidFill>
                    <a:srgbClr val="EE0033"/>
                  </a:solidFill>
                  <a:latin typeface="Arial"/>
                  <a:ea typeface="Arial"/>
                  <a:cs typeface="Arial"/>
                  <a:sym typeface="Arial"/>
                </a:rPr>
                <a:t>I. PROCESS:</a:t>
              </a:r>
            </a:p>
          </p:txBody>
        </p:sp>
      </p:grpSp>
      <p:sp>
        <p:nvSpPr>
          <p:cNvPr id="12" name="Freeform 12"/>
          <p:cNvSpPr/>
          <p:nvPr/>
        </p:nvSpPr>
        <p:spPr>
          <a:xfrm>
            <a:off x="3376286" y="2876781"/>
            <a:ext cx="10700962" cy="4165424"/>
          </a:xfrm>
          <a:custGeom>
            <a:avLst/>
            <a:gdLst/>
            <a:ahLst/>
            <a:cxnLst/>
            <a:rect l="l" t="t" r="r" b="b"/>
            <a:pathLst>
              <a:path w="10700962" h="4165424">
                <a:moveTo>
                  <a:pt x="0" y="0"/>
                </a:moveTo>
                <a:lnTo>
                  <a:pt x="10700962" y="0"/>
                </a:lnTo>
                <a:lnTo>
                  <a:pt x="10700962" y="4165425"/>
                </a:lnTo>
                <a:lnTo>
                  <a:pt x="0" y="4165425"/>
                </a:lnTo>
                <a:lnTo>
                  <a:pt x="0" y="0"/>
                </a:lnTo>
                <a:close/>
              </a:path>
            </a:pathLst>
          </a:custGeom>
          <a:blipFill>
            <a:blip r:embed="rId6"/>
            <a:stretch>
              <a:fillRect t="-1585" r="-293" b="-451"/>
            </a:stretch>
          </a:blipFill>
        </p:spPr>
      </p:sp>
      <p:sp>
        <p:nvSpPr>
          <p:cNvPr id="13" name="TextBox 13"/>
          <p:cNvSpPr txBox="1"/>
          <p:nvPr/>
        </p:nvSpPr>
        <p:spPr>
          <a:xfrm>
            <a:off x="840743" y="9548498"/>
            <a:ext cx="7754617" cy="323850"/>
          </a:xfrm>
          <a:prstGeom prst="rect">
            <a:avLst/>
          </a:prstGeom>
        </p:spPr>
        <p:txBody>
          <a:bodyPr lIns="0" tIns="0" rIns="0" bIns="0" rtlCol="0" anchor="t">
            <a:spAutoFit/>
          </a:bodyPr>
          <a:lstStyle/>
          <a:p>
            <a:pPr algn="l">
              <a:lnSpc>
                <a:spcPts val="2520"/>
              </a:lnSpc>
            </a:pPr>
            <a:r>
              <a:rPr lang="en-US" sz="2100" spc="450">
                <a:solidFill>
                  <a:srgbClr val="BFBFBF"/>
                </a:solidFill>
                <a:latin typeface="Arial"/>
                <a:ea typeface="Arial"/>
                <a:cs typeface="Arial"/>
                <a:sym typeface="Arial"/>
              </a:rPr>
              <a:t>www.viettelhightech.vn </a:t>
            </a:r>
          </a:p>
        </p:txBody>
      </p:sp>
      <p:sp>
        <p:nvSpPr>
          <p:cNvPr id="14" name="TextBox 14"/>
          <p:cNvSpPr txBox="1"/>
          <p:nvPr/>
        </p:nvSpPr>
        <p:spPr>
          <a:xfrm>
            <a:off x="451542" y="1237783"/>
            <a:ext cx="6887599" cy="521589"/>
          </a:xfrm>
          <a:prstGeom prst="rect">
            <a:avLst/>
          </a:prstGeom>
        </p:spPr>
        <p:txBody>
          <a:bodyPr lIns="0" tIns="0" rIns="0" bIns="0" rtlCol="0" anchor="t">
            <a:spAutoFit/>
          </a:bodyPr>
          <a:lstStyle/>
          <a:p>
            <a:pPr algn="l">
              <a:lnSpc>
                <a:spcPts val="3888"/>
              </a:lnSpc>
              <a:spcBef>
                <a:spcPct val="0"/>
              </a:spcBef>
            </a:pPr>
            <a:r>
              <a:rPr lang="en-US" sz="3600">
                <a:solidFill>
                  <a:srgbClr val="EE0033"/>
                </a:solidFill>
                <a:latin typeface="Arial"/>
                <a:ea typeface="Arial"/>
                <a:cs typeface="Arial"/>
                <a:sym typeface="Arial"/>
              </a:rPr>
              <a:t>Các trạng thái của process:</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9206494"/>
            <a:ext cx="18288000" cy="1080506"/>
            <a:chOff x="0" y="0"/>
            <a:chExt cx="24384000" cy="1440675"/>
          </a:xfrm>
        </p:grpSpPr>
        <p:sp>
          <p:nvSpPr>
            <p:cNvPr id="3" name="Freeform 3"/>
            <p:cNvSpPr/>
            <p:nvPr/>
          </p:nvSpPr>
          <p:spPr>
            <a:xfrm>
              <a:off x="0" y="0"/>
              <a:ext cx="24384000" cy="1440688"/>
            </a:xfrm>
            <a:custGeom>
              <a:avLst/>
              <a:gdLst/>
              <a:ahLst/>
              <a:cxnLst/>
              <a:rect l="l" t="t" r="r" b="b"/>
              <a:pathLst>
                <a:path w="24384000" h="1440688">
                  <a:moveTo>
                    <a:pt x="0" y="0"/>
                  </a:moveTo>
                  <a:lnTo>
                    <a:pt x="24384000" y="0"/>
                  </a:lnTo>
                  <a:lnTo>
                    <a:pt x="24384000" y="1440688"/>
                  </a:lnTo>
                  <a:lnTo>
                    <a:pt x="0" y="1440688"/>
                  </a:lnTo>
                  <a:lnTo>
                    <a:pt x="0" y="0"/>
                  </a:lnTo>
                  <a:close/>
                </a:path>
              </a:pathLst>
            </a:custGeom>
            <a:blipFill>
              <a:blip r:embed="rId3"/>
              <a:stretch>
                <a:fillRect t="-364" b="-364"/>
              </a:stretch>
            </a:blipFill>
          </p:spPr>
        </p:sp>
      </p:grpSp>
      <p:grpSp>
        <p:nvGrpSpPr>
          <p:cNvPr id="4" name="Group 4"/>
          <p:cNvGrpSpPr/>
          <p:nvPr/>
        </p:nvGrpSpPr>
        <p:grpSpPr>
          <a:xfrm>
            <a:off x="15473315" y="9370285"/>
            <a:ext cx="1741541" cy="745693"/>
            <a:chOff x="0" y="0"/>
            <a:chExt cx="2322055" cy="994258"/>
          </a:xfrm>
        </p:grpSpPr>
        <p:sp>
          <p:nvSpPr>
            <p:cNvPr id="5" name="Freeform 5"/>
            <p:cNvSpPr/>
            <p:nvPr/>
          </p:nvSpPr>
          <p:spPr>
            <a:xfrm>
              <a:off x="0" y="0"/>
              <a:ext cx="2322068" cy="994283"/>
            </a:xfrm>
            <a:custGeom>
              <a:avLst/>
              <a:gdLst/>
              <a:ahLst/>
              <a:cxnLst/>
              <a:rect l="l" t="t" r="r" b="b"/>
              <a:pathLst>
                <a:path w="2322068" h="994283">
                  <a:moveTo>
                    <a:pt x="0" y="0"/>
                  </a:moveTo>
                  <a:lnTo>
                    <a:pt x="2322068" y="0"/>
                  </a:lnTo>
                  <a:lnTo>
                    <a:pt x="2322068" y="994283"/>
                  </a:lnTo>
                  <a:lnTo>
                    <a:pt x="0" y="994283"/>
                  </a:lnTo>
                  <a:lnTo>
                    <a:pt x="0" y="0"/>
                  </a:lnTo>
                  <a:close/>
                </a:path>
              </a:pathLst>
            </a:custGeom>
            <a:blipFill>
              <a:blip r:embed="rId4"/>
              <a:stretch>
                <a:fillRect b="-1456"/>
              </a:stretch>
            </a:blipFill>
          </p:spPr>
        </p:sp>
      </p:grpSp>
      <p:grpSp>
        <p:nvGrpSpPr>
          <p:cNvPr id="6" name="Group 6"/>
          <p:cNvGrpSpPr/>
          <p:nvPr/>
        </p:nvGrpSpPr>
        <p:grpSpPr>
          <a:xfrm>
            <a:off x="9981438" y="9581550"/>
            <a:ext cx="4114800" cy="392420"/>
            <a:chOff x="0" y="0"/>
            <a:chExt cx="5486400" cy="523227"/>
          </a:xfrm>
        </p:grpSpPr>
        <p:sp>
          <p:nvSpPr>
            <p:cNvPr id="7" name="Freeform 7"/>
            <p:cNvSpPr/>
            <p:nvPr/>
          </p:nvSpPr>
          <p:spPr>
            <a:xfrm>
              <a:off x="0" y="0"/>
              <a:ext cx="5486400" cy="523222"/>
            </a:xfrm>
            <a:custGeom>
              <a:avLst/>
              <a:gdLst/>
              <a:ahLst/>
              <a:cxnLst/>
              <a:rect l="l" t="t" r="r" b="b"/>
              <a:pathLst>
                <a:path w="5486400" h="523222">
                  <a:moveTo>
                    <a:pt x="0" y="0"/>
                  </a:moveTo>
                  <a:lnTo>
                    <a:pt x="5486400" y="0"/>
                  </a:lnTo>
                  <a:lnTo>
                    <a:pt x="5486400" y="523222"/>
                  </a:lnTo>
                  <a:lnTo>
                    <a:pt x="0" y="523222"/>
                  </a:lnTo>
                  <a:close/>
                </a:path>
              </a:pathLst>
            </a:custGeom>
            <a:blipFill>
              <a:blip r:embed="rId5">
                <a:alphaModFix amt="0"/>
              </a:blip>
              <a:stretch>
                <a:fillRect t="-154315" b="-154316"/>
              </a:stretch>
            </a:blipFill>
          </p:spPr>
        </p:sp>
        <p:sp>
          <p:nvSpPr>
            <p:cNvPr id="8" name="TextBox 8"/>
            <p:cNvSpPr txBox="1"/>
            <p:nvPr/>
          </p:nvSpPr>
          <p:spPr>
            <a:xfrm>
              <a:off x="0" y="-9525"/>
              <a:ext cx="5486400" cy="532752"/>
            </a:xfrm>
            <a:prstGeom prst="rect">
              <a:avLst/>
            </a:prstGeom>
          </p:spPr>
          <p:txBody>
            <a:bodyPr lIns="0" tIns="0" rIns="0" bIns="0" rtlCol="0" anchor="ctr"/>
            <a:lstStyle/>
            <a:p>
              <a:pPr algn="r">
                <a:lnSpc>
                  <a:spcPts val="2520"/>
                </a:lnSpc>
              </a:pPr>
              <a:r>
                <a:rPr lang="en-US" sz="2100">
                  <a:solidFill>
                    <a:srgbClr val="BFBFBF"/>
                  </a:solidFill>
                  <a:latin typeface="Roboto"/>
                  <a:ea typeface="Roboto"/>
                  <a:cs typeface="Roboto"/>
                  <a:sym typeface="Roboto"/>
                </a:rPr>
                <a:t>‹#›</a:t>
              </a:r>
            </a:p>
          </p:txBody>
        </p:sp>
      </p:grpSp>
      <p:grpSp>
        <p:nvGrpSpPr>
          <p:cNvPr id="9" name="Group 9"/>
          <p:cNvGrpSpPr/>
          <p:nvPr/>
        </p:nvGrpSpPr>
        <p:grpSpPr>
          <a:xfrm>
            <a:off x="451542" y="300771"/>
            <a:ext cx="15770323" cy="767782"/>
            <a:chOff x="0" y="0"/>
            <a:chExt cx="21027098" cy="1023710"/>
          </a:xfrm>
        </p:grpSpPr>
        <p:sp>
          <p:nvSpPr>
            <p:cNvPr id="10" name="Freeform 10"/>
            <p:cNvSpPr/>
            <p:nvPr/>
          </p:nvSpPr>
          <p:spPr>
            <a:xfrm>
              <a:off x="0" y="0"/>
              <a:ext cx="21027095" cy="1023711"/>
            </a:xfrm>
            <a:custGeom>
              <a:avLst/>
              <a:gdLst/>
              <a:ahLst/>
              <a:cxnLst/>
              <a:rect l="l" t="t" r="r" b="b"/>
              <a:pathLst>
                <a:path w="21027095" h="1023711">
                  <a:moveTo>
                    <a:pt x="0" y="0"/>
                  </a:moveTo>
                  <a:lnTo>
                    <a:pt x="21027095" y="0"/>
                  </a:lnTo>
                  <a:lnTo>
                    <a:pt x="21027095" y="1023711"/>
                  </a:lnTo>
                  <a:lnTo>
                    <a:pt x="0" y="1023711"/>
                  </a:lnTo>
                  <a:close/>
                </a:path>
              </a:pathLst>
            </a:custGeom>
            <a:blipFill>
              <a:blip r:embed="rId5">
                <a:alphaModFix amt="0"/>
              </a:blip>
              <a:stretch>
                <a:fillRect t="-350224" b="-350223"/>
              </a:stretch>
            </a:blipFill>
          </p:spPr>
        </p:sp>
        <p:sp>
          <p:nvSpPr>
            <p:cNvPr id="11" name="TextBox 11"/>
            <p:cNvSpPr txBox="1"/>
            <p:nvPr/>
          </p:nvSpPr>
          <p:spPr>
            <a:xfrm>
              <a:off x="0" y="19050"/>
              <a:ext cx="21027098" cy="1004660"/>
            </a:xfrm>
            <a:prstGeom prst="rect">
              <a:avLst/>
            </a:prstGeom>
          </p:spPr>
          <p:txBody>
            <a:bodyPr lIns="0" tIns="0" rIns="0" bIns="0" rtlCol="0" anchor="b"/>
            <a:lstStyle/>
            <a:p>
              <a:pPr algn="l">
                <a:lnSpc>
                  <a:spcPts val="3888"/>
                </a:lnSpc>
              </a:pPr>
              <a:r>
                <a:rPr lang="en-US" sz="3600">
                  <a:solidFill>
                    <a:srgbClr val="EE0033"/>
                  </a:solidFill>
                  <a:latin typeface="Arial"/>
                  <a:ea typeface="Arial"/>
                  <a:cs typeface="Arial"/>
                  <a:sym typeface="Arial"/>
                </a:rPr>
                <a:t>I. PROCESS:</a:t>
              </a:r>
            </a:p>
          </p:txBody>
        </p:sp>
      </p:grpSp>
      <p:sp>
        <p:nvSpPr>
          <p:cNvPr id="12" name="TextBox 12"/>
          <p:cNvSpPr txBox="1"/>
          <p:nvPr/>
        </p:nvSpPr>
        <p:spPr>
          <a:xfrm>
            <a:off x="840743" y="9548498"/>
            <a:ext cx="7754617" cy="323850"/>
          </a:xfrm>
          <a:prstGeom prst="rect">
            <a:avLst/>
          </a:prstGeom>
        </p:spPr>
        <p:txBody>
          <a:bodyPr lIns="0" tIns="0" rIns="0" bIns="0" rtlCol="0" anchor="t">
            <a:spAutoFit/>
          </a:bodyPr>
          <a:lstStyle/>
          <a:p>
            <a:pPr algn="l">
              <a:lnSpc>
                <a:spcPts val="2520"/>
              </a:lnSpc>
            </a:pPr>
            <a:r>
              <a:rPr lang="en-US" sz="2100" spc="450">
                <a:solidFill>
                  <a:srgbClr val="BFBFBF"/>
                </a:solidFill>
                <a:latin typeface="Arial"/>
                <a:ea typeface="Arial"/>
                <a:cs typeface="Arial"/>
                <a:sym typeface="Arial"/>
              </a:rPr>
              <a:t>www.viettelhightech.vn </a:t>
            </a:r>
          </a:p>
        </p:txBody>
      </p:sp>
      <p:sp>
        <p:nvSpPr>
          <p:cNvPr id="13" name="TextBox 13"/>
          <p:cNvSpPr txBox="1"/>
          <p:nvPr/>
        </p:nvSpPr>
        <p:spPr>
          <a:xfrm>
            <a:off x="451542" y="1237783"/>
            <a:ext cx="6887599" cy="521589"/>
          </a:xfrm>
          <a:prstGeom prst="rect">
            <a:avLst/>
          </a:prstGeom>
        </p:spPr>
        <p:txBody>
          <a:bodyPr lIns="0" tIns="0" rIns="0" bIns="0" rtlCol="0" anchor="t">
            <a:spAutoFit/>
          </a:bodyPr>
          <a:lstStyle/>
          <a:p>
            <a:pPr algn="l">
              <a:lnSpc>
                <a:spcPts val="3888"/>
              </a:lnSpc>
              <a:spcBef>
                <a:spcPct val="0"/>
              </a:spcBef>
            </a:pPr>
            <a:r>
              <a:rPr lang="en-US" sz="3600">
                <a:solidFill>
                  <a:srgbClr val="EE0033"/>
                </a:solidFill>
                <a:latin typeface="Arial"/>
                <a:ea typeface="Arial"/>
                <a:cs typeface="Arial"/>
                <a:sym typeface="Arial"/>
              </a:rPr>
              <a:t>Process ID:</a:t>
            </a:r>
          </a:p>
        </p:txBody>
      </p:sp>
      <p:sp>
        <p:nvSpPr>
          <p:cNvPr id="14" name="TextBox 14"/>
          <p:cNvSpPr txBox="1"/>
          <p:nvPr/>
        </p:nvSpPr>
        <p:spPr>
          <a:xfrm>
            <a:off x="451542" y="1930822"/>
            <a:ext cx="17447257" cy="1007364"/>
          </a:xfrm>
          <a:prstGeom prst="rect">
            <a:avLst/>
          </a:prstGeom>
        </p:spPr>
        <p:txBody>
          <a:bodyPr lIns="0" tIns="0" rIns="0" bIns="0" rtlCol="0" anchor="t">
            <a:spAutoFit/>
          </a:bodyPr>
          <a:lstStyle/>
          <a:p>
            <a:pPr algn="l">
              <a:lnSpc>
                <a:spcPts val="3888"/>
              </a:lnSpc>
              <a:spcBef>
                <a:spcPct val="0"/>
              </a:spcBef>
            </a:pPr>
            <a:r>
              <a:rPr lang="en-US" sz="3600">
                <a:solidFill>
                  <a:srgbClr val="000000"/>
                </a:solidFill>
                <a:latin typeface="Arial"/>
                <a:ea typeface="Arial"/>
                <a:cs typeface="Arial"/>
                <a:sym typeface="Arial"/>
              </a:rPr>
              <a:t>Mỗi tiến trình đều có một process ID (PID), là một số nguyên dương dùng để định danh duy nhất tiến trình trong hệ thống.</a:t>
            </a:r>
          </a:p>
        </p:txBody>
      </p:sp>
      <p:sp>
        <p:nvSpPr>
          <p:cNvPr id="15" name="TextBox 15"/>
          <p:cNvSpPr txBox="1"/>
          <p:nvPr/>
        </p:nvSpPr>
        <p:spPr>
          <a:xfrm>
            <a:off x="451542" y="3286779"/>
            <a:ext cx="17092558" cy="1007364"/>
          </a:xfrm>
          <a:prstGeom prst="rect">
            <a:avLst/>
          </a:prstGeom>
        </p:spPr>
        <p:txBody>
          <a:bodyPr lIns="0" tIns="0" rIns="0" bIns="0" rtlCol="0" anchor="t">
            <a:spAutoFit/>
          </a:bodyPr>
          <a:lstStyle/>
          <a:p>
            <a:pPr algn="l">
              <a:lnSpc>
                <a:spcPts val="3888"/>
              </a:lnSpc>
              <a:spcBef>
                <a:spcPct val="0"/>
              </a:spcBef>
            </a:pPr>
            <a:r>
              <a:rPr lang="en-US" sz="3600">
                <a:solidFill>
                  <a:srgbClr val="000000"/>
                </a:solidFill>
                <a:latin typeface="Arial"/>
                <a:ea typeface="Arial"/>
                <a:cs typeface="Arial"/>
                <a:sym typeface="Arial"/>
              </a:rPr>
              <a:t>System call getpid() trả về PID của tiến trình đang gọi nó. Tiến trình hệ thống init (PID = 1). </a:t>
            </a:r>
          </a:p>
        </p:txBody>
      </p:sp>
      <p:sp>
        <p:nvSpPr>
          <p:cNvPr id="16" name="TextBox 16"/>
          <p:cNvSpPr txBox="1"/>
          <p:nvPr/>
        </p:nvSpPr>
        <p:spPr>
          <a:xfrm>
            <a:off x="451542" y="4646568"/>
            <a:ext cx="15603587" cy="521589"/>
          </a:xfrm>
          <a:prstGeom prst="rect">
            <a:avLst/>
          </a:prstGeom>
        </p:spPr>
        <p:txBody>
          <a:bodyPr lIns="0" tIns="0" rIns="0" bIns="0" rtlCol="0" anchor="t">
            <a:spAutoFit/>
          </a:bodyPr>
          <a:lstStyle/>
          <a:p>
            <a:pPr algn="ctr">
              <a:lnSpc>
                <a:spcPts val="3888"/>
              </a:lnSpc>
              <a:spcBef>
                <a:spcPct val="0"/>
              </a:spcBef>
            </a:pPr>
            <a:r>
              <a:rPr lang="en-US" sz="3600">
                <a:solidFill>
                  <a:srgbClr val="000000"/>
                </a:solidFill>
                <a:latin typeface="Arial"/>
                <a:ea typeface="Arial"/>
                <a:cs typeface="Arial"/>
                <a:sym typeface="Arial"/>
              </a:rPr>
              <a:t>Một tiến trình con có thể lấy PID của tiến trình cha bằng system call getppid()</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9206494"/>
            <a:ext cx="18288000" cy="1080506"/>
            <a:chOff x="0" y="0"/>
            <a:chExt cx="24384000" cy="1440675"/>
          </a:xfrm>
        </p:grpSpPr>
        <p:sp>
          <p:nvSpPr>
            <p:cNvPr id="3" name="Freeform 3"/>
            <p:cNvSpPr/>
            <p:nvPr/>
          </p:nvSpPr>
          <p:spPr>
            <a:xfrm>
              <a:off x="0" y="0"/>
              <a:ext cx="24384000" cy="1440688"/>
            </a:xfrm>
            <a:custGeom>
              <a:avLst/>
              <a:gdLst/>
              <a:ahLst/>
              <a:cxnLst/>
              <a:rect l="l" t="t" r="r" b="b"/>
              <a:pathLst>
                <a:path w="24384000" h="1440688">
                  <a:moveTo>
                    <a:pt x="0" y="0"/>
                  </a:moveTo>
                  <a:lnTo>
                    <a:pt x="24384000" y="0"/>
                  </a:lnTo>
                  <a:lnTo>
                    <a:pt x="24384000" y="1440688"/>
                  </a:lnTo>
                  <a:lnTo>
                    <a:pt x="0" y="1440688"/>
                  </a:lnTo>
                  <a:lnTo>
                    <a:pt x="0" y="0"/>
                  </a:lnTo>
                  <a:close/>
                </a:path>
              </a:pathLst>
            </a:custGeom>
            <a:blipFill>
              <a:blip r:embed="rId3"/>
              <a:stretch>
                <a:fillRect t="-364" b="-364"/>
              </a:stretch>
            </a:blipFill>
          </p:spPr>
        </p:sp>
      </p:grpSp>
      <p:grpSp>
        <p:nvGrpSpPr>
          <p:cNvPr id="4" name="Group 4"/>
          <p:cNvGrpSpPr/>
          <p:nvPr/>
        </p:nvGrpSpPr>
        <p:grpSpPr>
          <a:xfrm>
            <a:off x="15473315" y="9370285"/>
            <a:ext cx="1741541" cy="745693"/>
            <a:chOff x="0" y="0"/>
            <a:chExt cx="2322055" cy="994258"/>
          </a:xfrm>
        </p:grpSpPr>
        <p:sp>
          <p:nvSpPr>
            <p:cNvPr id="5" name="Freeform 5"/>
            <p:cNvSpPr/>
            <p:nvPr/>
          </p:nvSpPr>
          <p:spPr>
            <a:xfrm>
              <a:off x="0" y="0"/>
              <a:ext cx="2322068" cy="994283"/>
            </a:xfrm>
            <a:custGeom>
              <a:avLst/>
              <a:gdLst/>
              <a:ahLst/>
              <a:cxnLst/>
              <a:rect l="l" t="t" r="r" b="b"/>
              <a:pathLst>
                <a:path w="2322068" h="994283">
                  <a:moveTo>
                    <a:pt x="0" y="0"/>
                  </a:moveTo>
                  <a:lnTo>
                    <a:pt x="2322068" y="0"/>
                  </a:lnTo>
                  <a:lnTo>
                    <a:pt x="2322068" y="994283"/>
                  </a:lnTo>
                  <a:lnTo>
                    <a:pt x="0" y="994283"/>
                  </a:lnTo>
                  <a:lnTo>
                    <a:pt x="0" y="0"/>
                  </a:lnTo>
                  <a:close/>
                </a:path>
              </a:pathLst>
            </a:custGeom>
            <a:blipFill>
              <a:blip r:embed="rId4"/>
              <a:stretch>
                <a:fillRect b="-1456"/>
              </a:stretch>
            </a:blipFill>
          </p:spPr>
        </p:sp>
      </p:grpSp>
      <p:grpSp>
        <p:nvGrpSpPr>
          <p:cNvPr id="6" name="Group 6"/>
          <p:cNvGrpSpPr/>
          <p:nvPr/>
        </p:nvGrpSpPr>
        <p:grpSpPr>
          <a:xfrm>
            <a:off x="9981438" y="9581550"/>
            <a:ext cx="4114800" cy="392420"/>
            <a:chOff x="0" y="0"/>
            <a:chExt cx="5486400" cy="523227"/>
          </a:xfrm>
        </p:grpSpPr>
        <p:sp>
          <p:nvSpPr>
            <p:cNvPr id="7" name="Freeform 7"/>
            <p:cNvSpPr/>
            <p:nvPr/>
          </p:nvSpPr>
          <p:spPr>
            <a:xfrm>
              <a:off x="0" y="0"/>
              <a:ext cx="5486400" cy="523222"/>
            </a:xfrm>
            <a:custGeom>
              <a:avLst/>
              <a:gdLst/>
              <a:ahLst/>
              <a:cxnLst/>
              <a:rect l="l" t="t" r="r" b="b"/>
              <a:pathLst>
                <a:path w="5486400" h="523222">
                  <a:moveTo>
                    <a:pt x="0" y="0"/>
                  </a:moveTo>
                  <a:lnTo>
                    <a:pt x="5486400" y="0"/>
                  </a:lnTo>
                  <a:lnTo>
                    <a:pt x="5486400" y="523222"/>
                  </a:lnTo>
                  <a:lnTo>
                    <a:pt x="0" y="523222"/>
                  </a:lnTo>
                  <a:close/>
                </a:path>
              </a:pathLst>
            </a:custGeom>
            <a:blipFill>
              <a:blip r:embed="rId5">
                <a:alphaModFix amt="0"/>
              </a:blip>
              <a:stretch>
                <a:fillRect t="-154315" b="-154316"/>
              </a:stretch>
            </a:blipFill>
          </p:spPr>
        </p:sp>
        <p:sp>
          <p:nvSpPr>
            <p:cNvPr id="8" name="TextBox 8"/>
            <p:cNvSpPr txBox="1"/>
            <p:nvPr/>
          </p:nvSpPr>
          <p:spPr>
            <a:xfrm>
              <a:off x="0" y="-9525"/>
              <a:ext cx="5486400" cy="532752"/>
            </a:xfrm>
            <a:prstGeom prst="rect">
              <a:avLst/>
            </a:prstGeom>
          </p:spPr>
          <p:txBody>
            <a:bodyPr lIns="0" tIns="0" rIns="0" bIns="0" rtlCol="0" anchor="ctr"/>
            <a:lstStyle/>
            <a:p>
              <a:pPr algn="r">
                <a:lnSpc>
                  <a:spcPts val="2520"/>
                </a:lnSpc>
              </a:pPr>
              <a:r>
                <a:rPr lang="en-US" sz="2100">
                  <a:solidFill>
                    <a:srgbClr val="BFBFBF"/>
                  </a:solidFill>
                  <a:latin typeface="Roboto"/>
                  <a:ea typeface="Roboto"/>
                  <a:cs typeface="Roboto"/>
                  <a:sym typeface="Roboto"/>
                </a:rPr>
                <a:t>‹#›</a:t>
              </a:r>
            </a:p>
          </p:txBody>
        </p:sp>
      </p:grpSp>
      <p:grpSp>
        <p:nvGrpSpPr>
          <p:cNvPr id="9" name="Group 9"/>
          <p:cNvGrpSpPr/>
          <p:nvPr/>
        </p:nvGrpSpPr>
        <p:grpSpPr>
          <a:xfrm>
            <a:off x="451542" y="300771"/>
            <a:ext cx="15770323" cy="767782"/>
            <a:chOff x="0" y="0"/>
            <a:chExt cx="21027098" cy="1023710"/>
          </a:xfrm>
        </p:grpSpPr>
        <p:sp>
          <p:nvSpPr>
            <p:cNvPr id="10" name="Freeform 10"/>
            <p:cNvSpPr/>
            <p:nvPr/>
          </p:nvSpPr>
          <p:spPr>
            <a:xfrm>
              <a:off x="0" y="0"/>
              <a:ext cx="21027095" cy="1023711"/>
            </a:xfrm>
            <a:custGeom>
              <a:avLst/>
              <a:gdLst/>
              <a:ahLst/>
              <a:cxnLst/>
              <a:rect l="l" t="t" r="r" b="b"/>
              <a:pathLst>
                <a:path w="21027095" h="1023711">
                  <a:moveTo>
                    <a:pt x="0" y="0"/>
                  </a:moveTo>
                  <a:lnTo>
                    <a:pt x="21027095" y="0"/>
                  </a:lnTo>
                  <a:lnTo>
                    <a:pt x="21027095" y="1023711"/>
                  </a:lnTo>
                  <a:lnTo>
                    <a:pt x="0" y="1023711"/>
                  </a:lnTo>
                  <a:close/>
                </a:path>
              </a:pathLst>
            </a:custGeom>
            <a:blipFill>
              <a:blip r:embed="rId5">
                <a:alphaModFix amt="0"/>
              </a:blip>
              <a:stretch>
                <a:fillRect t="-350224" b="-350223"/>
              </a:stretch>
            </a:blipFill>
          </p:spPr>
        </p:sp>
        <p:sp>
          <p:nvSpPr>
            <p:cNvPr id="11" name="TextBox 11"/>
            <p:cNvSpPr txBox="1"/>
            <p:nvPr/>
          </p:nvSpPr>
          <p:spPr>
            <a:xfrm>
              <a:off x="0" y="19050"/>
              <a:ext cx="21027098" cy="1004660"/>
            </a:xfrm>
            <a:prstGeom prst="rect">
              <a:avLst/>
            </a:prstGeom>
          </p:spPr>
          <p:txBody>
            <a:bodyPr lIns="0" tIns="0" rIns="0" bIns="0" rtlCol="0" anchor="b"/>
            <a:lstStyle/>
            <a:p>
              <a:pPr algn="l">
                <a:lnSpc>
                  <a:spcPts val="3888"/>
                </a:lnSpc>
              </a:pPr>
              <a:r>
                <a:rPr lang="en-US" sz="3600">
                  <a:solidFill>
                    <a:srgbClr val="EE0033"/>
                  </a:solidFill>
                  <a:latin typeface="Arial"/>
                  <a:ea typeface="Arial"/>
                  <a:cs typeface="Arial"/>
                  <a:sym typeface="Arial"/>
                </a:rPr>
                <a:t>I. PROCESS:</a:t>
              </a:r>
            </a:p>
          </p:txBody>
        </p:sp>
      </p:grpSp>
      <p:sp>
        <p:nvSpPr>
          <p:cNvPr id="12" name="TextBox 12"/>
          <p:cNvSpPr txBox="1"/>
          <p:nvPr/>
        </p:nvSpPr>
        <p:spPr>
          <a:xfrm>
            <a:off x="840743" y="9548498"/>
            <a:ext cx="7754617" cy="323850"/>
          </a:xfrm>
          <a:prstGeom prst="rect">
            <a:avLst/>
          </a:prstGeom>
        </p:spPr>
        <p:txBody>
          <a:bodyPr lIns="0" tIns="0" rIns="0" bIns="0" rtlCol="0" anchor="t">
            <a:spAutoFit/>
          </a:bodyPr>
          <a:lstStyle/>
          <a:p>
            <a:pPr algn="l">
              <a:lnSpc>
                <a:spcPts val="2520"/>
              </a:lnSpc>
            </a:pPr>
            <a:r>
              <a:rPr lang="en-US" sz="2100" spc="450">
                <a:solidFill>
                  <a:srgbClr val="BFBFBF"/>
                </a:solidFill>
                <a:latin typeface="Arial"/>
                <a:ea typeface="Arial"/>
                <a:cs typeface="Arial"/>
                <a:sym typeface="Arial"/>
              </a:rPr>
              <a:t>www.viettelhightech.vn </a:t>
            </a:r>
          </a:p>
        </p:txBody>
      </p:sp>
      <p:sp>
        <p:nvSpPr>
          <p:cNvPr id="13" name="TextBox 13"/>
          <p:cNvSpPr txBox="1"/>
          <p:nvPr/>
        </p:nvSpPr>
        <p:spPr>
          <a:xfrm>
            <a:off x="451542" y="1237783"/>
            <a:ext cx="9482967" cy="521589"/>
          </a:xfrm>
          <a:prstGeom prst="rect">
            <a:avLst/>
          </a:prstGeom>
        </p:spPr>
        <p:txBody>
          <a:bodyPr lIns="0" tIns="0" rIns="0" bIns="0" rtlCol="0" anchor="t">
            <a:spAutoFit/>
          </a:bodyPr>
          <a:lstStyle/>
          <a:p>
            <a:pPr algn="l">
              <a:lnSpc>
                <a:spcPts val="3888"/>
              </a:lnSpc>
              <a:spcBef>
                <a:spcPct val="0"/>
              </a:spcBef>
            </a:pPr>
            <a:r>
              <a:rPr lang="en-US" sz="3600">
                <a:solidFill>
                  <a:srgbClr val="EE0033"/>
                </a:solidFill>
                <a:latin typeface="Arial"/>
                <a:ea typeface="Arial"/>
                <a:cs typeface="Arial"/>
                <a:sym typeface="Arial"/>
              </a:rPr>
              <a:t>Tổng quan về fork(), exit(), wait() và execve():</a:t>
            </a:r>
          </a:p>
        </p:txBody>
      </p:sp>
      <p:sp>
        <p:nvSpPr>
          <p:cNvPr id="14" name="TextBox 14"/>
          <p:cNvSpPr txBox="1"/>
          <p:nvPr/>
        </p:nvSpPr>
        <p:spPr>
          <a:xfrm>
            <a:off x="739286" y="1930822"/>
            <a:ext cx="15290209" cy="1493139"/>
          </a:xfrm>
          <a:prstGeom prst="rect">
            <a:avLst/>
          </a:prstGeom>
        </p:spPr>
        <p:txBody>
          <a:bodyPr lIns="0" tIns="0" rIns="0" bIns="0" rtlCol="0" anchor="t">
            <a:spAutoFit/>
          </a:bodyPr>
          <a:lstStyle/>
          <a:p>
            <a:pPr algn="l">
              <a:lnSpc>
                <a:spcPts val="3888"/>
              </a:lnSpc>
              <a:spcBef>
                <a:spcPct val="0"/>
              </a:spcBef>
            </a:pPr>
            <a:r>
              <a:rPr lang="en-US" sz="3600">
                <a:solidFill>
                  <a:srgbClr val="000000"/>
                </a:solidFill>
                <a:latin typeface="Arial"/>
                <a:ea typeface="Arial"/>
                <a:cs typeface="Arial"/>
                <a:sym typeface="Arial"/>
              </a:rPr>
              <a:t>System call fork() cho phép một tiến trình (gọi là tiến trình cha - parent) tạo ra một tiến trình mới (gọi là tiến trình con - child) là bản sao của tiến trình cha. </a:t>
            </a:r>
          </a:p>
        </p:txBody>
      </p:sp>
      <p:sp>
        <p:nvSpPr>
          <p:cNvPr id="15" name="TextBox 15"/>
          <p:cNvSpPr txBox="1"/>
          <p:nvPr/>
        </p:nvSpPr>
        <p:spPr>
          <a:xfrm>
            <a:off x="840743" y="3708178"/>
            <a:ext cx="15645444" cy="1007364"/>
          </a:xfrm>
          <a:prstGeom prst="rect">
            <a:avLst/>
          </a:prstGeom>
        </p:spPr>
        <p:txBody>
          <a:bodyPr lIns="0" tIns="0" rIns="0" bIns="0" rtlCol="0" anchor="t">
            <a:spAutoFit/>
          </a:bodyPr>
          <a:lstStyle/>
          <a:p>
            <a:pPr algn="l">
              <a:lnSpc>
                <a:spcPts val="3888"/>
              </a:lnSpc>
              <a:spcBef>
                <a:spcPct val="0"/>
              </a:spcBef>
            </a:pPr>
            <a:r>
              <a:rPr lang="en-US" sz="3600">
                <a:solidFill>
                  <a:srgbClr val="000000"/>
                </a:solidFill>
                <a:latin typeface="Arial"/>
                <a:ea typeface="Arial"/>
                <a:cs typeface="Arial"/>
                <a:sym typeface="Arial"/>
              </a:rPr>
              <a:t>Sau khi fork() hoàn thành, ở cả hai tiến trình, việc thực thi sẽ tiếp tục từ vị trí mà fork() trả về.</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9206494"/>
            <a:ext cx="18288000" cy="1080506"/>
            <a:chOff x="0" y="0"/>
            <a:chExt cx="24384000" cy="1440675"/>
          </a:xfrm>
        </p:grpSpPr>
        <p:sp>
          <p:nvSpPr>
            <p:cNvPr id="3" name="Freeform 3"/>
            <p:cNvSpPr/>
            <p:nvPr/>
          </p:nvSpPr>
          <p:spPr>
            <a:xfrm>
              <a:off x="0" y="0"/>
              <a:ext cx="24384000" cy="1440688"/>
            </a:xfrm>
            <a:custGeom>
              <a:avLst/>
              <a:gdLst/>
              <a:ahLst/>
              <a:cxnLst/>
              <a:rect l="l" t="t" r="r" b="b"/>
              <a:pathLst>
                <a:path w="24384000" h="1440688">
                  <a:moveTo>
                    <a:pt x="0" y="0"/>
                  </a:moveTo>
                  <a:lnTo>
                    <a:pt x="24384000" y="0"/>
                  </a:lnTo>
                  <a:lnTo>
                    <a:pt x="24384000" y="1440688"/>
                  </a:lnTo>
                  <a:lnTo>
                    <a:pt x="0" y="1440688"/>
                  </a:lnTo>
                  <a:lnTo>
                    <a:pt x="0" y="0"/>
                  </a:lnTo>
                  <a:close/>
                </a:path>
              </a:pathLst>
            </a:custGeom>
            <a:blipFill>
              <a:blip r:embed="rId3"/>
              <a:stretch>
                <a:fillRect t="-364" b="-364"/>
              </a:stretch>
            </a:blipFill>
          </p:spPr>
        </p:sp>
      </p:grpSp>
      <p:grpSp>
        <p:nvGrpSpPr>
          <p:cNvPr id="4" name="Group 4"/>
          <p:cNvGrpSpPr/>
          <p:nvPr/>
        </p:nvGrpSpPr>
        <p:grpSpPr>
          <a:xfrm>
            <a:off x="15473315" y="9370285"/>
            <a:ext cx="1741541" cy="745693"/>
            <a:chOff x="0" y="0"/>
            <a:chExt cx="2322055" cy="994258"/>
          </a:xfrm>
        </p:grpSpPr>
        <p:sp>
          <p:nvSpPr>
            <p:cNvPr id="5" name="Freeform 5"/>
            <p:cNvSpPr/>
            <p:nvPr/>
          </p:nvSpPr>
          <p:spPr>
            <a:xfrm>
              <a:off x="0" y="0"/>
              <a:ext cx="2322068" cy="994283"/>
            </a:xfrm>
            <a:custGeom>
              <a:avLst/>
              <a:gdLst/>
              <a:ahLst/>
              <a:cxnLst/>
              <a:rect l="l" t="t" r="r" b="b"/>
              <a:pathLst>
                <a:path w="2322068" h="994283">
                  <a:moveTo>
                    <a:pt x="0" y="0"/>
                  </a:moveTo>
                  <a:lnTo>
                    <a:pt x="2322068" y="0"/>
                  </a:lnTo>
                  <a:lnTo>
                    <a:pt x="2322068" y="994283"/>
                  </a:lnTo>
                  <a:lnTo>
                    <a:pt x="0" y="994283"/>
                  </a:lnTo>
                  <a:lnTo>
                    <a:pt x="0" y="0"/>
                  </a:lnTo>
                  <a:close/>
                </a:path>
              </a:pathLst>
            </a:custGeom>
            <a:blipFill>
              <a:blip r:embed="rId4"/>
              <a:stretch>
                <a:fillRect b="-1456"/>
              </a:stretch>
            </a:blipFill>
          </p:spPr>
        </p:sp>
      </p:grpSp>
      <p:grpSp>
        <p:nvGrpSpPr>
          <p:cNvPr id="6" name="Group 6"/>
          <p:cNvGrpSpPr/>
          <p:nvPr/>
        </p:nvGrpSpPr>
        <p:grpSpPr>
          <a:xfrm>
            <a:off x="9981438" y="9581550"/>
            <a:ext cx="4114800" cy="392420"/>
            <a:chOff x="0" y="0"/>
            <a:chExt cx="5486400" cy="523227"/>
          </a:xfrm>
        </p:grpSpPr>
        <p:sp>
          <p:nvSpPr>
            <p:cNvPr id="7" name="Freeform 7"/>
            <p:cNvSpPr/>
            <p:nvPr/>
          </p:nvSpPr>
          <p:spPr>
            <a:xfrm>
              <a:off x="0" y="0"/>
              <a:ext cx="5486400" cy="523222"/>
            </a:xfrm>
            <a:custGeom>
              <a:avLst/>
              <a:gdLst/>
              <a:ahLst/>
              <a:cxnLst/>
              <a:rect l="l" t="t" r="r" b="b"/>
              <a:pathLst>
                <a:path w="5486400" h="523222">
                  <a:moveTo>
                    <a:pt x="0" y="0"/>
                  </a:moveTo>
                  <a:lnTo>
                    <a:pt x="5486400" y="0"/>
                  </a:lnTo>
                  <a:lnTo>
                    <a:pt x="5486400" y="523222"/>
                  </a:lnTo>
                  <a:lnTo>
                    <a:pt x="0" y="523222"/>
                  </a:lnTo>
                  <a:close/>
                </a:path>
              </a:pathLst>
            </a:custGeom>
            <a:blipFill>
              <a:blip r:embed="rId5">
                <a:alphaModFix amt="0"/>
              </a:blip>
              <a:stretch>
                <a:fillRect t="-154315" b="-154316"/>
              </a:stretch>
            </a:blipFill>
          </p:spPr>
        </p:sp>
        <p:sp>
          <p:nvSpPr>
            <p:cNvPr id="8" name="TextBox 8"/>
            <p:cNvSpPr txBox="1"/>
            <p:nvPr/>
          </p:nvSpPr>
          <p:spPr>
            <a:xfrm>
              <a:off x="0" y="-9525"/>
              <a:ext cx="5486400" cy="532752"/>
            </a:xfrm>
            <a:prstGeom prst="rect">
              <a:avLst/>
            </a:prstGeom>
          </p:spPr>
          <p:txBody>
            <a:bodyPr lIns="0" tIns="0" rIns="0" bIns="0" rtlCol="0" anchor="ctr"/>
            <a:lstStyle/>
            <a:p>
              <a:pPr algn="r">
                <a:lnSpc>
                  <a:spcPts val="2520"/>
                </a:lnSpc>
              </a:pPr>
              <a:r>
                <a:rPr lang="en-US" sz="2100">
                  <a:solidFill>
                    <a:srgbClr val="BFBFBF"/>
                  </a:solidFill>
                  <a:latin typeface="Roboto"/>
                  <a:ea typeface="Roboto"/>
                  <a:cs typeface="Roboto"/>
                  <a:sym typeface="Roboto"/>
                </a:rPr>
                <a:t>‹#›</a:t>
              </a:r>
            </a:p>
          </p:txBody>
        </p:sp>
      </p:grpSp>
      <p:grpSp>
        <p:nvGrpSpPr>
          <p:cNvPr id="9" name="Group 9"/>
          <p:cNvGrpSpPr/>
          <p:nvPr/>
        </p:nvGrpSpPr>
        <p:grpSpPr>
          <a:xfrm>
            <a:off x="451542" y="300771"/>
            <a:ext cx="15770323" cy="767782"/>
            <a:chOff x="0" y="0"/>
            <a:chExt cx="21027098" cy="1023710"/>
          </a:xfrm>
        </p:grpSpPr>
        <p:sp>
          <p:nvSpPr>
            <p:cNvPr id="10" name="Freeform 10"/>
            <p:cNvSpPr/>
            <p:nvPr/>
          </p:nvSpPr>
          <p:spPr>
            <a:xfrm>
              <a:off x="0" y="0"/>
              <a:ext cx="21027095" cy="1023711"/>
            </a:xfrm>
            <a:custGeom>
              <a:avLst/>
              <a:gdLst/>
              <a:ahLst/>
              <a:cxnLst/>
              <a:rect l="l" t="t" r="r" b="b"/>
              <a:pathLst>
                <a:path w="21027095" h="1023711">
                  <a:moveTo>
                    <a:pt x="0" y="0"/>
                  </a:moveTo>
                  <a:lnTo>
                    <a:pt x="21027095" y="0"/>
                  </a:lnTo>
                  <a:lnTo>
                    <a:pt x="21027095" y="1023711"/>
                  </a:lnTo>
                  <a:lnTo>
                    <a:pt x="0" y="1023711"/>
                  </a:lnTo>
                  <a:close/>
                </a:path>
              </a:pathLst>
            </a:custGeom>
            <a:blipFill>
              <a:blip r:embed="rId5">
                <a:alphaModFix amt="0"/>
              </a:blip>
              <a:stretch>
                <a:fillRect t="-350224" b="-350223"/>
              </a:stretch>
            </a:blipFill>
          </p:spPr>
        </p:sp>
        <p:sp>
          <p:nvSpPr>
            <p:cNvPr id="11" name="TextBox 11"/>
            <p:cNvSpPr txBox="1"/>
            <p:nvPr/>
          </p:nvSpPr>
          <p:spPr>
            <a:xfrm>
              <a:off x="0" y="19050"/>
              <a:ext cx="21027098" cy="1004660"/>
            </a:xfrm>
            <a:prstGeom prst="rect">
              <a:avLst/>
            </a:prstGeom>
          </p:spPr>
          <p:txBody>
            <a:bodyPr lIns="0" tIns="0" rIns="0" bIns="0" rtlCol="0" anchor="b"/>
            <a:lstStyle/>
            <a:p>
              <a:pPr algn="l">
                <a:lnSpc>
                  <a:spcPts val="3888"/>
                </a:lnSpc>
              </a:pPr>
              <a:r>
                <a:rPr lang="en-US" sz="3600">
                  <a:solidFill>
                    <a:srgbClr val="EE0033"/>
                  </a:solidFill>
                  <a:latin typeface="Arial"/>
                  <a:ea typeface="Arial"/>
                  <a:cs typeface="Arial"/>
                  <a:sym typeface="Arial"/>
                </a:rPr>
                <a:t>I. PROCESS:</a:t>
              </a:r>
            </a:p>
          </p:txBody>
        </p:sp>
      </p:grpSp>
      <p:sp>
        <p:nvSpPr>
          <p:cNvPr id="12" name="TextBox 12"/>
          <p:cNvSpPr txBox="1"/>
          <p:nvPr/>
        </p:nvSpPr>
        <p:spPr>
          <a:xfrm>
            <a:off x="840743" y="9548498"/>
            <a:ext cx="7754617" cy="323850"/>
          </a:xfrm>
          <a:prstGeom prst="rect">
            <a:avLst/>
          </a:prstGeom>
        </p:spPr>
        <p:txBody>
          <a:bodyPr lIns="0" tIns="0" rIns="0" bIns="0" rtlCol="0" anchor="t">
            <a:spAutoFit/>
          </a:bodyPr>
          <a:lstStyle/>
          <a:p>
            <a:pPr algn="l">
              <a:lnSpc>
                <a:spcPts val="2520"/>
              </a:lnSpc>
            </a:pPr>
            <a:r>
              <a:rPr lang="en-US" sz="2100" spc="450">
                <a:solidFill>
                  <a:srgbClr val="BFBFBF"/>
                </a:solidFill>
                <a:latin typeface="Arial"/>
                <a:ea typeface="Arial"/>
                <a:cs typeface="Arial"/>
                <a:sym typeface="Arial"/>
              </a:rPr>
              <a:t>www.viettelhightech.vn </a:t>
            </a:r>
          </a:p>
        </p:txBody>
      </p:sp>
      <p:sp>
        <p:nvSpPr>
          <p:cNvPr id="13" name="TextBox 13"/>
          <p:cNvSpPr txBox="1"/>
          <p:nvPr/>
        </p:nvSpPr>
        <p:spPr>
          <a:xfrm>
            <a:off x="451542" y="1237783"/>
            <a:ext cx="9482967" cy="521589"/>
          </a:xfrm>
          <a:prstGeom prst="rect">
            <a:avLst/>
          </a:prstGeom>
        </p:spPr>
        <p:txBody>
          <a:bodyPr lIns="0" tIns="0" rIns="0" bIns="0" rtlCol="0" anchor="t">
            <a:spAutoFit/>
          </a:bodyPr>
          <a:lstStyle/>
          <a:p>
            <a:pPr algn="l">
              <a:lnSpc>
                <a:spcPts val="3888"/>
              </a:lnSpc>
              <a:spcBef>
                <a:spcPct val="0"/>
              </a:spcBef>
            </a:pPr>
            <a:r>
              <a:rPr lang="en-US" sz="3600">
                <a:solidFill>
                  <a:srgbClr val="EE0033"/>
                </a:solidFill>
                <a:latin typeface="Arial"/>
                <a:ea typeface="Arial"/>
                <a:cs typeface="Arial"/>
                <a:sym typeface="Arial"/>
              </a:rPr>
              <a:t>Tổng quan về fork(), exit(), wait() và execve():</a:t>
            </a:r>
          </a:p>
        </p:txBody>
      </p:sp>
      <p:sp>
        <p:nvSpPr>
          <p:cNvPr id="14" name="Freeform 14"/>
          <p:cNvSpPr/>
          <p:nvPr/>
        </p:nvSpPr>
        <p:spPr>
          <a:xfrm>
            <a:off x="5591344" y="2977877"/>
            <a:ext cx="8932989" cy="5983997"/>
          </a:xfrm>
          <a:custGeom>
            <a:avLst/>
            <a:gdLst/>
            <a:ahLst/>
            <a:cxnLst/>
            <a:rect l="l" t="t" r="r" b="b"/>
            <a:pathLst>
              <a:path w="8932989" h="5983997">
                <a:moveTo>
                  <a:pt x="0" y="0"/>
                </a:moveTo>
                <a:lnTo>
                  <a:pt x="8932989" y="0"/>
                </a:lnTo>
                <a:lnTo>
                  <a:pt x="8932989" y="5983997"/>
                </a:lnTo>
                <a:lnTo>
                  <a:pt x="0" y="5983997"/>
                </a:lnTo>
                <a:lnTo>
                  <a:pt x="0" y="0"/>
                </a:lnTo>
                <a:close/>
              </a:path>
            </a:pathLst>
          </a:custGeom>
          <a:blipFill>
            <a:blip r:embed="rId6"/>
            <a:stretch>
              <a:fillRect/>
            </a:stretch>
          </a:blipFill>
        </p:spPr>
      </p:sp>
      <p:sp>
        <p:nvSpPr>
          <p:cNvPr id="15" name="TextBox 15"/>
          <p:cNvSpPr txBox="1"/>
          <p:nvPr/>
        </p:nvSpPr>
        <p:spPr>
          <a:xfrm>
            <a:off x="746366" y="1921297"/>
            <a:ext cx="12388007" cy="1792224"/>
          </a:xfrm>
          <a:prstGeom prst="rect">
            <a:avLst/>
          </a:prstGeom>
        </p:spPr>
        <p:txBody>
          <a:bodyPr lIns="0" tIns="0" rIns="0" bIns="0" rtlCol="0" anchor="t">
            <a:spAutoFit/>
          </a:bodyPr>
          <a:lstStyle/>
          <a:p>
            <a:pPr algn="just">
              <a:lnSpc>
                <a:spcPts val="2808"/>
              </a:lnSpc>
            </a:pPr>
            <a:r>
              <a:rPr lang="en-US" sz="2600" dirty="0">
                <a:solidFill>
                  <a:srgbClr val="000000"/>
                </a:solidFill>
                <a:latin typeface="Arial"/>
                <a:ea typeface="Arial"/>
                <a:cs typeface="Arial"/>
                <a:sym typeface="Arial"/>
              </a:rPr>
              <a:t>Kernel </a:t>
            </a:r>
            <a:r>
              <a:rPr lang="en-US" sz="2600" dirty="0" err="1">
                <a:solidFill>
                  <a:srgbClr val="000000"/>
                </a:solidFill>
                <a:latin typeface="Arial"/>
                <a:ea typeface="Arial"/>
                <a:cs typeface="Arial"/>
                <a:sym typeface="Arial"/>
              </a:rPr>
              <a:t>đánh</a:t>
            </a:r>
            <a:r>
              <a:rPr lang="en-US" sz="2600" dirty="0">
                <a:solidFill>
                  <a:srgbClr val="000000"/>
                </a:solidFill>
                <a:latin typeface="Arial"/>
                <a:ea typeface="Arial"/>
                <a:cs typeface="Arial"/>
                <a:sym typeface="Arial"/>
              </a:rPr>
              <a:t> </a:t>
            </a:r>
            <a:r>
              <a:rPr lang="en-US" sz="2600" dirty="0" err="1">
                <a:solidFill>
                  <a:srgbClr val="000000"/>
                </a:solidFill>
                <a:latin typeface="Arial"/>
                <a:ea typeface="Arial"/>
                <a:cs typeface="Arial"/>
                <a:sym typeface="Arial"/>
              </a:rPr>
              <a:t>dấu</a:t>
            </a:r>
            <a:r>
              <a:rPr lang="en-US" sz="2600" dirty="0">
                <a:solidFill>
                  <a:srgbClr val="000000"/>
                </a:solidFill>
                <a:latin typeface="Arial"/>
                <a:ea typeface="Arial"/>
                <a:cs typeface="Arial"/>
                <a:sym typeface="Arial"/>
              </a:rPr>
              <a:t> text segment </a:t>
            </a:r>
            <a:r>
              <a:rPr lang="en-US" sz="2600" dirty="0" err="1">
                <a:solidFill>
                  <a:srgbClr val="000000"/>
                </a:solidFill>
                <a:latin typeface="Arial"/>
                <a:ea typeface="Arial"/>
                <a:cs typeface="Arial"/>
                <a:sym typeface="Arial"/>
              </a:rPr>
              <a:t>là</a:t>
            </a:r>
            <a:r>
              <a:rPr lang="en-US" sz="2600" dirty="0">
                <a:solidFill>
                  <a:srgbClr val="000000"/>
                </a:solidFill>
                <a:latin typeface="Arial"/>
                <a:ea typeface="Arial"/>
                <a:cs typeface="Arial"/>
                <a:sym typeface="Arial"/>
              </a:rPr>
              <a:t> </a:t>
            </a:r>
            <a:r>
              <a:rPr lang="en-US" sz="2600" dirty="0" err="1">
                <a:solidFill>
                  <a:srgbClr val="000000"/>
                </a:solidFill>
                <a:latin typeface="Arial"/>
                <a:ea typeface="Arial"/>
                <a:cs typeface="Arial"/>
                <a:sym typeface="Arial"/>
              </a:rPr>
              <a:t>chỉ</a:t>
            </a:r>
            <a:r>
              <a:rPr lang="en-US" sz="2600" dirty="0">
                <a:solidFill>
                  <a:srgbClr val="000000"/>
                </a:solidFill>
                <a:latin typeface="Arial"/>
                <a:ea typeface="Arial"/>
                <a:cs typeface="Arial"/>
                <a:sym typeface="Arial"/>
              </a:rPr>
              <a:t> </a:t>
            </a:r>
            <a:r>
              <a:rPr lang="en-US" sz="2600" dirty="0" err="1">
                <a:solidFill>
                  <a:srgbClr val="000000"/>
                </a:solidFill>
                <a:latin typeface="Arial"/>
                <a:ea typeface="Arial"/>
                <a:cs typeface="Arial"/>
                <a:sym typeface="Arial"/>
              </a:rPr>
              <a:t>đọc</a:t>
            </a:r>
            <a:r>
              <a:rPr lang="en-US" sz="2600" dirty="0">
                <a:solidFill>
                  <a:srgbClr val="000000"/>
                </a:solidFill>
                <a:latin typeface="Arial"/>
                <a:ea typeface="Arial"/>
                <a:cs typeface="Arial"/>
                <a:sym typeface="Arial"/>
              </a:rPr>
              <a:t> (read-only</a:t>
            </a:r>
            <a:r>
              <a:rPr lang="en-US" sz="2600" dirty="0" smtClean="0">
                <a:solidFill>
                  <a:srgbClr val="000000"/>
                </a:solidFill>
                <a:latin typeface="Arial"/>
                <a:ea typeface="Arial"/>
                <a:cs typeface="Arial"/>
                <a:sym typeface="Arial"/>
              </a:rPr>
              <a:t>) </a:t>
            </a:r>
            <a:r>
              <a:rPr lang="en-US" sz="2600" dirty="0" err="1">
                <a:solidFill>
                  <a:srgbClr val="000000"/>
                </a:solidFill>
                <a:latin typeface="Arial"/>
                <a:ea typeface="Arial"/>
                <a:cs typeface="Arial"/>
                <a:sym typeface="Arial"/>
              </a:rPr>
              <a:t>để</a:t>
            </a:r>
            <a:r>
              <a:rPr lang="en-US" sz="2600" dirty="0">
                <a:solidFill>
                  <a:srgbClr val="000000"/>
                </a:solidFill>
                <a:latin typeface="Arial"/>
                <a:ea typeface="Arial"/>
                <a:cs typeface="Arial"/>
                <a:sym typeface="Arial"/>
              </a:rPr>
              <a:t> </a:t>
            </a:r>
            <a:r>
              <a:rPr lang="en-US" sz="2600" dirty="0" err="1">
                <a:solidFill>
                  <a:srgbClr val="000000"/>
                </a:solidFill>
                <a:latin typeface="Arial"/>
                <a:ea typeface="Arial"/>
                <a:cs typeface="Arial"/>
                <a:sym typeface="Arial"/>
              </a:rPr>
              <a:t>parrent</a:t>
            </a:r>
            <a:r>
              <a:rPr lang="en-US" sz="2600" dirty="0">
                <a:solidFill>
                  <a:srgbClr val="000000"/>
                </a:solidFill>
                <a:latin typeface="Arial"/>
                <a:ea typeface="Arial"/>
                <a:cs typeface="Arial"/>
                <a:sym typeface="Arial"/>
              </a:rPr>
              <a:t> </a:t>
            </a:r>
            <a:r>
              <a:rPr lang="en-US" sz="2600" dirty="0" err="1">
                <a:solidFill>
                  <a:srgbClr val="000000"/>
                </a:solidFill>
                <a:latin typeface="Arial"/>
                <a:ea typeface="Arial"/>
                <a:cs typeface="Arial"/>
                <a:sym typeface="Arial"/>
              </a:rPr>
              <a:t>và</a:t>
            </a:r>
            <a:r>
              <a:rPr lang="en-US" sz="2600" dirty="0">
                <a:solidFill>
                  <a:srgbClr val="000000"/>
                </a:solidFill>
                <a:latin typeface="Arial"/>
                <a:ea typeface="Arial"/>
                <a:cs typeface="Arial"/>
                <a:sym typeface="Arial"/>
              </a:rPr>
              <a:t> child </a:t>
            </a:r>
            <a:r>
              <a:rPr lang="en-US" sz="2600" dirty="0" err="1">
                <a:solidFill>
                  <a:srgbClr val="000000"/>
                </a:solidFill>
                <a:latin typeface="Arial"/>
                <a:ea typeface="Arial"/>
                <a:cs typeface="Arial"/>
                <a:sym typeface="Arial"/>
              </a:rPr>
              <a:t>dùng</a:t>
            </a:r>
            <a:r>
              <a:rPr lang="en-US" sz="2600" dirty="0">
                <a:solidFill>
                  <a:srgbClr val="000000"/>
                </a:solidFill>
                <a:latin typeface="Arial"/>
                <a:ea typeface="Arial"/>
                <a:cs typeface="Arial"/>
                <a:sym typeface="Arial"/>
              </a:rPr>
              <a:t> </a:t>
            </a:r>
            <a:r>
              <a:rPr lang="en-US" sz="2600" dirty="0" err="1">
                <a:solidFill>
                  <a:srgbClr val="000000"/>
                </a:solidFill>
                <a:latin typeface="Arial"/>
                <a:ea typeface="Arial"/>
                <a:cs typeface="Arial"/>
                <a:sym typeface="Arial"/>
              </a:rPr>
              <a:t>chung</a:t>
            </a:r>
            <a:r>
              <a:rPr lang="en-US" sz="2600" dirty="0">
                <a:solidFill>
                  <a:srgbClr val="000000"/>
                </a:solidFill>
                <a:latin typeface="Arial"/>
                <a:ea typeface="Arial"/>
                <a:cs typeface="Arial"/>
                <a:sym typeface="Arial"/>
              </a:rPr>
              <a:t>.</a:t>
            </a:r>
          </a:p>
          <a:p>
            <a:pPr algn="just">
              <a:lnSpc>
                <a:spcPts val="2808"/>
              </a:lnSpc>
            </a:pPr>
            <a:r>
              <a:rPr lang="en-US" sz="2600" dirty="0">
                <a:solidFill>
                  <a:srgbClr val="000000"/>
                </a:solidFill>
                <a:latin typeface="Arial"/>
                <a:ea typeface="Arial"/>
                <a:cs typeface="Arial"/>
                <a:sym typeface="Arial"/>
              </a:rPr>
              <a:t>Kernel </a:t>
            </a:r>
            <a:r>
              <a:rPr lang="en-US" sz="2600" dirty="0" err="1">
                <a:solidFill>
                  <a:srgbClr val="000000"/>
                </a:solidFill>
                <a:latin typeface="Arial"/>
                <a:ea typeface="Arial"/>
                <a:cs typeface="Arial"/>
                <a:sym typeface="Arial"/>
              </a:rPr>
              <a:t>sử</a:t>
            </a:r>
            <a:r>
              <a:rPr lang="en-US" sz="2600" dirty="0">
                <a:solidFill>
                  <a:srgbClr val="000000"/>
                </a:solidFill>
                <a:latin typeface="Arial"/>
                <a:ea typeface="Arial"/>
                <a:cs typeface="Arial"/>
                <a:sym typeface="Arial"/>
              </a:rPr>
              <a:t> </a:t>
            </a:r>
            <a:r>
              <a:rPr lang="en-US" sz="2600" dirty="0" err="1">
                <a:solidFill>
                  <a:srgbClr val="000000"/>
                </a:solidFill>
                <a:latin typeface="Arial"/>
                <a:ea typeface="Arial"/>
                <a:cs typeface="Arial"/>
                <a:sym typeface="Arial"/>
              </a:rPr>
              <a:t>dụng</a:t>
            </a:r>
            <a:r>
              <a:rPr lang="en-US" sz="2600" dirty="0">
                <a:solidFill>
                  <a:srgbClr val="000000"/>
                </a:solidFill>
                <a:latin typeface="Arial"/>
                <a:ea typeface="Arial"/>
                <a:cs typeface="Arial"/>
                <a:sym typeface="Arial"/>
              </a:rPr>
              <a:t> </a:t>
            </a:r>
            <a:r>
              <a:rPr lang="en-US" sz="2600" dirty="0" err="1">
                <a:solidFill>
                  <a:srgbClr val="000000"/>
                </a:solidFill>
                <a:latin typeface="Arial"/>
                <a:ea typeface="Arial"/>
                <a:cs typeface="Arial"/>
                <a:sym typeface="Arial"/>
              </a:rPr>
              <a:t>kĩ</a:t>
            </a:r>
            <a:r>
              <a:rPr lang="en-US" sz="2600" dirty="0">
                <a:solidFill>
                  <a:srgbClr val="000000"/>
                </a:solidFill>
                <a:latin typeface="Arial"/>
                <a:ea typeface="Arial"/>
                <a:cs typeface="Arial"/>
                <a:sym typeface="Arial"/>
              </a:rPr>
              <a:t> </a:t>
            </a:r>
            <a:r>
              <a:rPr lang="en-US" sz="2600" dirty="0" err="1">
                <a:solidFill>
                  <a:srgbClr val="000000"/>
                </a:solidFill>
                <a:latin typeface="Arial"/>
                <a:ea typeface="Arial"/>
                <a:cs typeface="Arial"/>
                <a:sym typeface="Arial"/>
              </a:rPr>
              <a:t>thuật</a:t>
            </a:r>
            <a:r>
              <a:rPr lang="en-US" sz="2600" dirty="0">
                <a:solidFill>
                  <a:srgbClr val="000000"/>
                </a:solidFill>
                <a:latin typeface="Arial"/>
                <a:ea typeface="Arial"/>
                <a:cs typeface="Arial"/>
                <a:sym typeface="Arial"/>
              </a:rPr>
              <a:t> copy-on-write </a:t>
            </a:r>
            <a:r>
              <a:rPr lang="en-US" sz="2600" dirty="0" err="1">
                <a:solidFill>
                  <a:srgbClr val="000000"/>
                </a:solidFill>
                <a:latin typeface="Arial"/>
                <a:ea typeface="Arial"/>
                <a:cs typeface="Arial"/>
                <a:sym typeface="Arial"/>
              </a:rPr>
              <a:t>đối</a:t>
            </a:r>
            <a:r>
              <a:rPr lang="en-US" sz="2600" dirty="0">
                <a:solidFill>
                  <a:srgbClr val="000000"/>
                </a:solidFill>
                <a:latin typeface="Arial"/>
                <a:ea typeface="Arial"/>
                <a:cs typeface="Arial"/>
                <a:sym typeface="Arial"/>
              </a:rPr>
              <a:t> </a:t>
            </a:r>
            <a:r>
              <a:rPr lang="en-US" sz="2600" dirty="0" err="1">
                <a:solidFill>
                  <a:srgbClr val="000000"/>
                </a:solidFill>
                <a:latin typeface="Arial"/>
                <a:ea typeface="Arial"/>
                <a:cs typeface="Arial"/>
                <a:sym typeface="Arial"/>
              </a:rPr>
              <a:t>với</a:t>
            </a:r>
            <a:r>
              <a:rPr lang="en-US" sz="2600" dirty="0">
                <a:solidFill>
                  <a:srgbClr val="000000"/>
                </a:solidFill>
                <a:latin typeface="Arial"/>
                <a:ea typeface="Arial"/>
                <a:cs typeface="Arial"/>
                <a:sym typeface="Arial"/>
              </a:rPr>
              <a:t> </a:t>
            </a:r>
            <a:r>
              <a:rPr lang="en-US" sz="2600" dirty="0" err="1">
                <a:solidFill>
                  <a:srgbClr val="000000"/>
                </a:solidFill>
                <a:latin typeface="Arial"/>
                <a:ea typeface="Arial"/>
                <a:cs typeface="Arial"/>
                <a:sym typeface="Arial"/>
              </a:rPr>
              <a:t>các</a:t>
            </a:r>
            <a:r>
              <a:rPr lang="en-US" sz="2600" dirty="0">
                <a:solidFill>
                  <a:srgbClr val="000000"/>
                </a:solidFill>
                <a:latin typeface="Arial"/>
                <a:ea typeface="Arial"/>
                <a:cs typeface="Arial"/>
                <a:sym typeface="Arial"/>
              </a:rPr>
              <a:t> </a:t>
            </a:r>
            <a:r>
              <a:rPr lang="en-US" sz="2600" dirty="0" err="1">
                <a:solidFill>
                  <a:srgbClr val="000000"/>
                </a:solidFill>
                <a:latin typeface="Arial"/>
                <a:ea typeface="Arial"/>
                <a:cs typeface="Arial"/>
                <a:sym typeface="Arial"/>
              </a:rPr>
              <a:t>trang</a:t>
            </a:r>
            <a:r>
              <a:rPr lang="en-US" sz="2600" dirty="0">
                <a:solidFill>
                  <a:srgbClr val="000000"/>
                </a:solidFill>
                <a:latin typeface="Arial"/>
                <a:ea typeface="Arial"/>
                <a:cs typeface="Arial"/>
                <a:sym typeface="Arial"/>
              </a:rPr>
              <a:t> </a:t>
            </a:r>
            <a:r>
              <a:rPr lang="en-US" sz="2600" dirty="0" err="1">
                <a:solidFill>
                  <a:srgbClr val="000000"/>
                </a:solidFill>
                <a:latin typeface="Arial"/>
                <a:ea typeface="Arial"/>
                <a:cs typeface="Arial"/>
                <a:sym typeface="Arial"/>
              </a:rPr>
              <a:t>thuộc</a:t>
            </a:r>
            <a:r>
              <a:rPr lang="en-US" sz="2600" dirty="0">
                <a:solidFill>
                  <a:srgbClr val="000000"/>
                </a:solidFill>
                <a:latin typeface="Arial"/>
                <a:ea typeface="Arial"/>
                <a:cs typeface="Arial"/>
                <a:sym typeface="Arial"/>
              </a:rPr>
              <a:t>:</a:t>
            </a:r>
          </a:p>
          <a:p>
            <a:pPr marL="561341" lvl="1" indent="-280670" algn="l">
              <a:lnSpc>
                <a:spcPts val="2808"/>
              </a:lnSpc>
              <a:spcBef>
                <a:spcPct val="0"/>
              </a:spcBef>
              <a:buFont typeface="Arial"/>
              <a:buChar char="•"/>
            </a:pPr>
            <a:r>
              <a:rPr lang="en-US" sz="2600" dirty="0">
                <a:solidFill>
                  <a:srgbClr val="000000"/>
                </a:solidFill>
                <a:latin typeface="Arial"/>
                <a:ea typeface="Arial"/>
                <a:cs typeface="Arial"/>
                <a:sym typeface="Arial"/>
              </a:rPr>
              <a:t>data segment; </a:t>
            </a:r>
          </a:p>
          <a:p>
            <a:pPr marL="561341" lvl="1" indent="-280670" algn="l">
              <a:lnSpc>
                <a:spcPts val="2808"/>
              </a:lnSpc>
              <a:spcBef>
                <a:spcPct val="0"/>
              </a:spcBef>
              <a:buFont typeface="Arial"/>
              <a:buChar char="•"/>
            </a:pPr>
            <a:r>
              <a:rPr lang="en-US" sz="2600" dirty="0">
                <a:solidFill>
                  <a:srgbClr val="000000"/>
                </a:solidFill>
                <a:latin typeface="Arial"/>
                <a:ea typeface="Arial"/>
                <a:cs typeface="Arial"/>
                <a:sym typeface="Arial"/>
              </a:rPr>
              <a:t>heap segment; </a:t>
            </a:r>
          </a:p>
          <a:p>
            <a:pPr marL="561341" lvl="1" indent="-280670" algn="l">
              <a:lnSpc>
                <a:spcPts val="2808"/>
              </a:lnSpc>
              <a:spcBef>
                <a:spcPct val="0"/>
              </a:spcBef>
              <a:buFont typeface="Arial"/>
              <a:buChar char="•"/>
            </a:pPr>
            <a:r>
              <a:rPr lang="en-US" sz="2600" dirty="0">
                <a:solidFill>
                  <a:srgbClr val="000000"/>
                </a:solidFill>
                <a:latin typeface="Arial"/>
                <a:ea typeface="Arial"/>
                <a:cs typeface="Arial"/>
                <a:sym typeface="Arial"/>
              </a:rPr>
              <a:t>stack segment;</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9206494"/>
            <a:ext cx="18288000" cy="1080506"/>
            <a:chOff x="0" y="0"/>
            <a:chExt cx="24384000" cy="1440675"/>
          </a:xfrm>
        </p:grpSpPr>
        <p:sp>
          <p:nvSpPr>
            <p:cNvPr id="3" name="Freeform 3"/>
            <p:cNvSpPr/>
            <p:nvPr/>
          </p:nvSpPr>
          <p:spPr>
            <a:xfrm>
              <a:off x="0" y="0"/>
              <a:ext cx="24384000" cy="1440688"/>
            </a:xfrm>
            <a:custGeom>
              <a:avLst/>
              <a:gdLst/>
              <a:ahLst/>
              <a:cxnLst/>
              <a:rect l="l" t="t" r="r" b="b"/>
              <a:pathLst>
                <a:path w="24384000" h="1440688">
                  <a:moveTo>
                    <a:pt x="0" y="0"/>
                  </a:moveTo>
                  <a:lnTo>
                    <a:pt x="24384000" y="0"/>
                  </a:lnTo>
                  <a:lnTo>
                    <a:pt x="24384000" y="1440688"/>
                  </a:lnTo>
                  <a:lnTo>
                    <a:pt x="0" y="1440688"/>
                  </a:lnTo>
                  <a:lnTo>
                    <a:pt x="0" y="0"/>
                  </a:lnTo>
                  <a:close/>
                </a:path>
              </a:pathLst>
            </a:custGeom>
            <a:blipFill>
              <a:blip r:embed="rId3"/>
              <a:stretch>
                <a:fillRect t="-364" b="-364"/>
              </a:stretch>
            </a:blipFill>
          </p:spPr>
        </p:sp>
      </p:grpSp>
      <p:grpSp>
        <p:nvGrpSpPr>
          <p:cNvPr id="4" name="Group 4"/>
          <p:cNvGrpSpPr/>
          <p:nvPr/>
        </p:nvGrpSpPr>
        <p:grpSpPr>
          <a:xfrm>
            <a:off x="15473315" y="9370285"/>
            <a:ext cx="1741541" cy="745693"/>
            <a:chOff x="0" y="0"/>
            <a:chExt cx="2322055" cy="994258"/>
          </a:xfrm>
        </p:grpSpPr>
        <p:sp>
          <p:nvSpPr>
            <p:cNvPr id="5" name="Freeform 5"/>
            <p:cNvSpPr/>
            <p:nvPr/>
          </p:nvSpPr>
          <p:spPr>
            <a:xfrm>
              <a:off x="0" y="0"/>
              <a:ext cx="2322068" cy="994283"/>
            </a:xfrm>
            <a:custGeom>
              <a:avLst/>
              <a:gdLst/>
              <a:ahLst/>
              <a:cxnLst/>
              <a:rect l="l" t="t" r="r" b="b"/>
              <a:pathLst>
                <a:path w="2322068" h="994283">
                  <a:moveTo>
                    <a:pt x="0" y="0"/>
                  </a:moveTo>
                  <a:lnTo>
                    <a:pt x="2322068" y="0"/>
                  </a:lnTo>
                  <a:lnTo>
                    <a:pt x="2322068" y="994283"/>
                  </a:lnTo>
                  <a:lnTo>
                    <a:pt x="0" y="994283"/>
                  </a:lnTo>
                  <a:lnTo>
                    <a:pt x="0" y="0"/>
                  </a:lnTo>
                  <a:close/>
                </a:path>
              </a:pathLst>
            </a:custGeom>
            <a:blipFill>
              <a:blip r:embed="rId4"/>
              <a:stretch>
                <a:fillRect b="-1456"/>
              </a:stretch>
            </a:blipFill>
          </p:spPr>
        </p:sp>
      </p:grpSp>
      <p:grpSp>
        <p:nvGrpSpPr>
          <p:cNvPr id="6" name="Group 6"/>
          <p:cNvGrpSpPr/>
          <p:nvPr/>
        </p:nvGrpSpPr>
        <p:grpSpPr>
          <a:xfrm>
            <a:off x="9981438" y="9581550"/>
            <a:ext cx="4114800" cy="392420"/>
            <a:chOff x="0" y="0"/>
            <a:chExt cx="5486400" cy="523227"/>
          </a:xfrm>
        </p:grpSpPr>
        <p:sp>
          <p:nvSpPr>
            <p:cNvPr id="7" name="Freeform 7"/>
            <p:cNvSpPr/>
            <p:nvPr/>
          </p:nvSpPr>
          <p:spPr>
            <a:xfrm>
              <a:off x="0" y="0"/>
              <a:ext cx="5486400" cy="523222"/>
            </a:xfrm>
            <a:custGeom>
              <a:avLst/>
              <a:gdLst/>
              <a:ahLst/>
              <a:cxnLst/>
              <a:rect l="l" t="t" r="r" b="b"/>
              <a:pathLst>
                <a:path w="5486400" h="523222">
                  <a:moveTo>
                    <a:pt x="0" y="0"/>
                  </a:moveTo>
                  <a:lnTo>
                    <a:pt x="5486400" y="0"/>
                  </a:lnTo>
                  <a:lnTo>
                    <a:pt x="5486400" y="523222"/>
                  </a:lnTo>
                  <a:lnTo>
                    <a:pt x="0" y="523222"/>
                  </a:lnTo>
                  <a:close/>
                </a:path>
              </a:pathLst>
            </a:custGeom>
            <a:blipFill>
              <a:blip r:embed="rId5">
                <a:alphaModFix amt="0"/>
              </a:blip>
              <a:stretch>
                <a:fillRect t="-154315" b="-154316"/>
              </a:stretch>
            </a:blipFill>
          </p:spPr>
        </p:sp>
        <p:sp>
          <p:nvSpPr>
            <p:cNvPr id="8" name="TextBox 8"/>
            <p:cNvSpPr txBox="1"/>
            <p:nvPr/>
          </p:nvSpPr>
          <p:spPr>
            <a:xfrm>
              <a:off x="0" y="-9525"/>
              <a:ext cx="5486400" cy="532752"/>
            </a:xfrm>
            <a:prstGeom prst="rect">
              <a:avLst/>
            </a:prstGeom>
          </p:spPr>
          <p:txBody>
            <a:bodyPr lIns="0" tIns="0" rIns="0" bIns="0" rtlCol="0" anchor="ctr"/>
            <a:lstStyle/>
            <a:p>
              <a:pPr algn="r">
                <a:lnSpc>
                  <a:spcPts val="2520"/>
                </a:lnSpc>
              </a:pPr>
              <a:r>
                <a:rPr lang="en-US" sz="2100">
                  <a:solidFill>
                    <a:srgbClr val="BFBFBF"/>
                  </a:solidFill>
                  <a:latin typeface="Roboto"/>
                  <a:ea typeface="Roboto"/>
                  <a:cs typeface="Roboto"/>
                  <a:sym typeface="Roboto"/>
                </a:rPr>
                <a:t>‹#›</a:t>
              </a:r>
            </a:p>
          </p:txBody>
        </p:sp>
      </p:grpSp>
      <p:grpSp>
        <p:nvGrpSpPr>
          <p:cNvPr id="9" name="Group 9"/>
          <p:cNvGrpSpPr/>
          <p:nvPr/>
        </p:nvGrpSpPr>
        <p:grpSpPr>
          <a:xfrm>
            <a:off x="451542" y="300771"/>
            <a:ext cx="15770323" cy="767782"/>
            <a:chOff x="0" y="0"/>
            <a:chExt cx="21027098" cy="1023710"/>
          </a:xfrm>
        </p:grpSpPr>
        <p:sp>
          <p:nvSpPr>
            <p:cNvPr id="10" name="Freeform 10"/>
            <p:cNvSpPr/>
            <p:nvPr/>
          </p:nvSpPr>
          <p:spPr>
            <a:xfrm>
              <a:off x="0" y="0"/>
              <a:ext cx="21027095" cy="1023711"/>
            </a:xfrm>
            <a:custGeom>
              <a:avLst/>
              <a:gdLst/>
              <a:ahLst/>
              <a:cxnLst/>
              <a:rect l="l" t="t" r="r" b="b"/>
              <a:pathLst>
                <a:path w="21027095" h="1023711">
                  <a:moveTo>
                    <a:pt x="0" y="0"/>
                  </a:moveTo>
                  <a:lnTo>
                    <a:pt x="21027095" y="0"/>
                  </a:lnTo>
                  <a:lnTo>
                    <a:pt x="21027095" y="1023711"/>
                  </a:lnTo>
                  <a:lnTo>
                    <a:pt x="0" y="1023711"/>
                  </a:lnTo>
                  <a:close/>
                </a:path>
              </a:pathLst>
            </a:custGeom>
            <a:blipFill>
              <a:blip r:embed="rId5">
                <a:alphaModFix amt="0"/>
              </a:blip>
              <a:stretch>
                <a:fillRect t="-350224" b="-350223"/>
              </a:stretch>
            </a:blipFill>
          </p:spPr>
        </p:sp>
        <p:sp>
          <p:nvSpPr>
            <p:cNvPr id="11" name="TextBox 11"/>
            <p:cNvSpPr txBox="1"/>
            <p:nvPr/>
          </p:nvSpPr>
          <p:spPr>
            <a:xfrm>
              <a:off x="0" y="19050"/>
              <a:ext cx="21027098" cy="1004660"/>
            </a:xfrm>
            <a:prstGeom prst="rect">
              <a:avLst/>
            </a:prstGeom>
          </p:spPr>
          <p:txBody>
            <a:bodyPr lIns="0" tIns="0" rIns="0" bIns="0" rtlCol="0" anchor="b"/>
            <a:lstStyle/>
            <a:p>
              <a:pPr algn="l">
                <a:lnSpc>
                  <a:spcPts val="3888"/>
                </a:lnSpc>
              </a:pPr>
              <a:r>
                <a:rPr lang="en-US" sz="3600">
                  <a:solidFill>
                    <a:srgbClr val="EE0033"/>
                  </a:solidFill>
                  <a:latin typeface="Arial"/>
                  <a:ea typeface="Arial"/>
                  <a:cs typeface="Arial"/>
                  <a:sym typeface="Arial"/>
                </a:rPr>
                <a:t>I. PROCESS:</a:t>
              </a:r>
            </a:p>
          </p:txBody>
        </p:sp>
      </p:grpSp>
      <p:sp>
        <p:nvSpPr>
          <p:cNvPr id="12" name="Freeform 12"/>
          <p:cNvSpPr/>
          <p:nvPr/>
        </p:nvSpPr>
        <p:spPr>
          <a:xfrm>
            <a:off x="1420654" y="3423961"/>
            <a:ext cx="8226362" cy="5536143"/>
          </a:xfrm>
          <a:custGeom>
            <a:avLst/>
            <a:gdLst/>
            <a:ahLst/>
            <a:cxnLst/>
            <a:rect l="l" t="t" r="r" b="b"/>
            <a:pathLst>
              <a:path w="8226362" h="5536143">
                <a:moveTo>
                  <a:pt x="0" y="0"/>
                </a:moveTo>
                <a:lnTo>
                  <a:pt x="8226362" y="0"/>
                </a:lnTo>
                <a:lnTo>
                  <a:pt x="8226362" y="5536143"/>
                </a:lnTo>
                <a:lnTo>
                  <a:pt x="0" y="5536143"/>
                </a:lnTo>
                <a:lnTo>
                  <a:pt x="0" y="0"/>
                </a:lnTo>
                <a:close/>
              </a:path>
            </a:pathLst>
          </a:custGeom>
          <a:blipFill>
            <a:blip r:embed="rId6"/>
            <a:stretch>
              <a:fillRect/>
            </a:stretch>
          </a:blipFill>
        </p:spPr>
      </p:sp>
      <p:sp>
        <p:nvSpPr>
          <p:cNvPr id="13" name="Freeform 13"/>
          <p:cNvSpPr/>
          <p:nvPr/>
        </p:nvSpPr>
        <p:spPr>
          <a:xfrm>
            <a:off x="10205806" y="5802306"/>
            <a:ext cx="7188710" cy="1100771"/>
          </a:xfrm>
          <a:custGeom>
            <a:avLst/>
            <a:gdLst/>
            <a:ahLst/>
            <a:cxnLst/>
            <a:rect l="l" t="t" r="r" b="b"/>
            <a:pathLst>
              <a:path w="7188710" h="1100771">
                <a:moveTo>
                  <a:pt x="0" y="0"/>
                </a:moveTo>
                <a:lnTo>
                  <a:pt x="7188710" y="0"/>
                </a:lnTo>
                <a:lnTo>
                  <a:pt x="7188710" y="1100771"/>
                </a:lnTo>
                <a:lnTo>
                  <a:pt x="0" y="1100771"/>
                </a:lnTo>
                <a:lnTo>
                  <a:pt x="0" y="0"/>
                </a:lnTo>
                <a:close/>
              </a:path>
            </a:pathLst>
          </a:custGeom>
          <a:blipFill>
            <a:blip r:embed="rId7"/>
            <a:stretch>
              <a:fillRect/>
            </a:stretch>
          </a:blipFill>
        </p:spPr>
      </p:sp>
      <p:sp>
        <p:nvSpPr>
          <p:cNvPr id="14" name="TextBox 14"/>
          <p:cNvSpPr txBox="1"/>
          <p:nvPr/>
        </p:nvSpPr>
        <p:spPr>
          <a:xfrm>
            <a:off x="840743" y="9548498"/>
            <a:ext cx="7754617" cy="323850"/>
          </a:xfrm>
          <a:prstGeom prst="rect">
            <a:avLst/>
          </a:prstGeom>
        </p:spPr>
        <p:txBody>
          <a:bodyPr lIns="0" tIns="0" rIns="0" bIns="0" rtlCol="0" anchor="t">
            <a:spAutoFit/>
          </a:bodyPr>
          <a:lstStyle/>
          <a:p>
            <a:pPr algn="l">
              <a:lnSpc>
                <a:spcPts val="2520"/>
              </a:lnSpc>
            </a:pPr>
            <a:r>
              <a:rPr lang="en-US" sz="2100" spc="450">
                <a:solidFill>
                  <a:srgbClr val="BFBFBF"/>
                </a:solidFill>
                <a:latin typeface="Arial"/>
                <a:ea typeface="Arial"/>
                <a:cs typeface="Arial"/>
                <a:sym typeface="Arial"/>
              </a:rPr>
              <a:t>www.viettelhightech.vn </a:t>
            </a:r>
          </a:p>
        </p:txBody>
      </p:sp>
      <p:sp>
        <p:nvSpPr>
          <p:cNvPr id="15" name="TextBox 15"/>
          <p:cNvSpPr txBox="1"/>
          <p:nvPr/>
        </p:nvSpPr>
        <p:spPr>
          <a:xfrm>
            <a:off x="451542" y="1237783"/>
            <a:ext cx="9482967" cy="521589"/>
          </a:xfrm>
          <a:prstGeom prst="rect">
            <a:avLst/>
          </a:prstGeom>
        </p:spPr>
        <p:txBody>
          <a:bodyPr lIns="0" tIns="0" rIns="0" bIns="0" rtlCol="0" anchor="t">
            <a:spAutoFit/>
          </a:bodyPr>
          <a:lstStyle/>
          <a:p>
            <a:pPr algn="l">
              <a:lnSpc>
                <a:spcPts val="3888"/>
              </a:lnSpc>
              <a:spcBef>
                <a:spcPct val="0"/>
              </a:spcBef>
            </a:pPr>
            <a:r>
              <a:rPr lang="en-US" sz="3600">
                <a:solidFill>
                  <a:srgbClr val="EE0033"/>
                </a:solidFill>
                <a:latin typeface="Arial"/>
                <a:ea typeface="Arial"/>
                <a:cs typeface="Arial"/>
                <a:sym typeface="Arial"/>
              </a:rPr>
              <a:t>Tổng quan về fork(), exit(), wait() và execve():</a:t>
            </a:r>
          </a:p>
        </p:txBody>
      </p:sp>
      <p:sp>
        <p:nvSpPr>
          <p:cNvPr id="16" name="TextBox 16"/>
          <p:cNvSpPr txBox="1"/>
          <p:nvPr/>
        </p:nvSpPr>
        <p:spPr>
          <a:xfrm>
            <a:off x="1420654" y="1930822"/>
            <a:ext cx="14349412" cy="1493139"/>
          </a:xfrm>
          <a:prstGeom prst="rect">
            <a:avLst/>
          </a:prstGeom>
        </p:spPr>
        <p:txBody>
          <a:bodyPr lIns="0" tIns="0" rIns="0" bIns="0" rtlCol="0" anchor="t">
            <a:spAutoFit/>
          </a:bodyPr>
          <a:lstStyle/>
          <a:p>
            <a:pPr algn="just">
              <a:lnSpc>
                <a:spcPts val="3888"/>
              </a:lnSpc>
              <a:spcBef>
                <a:spcPct val="0"/>
              </a:spcBef>
            </a:pPr>
            <a:r>
              <a:rPr lang="en-US" sz="3600">
                <a:solidFill>
                  <a:srgbClr val="000000"/>
                </a:solidFill>
                <a:latin typeface="Arial"/>
                <a:ea typeface="Arial"/>
                <a:cs typeface="Arial"/>
                <a:sym typeface="Arial"/>
              </a:rPr>
              <a:t>Ta có thể phân biệt hai tiến trình thông qua giá trị mà fork() trả về.</a:t>
            </a:r>
          </a:p>
          <a:p>
            <a:pPr algn="just">
              <a:lnSpc>
                <a:spcPts val="3888"/>
              </a:lnSpc>
              <a:spcBef>
                <a:spcPct val="0"/>
              </a:spcBef>
            </a:pPr>
            <a:r>
              <a:rPr lang="en-US" sz="3600">
                <a:solidFill>
                  <a:srgbClr val="000000"/>
                </a:solidFill>
                <a:latin typeface="Arial"/>
                <a:ea typeface="Arial"/>
                <a:cs typeface="Arial"/>
                <a:sym typeface="Arial"/>
              </a:rPr>
              <a:t>Đối với tiến trình cha, fork() trả về PID của tiến trình con vừa được tạo.</a:t>
            </a:r>
          </a:p>
          <a:p>
            <a:pPr algn="just">
              <a:lnSpc>
                <a:spcPts val="3888"/>
              </a:lnSpc>
              <a:spcBef>
                <a:spcPct val="0"/>
              </a:spcBef>
            </a:pPr>
            <a:r>
              <a:rPr lang="en-US" sz="3600">
                <a:solidFill>
                  <a:srgbClr val="000000"/>
                </a:solidFill>
                <a:latin typeface="Arial"/>
                <a:ea typeface="Arial"/>
                <a:cs typeface="Arial"/>
                <a:sym typeface="Arial"/>
              </a:rPr>
              <a:t>Đối với tiến trình con, fork() luôn trả về 0.</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9206494"/>
            <a:ext cx="18288000" cy="1080506"/>
            <a:chOff x="0" y="0"/>
            <a:chExt cx="24384000" cy="1440675"/>
          </a:xfrm>
        </p:grpSpPr>
        <p:sp>
          <p:nvSpPr>
            <p:cNvPr id="3" name="Freeform 3"/>
            <p:cNvSpPr/>
            <p:nvPr/>
          </p:nvSpPr>
          <p:spPr>
            <a:xfrm>
              <a:off x="0" y="0"/>
              <a:ext cx="24384000" cy="1440688"/>
            </a:xfrm>
            <a:custGeom>
              <a:avLst/>
              <a:gdLst/>
              <a:ahLst/>
              <a:cxnLst/>
              <a:rect l="l" t="t" r="r" b="b"/>
              <a:pathLst>
                <a:path w="24384000" h="1440688">
                  <a:moveTo>
                    <a:pt x="0" y="0"/>
                  </a:moveTo>
                  <a:lnTo>
                    <a:pt x="24384000" y="0"/>
                  </a:lnTo>
                  <a:lnTo>
                    <a:pt x="24384000" y="1440688"/>
                  </a:lnTo>
                  <a:lnTo>
                    <a:pt x="0" y="1440688"/>
                  </a:lnTo>
                  <a:lnTo>
                    <a:pt x="0" y="0"/>
                  </a:lnTo>
                  <a:close/>
                </a:path>
              </a:pathLst>
            </a:custGeom>
            <a:blipFill>
              <a:blip r:embed="rId3"/>
              <a:stretch>
                <a:fillRect t="-364" b="-364"/>
              </a:stretch>
            </a:blipFill>
          </p:spPr>
        </p:sp>
      </p:grpSp>
      <p:grpSp>
        <p:nvGrpSpPr>
          <p:cNvPr id="4" name="Group 4"/>
          <p:cNvGrpSpPr/>
          <p:nvPr/>
        </p:nvGrpSpPr>
        <p:grpSpPr>
          <a:xfrm>
            <a:off x="15473315" y="9370285"/>
            <a:ext cx="1741541" cy="745693"/>
            <a:chOff x="0" y="0"/>
            <a:chExt cx="2322055" cy="994258"/>
          </a:xfrm>
        </p:grpSpPr>
        <p:sp>
          <p:nvSpPr>
            <p:cNvPr id="5" name="Freeform 5"/>
            <p:cNvSpPr/>
            <p:nvPr/>
          </p:nvSpPr>
          <p:spPr>
            <a:xfrm>
              <a:off x="0" y="0"/>
              <a:ext cx="2322068" cy="994283"/>
            </a:xfrm>
            <a:custGeom>
              <a:avLst/>
              <a:gdLst/>
              <a:ahLst/>
              <a:cxnLst/>
              <a:rect l="l" t="t" r="r" b="b"/>
              <a:pathLst>
                <a:path w="2322068" h="994283">
                  <a:moveTo>
                    <a:pt x="0" y="0"/>
                  </a:moveTo>
                  <a:lnTo>
                    <a:pt x="2322068" y="0"/>
                  </a:lnTo>
                  <a:lnTo>
                    <a:pt x="2322068" y="994283"/>
                  </a:lnTo>
                  <a:lnTo>
                    <a:pt x="0" y="994283"/>
                  </a:lnTo>
                  <a:lnTo>
                    <a:pt x="0" y="0"/>
                  </a:lnTo>
                  <a:close/>
                </a:path>
              </a:pathLst>
            </a:custGeom>
            <a:blipFill>
              <a:blip r:embed="rId4"/>
              <a:stretch>
                <a:fillRect b="-1456"/>
              </a:stretch>
            </a:blipFill>
          </p:spPr>
        </p:sp>
      </p:grpSp>
      <p:grpSp>
        <p:nvGrpSpPr>
          <p:cNvPr id="6" name="Group 6"/>
          <p:cNvGrpSpPr/>
          <p:nvPr/>
        </p:nvGrpSpPr>
        <p:grpSpPr>
          <a:xfrm>
            <a:off x="9981438" y="9581550"/>
            <a:ext cx="4114800" cy="392420"/>
            <a:chOff x="0" y="0"/>
            <a:chExt cx="5486400" cy="523227"/>
          </a:xfrm>
        </p:grpSpPr>
        <p:sp>
          <p:nvSpPr>
            <p:cNvPr id="7" name="Freeform 7"/>
            <p:cNvSpPr/>
            <p:nvPr/>
          </p:nvSpPr>
          <p:spPr>
            <a:xfrm>
              <a:off x="0" y="0"/>
              <a:ext cx="5486400" cy="523222"/>
            </a:xfrm>
            <a:custGeom>
              <a:avLst/>
              <a:gdLst/>
              <a:ahLst/>
              <a:cxnLst/>
              <a:rect l="l" t="t" r="r" b="b"/>
              <a:pathLst>
                <a:path w="5486400" h="523222">
                  <a:moveTo>
                    <a:pt x="0" y="0"/>
                  </a:moveTo>
                  <a:lnTo>
                    <a:pt x="5486400" y="0"/>
                  </a:lnTo>
                  <a:lnTo>
                    <a:pt x="5486400" y="523222"/>
                  </a:lnTo>
                  <a:lnTo>
                    <a:pt x="0" y="523222"/>
                  </a:lnTo>
                  <a:close/>
                </a:path>
              </a:pathLst>
            </a:custGeom>
            <a:blipFill>
              <a:blip r:embed="rId5">
                <a:alphaModFix amt="0"/>
              </a:blip>
              <a:stretch>
                <a:fillRect t="-154315" b="-154316"/>
              </a:stretch>
            </a:blipFill>
          </p:spPr>
        </p:sp>
        <p:sp>
          <p:nvSpPr>
            <p:cNvPr id="8" name="TextBox 8"/>
            <p:cNvSpPr txBox="1"/>
            <p:nvPr/>
          </p:nvSpPr>
          <p:spPr>
            <a:xfrm>
              <a:off x="0" y="-9525"/>
              <a:ext cx="5486400" cy="532752"/>
            </a:xfrm>
            <a:prstGeom prst="rect">
              <a:avLst/>
            </a:prstGeom>
          </p:spPr>
          <p:txBody>
            <a:bodyPr lIns="0" tIns="0" rIns="0" bIns="0" rtlCol="0" anchor="ctr"/>
            <a:lstStyle/>
            <a:p>
              <a:pPr algn="r">
                <a:lnSpc>
                  <a:spcPts val="2520"/>
                </a:lnSpc>
              </a:pPr>
              <a:r>
                <a:rPr lang="en-US" sz="2100">
                  <a:solidFill>
                    <a:srgbClr val="BFBFBF"/>
                  </a:solidFill>
                  <a:latin typeface="Roboto"/>
                  <a:ea typeface="Roboto"/>
                  <a:cs typeface="Roboto"/>
                  <a:sym typeface="Roboto"/>
                </a:rPr>
                <a:t>‹#›</a:t>
              </a:r>
            </a:p>
          </p:txBody>
        </p:sp>
      </p:grpSp>
      <p:grpSp>
        <p:nvGrpSpPr>
          <p:cNvPr id="9" name="Group 9"/>
          <p:cNvGrpSpPr/>
          <p:nvPr/>
        </p:nvGrpSpPr>
        <p:grpSpPr>
          <a:xfrm>
            <a:off x="451542" y="300771"/>
            <a:ext cx="15770323" cy="767782"/>
            <a:chOff x="0" y="0"/>
            <a:chExt cx="21027098" cy="1023710"/>
          </a:xfrm>
        </p:grpSpPr>
        <p:sp>
          <p:nvSpPr>
            <p:cNvPr id="10" name="Freeform 10"/>
            <p:cNvSpPr/>
            <p:nvPr/>
          </p:nvSpPr>
          <p:spPr>
            <a:xfrm>
              <a:off x="0" y="0"/>
              <a:ext cx="21027095" cy="1023711"/>
            </a:xfrm>
            <a:custGeom>
              <a:avLst/>
              <a:gdLst/>
              <a:ahLst/>
              <a:cxnLst/>
              <a:rect l="l" t="t" r="r" b="b"/>
              <a:pathLst>
                <a:path w="21027095" h="1023711">
                  <a:moveTo>
                    <a:pt x="0" y="0"/>
                  </a:moveTo>
                  <a:lnTo>
                    <a:pt x="21027095" y="0"/>
                  </a:lnTo>
                  <a:lnTo>
                    <a:pt x="21027095" y="1023711"/>
                  </a:lnTo>
                  <a:lnTo>
                    <a:pt x="0" y="1023711"/>
                  </a:lnTo>
                  <a:close/>
                </a:path>
              </a:pathLst>
            </a:custGeom>
            <a:blipFill>
              <a:blip r:embed="rId5">
                <a:alphaModFix amt="0"/>
              </a:blip>
              <a:stretch>
                <a:fillRect t="-350224" b="-350223"/>
              </a:stretch>
            </a:blipFill>
          </p:spPr>
        </p:sp>
        <p:sp>
          <p:nvSpPr>
            <p:cNvPr id="11" name="TextBox 11"/>
            <p:cNvSpPr txBox="1"/>
            <p:nvPr/>
          </p:nvSpPr>
          <p:spPr>
            <a:xfrm>
              <a:off x="0" y="19050"/>
              <a:ext cx="21027098" cy="1004660"/>
            </a:xfrm>
            <a:prstGeom prst="rect">
              <a:avLst/>
            </a:prstGeom>
          </p:spPr>
          <p:txBody>
            <a:bodyPr lIns="0" tIns="0" rIns="0" bIns="0" rtlCol="0" anchor="b"/>
            <a:lstStyle/>
            <a:p>
              <a:pPr algn="l">
                <a:lnSpc>
                  <a:spcPts val="3888"/>
                </a:lnSpc>
              </a:pPr>
              <a:r>
                <a:rPr lang="en-US" sz="3600">
                  <a:solidFill>
                    <a:srgbClr val="EE0033"/>
                  </a:solidFill>
                  <a:latin typeface="Arial"/>
                  <a:ea typeface="Arial"/>
                  <a:cs typeface="Arial"/>
                  <a:sym typeface="Arial"/>
                </a:rPr>
                <a:t>I. PROCESS:</a:t>
              </a:r>
            </a:p>
          </p:txBody>
        </p:sp>
      </p:grpSp>
      <p:sp>
        <p:nvSpPr>
          <p:cNvPr id="12" name="TextBox 12"/>
          <p:cNvSpPr txBox="1"/>
          <p:nvPr/>
        </p:nvSpPr>
        <p:spPr>
          <a:xfrm>
            <a:off x="840743" y="9548498"/>
            <a:ext cx="7754617" cy="323850"/>
          </a:xfrm>
          <a:prstGeom prst="rect">
            <a:avLst/>
          </a:prstGeom>
        </p:spPr>
        <p:txBody>
          <a:bodyPr lIns="0" tIns="0" rIns="0" bIns="0" rtlCol="0" anchor="t">
            <a:spAutoFit/>
          </a:bodyPr>
          <a:lstStyle/>
          <a:p>
            <a:pPr algn="l">
              <a:lnSpc>
                <a:spcPts val="2520"/>
              </a:lnSpc>
            </a:pPr>
            <a:r>
              <a:rPr lang="en-US" sz="2100" spc="450">
                <a:solidFill>
                  <a:srgbClr val="BFBFBF"/>
                </a:solidFill>
                <a:latin typeface="Arial"/>
                <a:ea typeface="Arial"/>
                <a:cs typeface="Arial"/>
                <a:sym typeface="Arial"/>
              </a:rPr>
              <a:t>www.viettelhightech.vn </a:t>
            </a:r>
          </a:p>
        </p:txBody>
      </p:sp>
      <p:sp>
        <p:nvSpPr>
          <p:cNvPr id="13" name="TextBox 13"/>
          <p:cNvSpPr txBox="1"/>
          <p:nvPr/>
        </p:nvSpPr>
        <p:spPr>
          <a:xfrm>
            <a:off x="451542" y="1237783"/>
            <a:ext cx="9482967" cy="521589"/>
          </a:xfrm>
          <a:prstGeom prst="rect">
            <a:avLst/>
          </a:prstGeom>
        </p:spPr>
        <p:txBody>
          <a:bodyPr lIns="0" tIns="0" rIns="0" bIns="0" rtlCol="0" anchor="t">
            <a:spAutoFit/>
          </a:bodyPr>
          <a:lstStyle/>
          <a:p>
            <a:pPr algn="l">
              <a:lnSpc>
                <a:spcPts val="3888"/>
              </a:lnSpc>
              <a:spcBef>
                <a:spcPct val="0"/>
              </a:spcBef>
            </a:pPr>
            <a:r>
              <a:rPr lang="en-US" sz="3600">
                <a:solidFill>
                  <a:srgbClr val="EE0033"/>
                </a:solidFill>
                <a:latin typeface="Arial"/>
                <a:ea typeface="Arial"/>
                <a:cs typeface="Arial"/>
                <a:sym typeface="Arial"/>
              </a:rPr>
              <a:t>Tổng quan về fork(), exit(), wait() và execve():</a:t>
            </a:r>
          </a:p>
        </p:txBody>
      </p:sp>
      <p:sp>
        <p:nvSpPr>
          <p:cNvPr id="14" name="TextBox 14"/>
          <p:cNvSpPr txBox="1"/>
          <p:nvPr/>
        </p:nvSpPr>
        <p:spPr>
          <a:xfrm>
            <a:off x="739286" y="1930822"/>
            <a:ext cx="16139602" cy="1007364"/>
          </a:xfrm>
          <a:prstGeom prst="rect">
            <a:avLst/>
          </a:prstGeom>
        </p:spPr>
        <p:txBody>
          <a:bodyPr lIns="0" tIns="0" rIns="0" bIns="0" rtlCol="0" anchor="t">
            <a:spAutoFit/>
          </a:bodyPr>
          <a:lstStyle/>
          <a:p>
            <a:pPr algn="l">
              <a:lnSpc>
                <a:spcPts val="3888"/>
              </a:lnSpc>
              <a:spcBef>
                <a:spcPct val="0"/>
              </a:spcBef>
            </a:pPr>
            <a:r>
              <a:rPr lang="en-US" sz="3600">
                <a:solidFill>
                  <a:srgbClr val="000000"/>
                </a:solidFill>
                <a:latin typeface="Arial"/>
                <a:ea typeface="Arial"/>
                <a:cs typeface="Arial"/>
                <a:sym typeface="Arial"/>
              </a:rPr>
              <a:t>Hàm thư viện exit(status) kết thúc một tiến trình, đồng thời giải phóng tất cả tài nguyên mà tiến trình đang sử dụng.</a:t>
            </a:r>
          </a:p>
        </p:txBody>
      </p:sp>
      <p:sp>
        <p:nvSpPr>
          <p:cNvPr id="15" name="TextBox 15"/>
          <p:cNvSpPr txBox="1"/>
          <p:nvPr/>
        </p:nvSpPr>
        <p:spPr>
          <a:xfrm>
            <a:off x="739286" y="3508035"/>
            <a:ext cx="16253314" cy="2000548"/>
          </a:xfrm>
          <a:prstGeom prst="rect">
            <a:avLst/>
          </a:prstGeom>
        </p:spPr>
        <p:txBody>
          <a:bodyPr wrap="square" lIns="0" tIns="0" rIns="0" bIns="0" rtlCol="0" anchor="t">
            <a:spAutoFit/>
          </a:bodyPr>
          <a:lstStyle/>
          <a:p>
            <a:pPr algn="l">
              <a:lnSpc>
                <a:spcPts val="3888"/>
              </a:lnSpc>
              <a:spcBef>
                <a:spcPct val="0"/>
              </a:spcBef>
            </a:pPr>
            <a:r>
              <a:rPr lang="en-US" sz="3600" dirty="0" err="1">
                <a:solidFill>
                  <a:srgbClr val="000000"/>
                </a:solidFill>
                <a:latin typeface="Arial"/>
                <a:ea typeface="Arial"/>
                <a:cs typeface="Arial"/>
                <a:sym typeface="Arial"/>
              </a:rPr>
              <a:t>Các</a:t>
            </a:r>
            <a:r>
              <a:rPr lang="en-US" sz="3600" dirty="0">
                <a:solidFill>
                  <a:srgbClr val="000000"/>
                </a:solidFill>
                <a:latin typeface="Arial"/>
                <a:ea typeface="Arial"/>
                <a:cs typeface="Arial"/>
                <a:sym typeface="Arial"/>
              </a:rPr>
              <a:t> </a:t>
            </a:r>
            <a:r>
              <a:rPr lang="en-US" sz="3600" dirty="0" err="1">
                <a:solidFill>
                  <a:srgbClr val="000000"/>
                </a:solidFill>
                <a:latin typeface="Arial"/>
                <a:ea typeface="Arial"/>
                <a:cs typeface="Arial"/>
                <a:sym typeface="Arial"/>
              </a:rPr>
              <a:t>bước</a:t>
            </a:r>
            <a:r>
              <a:rPr lang="en-US" sz="3600" dirty="0">
                <a:solidFill>
                  <a:srgbClr val="000000"/>
                </a:solidFill>
                <a:latin typeface="Arial"/>
                <a:ea typeface="Arial"/>
                <a:cs typeface="Arial"/>
                <a:sym typeface="Arial"/>
              </a:rPr>
              <a:t> </a:t>
            </a:r>
            <a:r>
              <a:rPr lang="en-US" sz="3600" dirty="0" err="1">
                <a:solidFill>
                  <a:srgbClr val="000000"/>
                </a:solidFill>
                <a:latin typeface="Arial"/>
                <a:ea typeface="Arial"/>
                <a:cs typeface="Arial"/>
                <a:sym typeface="Arial"/>
              </a:rPr>
              <a:t>mà</a:t>
            </a:r>
            <a:r>
              <a:rPr lang="en-US" sz="3600" dirty="0">
                <a:solidFill>
                  <a:srgbClr val="000000"/>
                </a:solidFill>
                <a:latin typeface="Arial"/>
                <a:ea typeface="Arial"/>
                <a:cs typeface="Arial"/>
                <a:sym typeface="Arial"/>
              </a:rPr>
              <a:t> exit() </a:t>
            </a:r>
            <a:r>
              <a:rPr lang="en-US" sz="3600" dirty="0" err="1">
                <a:solidFill>
                  <a:srgbClr val="000000"/>
                </a:solidFill>
                <a:latin typeface="Arial"/>
                <a:ea typeface="Arial"/>
                <a:cs typeface="Arial"/>
                <a:sym typeface="Arial"/>
              </a:rPr>
              <a:t>thực</a:t>
            </a:r>
            <a:r>
              <a:rPr lang="en-US" sz="3600" dirty="0">
                <a:solidFill>
                  <a:srgbClr val="000000"/>
                </a:solidFill>
                <a:latin typeface="Arial"/>
                <a:ea typeface="Arial"/>
                <a:cs typeface="Arial"/>
                <a:sym typeface="Arial"/>
              </a:rPr>
              <a:t> </a:t>
            </a:r>
            <a:r>
              <a:rPr lang="en-US" sz="3600" dirty="0" err="1">
                <a:solidFill>
                  <a:srgbClr val="000000"/>
                </a:solidFill>
                <a:latin typeface="Arial"/>
                <a:ea typeface="Arial"/>
                <a:cs typeface="Arial"/>
                <a:sym typeface="Arial"/>
              </a:rPr>
              <a:t>hiện</a:t>
            </a:r>
            <a:r>
              <a:rPr lang="en-US" sz="3600" dirty="0">
                <a:solidFill>
                  <a:srgbClr val="000000"/>
                </a:solidFill>
                <a:latin typeface="Arial"/>
                <a:ea typeface="Arial"/>
                <a:cs typeface="Arial"/>
                <a:sym typeface="Arial"/>
              </a:rPr>
              <a:t>:</a:t>
            </a:r>
          </a:p>
          <a:p>
            <a:pPr marL="777240" lvl="1" indent="-388620" algn="l">
              <a:lnSpc>
                <a:spcPts val="3888"/>
              </a:lnSpc>
              <a:spcBef>
                <a:spcPct val="0"/>
              </a:spcBef>
              <a:buFont typeface="Arial"/>
              <a:buChar char="•"/>
            </a:pPr>
            <a:r>
              <a:rPr lang="en-US" sz="3600" dirty="0" err="1">
                <a:solidFill>
                  <a:srgbClr val="000000"/>
                </a:solidFill>
                <a:latin typeface="Arial"/>
                <a:ea typeface="Arial"/>
                <a:cs typeface="Arial"/>
                <a:sym typeface="Arial"/>
              </a:rPr>
              <a:t>Gọi</a:t>
            </a:r>
            <a:r>
              <a:rPr lang="en-US" sz="3600" dirty="0">
                <a:solidFill>
                  <a:srgbClr val="000000"/>
                </a:solidFill>
                <a:latin typeface="Arial"/>
                <a:ea typeface="Arial"/>
                <a:cs typeface="Arial"/>
                <a:sym typeface="Arial"/>
              </a:rPr>
              <a:t> </a:t>
            </a:r>
            <a:r>
              <a:rPr lang="en-US" sz="3600" dirty="0" err="1">
                <a:solidFill>
                  <a:srgbClr val="000000"/>
                </a:solidFill>
                <a:latin typeface="Arial"/>
                <a:ea typeface="Arial"/>
                <a:cs typeface="Arial"/>
                <a:sym typeface="Arial"/>
              </a:rPr>
              <a:t>các</a:t>
            </a:r>
            <a:r>
              <a:rPr lang="en-US" sz="3600" dirty="0">
                <a:solidFill>
                  <a:srgbClr val="000000"/>
                </a:solidFill>
                <a:latin typeface="Arial"/>
                <a:ea typeface="Arial"/>
                <a:cs typeface="Arial"/>
                <a:sym typeface="Arial"/>
              </a:rPr>
              <a:t> exit handler (</a:t>
            </a:r>
            <a:r>
              <a:rPr lang="en-US" sz="3600" dirty="0" err="1">
                <a:solidFill>
                  <a:srgbClr val="000000"/>
                </a:solidFill>
                <a:latin typeface="Arial"/>
                <a:ea typeface="Arial"/>
                <a:cs typeface="Arial"/>
                <a:sym typeface="Arial"/>
              </a:rPr>
              <a:t>các</a:t>
            </a:r>
            <a:r>
              <a:rPr lang="en-US" sz="3600" dirty="0">
                <a:solidFill>
                  <a:srgbClr val="000000"/>
                </a:solidFill>
                <a:latin typeface="Arial"/>
                <a:ea typeface="Arial"/>
                <a:cs typeface="Arial"/>
                <a:sym typeface="Arial"/>
              </a:rPr>
              <a:t> </a:t>
            </a:r>
            <a:r>
              <a:rPr lang="en-US" sz="3600" dirty="0" err="1">
                <a:solidFill>
                  <a:srgbClr val="000000"/>
                </a:solidFill>
                <a:latin typeface="Arial"/>
                <a:ea typeface="Arial"/>
                <a:cs typeface="Arial"/>
                <a:sym typeface="Arial"/>
              </a:rPr>
              <a:t>hàm</a:t>
            </a:r>
            <a:r>
              <a:rPr lang="en-US" sz="3600" dirty="0">
                <a:solidFill>
                  <a:srgbClr val="000000"/>
                </a:solidFill>
                <a:latin typeface="Arial"/>
                <a:ea typeface="Arial"/>
                <a:cs typeface="Arial"/>
                <a:sym typeface="Arial"/>
              </a:rPr>
              <a:t> </a:t>
            </a:r>
            <a:r>
              <a:rPr lang="en-US" sz="3600" dirty="0" err="1">
                <a:solidFill>
                  <a:srgbClr val="000000"/>
                </a:solidFill>
                <a:latin typeface="Arial"/>
                <a:ea typeface="Arial"/>
                <a:cs typeface="Arial"/>
                <a:sym typeface="Arial"/>
              </a:rPr>
              <a:t>đã</a:t>
            </a:r>
            <a:r>
              <a:rPr lang="en-US" sz="3600" dirty="0">
                <a:solidFill>
                  <a:srgbClr val="000000"/>
                </a:solidFill>
                <a:latin typeface="Arial"/>
                <a:ea typeface="Arial"/>
                <a:cs typeface="Arial"/>
                <a:sym typeface="Arial"/>
              </a:rPr>
              <a:t> </a:t>
            </a:r>
            <a:r>
              <a:rPr lang="en-US" sz="3600" dirty="0" err="1">
                <a:solidFill>
                  <a:srgbClr val="000000"/>
                </a:solidFill>
                <a:latin typeface="Arial"/>
                <a:ea typeface="Arial"/>
                <a:cs typeface="Arial"/>
                <a:sym typeface="Arial"/>
              </a:rPr>
              <a:t>đăng</a:t>
            </a:r>
            <a:r>
              <a:rPr lang="en-US" sz="3600" dirty="0">
                <a:solidFill>
                  <a:srgbClr val="000000"/>
                </a:solidFill>
                <a:latin typeface="Arial"/>
                <a:ea typeface="Arial"/>
                <a:cs typeface="Arial"/>
                <a:sym typeface="Arial"/>
              </a:rPr>
              <a:t> </a:t>
            </a:r>
            <a:r>
              <a:rPr lang="en-US" sz="3600" dirty="0" err="1">
                <a:solidFill>
                  <a:srgbClr val="000000"/>
                </a:solidFill>
                <a:latin typeface="Arial"/>
                <a:ea typeface="Arial"/>
                <a:cs typeface="Arial"/>
                <a:sym typeface="Arial"/>
              </a:rPr>
              <a:t>ký</a:t>
            </a:r>
            <a:r>
              <a:rPr lang="en-US" sz="3600" dirty="0">
                <a:solidFill>
                  <a:srgbClr val="000000"/>
                </a:solidFill>
                <a:latin typeface="Arial"/>
                <a:ea typeface="Arial"/>
                <a:cs typeface="Arial"/>
                <a:sym typeface="Arial"/>
              </a:rPr>
              <a:t> </a:t>
            </a:r>
            <a:r>
              <a:rPr lang="en-US" sz="3600" dirty="0" err="1">
                <a:solidFill>
                  <a:srgbClr val="000000"/>
                </a:solidFill>
                <a:latin typeface="Arial"/>
                <a:ea typeface="Arial"/>
                <a:cs typeface="Arial"/>
                <a:sym typeface="Arial"/>
              </a:rPr>
              <a:t>bằng</a:t>
            </a:r>
            <a:r>
              <a:rPr lang="en-US" sz="3600" dirty="0">
                <a:solidFill>
                  <a:srgbClr val="000000"/>
                </a:solidFill>
                <a:latin typeface="Arial"/>
                <a:ea typeface="Arial"/>
                <a:cs typeface="Arial"/>
                <a:sym typeface="Arial"/>
              </a:rPr>
              <a:t> </a:t>
            </a:r>
            <a:r>
              <a:rPr lang="en-US" sz="3600" dirty="0" err="1">
                <a:solidFill>
                  <a:srgbClr val="000000"/>
                </a:solidFill>
                <a:latin typeface="Arial"/>
                <a:ea typeface="Arial"/>
                <a:cs typeface="Arial"/>
                <a:sym typeface="Arial"/>
              </a:rPr>
              <a:t>atexit</a:t>
            </a:r>
            <a:r>
              <a:rPr lang="en-US" sz="3600" dirty="0">
                <a:solidFill>
                  <a:srgbClr val="000000"/>
                </a:solidFill>
                <a:latin typeface="Arial"/>
                <a:ea typeface="Arial"/>
                <a:cs typeface="Arial"/>
                <a:sym typeface="Arial"/>
              </a:rPr>
              <a:t>() </a:t>
            </a:r>
            <a:r>
              <a:rPr lang="en-US" sz="3600" dirty="0" err="1">
                <a:solidFill>
                  <a:srgbClr val="000000"/>
                </a:solidFill>
                <a:latin typeface="Arial"/>
                <a:ea typeface="Arial"/>
                <a:cs typeface="Arial"/>
                <a:sym typeface="Arial"/>
              </a:rPr>
              <a:t>hoặc</a:t>
            </a:r>
            <a:r>
              <a:rPr lang="en-US" sz="3600" dirty="0">
                <a:solidFill>
                  <a:srgbClr val="000000"/>
                </a:solidFill>
                <a:latin typeface="Arial"/>
                <a:ea typeface="Arial"/>
                <a:cs typeface="Arial"/>
                <a:sym typeface="Arial"/>
              </a:rPr>
              <a:t> </a:t>
            </a:r>
            <a:r>
              <a:rPr lang="en-US" sz="3600" dirty="0" err="1">
                <a:solidFill>
                  <a:srgbClr val="000000"/>
                </a:solidFill>
                <a:latin typeface="Arial"/>
                <a:ea typeface="Arial"/>
                <a:cs typeface="Arial"/>
                <a:sym typeface="Arial"/>
              </a:rPr>
              <a:t>on_exit</a:t>
            </a:r>
            <a:r>
              <a:rPr lang="en-US" sz="3600" dirty="0">
                <a:solidFill>
                  <a:srgbClr val="000000"/>
                </a:solidFill>
                <a:latin typeface="Arial"/>
                <a:ea typeface="Arial"/>
                <a:cs typeface="Arial"/>
                <a:sym typeface="Arial"/>
              </a:rPr>
              <a:t>()).</a:t>
            </a:r>
          </a:p>
          <a:p>
            <a:pPr marL="777240" lvl="1" indent="-388620" algn="l">
              <a:lnSpc>
                <a:spcPts val="3888"/>
              </a:lnSpc>
              <a:spcBef>
                <a:spcPct val="0"/>
              </a:spcBef>
              <a:buFont typeface="Arial"/>
              <a:buChar char="•"/>
            </a:pPr>
            <a:r>
              <a:rPr lang="en-US" sz="3600" dirty="0" err="1">
                <a:solidFill>
                  <a:srgbClr val="000000"/>
                </a:solidFill>
                <a:latin typeface="Arial"/>
                <a:ea typeface="Arial"/>
                <a:cs typeface="Arial"/>
                <a:sym typeface="Arial"/>
              </a:rPr>
              <a:t>Ghi</a:t>
            </a:r>
            <a:r>
              <a:rPr lang="en-US" sz="3600" dirty="0">
                <a:solidFill>
                  <a:srgbClr val="000000"/>
                </a:solidFill>
                <a:latin typeface="Arial"/>
                <a:ea typeface="Arial"/>
                <a:cs typeface="Arial"/>
                <a:sym typeface="Arial"/>
              </a:rPr>
              <a:t> </a:t>
            </a:r>
            <a:r>
              <a:rPr lang="en-US" sz="3600" dirty="0" err="1">
                <a:solidFill>
                  <a:srgbClr val="000000"/>
                </a:solidFill>
                <a:latin typeface="Arial"/>
                <a:ea typeface="Arial"/>
                <a:cs typeface="Arial"/>
                <a:sym typeface="Arial"/>
              </a:rPr>
              <a:t>hết</a:t>
            </a:r>
            <a:r>
              <a:rPr lang="en-US" sz="3600" dirty="0">
                <a:solidFill>
                  <a:srgbClr val="000000"/>
                </a:solidFill>
                <a:latin typeface="Arial"/>
                <a:ea typeface="Arial"/>
                <a:cs typeface="Arial"/>
                <a:sym typeface="Arial"/>
              </a:rPr>
              <a:t> </a:t>
            </a:r>
            <a:r>
              <a:rPr lang="en-US" sz="3600" dirty="0" err="1">
                <a:solidFill>
                  <a:srgbClr val="000000"/>
                </a:solidFill>
                <a:latin typeface="Arial"/>
                <a:ea typeface="Arial"/>
                <a:cs typeface="Arial"/>
                <a:sym typeface="Arial"/>
              </a:rPr>
              <a:t>toàn</a:t>
            </a:r>
            <a:r>
              <a:rPr lang="en-US" sz="3600" dirty="0">
                <a:solidFill>
                  <a:srgbClr val="000000"/>
                </a:solidFill>
                <a:latin typeface="Arial"/>
                <a:ea typeface="Arial"/>
                <a:cs typeface="Arial"/>
                <a:sym typeface="Arial"/>
              </a:rPr>
              <a:t> </a:t>
            </a:r>
            <a:r>
              <a:rPr lang="en-US" sz="3600" dirty="0" err="1">
                <a:solidFill>
                  <a:srgbClr val="000000"/>
                </a:solidFill>
                <a:latin typeface="Arial"/>
                <a:ea typeface="Arial"/>
                <a:cs typeface="Arial"/>
                <a:sym typeface="Arial"/>
              </a:rPr>
              <a:t>bộ</a:t>
            </a:r>
            <a:r>
              <a:rPr lang="en-US" sz="3600" dirty="0">
                <a:solidFill>
                  <a:srgbClr val="000000"/>
                </a:solidFill>
                <a:latin typeface="Arial"/>
                <a:ea typeface="Arial"/>
                <a:cs typeface="Arial"/>
                <a:sym typeface="Arial"/>
              </a:rPr>
              <a:t> </a:t>
            </a:r>
            <a:r>
              <a:rPr lang="en-US" sz="3600" dirty="0" err="1">
                <a:solidFill>
                  <a:srgbClr val="000000"/>
                </a:solidFill>
                <a:latin typeface="Arial"/>
                <a:ea typeface="Arial"/>
                <a:cs typeface="Arial"/>
                <a:sym typeface="Arial"/>
              </a:rPr>
              <a:t>dữ</a:t>
            </a:r>
            <a:r>
              <a:rPr lang="en-US" sz="3600" dirty="0">
                <a:solidFill>
                  <a:srgbClr val="000000"/>
                </a:solidFill>
                <a:latin typeface="Arial"/>
                <a:ea typeface="Arial"/>
                <a:cs typeface="Arial"/>
                <a:sym typeface="Arial"/>
              </a:rPr>
              <a:t> </a:t>
            </a:r>
            <a:r>
              <a:rPr lang="en-US" sz="3600" dirty="0" err="1">
                <a:solidFill>
                  <a:srgbClr val="000000"/>
                </a:solidFill>
                <a:latin typeface="Arial"/>
                <a:ea typeface="Arial"/>
                <a:cs typeface="Arial"/>
                <a:sym typeface="Arial"/>
              </a:rPr>
              <a:t>liệu</a:t>
            </a:r>
            <a:r>
              <a:rPr lang="en-US" sz="3600" dirty="0">
                <a:solidFill>
                  <a:srgbClr val="000000"/>
                </a:solidFill>
                <a:latin typeface="Arial"/>
                <a:ea typeface="Arial"/>
                <a:cs typeface="Arial"/>
                <a:sym typeface="Arial"/>
              </a:rPr>
              <a:t> </a:t>
            </a:r>
            <a:r>
              <a:rPr lang="en-US" sz="3600" dirty="0" err="1">
                <a:solidFill>
                  <a:srgbClr val="000000"/>
                </a:solidFill>
                <a:latin typeface="Arial"/>
                <a:ea typeface="Arial"/>
                <a:cs typeface="Arial"/>
                <a:sym typeface="Arial"/>
              </a:rPr>
              <a:t>còn</a:t>
            </a:r>
            <a:r>
              <a:rPr lang="en-US" sz="3600" dirty="0">
                <a:solidFill>
                  <a:srgbClr val="000000"/>
                </a:solidFill>
                <a:latin typeface="Arial"/>
                <a:ea typeface="Arial"/>
                <a:cs typeface="Arial"/>
                <a:sym typeface="Arial"/>
              </a:rPr>
              <a:t> </a:t>
            </a:r>
            <a:r>
              <a:rPr lang="en-US" sz="3600" dirty="0" err="1">
                <a:solidFill>
                  <a:srgbClr val="000000"/>
                </a:solidFill>
                <a:latin typeface="Arial"/>
                <a:ea typeface="Arial"/>
                <a:cs typeface="Arial"/>
                <a:sym typeface="Arial"/>
              </a:rPr>
              <a:t>nằm</a:t>
            </a:r>
            <a:r>
              <a:rPr lang="en-US" sz="3600" dirty="0">
                <a:solidFill>
                  <a:srgbClr val="000000"/>
                </a:solidFill>
                <a:latin typeface="Arial"/>
                <a:ea typeface="Arial"/>
                <a:cs typeface="Arial"/>
                <a:sym typeface="Arial"/>
              </a:rPr>
              <a:t> </a:t>
            </a:r>
            <a:r>
              <a:rPr lang="en-US" sz="3600" dirty="0" err="1">
                <a:solidFill>
                  <a:srgbClr val="000000"/>
                </a:solidFill>
                <a:latin typeface="Arial"/>
                <a:ea typeface="Arial"/>
                <a:cs typeface="Arial"/>
                <a:sym typeface="Arial"/>
              </a:rPr>
              <a:t>trong</a:t>
            </a:r>
            <a:r>
              <a:rPr lang="en-US" sz="3600" dirty="0">
                <a:solidFill>
                  <a:srgbClr val="000000"/>
                </a:solidFill>
                <a:latin typeface="Arial"/>
                <a:ea typeface="Arial"/>
                <a:cs typeface="Arial"/>
                <a:sym typeface="Arial"/>
              </a:rPr>
              <a:t> </a:t>
            </a:r>
            <a:r>
              <a:rPr lang="en-US" sz="3600" dirty="0" err="1">
                <a:solidFill>
                  <a:srgbClr val="000000"/>
                </a:solidFill>
                <a:latin typeface="Arial"/>
                <a:ea typeface="Arial"/>
                <a:cs typeface="Arial"/>
                <a:sym typeface="Arial"/>
              </a:rPr>
              <a:t>stdio</a:t>
            </a:r>
            <a:r>
              <a:rPr lang="en-US" sz="3600" dirty="0">
                <a:solidFill>
                  <a:srgbClr val="000000"/>
                </a:solidFill>
                <a:latin typeface="Arial"/>
                <a:ea typeface="Arial"/>
                <a:cs typeface="Arial"/>
                <a:sym typeface="Arial"/>
              </a:rPr>
              <a:t> buffer </a:t>
            </a:r>
            <a:r>
              <a:rPr lang="en-US" sz="3600" dirty="0" err="1">
                <a:solidFill>
                  <a:srgbClr val="000000"/>
                </a:solidFill>
                <a:latin typeface="Arial"/>
                <a:ea typeface="Arial"/>
                <a:cs typeface="Arial"/>
                <a:sym typeface="Arial"/>
              </a:rPr>
              <a:t>ra</a:t>
            </a:r>
            <a:r>
              <a:rPr lang="en-US" sz="3600" dirty="0">
                <a:solidFill>
                  <a:srgbClr val="000000"/>
                </a:solidFill>
                <a:latin typeface="Arial"/>
                <a:ea typeface="Arial"/>
                <a:cs typeface="Arial"/>
                <a:sym typeface="Arial"/>
              </a:rPr>
              <a:t> </a:t>
            </a:r>
            <a:r>
              <a:rPr lang="en-US" sz="3600" dirty="0" err="1">
                <a:solidFill>
                  <a:srgbClr val="000000"/>
                </a:solidFill>
                <a:latin typeface="Arial"/>
                <a:ea typeface="Arial"/>
                <a:cs typeface="Arial"/>
                <a:sym typeface="Arial"/>
              </a:rPr>
              <a:t>thiết</a:t>
            </a:r>
            <a:r>
              <a:rPr lang="en-US" sz="3600" dirty="0">
                <a:solidFill>
                  <a:srgbClr val="000000"/>
                </a:solidFill>
                <a:latin typeface="Arial"/>
                <a:ea typeface="Arial"/>
                <a:cs typeface="Arial"/>
                <a:sym typeface="Arial"/>
              </a:rPr>
              <a:t> </a:t>
            </a:r>
            <a:r>
              <a:rPr lang="en-US" sz="3600" dirty="0" err="1">
                <a:solidFill>
                  <a:srgbClr val="000000"/>
                </a:solidFill>
                <a:latin typeface="Arial"/>
                <a:ea typeface="Arial"/>
                <a:cs typeface="Arial"/>
                <a:sym typeface="Arial"/>
              </a:rPr>
              <a:t>bị</a:t>
            </a:r>
            <a:r>
              <a:rPr lang="en-US" sz="3600" dirty="0">
                <a:solidFill>
                  <a:srgbClr val="000000"/>
                </a:solidFill>
                <a:latin typeface="Arial"/>
                <a:ea typeface="Arial"/>
                <a:cs typeface="Arial"/>
                <a:sym typeface="Arial"/>
              </a:rPr>
              <a:t>.</a:t>
            </a:r>
          </a:p>
          <a:p>
            <a:pPr marL="777240" lvl="1" indent="-388620" algn="l">
              <a:lnSpc>
                <a:spcPts val="3888"/>
              </a:lnSpc>
              <a:spcBef>
                <a:spcPct val="0"/>
              </a:spcBef>
              <a:buFont typeface="Arial"/>
              <a:buChar char="•"/>
            </a:pPr>
            <a:r>
              <a:rPr lang="en-US" sz="3600" dirty="0" err="1">
                <a:solidFill>
                  <a:srgbClr val="000000"/>
                </a:solidFill>
                <a:latin typeface="Arial"/>
                <a:ea typeface="Arial"/>
                <a:cs typeface="Arial"/>
                <a:sym typeface="Arial"/>
              </a:rPr>
              <a:t>Gọi</a:t>
            </a:r>
            <a:r>
              <a:rPr lang="en-US" sz="3600" dirty="0">
                <a:solidFill>
                  <a:srgbClr val="000000"/>
                </a:solidFill>
                <a:latin typeface="Arial"/>
                <a:ea typeface="Arial"/>
                <a:cs typeface="Arial"/>
                <a:sym typeface="Arial"/>
              </a:rPr>
              <a:t> system call _exit() </a:t>
            </a:r>
            <a:r>
              <a:rPr lang="en-US" sz="3600" dirty="0" err="1">
                <a:solidFill>
                  <a:srgbClr val="000000"/>
                </a:solidFill>
                <a:latin typeface="Arial"/>
                <a:ea typeface="Arial"/>
                <a:cs typeface="Arial"/>
                <a:sym typeface="Arial"/>
              </a:rPr>
              <a:t>để</a:t>
            </a:r>
            <a:r>
              <a:rPr lang="en-US" sz="3600" dirty="0">
                <a:solidFill>
                  <a:srgbClr val="000000"/>
                </a:solidFill>
                <a:latin typeface="Arial"/>
                <a:ea typeface="Arial"/>
                <a:cs typeface="Arial"/>
                <a:sym typeface="Arial"/>
              </a:rPr>
              <a:t> </a:t>
            </a:r>
            <a:r>
              <a:rPr lang="en-US" sz="3600" dirty="0" err="1">
                <a:solidFill>
                  <a:srgbClr val="000000"/>
                </a:solidFill>
                <a:latin typeface="Arial"/>
                <a:ea typeface="Arial"/>
                <a:cs typeface="Arial"/>
                <a:sym typeface="Arial"/>
              </a:rPr>
              <a:t>kết</a:t>
            </a:r>
            <a:r>
              <a:rPr lang="en-US" sz="3600" dirty="0">
                <a:solidFill>
                  <a:srgbClr val="000000"/>
                </a:solidFill>
                <a:latin typeface="Arial"/>
                <a:ea typeface="Arial"/>
                <a:cs typeface="Arial"/>
                <a:sym typeface="Arial"/>
              </a:rPr>
              <a:t> </a:t>
            </a:r>
            <a:r>
              <a:rPr lang="en-US" sz="3600" dirty="0" err="1">
                <a:solidFill>
                  <a:srgbClr val="000000"/>
                </a:solidFill>
                <a:latin typeface="Arial"/>
                <a:ea typeface="Arial"/>
                <a:cs typeface="Arial"/>
                <a:sym typeface="Arial"/>
              </a:rPr>
              <a:t>thúc</a:t>
            </a:r>
            <a:r>
              <a:rPr lang="en-US" sz="3600" dirty="0">
                <a:solidFill>
                  <a:srgbClr val="000000"/>
                </a:solidFill>
                <a:latin typeface="Arial"/>
                <a:ea typeface="Arial"/>
                <a:cs typeface="Arial"/>
                <a:sym typeface="Arial"/>
              </a:rPr>
              <a:t> </a:t>
            </a:r>
            <a:r>
              <a:rPr lang="en-US" sz="3600" dirty="0" err="1">
                <a:solidFill>
                  <a:srgbClr val="000000"/>
                </a:solidFill>
                <a:latin typeface="Arial"/>
                <a:ea typeface="Arial"/>
                <a:cs typeface="Arial"/>
                <a:sym typeface="Arial"/>
              </a:rPr>
              <a:t>tiến</a:t>
            </a:r>
            <a:r>
              <a:rPr lang="en-US" sz="3600" dirty="0">
                <a:solidFill>
                  <a:srgbClr val="000000"/>
                </a:solidFill>
                <a:latin typeface="Arial"/>
                <a:ea typeface="Arial"/>
                <a:cs typeface="Arial"/>
                <a:sym typeface="Arial"/>
              </a:rPr>
              <a:t> </a:t>
            </a:r>
            <a:r>
              <a:rPr lang="en-US" sz="3600" dirty="0" err="1">
                <a:solidFill>
                  <a:srgbClr val="000000"/>
                </a:solidFill>
                <a:latin typeface="Arial"/>
                <a:ea typeface="Arial"/>
                <a:cs typeface="Arial"/>
                <a:sym typeface="Arial"/>
              </a:rPr>
              <a:t>trình</a:t>
            </a:r>
            <a:r>
              <a:rPr lang="en-US" sz="3600" dirty="0">
                <a:solidFill>
                  <a:srgbClr val="000000"/>
                </a:solidFill>
                <a:latin typeface="Arial"/>
                <a:ea typeface="Arial"/>
                <a:cs typeface="Arial"/>
                <a:sym typeface="Arial"/>
              </a:rPr>
              <a:t>.</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9206494"/>
            <a:ext cx="18288000" cy="1080506"/>
            <a:chOff x="0" y="0"/>
            <a:chExt cx="24384000" cy="1440675"/>
          </a:xfrm>
        </p:grpSpPr>
        <p:sp>
          <p:nvSpPr>
            <p:cNvPr id="3" name="Freeform 3"/>
            <p:cNvSpPr/>
            <p:nvPr/>
          </p:nvSpPr>
          <p:spPr>
            <a:xfrm>
              <a:off x="0" y="0"/>
              <a:ext cx="24384000" cy="1440688"/>
            </a:xfrm>
            <a:custGeom>
              <a:avLst/>
              <a:gdLst/>
              <a:ahLst/>
              <a:cxnLst/>
              <a:rect l="l" t="t" r="r" b="b"/>
              <a:pathLst>
                <a:path w="24384000" h="1440688">
                  <a:moveTo>
                    <a:pt x="0" y="0"/>
                  </a:moveTo>
                  <a:lnTo>
                    <a:pt x="24384000" y="0"/>
                  </a:lnTo>
                  <a:lnTo>
                    <a:pt x="24384000" y="1440688"/>
                  </a:lnTo>
                  <a:lnTo>
                    <a:pt x="0" y="1440688"/>
                  </a:lnTo>
                  <a:lnTo>
                    <a:pt x="0" y="0"/>
                  </a:lnTo>
                  <a:close/>
                </a:path>
              </a:pathLst>
            </a:custGeom>
            <a:blipFill>
              <a:blip r:embed="rId3"/>
              <a:stretch>
                <a:fillRect t="-364" b="-364"/>
              </a:stretch>
            </a:blipFill>
          </p:spPr>
        </p:sp>
      </p:grpSp>
      <p:grpSp>
        <p:nvGrpSpPr>
          <p:cNvPr id="4" name="Group 4"/>
          <p:cNvGrpSpPr/>
          <p:nvPr/>
        </p:nvGrpSpPr>
        <p:grpSpPr>
          <a:xfrm>
            <a:off x="15473315" y="9370285"/>
            <a:ext cx="1741541" cy="745693"/>
            <a:chOff x="0" y="0"/>
            <a:chExt cx="2322055" cy="994258"/>
          </a:xfrm>
        </p:grpSpPr>
        <p:sp>
          <p:nvSpPr>
            <p:cNvPr id="5" name="Freeform 5"/>
            <p:cNvSpPr/>
            <p:nvPr/>
          </p:nvSpPr>
          <p:spPr>
            <a:xfrm>
              <a:off x="0" y="0"/>
              <a:ext cx="2322068" cy="994283"/>
            </a:xfrm>
            <a:custGeom>
              <a:avLst/>
              <a:gdLst/>
              <a:ahLst/>
              <a:cxnLst/>
              <a:rect l="l" t="t" r="r" b="b"/>
              <a:pathLst>
                <a:path w="2322068" h="994283">
                  <a:moveTo>
                    <a:pt x="0" y="0"/>
                  </a:moveTo>
                  <a:lnTo>
                    <a:pt x="2322068" y="0"/>
                  </a:lnTo>
                  <a:lnTo>
                    <a:pt x="2322068" y="994283"/>
                  </a:lnTo>
                  <a:lnTo>
                    <a:pt x="0" y="994283"/>
                  </a:lnTo>
                  <a:lnTo>
                    <a:pt x="0" y="0"/>
                  </a:lnTo>
                  <a:close/>
                </a:path>
              </a:pathLst>
            </a:custGeom>
            <a:blipFill>
              <a:blip r:embed="rId4"/>
              <a:stretch>
                <a:fillRect b="-1456"/>
              </a:stretch>
            </a:blipFill>
          </p:spPr>
        </p:sp>
      </p:grpSp>
      <p:grpSp>
        <p:nvGrpSpPr>
          <p:cNvPr id="6" name="Group 6"/>
          <p:cNvGrpSpPr/>
          <p:nvPr/>
        </p:nvGrpSpPr>
        <p:grpSpPr>
          <a:xfrm>
            <a:off x="9981438" y="9581550"/>
            <a:ext cx="4114800" cy="392420"/>
            <a:chOff x="0" y="0"/>
            <a:chExt cx="5486400" cy="523227"/>
          </a:xfrm>
        </p:grpSpPr>
        <p:sp>
          <p:nvSpPr>
            <p:cNvPr id="7" name="Freeform 7"/>
            <p:cNvSpPr/>
            <p:nvPr/>
          </p:nvSpPr>
          <p:spPr>
            <a:xfrm>
              <a:off x="0" y="0"/>
              <a:ext cx="5486400" cy="523222"/>
            </a:xfrm>
            <a:custGeom>
              <a:avLst/>
              <a:gdLst/>
              <a:ahLst/>
              <a:cxnLst/>
              <a:rect l="l" t="t" r="r" b="b"/>
              <a:pathLst>
                <a:path w="5486400" h="523222">
                  <a:moveTo>
                    <a:pt x="0" y="0"/>
                  </a:moveTo>
                  <a:lnTo>
                    <a:pt x="5486400" y="0"/>
                  </a:lnTo>
                  <a:lnTo>
                    <a:pt x="5486400" y="523222"/>
                  </a:lnTo>
                  <a:lnTo>
                    <a:pt x="0" y="523222"/>
                  </a:lnTo>
                  <a:close/>
                </a:path>
              </a:pathLst>
            </a:custGeom>
            <a:blipFill>
              <a:blip r:embed="rId5">
                <a:alphaModFix amt="0"/>
              </a:blip>
              <a:stretch>
                <a:fillRect t="-154315" b="-154316"/>
              </a:stretch>
            </a:blipFill>
          </p:spPr>
        </p:sp>
        <p:sp>
          <p:nvSpPr>
            <p:cNvPr id="8" name="TextBox 8"/>
            <p:cNvSpPr txBox="1"/>
            <p:nvPr/>
          </p:nvSpPr>
          <p:spPr>
            <a:xfrm>
              <a:off x="0" y="-9525"/>
              <a:ext cx="5486400" cy="532752"/>
            </a:xfrm>
            <a:prstGeom prst="rect">
              <a:avLst/>
            </a:prstGeom>
          </p:spPr>
          <p:txBody>
            <a:bodyPr lIns="0" tIns="0" rIns="0" bIns="0" rtlCol="0" anchor="ctr"/>
            <a:lstStyle/>
            <a:p>
              <a:pPr algn="r">
                <a:lnSpc>
                  <a:spcPts val="2520"/>
                </a:lnSpc>
              </a:pPr>
              <a:r>
                <a:rPr lang="en-US" sz="2100">
                  <a:solidFill>
                    <a:srgbClr val="BFBFBF"/>
                  </a:solidFill>
                  <a:latin typeface="Roboto"/>
                  <a:ea typeface="Roboto"/>
                  <a:cs typeface="Roboto"/>
                  <a:sym typeface="Roboto"/>
                </a:rPr>
                <a:t>‹#›</a:t>
              </a:r>
            </a:p>
          </p:txBody>
        </p:sp>
      </p:grpSp>
      <p:grpSp>
        <p:nvGrpSpPr>
          <p:cNvPr id="9" name="Group 9"/>
          <p:cNvGrpSpPr/>
          <p:nvPr/>
        </p:nvGrpSpPr>
        <p:grpSpPr>
          <a:xfrm>
            <a:off x="451542" y="300771"/>
            <a:ext cx="15770323" cy="767782"/>
            <a:chOff x="0" y="0"/>
            <a:chExt cx="21027098" cy="1023710"/>
          </a:xfrm>
        </p:grpSpPr>
        <p:sp>
          <p:nvSpPr>
            <p:cNvPr id="10" name="Freeform 10"/>
            <p:cNvSpPr/>
            <p:nvPr/>
          </p:nvSpPr>
          <p:spPr>
            <a:xfrm>
              <a:off x="0" y="0"/>
              <a:ext cx="21027095" cy="1023711"/>
            </a:xfrm>
            <a:custGeom>
              <a:avLst/>
              <a:gdLst/>
              <a:ahLst/>
              <a:cxnLst/>
              <a:rect l="l" t="t" r="r" b="b"/>
              <a:pathLst>
                <a:path w="21027095" h="1023711">
                  <a:moveTo>
                    <a:pt x="0" y="0"/>
                  </a:moveTo>
                  <a:lnTo>
                    <a:pt x="21027095" y="0"/>
                  </a:lnTo>
                  <a:lnTo>
                    <a:pt x="21027095" y="1023711"/>
                  </a:lnTo>
                  <a:lnTo>
                    <a:pt x="0" y="1023711"/>
                  </a:lnTo>
                  <a:close/>
                </a:path>
              </a:pathLst>
            </a:custGeom>
            <a:blipFill>
              <a:blip r:embed="rId5">
                <a:alphaModFix amt="0"/>
              </a:blip>
              <a:stretch>
                <a:fillRect t="-350224" b="-350223"/>
              </a:stretch>
            </a:blipFill>
          </p:spPr>
        </p:sp>
        <p:sp>
          <p:nvSpPr>
            <p:cNvPr id="11" name="TextBox 11"/>
            <p:cNvSpPr txBox="1"/>
            <p:nvPr/>
          </p:nvSpPr>
          <p:spPr>
            <a:xfrm>
              <a:off x="0" y="19050"/>
              <a:ext cx="21027098" cy="1004660"/>
            </a:xfrm>
            <a:prstGeom prst="rect">
              <a:avLst/>
            </a:prstGeom>
          </p:spPr>
          <p:txBody>
            <a:bodyPr lIns="0" tIns="0" rIns="0" bIns="0" rtlCol="0" anchor="b"/>
            <a:lstStyle/>
            <a:p>
              <a:pPr algn="l">
                <a:lnSpc>
                  <a:spcPts val="3888"/>
                </a:lnSpc>
              </a:pPr>
              <a:r>
                <a:rPr lang="en-US" sz="3600">
                  <a:solidFill>
                    <a:srgbClr val="EE0033"/>
                  </a:solidFill>
                  <a:latin typeface="Arial"/>
                  <a:ea typeface="Arial"/>
                  <a:cs typeface="Arial"/>
                  <a:sym typeface="Arial"/>
                </a:rPr>
                <a:t>I. PROCESS:</a:t>
              </a:r>
            </a:p>
          </p:txBody>
        </p:sp>
      </p:grpSp>
      <p:sp>
        <p:nvSpPr>
          <p:cNvPr id="12" name="Freeform 12"/>
          <p:cNvSpPr/>
          <p:nvPr/>
        </p:nvSpPr>
        <p:spPr>
          <a:xfrm>
            <a:off x="840743" y="4545520"/>
            <a:ext cx="11811676" cy="2289648"/>
          </a:xfrm>
          <a:custGeom>
            <a:avLst/>
            <a:gdLst/>
            <a:ahLst/>
            <a:cxnLst/>
            <a:rect l="l" t="t" r="r" b="b"/>
            <a:pathLst>
              <a:path w="11811676" h="2289648">
                <a:moveTo>
                  <a:pt x="0" y="0"/>
                </a:moveTo>
                <a:lnTo>
                  <a:pt x="11811676" y="0"/>
                </a:lnTo>
                <a:lnTo>
                  <a:pt x="11811676" y="2289648"/>
                </a:lnTo>
                <a:lnTo>
                  <a:pt x="0" y="2289648"/>
                </a:lnTo>
                <a:lnTo>
                  <a:pt x="0" y="0"/>
                </a:lnTo>
                <a:close/>
              </a:path>
            </a:pathLst>
          </a:custGeom>
          <a:blipFill>
            <a:blip r:embed="rId6"/>
            <a:stretch>
              <a:fillRect/>
            </a:stretch>
          </a:blipFill>
        </p:spPr>
      </p:sp>
      <p:sp>
        <p:nvSpPr>
          <p:cNvPr id="13" name="TextBox 13"/>
          <p:cNvSpPr txBox="1"/>
          <p:nvPr/>
        </p:nvSpPr>
        <p:spPr>
          <a:xfrm>
            <a:off x="840743" y="9548498"/>
            <a:ext cx="7754617" cy="323850"/>
          </a:xfrm>
          <a:prstGeom prst="rect">
            <a:avLst/>
          </a:prstGeom>
        </p:spPr>
        <p:txBody>
          <a:bodyPr lIns="0" tIns="0" rIns="0" bIns="0" rtlCol="0" anchor="t">
            <a:spAutoFit/>
          </a:bodyPr>
          <a:lstStyle/>
          <a:p>
            <a:pPr algn="l">
              <a:lnSpc>
                <a:spcPts val="2520"/>
              </a:lnSpc>
            </a:pPr>
            <a:r>
              <a:rPr lang="en-US" sz="2100" spc="450">
                <a:solidFill>
                  <a:srgbClr val="BFBFBF"/>
                </a:solidFill>
                <a:latin typeface="Arial"/>
                <a:ea typeface="Arial"/>
                <a:cs typeface="Arial"/>
                <a:sym typeface="Arial"/>
              </a:rPr>
              <a:t>www.viettelhightech.vn </a:t>
            </a:r>
          </a:p>
        </p:txBody>
      </p:sp>
      <p:sp>
        <p:nvSpPr>
          <p:cNvPr id="14" name="TextBox 14"/>
          <p:cNvSpPr txBox="1"/>
          <p:nvPr/>
        </p:nvSpPr>
        <p:spPr>
          <a:xfrm>
            <a:off x="451542" y="1237783"/>
            <a:ext cx="9482967" cy="521589"/>
          </a:xfrm>
          <a:prstGeom prst="rect">
            <a:avLst/>
          </a:prstGeom>
        </p:spPr>
        <p:txBody>
          <a:bodyPr lIns="0" tIns="0" rIns="0" bIns="0" rtlCol="0" anchor="t">
            <a:spAutoFit/>
          </a:bodyPr>
          <a:lstStyle/>
          <a:p>
            <a:pPr algn="l">
              <a:lnSpc>
                <a:spcPts val="3888"/>
              </a:lnSpc>
              <a:spcBef>
                <a:spcPct val="0"/>
              </a:spcBef>
            </a:pPr>
            <a:r>
              <a:rPr lang="en-US" sz="3600">
                <a:solidFill>
                  <a:srgbClr val="EE0033"/>
                </a:solidFill>
                <a:latin typeface="Arial"/>
                <a:ea typeface="Arial"/>
                <a:cs typeface="Arial"/>
                <a:sym typeface="Arial"/>
              </a:rPr>
              <a:t>Tổng quan về fork(), exit(), wait() và execve():</a:t>
            </a:r>
          </a:p>
        </p:txBody>
      </p:sp>
      <p:sp>
        <p:nvSpPr>
          <p:cNvPr id="15" name="TextBox 15"/>
          <p:cNvSpPr txBox="1"/>
          <p:nvPr/>
        </p:nvSpPr>
        <p:spPr>
          <a:xfrm>
            <a:off x="729840" y="2163342"/>
            <a:ext cx="17558160" cy="795147"/>
          </a:xfrm>
          <a:prstGeom prst="rect">
            <a:avLst/>
          </a:prstGeom>
        </p:spPr>
        <p:txBody>
          <a:bodyPr lIns="0" tIns="0" rIns="0" bIns="0" rtlCol="0" anchor="t">
            <a:spAutoFit/>
          </a:bodyPr>
          <a:lstStyle/>
          <a:p>
            <a:pPr algn="l">
              <a:lnSpc>
                <a:spcPts val="3023"/>
              </a:lnSpc>
              <a:spcBef>
                <a:spcPct val="0"/>
              </a:spcBef>
            </a:pPr>
            <a:r>
              <a:rPr lang="en-US" sz="2799">
                <a:solidFill>
                  <a:srgbClr val="000000"/>
                </a:solidFill>
                <a:latin typeface="Arial"/>
                <a:ea typeface="Arial"/>
                <a:cs typeface="Arial"/>
                <a:sym typeface="Arial"/>
              </a:rPr>
              <a:t>Exit handler là một hàm do lập trình viên cung cấp, được đăng ký tại thời điểm nào đó trong quá trình chạy của tiến trình và sẽ tự động được gọi khi tiến trình kết thúc bình thường thông qua exit().</a:t>
            </a:r>
          </a:p>
        </p:txBody>
      </p:sp>
      <p:sp>
        <p:nvSpPr>
          <p:cNvPr id="16" name="TextBox 16"/>
          <p:cNvSpPr txBox="1"/>
          <p:nvPr/>
        </p:nvSpPr>
        <p:spPr>
          <a:xfrm>
            <a:off x="729840" y="3216973"/>
            <a:ext cx="8033160" cy="1176147"/>
          </a:xfrm>
          <a:prstGeom prst="rect">
            <a:avLst/>
          </a:prstGeom>
        </p:spPr>
        <p:txBody>
          <a:bodyPr wrap="square" lIns="0" tIns="0" rIns="0" bIns="0" rtlCol="0" anchor="t">
            <a:spAutoFit/>
          </a:bodyPr>
          <a:lstStyle/>
          <a:p>
            <a:pPr algn="l">
              <a:lnSpc>
                <a:spcPts val="3023"/>
              </a:lnSpc>
              <a:spcBef>
                <a:spcPct val="0"/>
              </a:spcBef>
            </a:pPr>
            <a:r>
              <a:rPr lang="en-US" sz="2799" dirty="0">
                <a:solidFill>
                  <a:srgbClr val="000000"/>
                </a:solidFill>
                <a:latin typeface="Arial"/>
                <a:ea typeface="Arial"/>
                <a:cs typeface="Arial"/>
                <a:sym typeface="Arial"/>
              </a:rPr>
              <a:t>Exit handler </a:t>
            </a:r>
            <a:r>
              <a:rPr lang="en-US" sz="2799" dirty="0" err="1">
                <a:solidFill>
                  <a:srgbClr val="000000"/>
                </a:solidFill>
                <a:latin typeface="Arial"/>
                <a:ea typeface="Arial"/>
                <a:cs typeface="Arial"/>
                <a:sym typeface="Arial"/>
              </a:rPr>
              <a:t>không</a:t>
            </a:r>
            <a:r>
              <a:rPr lang="en-US" sz="2799" dirty="0">
                <a:solidFill>
                  <a:srgbClr val="000000"/>
                </a:solidFill>
                <a:latin typeface="Arial"/>
                <a:ea typeface="Arial"/>
                <a:cs typeface="Arial"/>
                <a:sym typeface="Arial"/>
              </a:rPr>
              <a:t> </a:t>
            </a:r>
            <a:r>
              <a:rPr lang="en-US" sz="2799" dirty="0" err="1">
                <a:solidFill>
                  <a:srgbClr val="000000"/>
                </a:solidFill>
                <a:latin typeface="Arial"/>
                <a:ea typeface="Arial"/>
                <a:cs typeface="Arial"/>
                <a:sym typeface="Arial"/>
              </a:rPr>
              <a:t>được</a:t>
            </a:r>
            <a:r>
              <a:rPr lang="en-US" sz="2799" dirty="0">
                <a:solidFill>
                  <a:srgbClr val="000000"/>
                </a:solidFill>
                <a:latin typeface="Arial"/>
                <a:ea typeface="Arial"/>
                <a:cs typeface="Arial"/>
                <a:sym typeface="Arial"/>
              </a:rPr>
              <a:t> </a:t>
            </a:r>
            <a:r>
              <a:rPr lang="en-US" sz="2799" dirty="0" err="1">
                <a:solidFill>
                  <a:srgbClr val="000000"/>
                </a:solidFill>
                <a:latin typeface="Arial"/>
                <a:ea typeface="Arial"/>
                <a:cs typeface="Arial"/>
                <a:sym typeface="Arial"/>
              </a:rPr>
              <a:t>gọi</a:t>
            </a:r>
            <a:r>
              <a:rPr lang="en-US" sz="2799" dirty="0">
                <a:solidFill>
                  <a:srgbClr val="000000"/>
                </a:solidFill>
                <a:latin typeface="Arial"/>
                <a:ea typeface="Arial"/>
                <a:cs typeface="Arial"/>
                <a:sym typeface="Arial"/>
              </a:rPr>
              <a:t> </a:t>
            </a:r>
            <a:r>
              <a:rPr lang="en-US" sz="2799" dirty="0" err="1">
                <a:solidFill>
                  <a:srgbClr val="000000"/>
                </a:solidFill>
                <a:latin typeface="Arial"/>
                <a:ea typeface="Arial"/>
                <a:cs typeface="Arial"/>
                <a:sym typeface="Arial"/>
              </a:rPr>
              <a:t>nếu</a:t>
            </a:r>
            <a:r>
              <a:rPr lang="en-US" sz="2799" dirty="0">
                <a:solidFill>
                  <a:srgbClr val="000000"/>
                </a:solidFill>
                <a:latin typeface="Arial"/>
                <a:ea typeface="Arial"/>
                <a:cs typeface="Arial"/>
                <a:sym typeface="Arial"/>
              </a:rPr>
              <a:t>:</a:t>
            </a:r>
          </a:p>
          <a:p>
            <a:pPr marL="604519" lvl="1" indent="-302260" algn="l">
              <a:lnSpc>
                <a:spcPts val="3023"/>
              </a:lnSpc>
              <a:spcBef>
                <a:spcPct val="0"/>
              </a:spcBef>
              <a:buFont typeface="Arial"/>
              <a:buChar char="•"/>
            </a:pPr>
            <a:r>
              <a:rPr lang="en-US" sz="2799" dirty="0" err="1">
                <a:solidFill>
                  <a:srgbClr val="000000"/>
                </a:solidFill>
                <a:latin typeface="Arial"/>
                <a:ea typeface="Arial"/>
                <a:cs typeface="Arial"/>
                <a:sym typeface="Arial"/>
              </a:rPr>
              <a:t>chương</a:t>
            </a:r>
            <a:r>
              <a:rPr lang="en-US" sz="2799" dirty="0">
                <a:solidFill>
                  <a:srgbClr val="000000"/>
                </a:solidFill>
                <a:latin typeface="Arial"/>
                <a:ea typeface="Arial"/>
                <a:cs typeface="Arial"/>
                <a:sym typeface="Arial"/>
              </a:rPr>
              <a:t> </a:t>
            </a:r>
            <a:r>
              <a:rPr lang="en-US" sz="2799" dirty="0" err="1">
                <a:solidFill>
                  <a:srgbClr val="000000"/>
                </a:solidFill>
                <a:latin typeface="Arial"/>
                <a:ea typeface="Arial"/>
                <a:cs typeface="Arial"/>
                <a:sym typeface="Arial"/>
              </a:rPr>
              <a:t>trình</a:t>
            </a:r>
            <a:r>
              <a:rPr lang="en-US" sz="2799" dirty="0">
                <a:solidFill>
                  <a:srgbClr val="000000"/>
                </a:solidFill>
                <a:latin typeface="Arial"/>
                <a:ea typeface="Arial"/>
                <a:cs typeface="Arial"/>
                <a:sym typeface="Arial"/>
              </a:rPr>
              <a:t> </a:t>
            </a:r>
            <a:r>
              <a:rPr lang="en-US" sz="2799" dirty="0" err="1">
                <a:solidFill>
                  <a:srgbClr val="000000"/>
                </a:solidFill>
                <a:latin typeface="Arial"/>
                <a:ea typeface="Arial"/>
                <a:cs typeface="Arial"/>
                <a:sym typeface="Arial"/>
              </a:rPr>
              <a:t>gọi</a:t>
            </a:r>
            <a:r>
              <a:rPr lang="en-US" sz="2799" dirty="0">
                <a:solidFill>
                  <a:srgbClr val="000000"/>
                </a:solidFill>
                <a:latin typeface="Arial"/>
                <a:ea typeface="Arial"/>
                <a:cs typeface="Arial"/>
                <a:sym typeface="Arial"/>
              </a:rPr>
              <a:t> </a:t>
            </a:r>
            <a:r>
              <a:rPr lang="en-US" sz="2799" dirty="0" err="1">
                <a:solidFill>
                  <a:srgbClr val="000000"/>
                </a:solidFill>
                <a:latin typeface="Arial"/>
                <a:ea typeface="Arial"/>
                <a:cs typeface="Arial"/>
                <a:sym typeface="Arial"/>
              </a:rPr>
              <a:t>trực</a:t>
            </a:r>
            <a:r>
              <a:rPr lang="en-US" sz="2799" dirty="0">
                <a:solidFill>
                  <a:srgbClr val="000000"/>
                </a:solidFill>
                <a:latin typeface="Arial"/>
                <a:ea typeface="Arial"/>
                <a:cs typeface="Arial"/>
                <a:sym typeface="Arial"/>
              </a:rPr>
              <a:t> </a:t>
            </a:r>
            <a:r>
              <a:rPr lang="en-US" sz="2799" dirty="0" err="1">
                <a:solidFill>
                  <a:srgbClr val="000000"/>
                </a:solidFill>
                <a:latin typeface="Arial"/>
                <a:ea typeface="Arial"/>
                <a:cs typeface="Arial"/>
                <a:sym typeface="Arial"/>
              </a:rPr>
              <a:t>tiếp</a:t>
            </a:r>
            <a:r>
              <a:rPr lang="en-US" sz="2799" dirty="0">
                <a:solidFill>
                  <a:srgbClr val="000000"/>
                </a:solidFill>
                <a:latin typeface="Arial"/>
                <a:ea typeface="Arial"/>
                <a:cs typeface="Arial"/>
                <a:sym typeface="Arial"/>
              </a:rPr>
              <a:t> _exit(); </a:t>
            </a:r>
          </a:p>
          <a:p>
            <a:pPr marL="604519" lvl="1" indent="-302260" algn="l">
              <a:lnSpc>
                <a:spcPts val="3023"/>
              </a:lnSpc>
              <a:spcBef>
                <a:spcPct val="0"/>
              </a:spcBef>
              <a:buFont typeface="Arial"/>
              <a:buChar char="•"/>
            </a:pPr>
            <a:r>
              <a:rPr lang="en-US" sz="2799" dirty="0" err="1">
                <a:solidFill>
                  <a:srgbClr val="000000"/>
                </a:solidFill>
                <a:latin typeface="Arial"/>
                <a:ea typeface="Arial"/>
                <a:cs typeface="Arial"/>
                <a:sym typeface="Arial"/>
              </a:rPr>
              <a:t>tiến</a:t>
            </a:r>
            <a:r>
              <a:rPr lang="en-US" sz="2799" dirty="0">
                <a:solidFill>
                  <a:srgbClr val="000000"/>
                </a:solidFill>
                <a:latin typeface="Arial"/>
                <a:ea typeface="Arial"/>
                <a:cs typeface="Arial"/>
                <a:sym typeface="Arial"/>
              </a:rPr>
              <a:t> </a:t>
            </a:r>
            <a:r>
              <a:rPr lang="en-US" sz="2799" dirty="0" err="1">
                <a:solidFill>
                  <a:srgbClr val="000000"/>
                </a:solidFill>
                <a:latin typeface="Arial"/>
                <a:ea typeface="Arial"/>
                <a:cs typeface="Arial"/>
                <a:sym typeface="Arial"/>
              </a:rPr>
              <a:t>trình</a:t>
            </a:r>
            <a:r>
              <a:rPr lang="en-US" sz="2799" dirty="0">
                <a:solidFill>
                  <a:srgbClr val="000000"/>
                </a:solidFill>
                <a:latin typeface="Arial"/>
                <a:ea typeface="Arial"/>
                <a:cs typeface="Arial"/>
                <a:sym typeface="Arial"/>
              </a:rPr>
              <a:t> </a:t>
            </a:r>
            <a:r>
              <a:rPr lang="en-US" sz="2799" dirty="0" err="1">
                <a:solidFill>
                  <a:srgbClr val="000000"/>
                </a:solidFill>
                <a:latin typeface="Arial"/>
                <a:ea typeface="Arial"/>
                <a:cs typeface="Arial"/>
                <a:sym typeface="Arial"/>
              </a:rPr>
              <a:t>kết</a:t>
            </a:r>
            <a:r>
              <a:rPr lang="en-US" sz="2799" dirty="0">
                <a:solidFill>
                  <a:srgbClr val="000000"/>
                </a:solidFill>
                <a:latin typeface="Arial"/>
                <a:ea typeface="Arial"/>
                <a:cs typeface="Arial"/>
                <a:sym typeface="Arial"/>
              </a:rPr>
              <a:t> </a:t>
            </a:r>
            <a:r>
              <a:rPr lang="en-US" sz="2799" dirty="0" err="1">
                <a:solidFill>
                  <a:srgbClr val="000000"/>
                </a:solidFill>
                <a:latin typeface="Arial"/>
                <a:ea typeface="Arial"/>
                <a:cs typeface="Arial"/>
                <a:sym typeface="Arial"/>
              </a:rPr>
              <a:t>thúc</a:t>
            </a:r>
            <a:r>
              <a:rPr lang="en-US" sz="2799" dirty="0">
                <a:solidFill>
                  <a:srgbClr val="000000"/>
                </a:solidFill>
                <a:latin typeface="Arial"/>
                <a:ea typeface="Arial"/>
                <a:cs typeface="Arial"/>
                <a:sym typeface="Arial"/>
              </a:rPr>
              <a:t> </a:t>
            </a:r>
            <a:r>
              <a:rPr lang="en-US" sz="2799" dirty="0" err="1">
                <a:solidFill>
                  <a:srgbClr val="000000"/>
                </a:solidFill>
                <a:latin typeface="Arial"/>
                <a:ea typeface="Arial"/>
                <a:cs typeface="Arial"/>
                <a:sym typeface="Arial"/>
              </a:rPr>
              <a:t>bất</a:t>
            </a:r>
            <a:r>
              <a:rPr lang="en-US" sz="2799" dirty="0">
                <a:solidFill>
                  <a:srgbClr val="000000"/>
                </a:solidFill>
                <a:latin typeface="Arial"/>
                <a:ea typeface="Arial"/>
                <a:cs typeface="Arial"/>
                <a:sym typeface="Arial"/>
              </a:rPr>
              <a:t> </a:t>
            </a:r>
            <a:r>
              <a:rPr lang="en-US" sz="2799" dirty="0" err="1">
                <a:solidFill>
                  <a:srgbClr val="000000"/>
                </a:solidFill>
                <a:latin typeface="Arial"/>
                <a:ea typeface="Arial"/>
                <a:cs typeface="Arial"/>
                <a:sym typeface="Arial"/>
              </a:rPr>
              <a:t>thường</a:t>
            </a:r>
            <a:r>
              <a:rPr lang="en-US" sz="2799" dirty="0">
                <a:solidFill>
                  <a:srgbClr val="000000"/>
                </a:solidFill>
                <a:latin typeface="Arial"/>
                <a:ea typeface="Arial"/>
                <a:cs typeface="Arial"/>
                <a:sym typeface="Arial"/>
              </a:rPr>
              <a:t> do </a:t>
            </a:r>
            <a:r>
              <a:rPr lang="en-US" sz="2799" dirty="0" err="1">
                <a:solidFill>
                  <a:srgbClr val="000000"/>
                </a:solidFill>
                <a:latin typeface="Arial"/>
                <a:ea typeface="Arial"/>
                <a:cs typeface="Arial"/>
                <a:sym typeface="Arial"/>
              </a:rPr>
              <a:t>một</a:t>
            </a:r>
            <a:r>
              <a:rPr lang="en-US" sz="2799" dirty="0">
                <a:solidFill>
                  <a:srgbClr val="000000"/>
                </a:solidFill>
                <a:latin typeface="Arial"/>
                <a:ea typeface="Arial"/>
                <a:cs typeface="Arial"/>
                <a:sym typeface="Arial"/>
              </a:rPr>
              <a:t> signal.</a:t>
            </a:r>
          </a:p>
        </p:txBody>
      </p:sp>
      <p:sp>
        <p:nvSpPr>
          <p:cNvPr id="17" name="TextBox 17"/>
          <p:cNvSpPr txBox="1"/>
          <p:nvPr/>
        </p:nvSpPr>
        <p:spPr>
          <a:xfrm>
            <a:off x="840743" y="6916900"/>
            <a:ext cx="12171611" cy="414147"/>
          </a:xfrm>
          <a:prstGeom prst="rect">
            <a:avLst/>
          </a:prstGeom>
        </p:spPr>
        <p:txBody>
          <a:bodyPr lIns="0" tIns="0" rIns="0" bIns="0" rtlCol="0" anchor="t">
            <a:spAutoFit/>
          </a:bodyPr>
          <a:lstStyle/>
          <a:p>
            <a:pPr algn="ctr">
              <a:lnSpc>
                <a:spcPts val="3023"/>
              </a:lnSpc>
              <a:spcBef>
                <a:spcPct val="0"/>
              </a:spcBef>
            </a:pPr>
            <a:r>
              <a:rPr lang="en-US" sz="2799" dirty="0" err="1">
                <a:solidFill>
                  <a:srgbClr val="000000"/>
                </a:solidFill>
                <a:latin typeface="Arial"/>
                <a:ea typeface="Arial"/>
                <a:cs typeface="Arial"/>
                <a:sym typeface="Arial"/>
              </a:rPr>
              <a:t>atexit</a:t>
            </a:r>
            <a:r>
              <a:rPr lang="en-US" sz="2799" dirty="0">
                <a:solidFill>
                  <a:srgbClr val="000000"/>
                </a:solidFill>
                <a:latin typeface="Arial"/>
                <a:ea typeface="Arial"/>
                <a:cs typeface="Arial"/>
                <a:sym typeface="Arial"/>
              </a:rPr>
              <a:t>() </a:t>
            </a:r>
            <a:r>
              <a:rPr lang="en-US" sz="2799" dirty="0" err="1">
                <a:solidFill>
                  <a:srgbClr val="000000"/>
                </a:solidFill>
                <a:latin typeface="Arial"/>
                <a:ea typeface="Arial"/>
                <a:cs typeface="Arial"/>
                <a:sym typeface="Arial"/>
              </a:rPr>
              <a:t>thêm</a:t>
            </a:r>
            <a:r>
              <a:rPr lang="en-US" sz="2799" dirty="0">
                <a:solidFill>
                  <a:srgbClr val="000000"/>
                </a:solidFill>
                <a:latin typeface="Arial"/>
                <a:ea typeface="Arial"/>
                <a:cs typeface="Arial"/>
                <a:sym typeface="Arial"/>
              </a:rPr>
              <a:t> </a:t>
            </a:r>
            <a:r>
              <a:rPr lang="en-US" sz="2799" dirty="0" err="1">
                <a:solidFill>
                  <a:srgbClr val="000000"/>
                </a:solidFill>
                <a:latin typeface="Arial"/>
                <a:ea typeface="Arial"/>
                <a:cs typeface="Arial"/>
                <a:sym typeface="Arial"/>
              </a:rPr>
              <a:t>func</a:t>
            </a:r>
            <a:r>
              <a:rPr lang="en-US" sz="2799" dirty="0">
                <a:solidFill>
                  <a:srgbClr val="000000"/>
                </a:solidFill>
                <a:latin typeface="Arial"/>
                <a:ea typeface="Arial"/>
                <a:cs typeface="Arial"/>
                <a:sym typeface="Arial"/>
              </a:rPr>
              <a:t> </a:t>
            </a:r>
            <a:r>
              <a:rPr lang="en-US" sz="2799" dirty="0" err="1">
                <a:solidFill>
                  <a:srgbClr val="000000"/>
                </a:solidFill>
                <a:latin typeface="Arial"/>
                <a:ea typeface="Arial"/>
                <a:cs typeface="Arial"/>
                <a:sym typeface="Arial"/>
              </a:rPr>
              <a:t>vào</a:t>
            </a:r>
            <a:r>
              <a:rPr lang="en-US" sz="2799" dirty="0">
                <a:solidFill>
                  <a:srgbClr val="000000"/>
                </a:solidFill>
                <a:latin typeface="Arial"/>
                <a:ea typeface="Arial"/>
                <a:cs typeface="Arial"/>
                <a:sym typeface="Arial"/>
              </a:rPr>
              <a:t> </a:t>
            </a:r>
            <a:r>
              <a:rPr lang="en-US" sz="2799" dirty="0" err="1">
                <a:solidFill>
                  <a:srgbClr val="000000"/>
                </a:solidFill>
                <a:latin typeface="Arial"/>
                <a:ea typeface="Arial"/>
                <a:cs typeface="Arial"/>
                <a:sym typeface="Arial"/>
              </a:rPr>
              <a:t>danh</a:t>
            </a:r>
            <a:r>
              <a:rPr lang="en-US" sz="2799" dirty="0">
                <a:solidFill>
                  <a:srgbClr val="000000"/>
                </a:solidFill>
                <a:latin typeface="Arial"/>
                <a:ea typeface="Arial"/>
                <a:cs typeface="Arial"/>
                <a:sym typeface="Arial"/>
              </a:rPr>
              <a:t> </a:t>
            </a:r>
            <a:r>
              <a:rPr lang="en-US" sz="2799" dirty="0" err="1">
                <a:solidFill>
                  <a:srgbClr val="000000"/>
                </a:solidFill>
                <a:latin typeface="Arial"/>
                <a:ea typeface="Arial"/>
                <a:cs typeface="Arial"/>
                <a:sym typeface="Arial"/>
              </a:rPr>
              <a:t>sách</a:t>
            </a:r>
            <a:r>
              <a:rPr lang="en-US" sz="2799" dirty="0">
                <a:solidFill>
                  <a:srgbClr val="000000"/>
                </a:solidFill>
                <a:latin typeface="Arial"/>
                <a:ea typeface="Arial"/>
                <a:cs typeface="Arial"/>
                <a:sym typeface="Arial"/>
              </a:rPr>
              <a:t> </a:t>
            </a:r>
            <a:r>
              <a:rPr lang="en-US" sz="2799" dirty="0" err="1">
                <a:solidFill>
                  <a:srgbClr val="000000"/>
                </a:solidFill>
                <a:latin typeface="Arial"/>
                <a:ea typeface="Arial"/>
                <a:cs typeface="Arial"/>
                <a:sym typeface="Arial"/>
              </a:rPr>
              <a:t>các</a:t>
            </a:r>
            <a:r>
              <a:rPr lang="en-US" sz="2799" dirty="0">
                <a:solidFill>
                  <a:srgbClr val="000000"/>
                </a:solidFill>
                <a:latin typeface="Arial"/>
                <a:ea typeface="Arial"/>
                <a:cs typeface="Arial"/>
                <a:sym typeface="Arial"/>
              </a:rPr>
              <a:t> </a:t>
            </a:r>
            <a:r>
              <a:rPr lang="en-US" sz="2799" dirty="0" err="1">
                <a:solidFill>
                  <a:srgbClr val="000000"/>
                </a:solidFill>
                <a:latin typeface="Arial"/>
                <a:ea typeface="Arial"/>
                <a:cs typeface="Arial"/>
                <a:sym typeface="Arial"/>
              </a:rPr>
              <a:t>hàm</a:t>
            </a:r>
            <a:r>
              <a:rPr lang="en-US" sz="2799" dirty="0">
                <a:solidFill>
                  <a:srgbClr val="000000"/>
                </a:solidFill>
                <a:latin typeface="Arial"/>
                <a:ea typeface="Arial"/>
                <a:cs typeface="Arial"/>
                <a:sym typeface="Arial"/>
              </a:rPr>
              <a:t> </a:t>
            </a:r>
            <a:r>
              <a:rPr lang="en-US" sz="2799" dirty="0" err="1">
                <a:solidFill>
                  <a:srgbClr val="000000"/>
                </a:solidFill>
                <a:latin typeface="Arial"/>
                <a:ea typeface="Arial"/>
                <a:cs typeface="Arial"/>
                <a:sym typeface="Arial"/>
              </a:rPr>
              <a:t>sẽ</a:t>
            </a:r>
            <a:r>
              <a:rPr lang="en-US" sz="2799" dirty="0">
                <a:solidFill>
                  <a:srgbClr val="000000"/>
                </a:solidFill>
                <a:latin typeface="Arial"/>
                <a:ea typeface="Arial"/>
                <a:cs typeface="Arial"/>
                <a:sym typeface="Arial"/>
              </a:rPr>
              <a:t> </a:t>
            </a:r>
            <a:r>
              <a:rPr lang="en-US" sz="2799" dirty="0" err="1">
                <a:solidFill>
                  <a:srgbClr val="000000"/>
                </a:solidFill>
                <a:latin typeface="Arial"/>
                <a:ea typeface="Arial"/>
                <a:cs typeface="Arial"/>
                <a:sym typeface="Arial"/>
              </a:rPr>
              <a:t>được</a:t>
            </a:r>
            <a:r>
              <a:rPr lang="en-US" sz="2799" dirty="0">
                <a:solidFill>
                  <a:srgbClr val="000000"/>
                </a:solidFill>
                <a:latin typeface="Arial"/>
                <a:ea typeface="Arial"/>
                <a:cs typeface="Arial"/>
                <a:sym typeface="Arial"/>
              </a:rPr>
              <a:t> </a:t>
            </a:r>
            <a:r>
              <a:rPr lang="en-US" sz="2799" dirty="0" err="1">
                <a:solidFill>
                  <a:srgbClr val="000000"/>
                </a:solidFill>
                <a:latin typeface="Arial"/>
                <a:ea typeface="Arial"/>
                <a:cs typeface="Arial"/>
                <a:sym typeface="Arial"/>
              </a:rPr>
              <a:t>gọi</a:t>
            </a:r>
            <a:r>
              <a:rPr lang="en-US" sz="2799" dirty="0">
                <a:solidFill>
                  <a:srgbClr val="000000"/>
                </a:solidFill>
                <a:latin typeface="Arial"/>
                <a:ea typeface="Arial"/>
                <a:cs typeface="Arial"/>
                <a:sym typeface="Arial"/>
              </a:rPr>
              <a:t> </a:t>
            </a:r>
            <a:r>
              <a:rPr lang="en-US" sz="2799" dirty="0" err="1">
                <a:solidFill>
                  <a:srgbClr val="000000"/>
                </a:solidFill>
                <a:latin typeface="Arial"/>
                <a:ea typeface="Arial"/>
                <a:cs typeface="Arial"/>
                <a:sym typeface="Arial"/>
              </a:rPr>
              <a:t>khi</a:t>
            </a:r>
            <a:r>
              <a:rPr lang="en-US" sz="2799" dirty="0">
                <a:solidFill>
                  <a:srgbClr val="000000"/>
                </a:solidFill>
                <a:latin typeface="Arial"/>
                <a:ea typeface="Arial"/>
                <a:cs typeface="Arial"/>
                <a:sym typeface="Arial"/>
              </a:rPr>
              <a:t> </a:t>
            </a:r>
            <a:r>
              <a:rPr lang="en-US" sz="2799" dirty="0" err="1">
                <a:solidFill>
                  <a:srgbClr val="000000"/>
                </a:solidFill>
                <a:latin typeface="Arial"/>
                <a:ea typeface="Arial"/>
                <a:cs typeface="Arial"/>
                <a:sym typeface="Arial"/>
              </a:rPr>
              <a:t>tiến</a:t>
            </a:r>
            <a:r>
              <a:rPr lang="en-US" sz="2799" dirty="0">
                <a:solidFill>
                  <a:srgbClr val="000000"/>
                </a:solidFill>
                <a:latin typeface="Arial"/>
                <a:ea typeface="Arial"/>
                <a:cs typeface="Arial"/>
                <a:sym typeface="Arial"/>
              </a:rPr>
              <a:t> </a:t>
            </a:r>
            <a:r>
              <a:rPr lang="en-US" sz="2799" dirty="0" err="1">
                <a:solidFill>
                  <a:srgbClr val="000000"/>
                </a:solidFill>
                <a:latin typeface="Arial"/>
                <a:ea typeface="Arial"/>
                <a:cs typeface="Arial"/>
                <a:sym typeface="Arial"/>
              </a:rPr>
              <a:t>trình</a:t>
            </a:r>
            <a:r>
              <a:rPr lang="en-US" sz="2799" dirty="0">
                <a:solidFill>
                  <a:srgbClr val="000000"/>
                </a:solidFill>
                <a:latin typeface="Arial"/>
                <a:ea typeface="Arial"/>
                <a:cs typeface="Arial"/>
                <a:sym typeface="Arial"/>
              </a:rPr>
              <a:t> </a:t>
            </a:r>
            <a:r>
              <a:rPr lang="en-US" sz="2799" dirty="0" err="1">
                <a:solidFill>
                  <a:srgbClr val="000000"/>
                </a:solidFill>
                <a:latin typeface="Arial"/>
                <a:ea typeface="Arial"/>
                <a:cs typeface="Arial"/>
                <a:sym typeface="Arial"/>
              </a:rPr>
              <a:t>kết</a:t>
            </a:r>
            <a:r>
              <a:rPr lang="en-US" sz="2799" dirty="0">
                <a:solidFill>
                  <a:srgbClr val="000000"/>
                </a:solidFill>
                <a:latin typeface="Arial"/>
                <a:ea typeface="Arial"/>
                <a:cs typeface="Arial"/>
                <a:sym typeface="Arial"/>
              </a:rPr>
              <a:t> </a:t>
            </a:r>
            <a:r>
              <a:rPr lang="en-US" sz="2799" dirty="0" err="1">
                <a:solidFill>
                  <a:srgbClr val="000000"/>
                </a:solidFill>
                <a:latin typeface="Arial"/>
                <a:ea typeface="Arial"/>
                <a:cs typeface="Arial"/>
                <a:sym typeface="Arial"/>
              </a:rPr>
              <a:t>thúc</a:t>
            </a:r>
            <a:r>
              <a:rPr lang="en-US" sz="2799" dirty="0">
                <a:solidFill>
                  <a:srgbClr val="000000"/>
                </a:solidFill>
                <a:latin typeface="Arial"/>
                <a:ea typeface="Arial"/>
                <a:cs typeface="Arial"/>
                <a:sym typeface="Arial"/>
              </a:rPr>
              <a:t>. </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9206494"/>
            <a:ext cx="18288000" cy="1080506"/>
            <a:chOff x="0" y="0"/>
            <a:chExt cx="24384000" cy="1440675"/>
          </a:xfrm>
        </p:grpSpPr>
        <p:sp>
          <p:nvSpPr>
            <p:cNvPr id="3" name="Freeform 3"/>
            <p:cNvSpPr/>
            <p:nvPr/>
          </p:nvSpPr>
          <p:spPr>
            <a:xfrm>
              <a:off x="0" y="0"/>
              <a:ext cx="24384000" cy="1440688"/>
            </a:xfrm>
            <a:custGeom>
              <a:avLst/>
              <a:gdLst/>
              <a:ahLst/>
              <a:cxnLst/>
              <a:rect l="l" t="t" r="r" b="b"/>
              <a:pathLst>
                <a:path w="24384000" h="1440688">
                  <a:moveTo>
                    <a:pt x="0" y="0"/>
                  </a:moveTo>
                  <a:lnTo>
                    <a:pt x="24384000" y="0"/>
                  </a:lnTo>
                  <a:lnTo>
                    <a:pt x="24384000" y="1440688"/>
                  </a:lnTo>
                  <a:lnTo>
                    <a:pt x="0" y="1440688"/>
                  </a:lnTo>
                  <a:lnTo>
                    <a:pt x="0" y="0"/>
                  </a:lnTo>
                  <a:close/>
                </a:path>
              </a:pathLst>
            </a:custGeom>
            <a:blipFill>
              <a:blip r:embed="rId3"/>
              <a:stretch>
                <a:fillRect t="-364" b="-364"/>
              </a:stretch>
            </a:blipFill>
          </p:spPr>
        </p:sp>
      </p:grpSp>
      <p:grpSp>
        <p:nvGrpSpPr>
          <p:cNvPr id="4" name="Group 4"/>
          <p:cNvGrpSpPr/>
          <p:nvPr/>
        </p:nvGrpSpPr>
        <p:grpSpPr>
          <a:xfrm>
            <a:off x="15473315" y="9370285"/>
            <a:ext cx="1741541" cy="745693"/>
            <a:chOff x="0" y="0"/>
            <a:chExt cx="2322055" cy="994258"/>
          </a:xfrm>
        </p:grpSpPr>
        <p:sp>
          <p:nvSpPr>
            <p:cNvPr id="5" name="Freeform 5"/>
            <p:cNvSpPr/>
            <p:nvPr/>
          </p:nvSpPr>
          <p:spPr>
            <a:xfrm>
              <a:off x="0" y="0"/>
              <a:ext cx="2322068" cy="994283"/>
            </a:xfrm>
            <a:custGeom>
              <a:avLst/>
              <a:gdLst/>
              <a:ahLst/>
              <a:cxnLst/>
              <a:rect l="l" t="t" r="r" b="b"/>
              <a:pathLst>
                <a:path w="2322068" h="994283">
                  <a:moveTo>
                    <a:pt x="0" y="0"/>
                  </a:moveTo>
                  <a:lnTo>
                    <a:pt x="2322068" y="0"/>
                  </a:lnTo>
                  <a:lnTo>
                    <a:pt x="2322068" y="994283"/>
                  </a:lnTo>
                  <a:lnTo>
                    <a:pt x="0" y="994283"/>
                  </a:lnTo>
                  <a:lnTo>
                    <a:pt x="0" y="0"/>
                  </a:lnTo>
                  <a:close/>
                </a:path>
              </a:pathLst>
            </a:custGeom>
            <a:blipFill>
              <a:blip r:embed="rId4"/>
              <a:stretch>
                <a:fillRect b="-1456"/>
              </a:stretch>
            </a:blipFill>
          </p:spPr>
        </p:sp>
      </p:grpSp>
      <p:grpSp>
        <p:nvGrpSpPr>
          <p:cNvPr id="6" name="Group 6"/>
          <p:cNvGrpSpPr/>
          <p:nvPr/>
        </p:nvGrpSpPr>
        <p:grpSpPr>
          <a:xfrm>
            <a:off x="9981438" y="9581550"/>
            <a:ext cx="4114800" cy="392420"/>
            <a:chOff x="0" y="0"/>
            <a:chExt cx="5486400" cy="523227"/>
          </a:xfrm>
        </p:grpSpPr>
        <p:sp>
          <p:nvSpPr>
            <p:cNvPr id="7" name="Freeform 7"/>
            <p:cNvSpPr/>
            <p:nvPr/>
          </p:nvSpPr>
          <p:spPr>
            <a:xfrm>
              <a:off x="0" y="0"/>
              <a:ext cx="5486400" cy="523222"/>
            </a:xfrm>
            <a:custGeom>
              <a:avLst/>
              <a:gdLst/>
              <a:ahLst/>
              <a:cxnLst/>
              <a:rect l="l" t="t" r="r" b="b"/>
              <a:pathLst>
                <a:path w="5486400" h="523222">
                  <a:moveTo>
                    <a:pt x="0" y="0"/>
                  </a:moveTo>
                  <a:lnTo>
                    <a:pt x="5486400" y="0"/>
                  </a:lnTo>
                  <a:lnTo>
                    <a:pt x="5486400" y="523222"/>
                  </a:lnTo>
                  <a:lnTo>
                    <a:pt x="0" y="523222"/>
                  </a:lnTo>
                  <a:close/>
                </a:path>
              </a:pathLst>
            </a:custGeom>
            <a:blipFill>
              <a:blip r:embed="rId5">
                <a:alphaModFix amt="0"/>
              </a:blip>
              <a:stretch>
                <a:fillRect t="-154315" b="-154316"/>
              </a:stretch>
            </a:blipFill>
          </p:spPr>
        </p:sp>
        <p:sp>
          <p:nvSpPr>
            <p:cNvPr id="8" name="TextBox 8"/>
            <p:cNvSpPr txBox="1"/>
            <p:nvPr/>
          </p:nvSpPr>
          <p:spPr>
            <a:xfrm>
              <a:off x="0" y="-9525"/>
              <a:ext cx="5486400" cy="532752"/>
            </a:xfrm>
            <a:prstGeom prst="rect">
              <a:avLst/>
            </a:prstGeom>
          </p:spPr>
          <p:txBody>
            <a:bodyPr lIns="0" tIns="0" rIns="0" bIns="0" rtlCol="0" anchor="ctr"/>
            <a:lstStyle/>
            <a:p>
              <a:pPr algn="r">
                <a:lnSpc>
                  <a:spcPts val="2520"/>
                </a:lnSpc>
              </a:pPr>
              <a:r>
                <a:rPr lang="en-US" sz="2100">
                  <a:solidFill>
                    <a:srgbClr val="BFBFBF"/>
                  </a:solidFill>
                  <a:latin typeface="Roboto"/>
                  <a:ea typeface="Roboto"/>
                  <a:cs typeface="Roboto"/>
                  <a:sym typeface="Roboto"/>
                </a:rPr>
                <a:t>‹#›</a:t>
              </a:r>
            </a:p>
          </p:txBody>
        </p:sp>
      </p:grpSp>
      <p:grpSp>
        <p:nvGrpSpPr>
          <p:cNvPr id="9" name="Group 9"/>
          <p:cNvGrpSpPr/>
          <p:nvPr/>
        </p:nvGrpSpPr>
        <p:grpSpPr>
          <a:xfrm>
            <a:off x="451542" y="300771"/>
            <a:ext cx="15770323" cy="767782"/>
            <a:chOff x="0" y="0"/>
            <a:chExt cx="21027098" cy="1023710"/>
          </a:xfrm>
        </p:grpSpPr>
        <p:sp>
          <p:nvSpPr>
            <p:cNvPr id="10" name="Freeform 10"/>
            <p:cNvSpPr/>
            <p:nvPr/>
          </p:nvSpPr>
          <p:spPr>
            <a:xfrm>
              <a:off x="0" y="0"/>
              <a:ext cx="21027095" cy="1023711"/>
            </a:xfrm>
            <a:custGeom>
              <a:avLst/>
              <a:gdLst/>
              <a:ahLst/>
              <a:cxnLst/>
              <a:rect l="l" t="t" r="r" b="b"/>
              <a:pathLst>
                <a:path w="21027095" h="1023711">
                  <a:moveTo>
                    <a:pt x="0" y="0"/>
                  </a:moveTo>
                  <a:lnTo>
                    <a:pt x="21027095" y="0"/>
                  </a:lnTo>
                  <a:lnTo>
                    <a:pt x="21027095" y="1023711"/>
                  </a:lnTo>
                  <a:lnTo>
                    <a:pt x="0" y="1023711"/>
                  </a:lnTo>
                  <a:close/>
                </a:path>
              </a:pathLst>
            </a:custGeom>
            <a:blipFill>
              <a:blip r:embed="rId5">
                <a:alphaModFix amt="0"/>
              </a:blip>
              <a:stretch>
                <a:fillRect t="-350224" b="-350223"/>
              </a:stretch>
            </a:blipFill>
          </p:spPr>
        </p:sp>
        <p:sp>
          <p:nvSpPr>
            <p:cNvPr id="11" name="TextBox 11"/>
            <p:cNvSpPr txBox="1"/>
            <p:nvPr/>
          </p:nvSpPr>
          <p:spPr>
            <a:xfrm>
              <a:off x="0" y="19050"/>
              <a:ext cx="21027098" cy="1004660"/>
            </a:xfrm>
            <a:prstGeom prst="rect">
              <a:avLst/>
            </a:prstGeom>
          </p:spPr>
          <p:txBody>
            <a:bodyPr lIns="0" tIns="0" rIns="0" bIns="0" rtlCol="0" anchor="b"/>
            <a:lstStyle/>
            <a:p>
              <a:pPr algn="l">
                <a:lnSpc>
                  <a:spcPts val="3888"/>
                </a:lnSpc>
              </a:pPr>
              <a:r>
                <a:rPr lang="en-US" sz="3600">
                  <a:solidFill>
                    <a:srgbClr val="EE0033"/>
                  </a:solidFill>
                  <a:latin typeface="Arial"/>
                  <a:ea typeface="Arial"/>
                  <a:cs typeface="Arial"/>
                  <a:sym typeface="Arial"/>
                </a:rPr>
                <a:t>I. PROCESS:</a:t>
              </a:r>
            </a:p>
          </p:txBody>
        </p:sp>
      </p:grpSp>
      <p:sp>
        <p:nvSpPr>
          <p:cNvPr id="12" name="Freeform 12"/>
          <p:cNvSpPr/>
          <p:nvPr/>
        </p:nvSpPr>
        <p:spPr>
          <a:xfrm>
            <a:off x="1069688" y="2057217"/>
            <a:ext cx="5835632" cy="6935099"/>
          </a:xfrm>
          <a:custGeom>
            <a:avLst/>
            <a:gdLst/>
            <a:ahLst/>
            <a:cxnLst/>
            <a:rect l="l" t="t" r="r" b="b"/>
            <a:pathLst>
              <a:path w="5835632" h="6935099">
                <a:moveTo>
                  <a:pt x="0" y="0"/>
                </a:moveTo>
                <a:lnTo>
                  <a:pt x="5835631" y="0"/>
                </a:lnTo>
                <a:lnTo>
                  <a:pt x="5835631" y="6935099"/>
                </a:lnTo>
                <a:lnTo>
                  <a:pt x="0" y="6935099"/>
                </a:lnTo>
                <a:lnTo>
                  <a:pt x="0" y="0"/>
                </a:lnTo>
                <a:close/>
              </a:path>
            </a:pathLst>
          </a:custGeom>
          <a:blipFill>
            <a:blip r:embed="rId6"/>
            <a:stretch>
              <a:fillRect/>
            </a:stretch>
          </a:blipFill>
        </p:spPr>
      </p:sp>
      <p:sp>
        <p:nvSpPr>
          <p:cNvPr id="13" name="Freeform 13"/>
          <p:cNvSpPr/>
          <p:nvPr/>
        </p:nvSpPr>
        <p:spPr>
          <a:xfrm>
            <a:off x="7567990" y="3036842"/>
            <a:ext cx="6528248" cy="1613158"/>
          </a:xfrm>
          <a:custGeom>
            <a:avLst/>
            <a:gdLst/>
            <a:ahLst/>
            <a:cxnLst/>
            <a:rect l="l" t="t" r="r" b="b"/>
            <a:pathLst>
              <a:path w="6528248" h="1613158">
                <a:moveTo>
                  <a:pt x="0" y="0"/>
                </a:moveTo>
                <a:lnTo>
                  <a:pt x="6528248" y="0"/>
                </a:lnTo>
                <a:lnTo>
                  <a:pt x="6528248" y="1613158"/>
                </a:lnTo>
                <a:lnTo>
                  <a:pt x="0" y="1613158"/>
                </a:lnTo>
                <a:lnTo>
                  <a:pt x="0" y="0"/>
                </a:lnTo>
                <a:close/>
              </a:path>
            </a:pathLst>
          </a:custGeom>
          <a:blipFill>
            <a:blip r:embed="rId7"/>
            <a:stretch>
              <a:fillRect/>
            </a:stretch>
          </a:blipFill>
        </p:spPr>
      </p:sp>
      <p:sp>
        <p:nvSpPr>
          <p:cNvPr id="14" name="TextBox 14"/>
          <p:cNvSpPr txBox="1"/>
          <p:nvPr/>
        </p:nvSpPr>
        <p:spPr>
          <a:xfrm>
            <a:off x="840743" y="9548498"/>
            <a:ext cx="7754617" cy="323850"/>
          </a:xfrm>
          <a:prstGeom prst="rect">
            <a:avLst/>
          </a:prstGeom>
        </p:spPr>
        <p:txBody>
          <a:bodyPr lIns="0" tIns="0" rIns="0" bIns="0" rtlCol="0" anchor="t">
            <a:spAutoFit/>
          </a:bodyPr>
          <a:lstStyle/>
          <a:p>
            <a:pPr algn="l">
              <a:lnSpc>
                <a:spcPts val="2520"/>
              </a:lnSpc>
            </a:pPr>
            <a:r>
              <a:rPr lang="en-US" sz="2100" spc="450">
                <a:solidFill>
                  <a:srgbClr val="BFBFBF"/>
                </a:solidFill>
                <a:latin typeface="Arial"/>
                <a:ea typeface="Arial"/>
                <a:cs typeface="Arial"/>
                <a:sym typeface="Arial"/>
              </a:rPr>
              <a:t>www.viettelhightech.vn </a:t>
            </a:r>
          </a:p>
        </p:txBody>
      </p:sp>
      <p:sp>
        <p:nvSpPr>
          <p:cNvPr id="15" name="TextBox 15"/>
          <p:cNvSpPr txBox="1"/>
          <p:nvPr/>
        </p:nvSpPr>
        <p:spPr>
          <a:xfrm>
            <a:off x="451542" y="1237783"/>
            <a:ext cx="9482967" cy="521589"/>
          </a:xfrm>
          <a:prstGeom prst="rect">
            <a:avLst/>
          </a:prstGeom>
        </p:spPr>
        <p:txBody>
          <a:bodyPr lIns="0" tIns="0" rIns="0" bIns="0" rtlCol="0" anchor="t">
            <a:spAutoFit/>
          </a:bodyPr>
          <a:lstStyle/>
          <a:p>
            <a:pPr algn="l">
              <a:lnSpc>
                <a:spcPts val="3888"/>
              </a:lnSpc>
              <a:spcBef>
                <a:spcPct val="0"/>
              </a:spcBef>
            </a:pPr>
            <a:r>
              <a:rPr lang="en-US" sz="3600">
                <a:solidFill>
                  <a:srgbClr val="EE0033"/>
                </a:solidFill>
                <a:latin typeface="Arial"/>
                <a:ea typeface="Arial"/>
                <a:cs typeface="Arial"/>
                <a:sym typeface="Arial"/>
              </a:rPr>
              <a:t>Tổng quan về fork(), exit(), wait() và execve():</a:t>
            </a:r>
          </a:p>
        </p:txBody>
      </p:sp>
      <p:sp>
        <p:nvSpPr>
          <p:cNvPr id="16" name="TextBox 16"/>
          <p:cNvSpPr txBox="1"/>
          <p:nvPr/>
        </p:nvSpPr>
        <p:spPr>
          <a:xfrm>
            <a:off x="6905319" y="4811925"/>
            <a:ext cx="7912444" cy="382524"/>
          </a:xfrm>
          <a:prstGeom prst="rect">
            <a:avLst/>
          </a:prstGeom>
        </p:spPr>
        <p:txBody>
          <a:bodyPr lIns="0" tIns="0" rIns="0" bIns="0" rtlCol="0" anchor="t">
            <a:spAutoFit/>
          </a:bodyPr>
          <a:lstStyle/>
          <a:p>
            <a:pPr algn="ctr">
              <a:lnSpc>
                <a:spcPts val="2808"/>
              </a:lnSpc>
              <a:spcBef>
                <a:spcPct val="0"/>
              </a:spcBef>
            </a:pPr>
            <a:r>
              <a:rPr lang="en-US" sz="2600">
                <a:solidFill>
                  <a:srgbClr val="000000"/>
                </a:solidFill>
                <a:latin typeface="Arial"/>
                <a:ea typeface="Arial"/>
                <a:cs typeface="Arial"/>
                <a:sym typeface="Arial"/>
              </a:rPr>
              <a:t>Hàm đăng kí sau sẽ được gọi trước</a:t>
            </a:r>
          </a:p>
        </p:txBody>
      </p:sp>
      <p:sp>
        <p:nvSpPr>
          <p:cNvPr id="17" name="TextBox 17"/>
          <p:cNvSpPr txBox="1"/>
          <p:nvPr/>
        </p:nvSpPr>
        <p:spPr>
          <a:xfrm>
            <a:off x="7615822" y="6781685"/>
            <a:ext cx="9599034" cy="1087374"/>
          </a:xfrm>
          <a:prstGeom prst="rect">
            <a:avLst/>
          </a:prstGeom>
        </p:spPr>
        <p:txBody>
          <a:bodyPr lIns="0" tIns="0" rIns="0" bIns="0" rtlCol="0" anchor="t">
            <a:spAutoFit/>
          </a:bodyPr>
          <a:lstStyle/>
          <a:p>
            <a:pPr algn="l">
              <a:lnSpc>
                <a:spcPts val="2807"/>
              </a:lnSpc>
              <a:spcBef>
                <a:spcPct val="0"/>
              </a:spcBef>
            </a:pPr>
            <a:r>
              <a:rPr lang="en-US" sz="2599">
                <a:solidFill>
                  <a:srgbClr val="000000"/>
                </a:solidFill>
                <a:latin typeface="Arial"/>
                <a:ea typeface="Arial"/>
                <a:cs typeface="Arial"/>
                <a:sym typeface="Arial"/>
              </a:rPr>
              <a:t>Trong các ứng dụng tạo tiến trình con, thông thường chỉ tiến trình cha nên kết thúc bằng exit(), còn các tiến trình khác nên kết thúc bằng _exit().</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9206494"/>
            <a:ext cx="18288000" cy="1080506"/>
            <a:chOff x="0" y="0"/>
            <a:chExt cx="24384000" cy="1440675"/>
          </a:xfrm>
        </p:grpSpPr>
        <p:sp>
          <p:nvSpPr>
            <p:cNvPr id="3" name="Freeform 3"/>
            <p:cNvSpPr/>
            <p:nvPr/>
          </p:nvSpPr>
          <p:spPr>
            <a:xfrm>
              <a:off x="0" y="0"/>
              <a:ext cx="24384000" cy="1440688"/>
            </a:xfrm>
            <a:custGeom>
              <a:avLst/>
              <a:gdLst/>
              <a:ahLst/>
              <a:cxnLst/>
              <a:rect l="l" t="t" r="r" b="b"/>
              <a:pathLst>
                <a:path w="24384000" h="1440688">
                  <a:moveTo>
                    <a:pt x="0" y="0"/>
                  </a:moveTo>
                  <a:lnTo>
                    <a:pt x="24384000" y="0"/>
                  </a:lnTo>
                  <a:lnTo>
                    <a:pt x="24384000" y="1440688"/>
                  </a:lnTo>
                  <a:lnTo>
                    <a:pt x="0" y="1440688"/>
                  </a:lnTo>
                  <a:lnTo>
                    <a:pt x="0" y="0"/>
                  </a:lnTo>
                  <a:close/>
                </a:path>
              </a:pathLst>
            </a:custGeom>
            <a:blipFill>
              <a:blip r:embed="rId3"/>
              <a:stretch>
                <a:fillRect t="-364" b="-364"/>
              </a:stretch>
            </a:blipFill>
          </p:spPr>
        </p:sp>
      </p:grpSp>
      <p:grpSp>
        <p:nvGrpSpPr>
          <p:cNvPr id="4" name="Group 4"/>
          <p:cNvGrpSpPr/>
          <p:nvPr/>
        </p:nvGrpSpPr>
        <p:grpSpPr>
          <a:xfrm>
            <a:off x="15473315" y="9370285"/>
            <a:ext cx="1741541" cy="745693"/>
            <a:chOff x="0" y="0"/>
            <a:chExt cx="2322055" cy="994258"/>
          </a:xfrm>
        </p:grpSpPr>
        <p:sp>
          <p:nvSpPr>
            <p:cNvPr id="5" name="Freeform 5"/>
            <p:cNvSpPr/>
            <p:nvPr/>
          </p:nvSpPr>
          <p:spPr>
            <a:xfrm>
              <a:off x="0" y="0"/>
              <a:ext cx="2322068" cy="994283"/>
            </a:xfrm>
            <a:custGeom>
              <a:avLst/>
              <a:gdLst/>
              <a:ahLst/>
              <a:cxnLst/>
              <a:rect l="l" t="t" r="r" b="b"/>
              <a:pathLst>
                <a:path w="2322068" h="994283">
                  <a:moveTo>
                    <a:pt x="0" y="0"/>
                  </a:moveTo>
                  <a:lnTo>
                    <a:pt x="2322068" y="0"/>
                  </a:lnTo>
                  <a:lnTo>
                    <a:pt x="2322068" y="994283"/>
                  </a:lnTo>
                  <a:lnTo>
                    <a:pt x="0" y="994283"/>
                  </a:lnTo>
                  <a:lnTo>
                    <a:pt x="0" y="0"/>
                  </a:lnTo>
                  <a:close/>
                </a:path>
              </a:pathLst>
            </a:custGeom>
            <a:blipFill>
              <a:blip r:embed="rId4"/>
              <a:stretch>
                <a:fillRect b="-1456"/>
              </a:stretch>
            </a:blipFill>
          </p:spPr>
        </p:sp>
      </p:grpSp>
      <p:grpSp>
        <p:nvGrpSpPr>
          <p:cNvPr id="6" name="Group 6"/>
          <p:cNvGrpSpPr/>
          <p:nvPr/>
        </p:nvGrpSpPr>
        <p:grpSpPr>
          <a:xfrm>
            <a:off x="9981438" y="9581550"/>
            <a:ext cx="4114800" cy="392420"/>
            <a:chOff x="0" y="0"/>
            <a:chExt cx="5486400" cy="523227"/>
          </a:xfrm>
        </p:grpSpPr>
        <p:sp>
          <p:nvSpPr>
            <p:cNvPr id="7" name="Freeform 7"/>
            <p:cNvSpPr/>
            <p:nvPr/>
          </p:nvSpPr>
          <p:spPr>
            <a:xfrm>
              <a:off x="0" y="0"/>
              <a:ext cx="5486400" cy="523222"/>
            </a:xfrm>
            <a:custGeom>
              <a:avLst/>
              <a:gdLst/>
              <a:ahLst/>
              <a:cxnLst/>
              <a:rect l="l" t="t" r="r" b="b"/>
              <a:pathLst>
                <a:path w="5486400" h="523222">
                  <a:moveTo>
                    <a:pt x="0" y="0"/>
                  </a:moveTo>
                  <a:lnTo>
                    <a:pt x="5486400" y="0"/>
                  </a:lnTo>
                  <a:lnTo>
                    <a:pt x="5486400" y="523222"/>
                  </a:lnTo>
                  <a:lnTo>
                    <a:pt x="0" y="523222"/>
                  </a:lnTo>
                  <a:close/>
                </a:path>
              </a:pathLst>
            </a:custGeom>
            <a:blipFill>
              <a:blip r:embed="rId5">
                <a:alphaModFix amt="0"/>
              </a:blip>
              <a:stretch>
                <a:fillRect t="-154315" b="-154316"/>
              </a:stretch>
            </a:blipFill>
          </p:spPr>
        </p:sp>
        <p:sp>
          <p:nvSpPr>
            <p:cNvPr id="8" name="TextBox 8"/>
            <p:cNvSpPr txBox="1"/>
            <p:nvPr/>
          </p:nvSpPr>
          <p:spPr>
            <a:xfrm>
              <a:off x="0" y="-9525"/>
              <a:ext cx="5486400" cy="532752"/>
            </a:xfrm>
            <a:prstGeom prst="rect">
              <a:avLst/>
            </a:prstGeom>
          </p:spPr>
          <p:txBody>
            <a:bodyPr lIns="0" tIns="0" rIns="0" bIns="0" rtlCol="0" anchor="ctr"/>
            <a:lstStyle/>
            <a:p>
              <a:pPr algn="r">
                <a:lnSpc>
                  <a:spcPts val="2520"/>
                </a:lnSpc>
              </a:pPr>
              <a:r>
                <a:rPr lang="en-US" sz="2100">
                  <a:solidFill>
                    <a:srgbClr val="BFBFBF"/>
                  </a:solidFill>
                  <a:latin typeface="Roboto"/>
                  <a:ea typeface="Roboto"/>
                  <a:cs typeface="Roboto"/>
                  <a:sym typeface="Roboto"/>
                </a:rPr>
                <a:t>‹#›</a:t>
              </a:r>
            </a:p>
          </p:txBody>
        </p:sp>
      </p:grpSp>
      <p:grpSp>
        <p:nvGrpSpPr>
          <p:cNvPr id="9" name="Group 9"/>
          <p:cNvGrpSpPr/>
          <p:nvPr/>
        </p:nvGrpSpPr>
        <p:grpSpPr>
          <a:xfrm>
            <a:off x="451542" y="300771"/>
            <a:ext cx="15770323" cy="767782"/>
            <a:chOff x="0" y="0"/>
            <a:chExt cx="21027098" cy="1023710"/>
          </a:xfrm>
        </p:grpSpPr>
        <p:sp>
          <p:nvSpPr>
            <p:cNvPr id="10" name="Freeform 10"/>
            <p:cNvSpPr/>
            <p:nvPr/>
          </p:nvSpPr>
          <p:spPr>
            <a:xfrm>
              <a:off x="0" y="0"/>
              <a:ext cx="21027095" cy="1023711"/>
            </a:xfrm>
            <a:custGeom>
              <a:avLst/>
              <a:gdLst/>
              <a:ahLst/>
              <a:cxnLst/>
              <a:rect l="l" t="t" r="r" b="b"/>
              <a:pathLst>
                <a:path w="21027095" h="1023711">
                  <a:moveTo>
                    <a:pt x="0" y="0"/>
                  </a:moveTo>
                  <a:lnTo>
                    <a:pt x="21027095" y="0"/>
                  </a:lnTo>
                  <a:lnTo>
                    <a:pt x="21027095" y="1023711"/>
                  </a:lnTo>
                  <a:lnTo>
                    <a:pt x="0" y="1023711"/>
                  </a:lnTo>
                  <a:close/>
                </a:path>
              </a:pathLst>
            </a:custGeom>
            <a:blipFill>
              <a:blip r:embed="rId5">
                <a:alphaModFix amt="0"/>
              </a:blip>
              <a:stretch>
                <a:fillRect t="-350224" b="-350223"/>
              </a:stretch>
            </a:blipFill>
          </p:spPr>
        </p:sp>
        <p:sp>
          <p:nvSpPr>
            <p:cNvPr id="11" name="TextBox 11"/>
            <p:cNvSpPr txBox="1"/>
            <p:nvPr/>
          </p:nvSpPr>
          <p:spPr>
            <a:xfrm>
              <a:off x="0" y="19050"/>
              <a:ext cx="21027098" cy="1004660"/>
            </a:xfrm>
            <a:prstGeom prst="rect">
              <a:avLst/>
            </a:prstGeom>
          </p:spPr>
          <p:txBody>
            <a:bodyPr lIns="0" tIns="0" rIns="0" bIns="0" rtlCol="0" anchor="b"/>
            <a:lstStyle/>
            <a:p>
              <a:pPr algn="l">
                <a:lnSpc>
                  <a:spcPts val="3888"/>
                </a:lnSpc>
              </a:pPr>
              <a:r>
                <a:rPr lang="en-US" sz="3600">
                  <a:solidFill>
                    <a:srgbClr val="EE0033"/>
                  </a:solidFill>
                  <a:latin typeface="Arial"/>
                  <a:ea typeface="Arial"/>
                  <a:cs typeface="Arial"/>
                  <a:sym typeface="Arial"/>
                </a:rPr>
                <a:t>I. PROCESS:</a:t>
              </a:r>
            </a:p>
          </p:txBody>
        </p:sp>
      </p:grpSp>
      <p:sp>
        <p:nvSpPr>
          <p:cNvPr id="12" name="TextBox 12"/>
          <p:cNvSpPr txBox="1"/>
          <p:nvPr/>
        </p:nvSpPr>
        <p:spPr>
          <a:xfrm>
            <a:off x="840743" y="9548498"/>
            <a:ext cx="7754617" cy="323850"/>
          </a:xfrm>
          <a:prstGeom prst="rect">
            <a:avLst/>
          </a:prstGeom>
        </p:spPr>
        <p:txBody>
          <a:bodyPr lIns="0" tIns="0" rIns="0" bIns="0" rtlCol="0" anchor="t">
            <a:spAutoFit/>
          </a:bodyPr>
          <a:lstStyle/>
          <a:p>
            <a:pPr algn="l">
              <a:lnSpc>
                <a:spcPts val="2520"/>
              </a:lnSpc>
            </a:pPr>
            <a:r>
              <a:rPr lang="en-US" sz="2100" spc="450">
                <a:solidFill>
                  <a:srgbClr val="BFBFBF"/>
                </a:solidFill>
                <a:latin typeface="Arial"/>
                <a:ea typeface="Arial"/>
                <a:cs typeface="Arial"/>
                <a:sym typeface="Arial"/>
              </a:rPr>
              <a:t>www.viettelhightech.vn </a:t>
            </a:r>
          </a:p>
        </p:txBody>
      </p:sp>
      <p:sp>
        <p:nvSpPr>
          <p:cNvPr id="13" name="TextBox 13"/>
          <p:cNvSpPr txBox="1"/>
          <p:nvPr/>
        </p:nvSpPr>
        <p:spPr>
          <a:xfrm>
            <a:off x="451542" y="1237783"/>
            <a:ext cx="9482967" cy="521589"/>
          </a:xfrm>
          <a:prstGeom prst="rect">
            <a:avLst/>
          </a:prstGeom>
        </p:spPr>
        <p:txBody>
          <a:bodyPr lIns="0" tIns="0" rIns="0" bIns="0" rtlCol="0" anchor="t">
            <a:spAutoFit/>
          </a:bodyPr>
          <a:lstStyle/>
          <a:p>
            <a:pPr algn="l">
              <a:lnSpc>
                <a:spcPts val="3888"/>
              </a:lnSpc>
              <a:spcBef>
                <a:spcPct val="0"/>
              </a:spcBef>
            </a:pPr>
            <a:r>
              <a:rPr lang="en-US" sz="3600">
                <a:solidFill>
                  <a:srgbClr val="EE0033"/>
                </a:solidFill>
                <a:latin typeface="Arial"/>
                <a:ea typeface="Arial"/>
                <a:cs typeface="Arial"/>
                <a:sym typeface="Arial"/>
              </a:rPr>
              <a:t>Tổng quan về fork(), exit(), wait() và execve():</a:t>
            </a:r>
          </a:p>
        </p:txBody>
      </p:sp>
      <p:sp>
        <p:nvSpPr>
          <p:cNvPr id="14" name="TextBox 14"/>
          <p:cNvSpPr txBox="1"/>
          <p:nvPr/>
        </p:nvSpPr>
        <p:spPr>
          <a:xfrm>
            <a:off x="561649" y="2030403"/>
            <a:ext cx="16463378" cy="1007364"/>
          </a:xfrm>
          <a:prstGeom prst="rect">
            <a:avLst/>
          </a:prstGeom>
        </p:spPr>
        <p:txBody>
          <a:bodyPr lIns="0" tIns="0" rIns="0" bIns="0" rtlCol="0" anchor="t">
            <a:spAutoFit/>
          </a:bodyPr>
          <a:lstStyle/>
          <a:p>
            <a:pPr algn="l">
              <a:lnSpc>
                <a:spcPts val="3888"/>
              </a:lnSpc>
              <a:spcBef>
                <a:spcPct val="0"/>
              </a:spcBef>
            </a:pPr>
            <a:r>
              <a:rPr lang="en-US" sz="3600" dirty="0">
                <a:solidFill>
                  <a:srgbClr val="000000"/>
                </a:solidFill>
                <a:latin typeface="Arial"/>
                <a:ea typeface="Arial"/>
                <a:cs typeface="Arial"/>
                <a:sym typeface="Arial"/>
              </a:rPr>
              <a:t>System call wait() </a:t>
            </a:r>
            <a:r>
              <a:rPr lang="en-US" sz="3600" dirty="0" err="1">
                <a:solidFill>
                  <a:srgbClr val="000000"/>
                </a:solidFill>
                <a:latin typeface="Arial"/>
                <a:ea typeface="Arial"/>
                <a:cs typeface="Arial"/>
                <a:sym typeface="Arial"/>
              </a:rPr>
              <a:t>nhằm</a:t>
            </a:r>
            <a:r>
              <a:rPr lang="en-US" sz="3600" dirty="0">
                <a:solidFill>
                  <a:srgbClr val="000000"/>
                </a:solidFill>
                <a:latin typeface="Arial"/>
                <a:ea typeface="Arial"/>
                <a:cs typeface="Arial"/>
                <a:sym typeface="Arial"/>
              </a:rPr>
              <a:t> </a:t>
            </a:r>
            <a:r>
              <a:rPr lang="en-US" sz="3600" dirty="0" err="1">
                <a:solidFill>
                  <a:srgbClr val="000000"/>
                </a:solidFill>
                <a:latin typeface="Arial"/>
                <a:ea typeface="Arial"/>
                <a:cs typeface="Arial"/>
                <a:sym typeface="Arial"/>
              </a:rPr>
              <a:t>mục</a:t>
            </a:r>
            <a:r>
              <a:rPr lang="en-US" sz="3600" dirty="0">
                <a:solidFill>
                  <a:srgbClr val="000000"/>
                </a:solidFill>
                <a:latin typeface="Arial"/>
                <a:ea typeface="Arial"/>
                <a:cs typeface="Arial"/>
                <a:sym typeface="Arial"/>
              </a:rPr>
              <a:t> </a:t>
            </a:r>
            <a:r>
              <a:rPr lang="en-US" sz="3600" dirty="0" err="1">
                <a:solidFill>
                  <a:srgbClr val="000000"/>
                </a:solidFill>
                <a:latin typeface="Arial"/>
                <a:ea typeface="Arial"/>
                <a:cs typeface="Arial"/>
                <a:sym typeface="Arial"/>
              </a:rPr>
              <a:t>đích</a:t>
            </a:r>
            <a:r>
              <a:rPr lang="en-US" sz="3600" dirty="0">
                <a:solidFill>
                  <a:srgbClr val="000000"/>
                </a:solidFill>
                <a:latin typeface="Arial"/>
                <a:ea typeface="Arial"/>
                <a:cs typeface="Arial"/>
                <a:sym typeface="Arial"/>
              </a:rPr>
              <a:t> </a:t>
            </a:r>
            <a:r>
              <a:rPr lang="en-US" sz="3600" dirty="0" err="1">
                <a:solidFill>
                  <a:srgbClr val="000000"/>
                </a:solidFill>
                <a:latin typeface="Arial"/>
                <a:ea typeface="Arial"/>
                <a:cs typeface="Arial"/>
                <a:sym typeface="Arial"/>
              </a:rPr>
              <a:t>chờ</a:t>
            </a:r>
            <a:r>
              <a:rPr lang="en-US" sz="3600" dirty="0">
                <a:solidFill>
                  <a:srgbClr val="000000"/>
                </a:solidFill>
                <a:latin typeface="Arial"/>
                <a:ea typeface="Arial"/>
                <a:cs typeface="Arial"/>
                <a:sym typeface="Arial"/>
              </a:rPr>
              <a:t> </a:t>
            </a:r>
            <a:r>
              <a:rPr lang="en-US" sz="3600" dirty="0" err="1">
                <a:solidFill>
                  <a:srgbClr val="000000"/>
                </a:solidFill>
                <a:latin typeface="Arial"/>
                <a:ea typeface="Arial"/>
                <a:cs typeface="Arial"/>
                <a:sym typeface="Arial"/>
              </a:rPr>
              <a:t>tiến</a:t>
            </a:r>
            <a:r>
              <a:rPr lang="en-US" sz="3600" dirty="0">
                <a:solidFill>
                  <a:srgbClr val="000000"/>
                </a:solidFill>
                <a:latin typeface="Arial"/>
                <a:ea typeface="Arial"/>
                <a:cs typeface="Arial"/>
                <a:sym typeface="Arial"/>
              </a:rPr>
              <a:t> </a:t>
            </a:r>
            <a:r>
              <a:rPr lang="en-US" sz="3600" dirty="0" err="1">
                <a:solidFill>
                  <a:srgbClr val="000000"/>
                </a:solidFill>
                <a:latin typeface="Arial"/>
                <a:ea typeface="Arial"/>
                <a:cs typeface="Arial"/>
                <a:sym typeface="Arial"/>
              </a:rPr>
              <a:t>trình</a:t>
            </a:r>
            <a:r>
              <a:rPr lang="en-US" sz="3600" dirty="0">
                <a:solidFill>
                  <a:srgbClr val="000000"/>
                </a:solidFill>
                <a:latin typeface="Arial"/>
                <a:ea typeface="Arial"/>
                <a:cs typeface="Arial"/>
                <a:sym typeface="Arial"/>
              </a:rPr>
              <a:t> con </a:t>
            </a:r>
            <a:r>
              <a:rPr lang="en-US" sz="3600" dirty="0" err="1">
                <a:solidFill>
                  <a:srgbClr val="000000"/>
                </a:solidFill>
                <a:latin typeface="Arial"/>
                <a:ea typeface="Arial"/>
                <a:cs typeface="Arial"/>
                <a:sym typeface="Arial"/>
              </a:rPr>
              <a:t>kết</a:t>
            </a:r>
            <a:r>
              <a:rPr lang="en-US" sz="3600" dirty="0">
                <a:solidFill>
                  <a:srgbClr val="000000"/>
                </a:solidFill>
                <a:latin typeface="Arial"/>
                <a:ea typeface="Arial"/>
                <a:cs typeface="Arial"/>
                <a:sym typeface="Arial"/>
              </a:rPr>
              <a:t> </a:t>
            </a:r>
            <a:r>
              <a:rPr lang="en-US" sz="3600" dirty="0" err="1">
                <a:solidFill>
                  <a:srgbClr val="000000"/>
                </a:solidFill>
                <a:latin typeface="Arial"/>
                <a:ea typeface="Arial"/>
                <a:cs typeface="Arial"/>
                <a:sym typeface="Arial"/>
              </a:rPr>
              <a:t>thúc</a:t>
            </a:r>
            <a:r>
              <a:rPr lang="en-US" sz="3600" dirty="0">
                <a:solidFill>
                  <a:srgbClr val="000000"/>
                </a:solidFill>
                <a:latin typeface="Arial"/>
                <a:ea typeface="Arial"/>
                <a:cs typeface="Arial"/>
                <a:sym typeface="Arial"/>
              </a:rPr>
              <a:t> </a:t>
            </a:r>
            <a:r>
              <a:rPr lang="en-US" sz="3600" dirty="0" err="1">
                <a:solidFill>
                  <a:srgbClr val="000000"/>
                </a:solidFill>
                <a:latin typeface="Arial"/>
                <a:ea typeface="Arial"/>
                <a:cs typeface="Arial"/>
                <a:sym typeface="Arial"/>
              </a:rPr>
              <a:t>và</a:t>
            </a:r>
            <a:r>
              <a:rPr lang="en-US" sz="3600" dirty="0">
                <a:solidFill>
                  <a:srgbClr val="000000"/>
                </a:solidFill>
                <a:latin typeface="Arial"/>
                <a:ea typeface="Arial"/>
                <a:cs typeface="Arial"/>
                <a:sym typeface="Arial"/>
              </a:rPr>
              <a:t> </a:t>
            </a:r>
            <a:r>
              <a:rPr lang="en-US" sz="3600" dirty="0" err="1">
                <a:solidFill>
                  <a:srgbClr val="000000"/>
                </a:solidFill>
                <a:latin typeface="Arial"/>
                <a:ea typeface="Arial"/>
                <a:cs typeface="Arial"/>
                <a:sym typeface="Arial"/>
              </a:rPr>
              <a:t>lấy</a:t>
            </a:r>
            <a:r>
              <a:rPr lang="en-US" sz="3600" dirty="0">
                <a:solidFill>
                  <a:srgbClr val="000000"/>
                </a:solidFill>
                <a:latin typeface="Arial"/>
                <a:ea typeface="Arial"/>
                <a:cs typeface="Arial"/>
                <a:sym typeface="Arial"/>
              </a:rPr>
              <a:t> </a:t>
            </a:r>
            <a:r>
              <a:rPr lang="en-US" sz="3600" dirty="0" err="1">
                <a:solidFill>
                  <a:srgbClr val="000000"/>
                </a:solidFill>
                <a:latin typeface="Arial"/>
                <a:ea typeface="Arial"/>
                <a:cs typeface="Arial"/>
                <a:sym typeface="Arial"/>
              </a:rPr>
              <a:t>trạng</a:t>
            </a:r>
            <a:r>
              <a:rPr lang="en-US" sz="3600" dirty="0">
                <a:solidFill>
                  <a:srgbClr val="000000"/>
                </a:solidFill>
                <a:latin typeface="Arial"/>
                <a:ea typeface="Arial"/>
                <a:cs typeface="Arial"/>
                <a:sym typeface="Arial"/>
              </a:rPr>
              <a:t> </a:t>
            </a:r>
            <a:r>
              <a:rPr lang="en-US" sz="3600" dirty="0" err="1">
                <a:solidFill>
                  <a:srgbClr val="000000"/>
                </a:solidFill>
                <a:latin typeface="Arial"/>
                <a:ea typeface="Arial"/>
                <a:cs typeface="Arial"/>
                <a:sym typeface="Arial"/>
              </a:rPr>
              <a:t>thái</a:t>
            </a:r>
            <a:r>
              <a:rPr lang="en-US" sz="3600" dirty="0">
                <a:solidFill>
                  <a:srgbClr val="000000"/>
                </a:solidFill>
                <a:latin typeface="Arial"/>
                <a:ea typeface="Arial"/>
                <a:cs typeface="Arial"/>
                <a:sym typeface="Arial"/>
              </a:rPr>
              <a:t> </a:t>
            </a:r>
            <a:r>
              <a:rPr lang="en-US" sz="3600" dirty="0" err="1">
                <a:solidFill>
                  <a:srgbClr val="000000"/>
                </a:solidFill>
                <a:latin typeface="Arial"/>
                <a:ea typeface="Arial"/>
                <a:cs typeface="Arial"/>
                <a:sym typeface="Arial"/>
              </a:rPr>
              <a:t>kết</a:t>
            </a:r>
            <a:r>
              <a:rPr lang="en-US" sz="3600" dirty="0">
                <a:solidFill>
                  <a:srgbClr val="000000"/>
                </a:solidFill>
                <a:latin typeface="Arial"/>
                <a:ea typeface="Arial"/>
                <a:cs typeface="Arial"/>
                <a:sym typeface="Arial"/>
              </a:rPr>
              <a:t> </a:t>
            </a:r>
            <a:r>
              <a:rPr lang="en-US" sz="3600" dirty="0" err="1">
                <a:solidFill>
                  <a:srgbClr val="000000"/>
                </a:solidFill>
                <a:latin typeface="Arial"/>
                <a:ea typeface="Arial"/>
                <a:cs typeface="Arial"/>
                <a:sym typeface="Arial"/>
              </a:rPr>
              <a:t>thúc</a:t>
            </a:r>
            <a:r>
              <a:rPr lang="en-US" sz="3600" dirty="0">
                <a:solidFill>
                  <a:srgbClr val="000000"/>
                </a:solidFill>
                <a:latin typeface="Arial"/>
                <a:ea typeface="Arial"/>
                <a:cs typeface="Arial"/>
                <a:sym typeface="Arial"/>
              </a:rPr>
              <a:t> </a:t>
            </a:r>
            <a:r>
              <a:rPr lang="en-US" sz="3600" dirty="0" err="1">
                <a:solidFill>
                  <a:srgbClr val="000000"/>
                </a:solidFill>
                <a:latin typeface="Arial"/>
                <a:ea typeface="Arial"/>
                <a:cs typeface="Arial"/>
                <a:sym typeface="Arial"/>
              </a:rPr>
              <a:t>của</a:t>
            </a:r>
            <a:r>
              <a:rPr lang="en-US" sz="3600" dirty="0">
                <a:solidFill>
                  <a:srgbClr val="000000"/>
                </a:solidFill>
                <a:latin typeface="Arial"/>
                <a:ea typeface="Arial"/>
                <a:cs typeface="Arial"/>
                <a:sym typeface="Arial"/>
              </a:rPr>
              <a:t> </a:t>
            </a:r>
            <a:r>
              <a:rPr lang="en-US" sz="3600" dirty="0" err="1">
                <a:solidFill>
                  <a:srgbClr val="000000"/>
                </a:solidFill>
                <a:latin typeface="Arial"/>
                <a:ea typeface="Arial"/>
                <a:cs typeface="Arial"/>
                <a:sym typeface="Arial"/>
              </a:rPr>
              <a:t>tiến</a:t>
            </a:r>
            <a:r>
              <a:rPr lang="en-US" sz="3600" dirty="0">
                <a:solidFill>
                  <a:srgbClr val="000000"/>
                </a:solidFill>
                <a:latin typeface="Arial"/>
                <a:ea typeface="Arial"/>
                <a:cs typeface="Arial"/>
                <a:sym typeface="Arial"/>
              </a:rPr>
              <a:t> </a:t>
            </a:r>
            <a:r>
              <a:rPr lang="en-US" sz="3600" dirty="0" err="1">
                <a:solidFill>
                  <a:srgbClr val="000000"/>
                </a:solidFill>
                <a:latin typeface="Arial"/>
                <a:ea typeface="Arial"/>
                <a:cs typeface="Arial"/>
                <a:sym typeface="Arial"/>
              </a:rPr>
              <a:t>trình</a:t>
            </a:r>
            <a:r>
              <a:rPr lang="en-US" sz="3600" dirty="0">
                <a:solidFill>
                  <a:srgbClr val="000000"/>
                </a:solidFill>
                <a:latin typeface="Arial"/>
                <a:ea typeface="Arial"/>
                <a:cs typeface="Arial"/>
                <a:sym typeface="Arial"/>
              </a:rPr>
              <a:t> </a:t>
            </a:r>
            <a:r>
              <a:rPr lang="en-US" sz="3600" dirty="0" smtClean="0">
                <a:solidFill>
                  <a:srgbClr val="000000"/>
                </a:solidFill>
                <a:latin typeface="Arial"/>
                <a:ea typeface="Arial"/>
                <a:cs typeface="Arial"/>
                <a:sym typeface="Arial"/>
              </a:rPr>
              <a:t>con.</a:t>
            </a:r>
            <a:endParaRPr lang="en-US" sz="3600" dirty="0">
              <a:solidFill>
                <a:srgbClr val="000000"/>
              </a:solidFill>
              <a:latin typeface="Arial"/>
              <a:ea typeface="Arial"/>
              <a:cs typeface="Arial"/>
              <a:sym typeface="Arial"/>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9206494"/>
            <a:ext cx="18288000" cy="1080506"/>
            <a:chOff x="0" y="0"/>
            <a:chExt cx="24384000" cy="1440675"/>
          </a:xfrm>
        </p:grpSpPr>
        <p:sp>
          <p:nvSpPr>
            <p:cNvPr id="3" name="Freeform 3"/>
            <p:cNvSpPr/>
            <p:nvPr/>
          </p:nvSpPr>
          <p:spPr>
            <a:xfrm>
              <a:off x="0" y="0"/>
              <a:ext cx="24384000" cy="1440688"/>
            </a:xfrm>
            <a:custGeom>
              <a:avLst/>
              <a:gdLst/>
              <a:ahLst/>
              <a:cxnLst/>
              <a:rect l="l" t="t" r="r" b="b"/>
              <a:pathLst>
                <a:path w="24384000" h="1440688">
                  <a:moveTo>
                    <a:pt x="0" y="0"/>
                  </a:moveTo>
                  <a:lnTo>
                    <a:pt x="24384000" y="0"/>
                  </a:lnTo>
                  <a:lnTo>
                    <a:pt x="24384000" y="1440688"/>
                  </a:lnTo>
                  <a:lnTo>
                    <a:pt x="0" y="1440688"/>
                  </a:lnTo>
                  <a:lnTo>
                    <a:pt x="0" y="0"/>
                  </a:lnTo>
                  <a:close/>
                </a:path>
              </a:pathLst>
            </a:custGeom>
            <a:blipFill>
              <a:blip r:embed="rId3"/>
              <a:stretch>
                <a:fillRect t="-364" b="-364"/>
              </a:stretch>
            </a:blipFill>
          </p:spPr>
        </p:sp>
      </p:grpSp>
      <p:grpSp>
        <p:nvGrpSpPr>
          <p:cNvPr id="4" name="Group 4"/>
          <p:cNvGrpSpPr/>
          <p:nvPr/>
        </p:nvGrpSpPr>
        <p:grpSpPr>
          <a:xfrm>
            <a:off x="15473315" y="9370285"/>
            <a:ext cx="1741541" cy="745693"/>
            <a:chOff x="0" y="0"/>
            <a:chExt cx="2322055" cy="994258"/>
          </a:xfrm>
        </p:grpSpPr>
        <p:sp>
          <p:nvSpPr>
            <p:cNvPr id="5" name="Freeform 5"/>
            <p:cNvSpPr/>
            <p:nvPr/>
          </p:nvSpPr>
          <p:spPr>
            <a:xfrm>
              <a:off x="0" y="0"/>
              <a:ext cx="2322068" cy="994283"/>
            </a:xfrm>
            <a:custGeom>
              <a:avLst/>
              <a:gdLst/>
              <a:ahLst/>
              <a:cxnLst/>
              <a:rect l="l" t="t" r="r" b="b"/>
              <a:pathLst>
                <a:path w="2322068" h="994283">
                  <a:moveTo>
                    <a:pt x="0" y="0"/>
                  </a:moveTo>
                  <a:lnTo>
                    <a:pt x="2322068" y="0"/>
                  </a:lnTo>
                  <a:lnTo>
                    <a:pt x="2322068" y="994283"/>
                  </a:lnTo>
                  <a:lnTo>
                    <a:pt x="0" y="994283"/>
                  </a:lnTo>
                  <a:lnTo>
                    <a:pt x="0" y="0"/>
                  </a:lnTo>
                  <a:close/>
                </a:path>
              </a:pathLst>
            </a:custGeom>
            <a:blipFill>
              <a:blip r:embed="rId4"/>
              <a:stretch>
                <a:fillRect b="-1456"/>
              </a:stretch>
            </a:blipFill>
          </p:spPr>
        </p:sp>
      </p:grpSp>
      <p:grpSp>
        <p:nvGrpSpPr>
          <p:cNvPr id="6" name="Group 6"/>
          <p:cNvGrpSpPr/>
          <p:nvPr/>
        </p:nvGrpSpPr>
        <p:grpSpPr>
          <a:xfrm>
            <a:off x="9981438" y="9581550"/>
            <a:ext cx="4114800" cy="392420"/>
            <a:chOff x="0" y="0"/>
            <a:chExt cx="5486400" cy="523227"/>
          </a:xfrm>
        </p:grpSpPr>
        <p:sp>
          <p:nvSpPr>
            <p:cNvPr id="7" name="Freeform 7"/>
            <p:cNvSpPr/>
            <p:nvPr/>
          </p:nvSpPr>
          <p:spPr>
            <a:xfrm>
              <a:off x="0" y="0"/>
              <a:ext cx="5486400" cy="523222"/>
            </a:xfrm>
            <a:custGeom>
              <a:avLst/>
              <a:gdLst/>
              <a:ahLst/>
              <a:cxnLst/>
              <a:rect l="l" t="t" r="r" b="b"/>
              <a:pathLst>
                <a:path w="5486400" h="523222">
                  <a:moveTo>
                    <a:pt x="0" y="0"/>
                  </a:moveTo>
                  <a:lnTo>
                    <a:pt x="5486400" y="0"/>
                  </a:lnTo>
                  <a:lnTo>
                    <a:pt x="5486400" y="523222"/>
                  </a:lnTo>
                  <a:lnTo>
                    <a:pt x="0" y="523222"/>
                  </a:lnTo>
                  <a:close/>
                </a:path>
              </a:pathLst>
            </a:custGeom>
            <a:blipFill>
              <a:blip r:embed="rId5">
                <a:alphaModFix amt="0"/>
              </a:blip>
              <a:stretch>
                <a:fillRect t="-154315" b="-154316"/>
              </a:stretch>
            </a:blipFill>
          </p:spPr>
        </p:sp>
        <p:sp>
          <p:nvSpPr>
            <p:cNvPr id="8" name="TextBox 8"/>
            <p:cNvSpPr txBox="1"/>
            <p:nvPr/>
          </p:nvSpPr>
          <p:spPr>
            <a:xfrm>
              <a:off x="0" y="-9525"/>
              <a:ext cx="5486400" cy="532752"/>
            </a:xfrm>
            <a:prstGeom prst="rect">
              <a:avLst/>
            </a:prstGeom>
          </p:spPr>
          <p:txBody>
            <a:bodyPr lIns="0" tIns="0" rIns="0" bIns="0" rtlCol="0" anchor="ctr"/>
            <a:lstStyle/>
            <a:p>
              <a:pPr algn="r">
                <a:lnSpc>
                  <a:spcPts val="2520"/>
                </a:lnSpc>
              </a:pPr>
              <a:r>
                <a:rPr lang="en-US" sz="2100">
                  <a:solidFill>
                    <a:srgbClr val="BFBFBF"/>
                  </a:solidFill>
                  <a:latin typeface="Roboto"/>
                  <a:ea typeface="Roboto"/>
                  <a:cs typeface="Roboto"/>
                  <a:sym typeface="Roboto"/>
                </a:rPr>
                <a:t>‹#›</a:t>
              </a:r>
            </a:p>
          </p:txBody>
        </p:sp>
      </p:grpSp>
      <p:grpSp>
        <p:nvGrpSpPr>
          <p:cNvPr id="9" name="Group 9"/>
          <p:cNvGrpSpPr/>
          <p:nvPr/>
        </p:nvGrpSpPr>
        <p:grpSpPr>
          <a:xfrm>
            <a:off x="451542" y="300771"/>
            <a:ext cx="15770323" cy="767782"/>
            <a:chOff x="0" y="0"/>
            <a:chExt cx="21027098" cy="1023710"/>
          </a:xfrm>
        </p:grpSpPr>
        <p:sp>
          <p:nvSpPr>
            <p:cNvPr id="10" name="Freeform 10"/>
            <p:cNvSpPr/>
            <p:nvPr/>
          </p:nvSpPr>
          <p:spPr>
            <a:xfrm>
              <a:off x="0" y="0"/>
              <a:ext cx="21027095" cy="1023711"/>
            </a:xfrm>
            <a:custGeom>
              <a:avLst/>
              <a:gdLst/>
              <a:ahLst/>
              <a:cxnLst/>
              <a:rect l="l" t="t" r="r" b="b"/>
              <a:pathLst>
                <a:path w="21027095" h="1023711">
                  <a:moveTo>
                    <a:pt x="0" y="0"/>
                  </a:moveTo>
                  <a:lnTo>
                    <a:pt x="21027095" y="0"/>
                  </a:lnTo>
                  <a:lnTo>
                    <a:pt x="21027095" y="1023711"/>
                  </a:lnTo>
                  <a:lnTo>
                    <a:pt x="0" y="1023711"/>
                  </a:lnTo>
                  <a:close/>
                </a:path>
              </a:pathLst>
            </a:custGeom>
            <a:blipFill>
              <a:blip r:embed="rId5">
                <a:alphaModFix amt="0"/>
              </a:blip>
              <a:stretch>
                <a:fillRect t="-350224" b="-350223"/>
              </a:stretch>
            </a:blipFill>
          </p:spPr>
        </p:sp>
        <p:sp>
          <p:nvSpPr>
            <p:cNvPr id="11" name="TextBox 11"/>
            <p:cNvSpPr txBox="1"/>
            <p:nvPr/>
          </p:nvSpPr>
          <p:spPr>
            <a:xfrm>
              <a:off x="0" y="19050"/>
              <a:ext cx="21027098" cy="1004660"/>
            </a:xfrm>
            <a:prstGeom prst="rect">
              <a:avLst/>
            </a:prstGeom>
          </p:spPr>
          <p:txBody>
            <a:bodyPr lIns="0" tIns="0" rIns="0" bIns="0" rtlCol="0" anchor="b"/>
            <a:lstStyle/>
            <a:p>
              <a:pPr algn="l">
                <a:lnSpc>
                  <a:spcPts val="3888"/>
                </a:lnSpc>
              </a:pPr>
              <a:r>
                <a:rPr lang="en-US" sz="3600">
                  <a:solidFill>
                    <a:srgbClr val="EE0033"/>
                  </a:solidFill>
                  <a:latin typeface="Arial"/>
                  <a:ea typeface="Arial"/>
                  <a:cs typeface="Arial"/>
                  <a:sym typeface="Arial"/>
                </a:rPr>
                <a:t>I. PROCESS:</a:t>
              </a:r>
            </a:p>
          </p:txBody>
        </p:sp>
      </p:grpSp>
      <p:sp>
        <p:nvSpPr>
          <p:cNvPr id="12" name="TextBox 12"/>
          <p:cNvSpPr txBox="1"/>
          <p:nvPr/>
        </p:nvSpPr>
        <p:spPr>
          <a:xfrm>
            <a:off x="840743" y="9548498"/>
            <a:ext cx="7754617" cy="323850"/>
          </a:xfrm>
          <a:prstGeom prst="rect">
            <a:avLst/>
          </a:prstGeom>
        </p:spPr>
        <p:txBody>
          <a:bodyPr lIns="0" tIns="0" rIns="0" bIns="0" rtlCol="0" anchor="t">
            <a:spAutoFit/>
          </a:bodyPr>
          <a:lstStyle/>
          <a:p>
            <a:pPr algn="l">
              <a:lnSpc>
                <a:spcPts val="2520"/>
              </a:lnSpc>
            </a:pPr>
            <a:r>
              <a:rPr lang="en-US" sz="2100" spc="450">
                <a:solidFill>
                  <a:srgbClr val="BFBFBF"/>
                </a:solidFill>
                <a:latin typeface="Arial"/>
                <a:ea typeface="Arial"/>
                <a:cs typeface="Arial"/>
                <a:sym typeface="Arial"/>
              </a:rPr>
              <a:t>www.viettelhightech.vn </a:t>
            </a:r>
          </a:p>
        </p:txBody>
      </p:sp>
      <p:sp>
        <p:nvSpPr>
          <p:cNvPr id="13" name="TextBox 13"/>
          <p:cNvSpPr txBox="1"/>
          <p:nvPr/>
        </p:nvSpPr>
        <p:spPr>
          <a:xfrm>
            <a:off x="451542" y="1237783"/>
            <a:ext cx="9482967" cy="521589"/>
          </a:xfrm>
          <a:prstGeom prst="rect">
            <a:avLst/>
          </a:prstGeom>
        </p:spPr>
        <p:txBody>
          <a:bodyPr lIns="0" tIns="0" rIns="0" bIns="0" rtlCol="0" anchor="t">
            <a:spAutoFit/>
          </a:bodyPr>
          <a:lstStyle/>
          <a:p>
            <a:pPr algn="l">
              <a:lnSpc>
                <a:spcPts val="3888"/>
              </a:lnSpc>
              <a:spcBef>
                <a:spcPct val="0"/>
              </a:spcBef>
            </a:pPr>
            <a:r>
              <a:rPr lang="en-US" sz="3600">
                <a:solidFill>
                  <a:srgbClr val="EE0033"/>
                </a:solidFill>
                <a:latin typeface="Arial"/>
                <a:ea typeface="Arial"/>
                <a:cs typeface="Arial"/>
                <a:sym typeface="Arial"/>
              </a:rPr>
              <a:t>Tổng quan về fork(), exit(), wait() và execve():</a:t>
            </a:r>
          </a:p>
        </p:txBody>
      </p:sp>
      <p:sp>
        <p:nvSpPr>
          <p:cNvPr id="14" name="TextBox 14"/>
          <p:cNvSpPr txBox="1"/>
          <p:nvPr/>
        </p:nvSpPr>
        <p:spPr>
          <a:xfrm>
            <a:off x="597721" y="1930822"/>
            <a:ext cx="14025306" cy="1007364"/>
          </a:xfrm>
          <a:prstGeom prst="rect">
            <a:avLst/>
          </a:prstGeom>
        </p:spPr>
        <p:txBody>
          <a:bodyPr lIns="0" tIns="0" rIns="0" bIns="0" rtlCol="0" anchor="t">
            <a:spAutoFit/>
          </a:bodyPr>
          <a:lstStyle/>
          <a:p>
            <a:pPr algn="l">
              <a:lnSpc>
                <a:spcPts val="3888"/>
              </a:lnSpc>
              <a:spcBef>
                <a:spcPct val="0"/>
              </a:spcBef>
            </a:pPr>
            <a:r>
              <a:rPr lang="en-US" sz="3600">
                <a:solidFill>
                  <a:srgbClr val="000000"/>
                </a:solidFill>
                <a:latin typeface="Arial"/>
                <a:ea typeface="Arial"/>
                <a:cs typeface="Arial"/>
                <a:sym typeface="Arial"/>
              </a:rPr>
              <a:t>execve(pathname, argv, envp) nạp một chương trình mới vào không gian nhớ của tiến trình hiện tại</a:t>
            </a:r>
          </a:p>
        </p:txBody>
      </p:sp>
      <p:sp>
        <p:nvSpPr>
          <p:cNvPr id="15" name="TextBox 15"/>
          <p:cNvSpPr txBox="1"/>
          <p:nvPr/>
        </p:nvSpPr>
        <p:spPr>
          <a:xfrm>
            <a:off x="597721" y="3237367"/>
            <a:ext cx="13134677" cy="3000821"/>
          </a:xfrm>
          <a:prstGeom prst="rect">
            <a:avLst/>
          </a:prstGeom>
        </p:spPr>
        <p:txBody>
          <a:bodyPr lIns="0" tIns="0" rIns="0" bIns="0" rtlCol="0" anchor="t">
            <a:spAutoFit/>
          </a:bodyPr>
          <a:lstStyle/>
          <a:p>
            <a:pPr algn="ctr">
              <a:lnSpc>
                <a:spcPts val="3888"/>
              </a:lnSpc>
              <a:spcBef>
                <a:spcPct val="0"/>
              </a:spcBef>
            </a:pPr>
            <a:r>
              <a:rPr lang="en-US" sz="3600" dirty="0" err="1">
                <a:solidFill>
                  <a:srgbClr val="000000"/>
                </a:solidFill>
                <a:latin typeface="Arial"/>
                <a:ea typeface="Arial"/>
                <a:cs typeface="Arial"/>
                <a:sym typeface="Arial"/>
              </a:rPr>
              <a:t>Phần</a:t>
            </a:r>
            <a:r>
              <a:rPr lang="en-US" sz="3600" dirty="0">
                <a:solidFill>
                  <a:srgbClr val="000000"/>
                </a:solidFill>
                <a:latin typeface="Arial"/>
                <a:ea typeface="Arial"/>
                <a:cs typeface="Arial"/>
                <a:sym typeface="Arial"/>
              </a:rPr>
              <a:t> </a:t>
            </a:r>
            <a:r>
              <a:rPr lang="en-US" sz="3600" dirty="0" err="1">
                <a:solidFill>
                  <a:srgbClr val="000000"/>
                </a:solidFill>
                <a:latin typeface="Arial"/>
                <a:ea typeface="Arial"/>
                <a:cs typeface="Arial"/>
                <a:sym typeface="Arial"/>
              </a:rPr>
              <a:t>mã</a:t>
            </a:r>
            <a:r>
              <a:rPr lang="en-US" sz="3600" dirty="0">
                <a:solidFill>
                  <a:srgbClr val="000000"/>
                </a:solidFill>
                <a:latin typeface="Arial"/>
                <a:ea typeface="Arial"/>
                <a:cs typeface="Arial"/>
                <a:sym typeface="Arial"/>
              </a:rPr>
              <a:t> </a:t>
            </a:r>
            <a:r>
              <a:rPr lang="en-US" sz="3600" dirty="0" err="1">
                <a:solidFill>
                  <a:srgbClr val="000000"/>
                </a:solidFill>
                <a:latin typeface="Arial"/>
                <a:ea typeface="Arial"/>
                <a:cs typeface="Arial"/>
                <a:sym typeface="Arial"/>
              </a:rPr>
              <a:t>chương</a:t>
            </a:r>
            <a:r>
              <a:rPr lang="en-US" sz="3600" dirty="0">
                <a:solidFill>
                  <a:srgbClr val="000000"/>
                </a:solidFill>
                <a:latin typeface="Arial"/>
                <a:ea typeface="Arial"/>
                <a:cs typeface="Arial"/>
                <a:sym typeface="Arial"/>
              </a:rPr>
              <a:t> </a:t>
            </a:r>
            <a:r>
              <a:rPr lang="en-US" sz="3600" dirty="0" err="1">
                <a:solidFill>
                  <a:srgbClr val="000000"/>
                </a:solidFill>
                <a:latin typeface="Arial"/>
                <a:ea typeface="Arial"/>
                <a:cs typeface="Arial"/>
                <a:sym typeface="Arial"/>
              </a:rPr>
              <a:t>trình</a:t>
            </a:r>
            <a:r>
              <a:rPr lang="en-US" sz="3600" dirty="0">
                <a:solidFill>
                  <a:srgbClr val="000000"/>
                </a:solidFill>
                <a:latin typeface="Arial"/>
                <a:ea typeface="Arial"/>
                <a:cs typeface="Arial"/>
                <a:sym typeface="Arial"/>
              </a:rPr>
              <a:t> </a:t>
            </a:r>
            <a:r>
              <a:rPr lang="en-US" sz="3600" dirty="0" err="1">
                <a:solidFill>
                  <a:srgbClr val="000000"/>
                </a:solidFill>
                <a:latin typeface="Arial"/>
                <a:ea typeface="Arial"/>
                <a:cs typeface="Arial"/>
                <a:sym typeface="Arial"/>
              </a:rPr>
              <a:t>cũ</a:t>
            </a:r>
            <a:r>
              <a:rPr lang="en-US" sz="3600" dirty="0">
                <a:solidFill>
                  <a:srgbClr val="000000"/>
                </a:solidFill>
                <a:latin typeface="Arial"/>
                <a:ea typeface="Arial"/>
                <a:cs typeface="Arial"/>
                <a:sym typeface="Arial"/>
              </a:rPr>
              <a:t> (text segment) </a:t>
            </a:r>
            <a:r>
              <a:rPr lang="en-US" sz="3600" dirty="0" err="1">
                <a:solidFill>
                  <a:srgbClr val="000000"/>
                </a:solidFill>
                <a:latin typeface="Arial"/>
                <a:ea typeface="Arial"/>
                <a:cs typeface="Arial"/>
                <a:sym typeface="Arial"/>
              </a:rPr>
              <a:t>sẽ</a:t>
            </a:r>
            <a:r>
              <a:rPr lang="en-US" sz="3600" dirty="0">
                <a:solidFill>
                  <a:srgbClr val="000000"/>
                </a:solidFill>
                <a:latin typeface="Arial"/>
                <a:ea typeface="Arial"/>
                <a:cs typeface="Arial"/>
                <a:sym typeface="Arial"/>
              </a:rPr>
              <a:t> </a:t>
            </a:r>
            <a:r>
              <a:rPr lang="en-US" sz="3600" dirty="0" err="1">
                <a:solidFill>
                  <a:srgbClr val="000000"/>
                </a:solidFill>
                <a:latin typeface="Arial"/>
                <a:ea typeface="Arial"/>
                <a:cs typeface="Arial"/>
                <a:sym typeface="Arial"/>
              </a:rPr>
              <a:t>bị</a:t>
            </a:r>
            <a:r>
              <a:rPr lang="en-US" sz="3600" dirty="0">
                <a:solidFill>
                  <a:srgbClr val="000000"/>
                </a:solidFill>
                <a:latin typeface="Arial"/>
                <a:ea typeface="Arial"/>
                <a:cs typeface="Arial"/>
                <a:sym typeface="Arial"/>
              </a:rPr>
              <a:t> </a:t>
            </a:r>
            <a:r>
              <a:rPr lang="en-US" sz="3600" dirty="0" err="1">
                <a:solidFill>
                  <a:srgbClr val="000000"/>
                </a:solidFill>
                <a:latin typeface="Arial"/>
                <a:ea typeface="Arial"/>
                <a:cs typeface="Arial"/>
                <a:sym typeface="Arial"/>
              </a:rPr>
              <a:t>loại</a:t>
            </a:r>
            <a:r>
              <a:rPr lang="en-US" sz="3600" dirty="0">
                <a:solidFill>
                  <a:srgbClr val="000000"/>
                </a:solidFill>
                <a:latin typeface="Arial"/>
                <a:ea typeface="Arial"/>
                <a:cs typeface="Arial"/>
                <a:sym typeface="Arial"/>
              </a:rPr>
              <a:t> </a:t>
            </a:r>
            <a:r>
              <a:rPr lang="en-US" sz="3600" dirty="0" err="1">
                <a:solidFill>
                  <a:srgbClr val="000000"/>
                </a:solidFill>
                <a:latin typeface="Arial"/>
                <a:ea typeface="Arial"/>
                <a:cs typeface="Arial"/>
                <a:sym typeface="Arial"/>
              </a:rPr>
              <a:t>bỏ</a:t>
            </a:r>
            <a:r>
              <a:rPr lang="en-US" sz="3600" dirty="0">
                <a:solidFill>
                  <a:srgbClr val="000000"/>
                </a:solidFill>
                <a:latin typeface="Arial"/>
                <a:ea typeface="Arial"/>
                <a:cs typeface="Arial"/>
                <a:sym typeface="Arial"/>
              </a:rPr>
              <a:t>. </a:t>
            </a:r>
            <a:r>
              <a:rPr lang="en-US" sz="3600" dirty="0" err="1">
                <a:solidFill>
                  <a:srgbClr val="000000"/>
                </a:solidFill>
                <a:latin typeface="Arial"/>
                <a:ea typeface="Arial"/>
                <a:cs typeface="Arial"/>
                <a:sym typeface="Arial"/>
              </a:rPr>
              <a:t>Các</a:t>
            </a:r>
            <a:r>
              <a:rPr lang="en-US" sz="3600" dirty="0">
                <a:solidFill>
                  <a:srgbClr val="000000"/>
                </a:solidFill>
                <a:latin typeface="Arial"/>
                <a:ea typeface="Arial"/>
                <a:cs typeface="Arial"/>
                <a:sym typeface="Arial"/>
              </a:rPr>
              <a:t> </a:t>
            </a:r>
            <a:r>
              <a:rPr lang="en-US" sz="3600" dirty="0" err="1">
                <a:solidFill>
                  <a:srgbClr val="000000"/>
                </a:solidFill>
                <a:latin typeface="Arial"/>
                <a:ea typeface="Arial"/>
                <a:cs typeface="Arial"/>
                <a:sym typeface="Arial"/>
              </a:rPr>
              <a:t>vùng</a:t>
            </a:r>
            <a:r>
              <a:rPr lang="en-US" sz="3600" dirty="0">
                <a:solidFill>
                  <a:srgbClr val="000000"/>
                </a:solidFill>
                <a:latin typeface="Arial"/>
                <a:ea typeface="Arial"/>
                <a:cs typeface="Arial"/>
                <a:sym typeface="Arial"/>
              </a:rPr>
              <a:t>:</a:t>
            </a:r>
          </a:p>
          <a:p>
            <a:pPr marL="777240" lvl="1" indent="-388620" algn="l">
              <a:lnSpc>
                <a:spcPts val="3888"/>
              </a:lnSpc>
              <a:spcBef>
                <a:spcPct val="0"/>
              </a:spcBef>
              <a:buFont typeface="Arial"/>
              <a:buChar char="•"/>
            </a:pPr>
            <a:r>
              <a:rPr lang="en-US" sz="3600" dirty="0">
                <a:solidFill>
                  <a:srgbClr val="000000"/>
                </a:solidFill>
                <a:latin typeface="Arial"/>
                <a:ea typeface="Arial"/>
                <a:cs typeface="Arial"/>
                <a:sym typeface="Arial"/>
              </a:rPr>
              <a:t>stack </a:t>
            </a:r>
          </a:p>
          <a:p>
            <a:pPr marL="777240" lvl="1" indent="-388620" algn="l">
              <a:lnSpc>
                <a:spcPts val="3888"/>
              </a:lnSpc>
              <a:spcBef>
                <a:spcPct val="0"/>
              </a:spcBef>
              <a:buFont typeface="Arial"/>
              <a:buChar char="•"/>
            </a:pPr>
            <a:r>
              <a:rPr lang="en-US" sz="3600" dirty="0">
                <a:solidFill>
                  <a:srgbClr val="000000"/>
                </a:solidFill>
                <a:latin typeface="Arial"/>
                <a:ea typeface="Arial"/>
                <a:cs typeface="Arial"/>
                <a:sym typeface="Arial"/>
              </a:rPr>
              <a:t>data </a:t>
            </a:r>
          </a:p>
          <a:p>
            <a:pPr marL="777240" lvl="1" indent="-388620" algn="l">
              <a:lnSpc>
                <a:spcPts val="3888"/>
              </a:lnSpc>
              <a:spcBef>
                <a:spcPct val="0"/>
              </a:spcBef>
              <a:buFont typeface="Arial"/>
              <a:buChar char="•"/>
            </a:pPr>
            <a:r>
              <a:rPr lang="en-US" sz="3600" dirty="0">
                <a:solidFill>
                  <a:srgbClr val="000000"/>
                </a:solidFill>
                <a:latin typeface="Arial"/>
                <a:ea typeface="Arial"/>
                <a:cs typeface="Arial"/>
                <a:sym typeface="Arial"/>
              </a:rPr>
              <a:t>heap </a:t>
            </a:r>
            <a:endParaRPr lang="en-US" sz="3600" dirty="0" smtClean="0">
              <a:solidFill>
                <a:srgbClr val="000000"/>
              </a:solidFill>
              <a:latin typeface="Arial"/>
              <a:ea typeface="Arial"/>
              <a:cs typeface="Arial"/>
              <a:sym typeface="Arial"/>
            </a:endParaRPr>
          </a:p>
          <a:p>
            <a:pPr marL="777240" lvl="1" indent="-388620" algn="l">
              <a:lnSpc>
                <a:spcPts val="3888"/>
              </a:lnSpc>
              <a:spcBef>
                <a:spcPct val="0"/>
              </a:spcBef>
              <a:buFont typeface="Arial"/>
              <a:buChar char="•"/>
            </a:pPr>
            <a:r>
              <a:rPr lang="en-US" sz="3600" dirty="0" smtClean="0">
                <a:solidFill>
                  <a:srgbClr val="000000"/>
                </a:solidFill>
                <a:latin typeface="Arial"/>
                <a:ea typeface="Arial"/>
                <a:cs typeface="Arial"/>
                <a:sym typeface="Arial"/>
              </a:rPr>
              <a:t>argument</a:t>
            </a:r>
            <a:endParaRPr lang="en-US" sz="3600" dirty="0">
              <a:solidFill>
                <a:srgbClr val="000000"/>
              </a:solidFill>
              <a:latin typeface="Arial"/>
              <a:ea typeface="Arial"/>
              <a:cs typeface="Arial"/>
              <a:sym typeface="Arial"/>
            </a:endParaRPr>
          </a:p>
          <a:p>
            <a:pPr algn="l">
              <a:lnSpc>
                <a:spcPts val="3888"/>
              </a:lnSpc>
              <a:spcBef>
                <a:spcPct val="0"/>
              </a:spcBef>
            </a:pPr>
            <a:r>
              <a:rPr lang="en-US" sz="3600" dirty="0" err="1">
                <a:solidFill>
                  <a:srgbClr val="000000"/>
                </a:solidFill>
                <a:latin typeface="Arial"/>
                <a:ea typeface="Arial"/>
                <a:cs typeface="Arial"/>
                <a:sym typeface="Arial"/>
              </a:rPr>
              <a:t>sẽ</a:t>
            </a:r>
            <a:r>
              <a:rPr lang="en-US" sz="3600" dirty="0">
                <a:solidFill>
                  <a:srgbClr val="000000"/>
                </a:solidFill>
                <a:latin typeface="Arial"/>
                <a:ea typeface="Arial"/>
                <a:cs typeface="Arial"/>
                <a:sym typeface="Arial"/>
              </a:rPr>
              <a:t> </a:t>
            </a:r>
            <a:r>
              <a:rPr lang="en-US" sz="3600" dirty="0" err="1">
                <a:solidFill>
                  <a:srgbClr val="000000"/>
                </a:solidFill>
                <a:latin typeface="Arial"/>
                <a:ea typeface="Arial"/>
                <a:cs typeface="Arial"/>
                <a:sym typeface="Arial"/>
              </a:rPr>
              <a:t>được</a:t>
            </a:r>
            <a:r>
              <a:rPr lang="en-US" sz="3600" dirty="0">
                <a:solidFill>
                  <a:srgbClr val="000000"/>
                </a:solidFill>
                <a:latin typeface="Arial"/>
                <a:ea typeface="Arial"/>
                <a:cs typeface="Arial"/>
                <a:sym typeface="Arial"/>
              </a:rPr>
              <a:t> </a:t>
            </a:r>
            <a:r>
              <a:rPr lang="en-US" sz="3600" dirty="0" err="1">
                <a:solidFill>
                  <a:srgbClr val="000000"/>
                </a:solidFill>
                <a:latin typeface="Arial"/>
                <a:ea typeface="Arial"/>
                <a:cs typeface="Arial"/>
                <a:sym typeface="Arial"/>
              </a:rPr>
              <a:t>tạo</a:t>
            </a:r>
            <a:r>
              <a:rPr lang="en-US" sz="3600" dirty="0">
                <a:solidFill>
                  <a:srgbClr val="000000"/>
                </a:solidFill>
                <a:latin typeface="Arial"/>
                <a:ea typeface="Arial"/>
                <a:cs typeface="Arial"/>
                <a:sym typeface="Arial"/>
              </a:rPr>
              <a:t> </a:t>
            </a:r>
            <a:r>
              <a:rPr lang="en-US" sz="3600" dirty="0" err="1">
                <a:solidFill>
                  <a:srgbClr val="000000"/>
                </a:solidFill>
                <a:latin typeface="Arial"/>
                <a:ea typeface="Arial"/>
                <a:cs typeface="Arial"/>
                <a:sym typeface="Arial"/>
              </a:rPr>
              <a:t>mới</a:t>
            </a:r>
            <a:r>
              <a:rPr lang="en-US" sz="3600" dirty="0">
                <a:solidFill>
                  <a:srgbClr val="000000"/>
                </a:solidFill>
                <a:latin typeface="Arial"/>
                <a:ea typeface="Arial"/>
                <a:cs typeface="Arial"/>
                <a:sym typeface="Arial"/>
              </a:rPr>
              <a:t> </a:t>
            </a:r>
            <a:r>
              <a:rPr lang="en-US" sz="3600" dirty="0" err="1">
                <a:solidFill>
                  <a:srgbClr val="000000"/>
                </a:solidFill>
                <a:latin typeface="Arial"/>
                <a:ea typeface="Arial"/>
                <a:cs typeface="Arial"/>
                <a:sym typeface="Arial"/>
              </a:rPr>
              <a:t>hoàn</a:t>
            </a:r>
            <a:r>
              <a:rPr lang="en-US" sz="3600" dirty="0">
                <a:solidFill>
                  <a:srgbClr val="000000"/>
                </a:solidFill>
                <a:latin typeface="Arial"/>
                <a:ea typeface="Arial"/>
                <a:cs typeface="Arial"/>
                <a:sym typeface="Arial"/>
              </a:rPr>
              <a:t> </a:t>
            </a:r>
            <a:r>
              <a:rPr lang="en-US" sz="3600" dirty="0" err="1">
                <a:solidFill>
                  <a:srgbClr val="000000"/>
                </a:solidFill>
                <a:latin typeface="Arial"/>
                <a:ea typeface="Arial"/>
                <a:cs typeface="Arial"/>
                <a:sym typeface="Arial"/>
              </a:rPr>
              <a:t>toàn</a:t>
            </a:r>
            <a:r>
              <a:rPr lang="en-US" sz="3600" dirty="0">
                <a:solidFill>
                  <a:srgbClr val="000000"/>
                </a:solidFill>
                <a:latin typeface="Arial"/>
                <a:ea typeface="Arial"/>
                <a:cs typeface="Arial"/>
                <a:sym typeface="Arial"/>
              </a:rPr>
              <a:t> </a:t>
            </a:r>
            <a:r>
              <a:rPr lang="en-US" sz="3600" dirty="0" err="1">
                <a:solidFill>
                  <a:srgbClr val="000000"/>
                </a:solidFill>
                <a:latin typeface="Arial"/>
                <a:ea typeface="Arial"/>
                <a:cs typeface="Arial"/>
                <a:sym typeface="Arial"/>
              </a:rPr>
              <a:t>cho</a:t>
            </a:r>
            <a:r>
              <a:rPr lang="en-US" sz="3600" dirty="0">
                <a:solidFill>
                  <a:srgbClr val="000000"/>
                </a:solidFill>
                <a:latin typeface="Arial"/>
                <a:ea typeface="Arial"/>
                <a:cs typeface="Arial"/>
                <a:sym typeface="Arial"/>
              </a:rPr>
              <a:t> </a:t>
            </a:r>
            <a:r>
              <a:rPr lang="en-US" sz="3600" dirty="0" err="1">
                <a:solidFill>
                  <a:srgbClr val="000000"/>
                </a:solidFill>
                <a:latin typeface="Arial"/>
                <a:ea typeface="Arial"/>
                <a:cs typeface="Arial"/>
                <a:sym typeface="Arial"/>
              </a:rPr>
              <a:t>chương</a:t>
            </a:r>
            <a:r>
              <a:rPr lang="en-US" sz="3600" dirty="0">
                <a:solidFill>
                  <a:srgbClr val="000000"/>
                </a:solidFill>
                <a:latin typeface="Arial"/>
                <a:ea typeface="Arial"/>
                <a:cs typeface="Arial"/>
                <a:sym typeface="Arial"/>
              </a:rPr>
              <a:t> </a:t>
            </a:r>
            <a:r>
              <a:rPr lang="en-US" sz="3600" dirty="0" err="1">
                <a:solidFill>
                  <a:srgbClr val="000000"/>
                </a:solidFill>
                <a:latin typeface="Arial"/>
                <a:ea typeface="Arial"/>
                <a:cs typeface="Arial"/>
                <a:sym typeface="Arial"/>
              </a:rPr>
              <a:t>trình</a:t>
            </a:r>
            <a:r>
              <a:rPr lang="en-US" sz="3600" dirty="0">
                <a:solidFill>
                  <a:srgbClr val="000000"/>
                </a:solidFill>
                <a:latin typeface="Arial"/>
                <a:ea typeface="Arial"/>
                <a:cs typeface="Arial"/>
                <a:sym typeface="Arial"/>
              </a:rPr>
              <a:t> </a:t>
            </a:r>
            <a:r>
              <a:rPr lang="en-US" sz="3600" dirty="0" err="1">
                <a:solidFill>
                  <a:srgbClr val="000000"/>
                </a:solidFill>
                <a:latin typeface="Arial"/>
                <a:ea typeface="Arial"/>
                <a:cs typeface="Arial"/>
                <a:sym typeface="Arial"/>
              </a:rPr>
              <a:t>mới</a:t>
            </a:r>
            <a:r>
              <a:rPr lang="en-US" sz="3600" dirty="0">
                <a:solidFill>
                  <a:srgbClr val="000000"/>
                </a:solidFill>
                <a:latin typeface="Arial"/>
                <a:ea typeface="Arial"/>
                <a:cs typeface="Arial"/>
                <a:sym typeface="Arial"/>
              </a:rPr>
              <a:t>.</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9206494"/>
            <a:ext cx="18288000" cy="1080506"/>
            <a:chOff x="0" y="0"/>
            <a:chExt cx="24384000" cy="1440675"/>
          </a:xfrm>
        </p:grpSpPr>
        <p:sp>
          <p:nvSpPr>
            <p:cNvPr id="3" name="Freeform 3"/>
            <p:cNvSpPr/>
            <p:nvPr/>
          </p:nvSpPr>
          <p:spPr>
            <a:xfrm>
              <a:off x="0" y="0"/>
              <a:ext cx="24384000" cy="1440688"/>
            </a:xfrm>
            <a:custGeom>
              <a:avLst/>
              <a:gdLst/>
              <a:ahLst/>
              <a:cxnLst/>
              <a:rect l="l" t="t" r="r" b="b"/>
              <a:pathLst>
                <a:path w="24384000" h="1440688">
                  <a:moveTo>
                    <a:pt x="0" y="0"/>
                  </a:moveTo>
                  <a:lnTo>
                    <a:pt x="24384000" y="0"/>
                  </a:lnTo>
                  <a:lnTo>
                    <a:pt x="24384000" y="1440688"/>
                  </a:lnTo>
                  <a:lnTo>
                    <a:pt x="0" y="1440688"/>
                  </a:lnTo>
                  <a:lnTo>
                    <a:pt x="0" y="0"/>
                  </a:lnTo>
                  <a:close/>
                </a:path>
              </a:pathLst>
            </a:custGeom>
            <a:blipFill>
              <a:blip r:embed="rId3"/>
              <a:stretch>
                <a:fillRect t="-364" b="-364"/>
              </a:stretch>
            </a:blipFill>
          </p:spPr>
        </p:sp>
      </p:grpSp>
      <p:grpSp>
        <p:nvGrpSpPr>
          <p:cNvPr id="4" name="Group 4"/>
          <p:cNvGrpSpPr/>
          <p:nvPr/>
        </p:nvGrpSpPr>
        <p:grpSpPr>
          <a:xfrm>
            <a:off x="15473315" y="9370285"/>
            <a:ext cx="1741541" cy="745693"/>
            <a:chOff x="0" y="0"/>
            <a:chExt cx="2322055" cy="994258"/>
          </a:xfrm>
        </p:grpSpPr>
        <p:sp>
          <p:nvSpPr>
            <p:cNvPr id="5" name="Freeform 5"/>
            <p:cNvSpPr/>
            <p:nvPr/>
          </p:nvSpPr>
          <p:spPr>
            <a:xfrm>
              <a:off x="0" y="0"/>
              <a:ext cx="2322068" cy="994283"/>
            </a:xfrm>
            <a:custGeom>
              <a:avLst/>
              <a:gdLst/>
              <a:ahLst/>
              <a:cxnLst/>
              <a:rect l="l" t="t" r="r" b="b"/>
              <a:pathLst>
                <a:path w="2322068" h="994283">
                  <a:moveTo>
                    <a:pt x="0" y="0"/>
                  </a:moveTo>
                  <a:lnTo>
                    <a:pt x="2322068" y="0"/>
                  </a:lnTo>
                  <a:lnTo>
                    <a:pt x="2322068" y="994283"/>
                  </a:lnTo>
                  <a:lnTo>
                    <a:pt x="0" y="994283"/>
                  </a:lnTo>
                  <a:lnTo>
                    <a:pt x="0" y="0"/>
                  </a:lnTo>
                  <a:close/>
                </a:path>
              </a:pathLst>
            </a:custGeom>
            <a:blipFill>
              <a:blip r:embed="rId4"/>
              <a:stretch>
                <a:fillRect b="-1456"/>
              </a:stretch>
            </a:blipFill>
          </p:spPr>
        </p:sp>
      </p:grpSp>
      <p:grpSp>
        <p:nvGrpSpPr>
          <p:cNvPr id="6" name="Group 6"/>
          <p:cNvGrpSpPr/>
          <p:nvPr/>
        </p:nvGrpSpPr>
        <p:grpSpPr>
          <a:xfrm>
            <a:off x="9981438" y="9581550"/>
            <a:ext cx="4114800" cy="392420"/>
            <a:chOff x="0" y="0"/>
            <a:chExt cx="5486400" cy="523227"/>
          </a:xfrm>
        </p:grpSpPr>
        <p:sp>
          <p:nvSpPr>
            <p:cNvPr id="7" name="Freeform 7"/>
            <p:cNvSpPr/>
            <p:nvPr/>
          </p:nvSpPr>
          <p:spPr>
            <a:xfrm>
              <a:off x="0" y="0"/>
              <a:ext cx="5486400" cy="523222"/>
            </a:xfrm>
            <a:custGeom>
              <a:avLst/>
              <a:gdLst/>
              <a:ahLst/>
              <a:cxnLst/>
              <a:rect l="l" t="t" r="r" b="b"/>
              <a:pathLst>
                <a:path w="5486400" h="523222">
                  <a:moveTo>
                    <a:pt x="0" y="0"/>
                  </a:moveTo>
                  <a:lnTo>
                    <a:pt x="5486400" y="0"/>
                  </a:lnTo>
                  <a:lnTo>
                    <a:pt x="5486400" y="523222"/>
                  </a:lnTo>
                  <a:lnTo>
                    <a:pt x="0" y="523222"/>
                  </a:lnTo>
                  <a:close/>
                </a:path>
              </a:pathLst>
            </a:custGeom>
            <a:blipFill>
              <a:blip r:embed="rId5">
                <a:alphaModFix amt="0"/>
              </a:blip>
              <a:stretch>
                <a:fillRect t="-154315" b="-154316"/>
              </a:stretch>
            </a:blipFill>
          </p:spPr>
        </p:sp>
        <p:sp>
          <p:nvSpPr>
            <p:cNvPr id="8" name="TextBox 8"/>
            <p:cNvSpPr txBox="1"/>
            <p:nvPr/>
          </p:nvSpPr>
          <p:spPr>
            <a:xfrm>
              <a:off x="0" y="-9525"/>
              <a:ext cx="5486400" cy="532752"/>
            </a:xfrm>
            <a:prstGeom prst="rect">
              <a:avLst/>
            </a:prstGeom>
          </p:spPr>
          <p:txBody>
            <a:bodyPr lIns="0" tIns="0" rIns="0" bIns="0" rtlCol="0" anchor="ctr"/>
            <a:lstStyle/>
            <a:p>
              <a:pPr algn="r">
                <a:lnSpc>
                  <a:spcPts val="2520"/>
                </a:lnSpc>
              </a:pPr>
              <a:r>
                <a:rPr lang="en-US" sz="2100">
                  <a:solidFill>
                    <a:srgbClr val="BFBFBF"/>
                  </a:solidFill>
                  <a:latin typeface="Roboto"/>
                  <a:ea typeface="Roboto"/>
                  <a:cs typeface="Roboto"/>
                  <a:sym typeface="Roboto"/>
                </a:rPr>
                <a:t>‹#›</a:t>
              </a:r>
            </a:p>
          </p:txBody>
        </p:sp>
      </p:grpSp>
      <p:grpSp>
        <p:nvGrpSpPr>
          <p:cNvPr id="9" name="Group 9"/>
          <p:cNvGrpSpPr/>
          <p:nvPr/>
        </p:nvGrpSpPr>
        <p:grpSpPr>
          <a:xfrm>
            <a:off x="451542" y="300771"/>
            <a:ext cx="15770323" cy="767782"/>
            <a:chOff x="0" y="0"/>
            <a:chExt cx="21027098" cy="1023710"/>
          </a:xfrm>
        </p:grpSpPr>
        <p:sp>
          <p:nvSpPr>
            <p:cNvPr id="10" name="Freeform 10"/>
            <p:cNvSpPr/>
            <p:nvPr/>
          </p:nvSpPr>
          <p:spPr>
            <a:xfrm>
              <a:off x="0" y="0"/>
              <a:ext cx="21027095" cy="1023711"/>
            </a:xfrm>
            <a:custGeom>
              <a:avLst/>
              <a:gdLst/>
              <a:ahLst/>
              <a:cxnLst/>
              <a:rect l="l" t="t" r="r" b="b"/>
              <a:pathLst>
                <a:path w="21027095" h="1023711">
                  <a:moveTo>
                    <a:pt x="0" y="0"/>
                  </a:moveTo>
                  <a:lnTo>
                    <a:pt x="21027095" y="0"/>
                  </a:lnTo>
                  <a:lnTo>
                    <a:pt x="21027095" y="1023711"/>
                  </a:lnTo>
                  <a:lnTo>
                    <a:pt x="0" y="1023711"/>
                  </a:lnTo>
                  <a:close/>
                </a:path>
              </a:pathLst>
            </a:custGeom>
            <a:blipFill>
              <a:blip r:embed="rId5">
                <a:alphaModFix amt="0"/>
              </a:blip>
              <a:stretch>
                <a:fillRect t="-350224" b="-350223"/>
              </a:stretch>
            </a:blipFill>
          </p:spPr>
        </p:sp>
        <p:sp>
          <p:nvSpPr>
            <p:cNvPr id="11" name="TextBox 11"/>
            <p:cNvSpPr txBox="1"/>
            <p:nvPr/>
          </p:nvSpPr>
          <p:spPr>
            <a:xfrm>
              <a:off x="0" y="19050"/>
              <a:ext cx="21027098" cy="1004660"/>
            </a:xfrm>
            <a:prstGeom prst="rect">
              <a:avLst/>
            </a:prstGeom>
          </p:spPr>
          <p:txBody>
            <a:bodyPr lIns="0" tIns="0" rIns="0" bIns="0" rtlCol="0" anchor="b"/>
            <a:lstStyle/>
            <a:p>
              <a:pPr algn="l">
                <a:lnSpc>
                  <a:spcPts val="3888"/>
                </a:lnSpc>
              </a:pPr>
              <a:r>
                <a:rPr lang="en-US" sz="3600">
                  <a:solidFill>
                    <a:srgbClr val="EE0033"/>
                  </a:solidFill>
                  <a:latin typeface="Arial"/>
                  <a:ea typeface="Arial"/>
                  <a:cs typeface="Arial"/>
                  <a:sym typeface="Arial"/>
                </a:rPr>
                <a:t>I. PROCESS:</a:t>
              </a:r>
            </a:p>
          </p:txBody>
        </p:sp>
      </p:grpSp>
      <p:sp>
        <p:nvSpPr>
          <p:cNvPr id="12" name="Freeform 12"/>
          <p:cNvSpPr/>
          <p:nvPr/>
        </p:nvSpPr>
        <p:spPr>
          <a:xfrm>
            <a:off x="5908078" y="5552554"/>
            <a:ext cx="11351222" cy="1404992"/>
          </a:xfrm>
          <a:custGeom>
            <a:avLst/>
            <a:gdLst/>
            <a:ahLst/>
            <a:cxnLst/>
            <a:rect l="l" t="t" r="r" b="b"/>
            <a:pathLst>
              <a:path w="11351222" h="1404992">
                <a:moveTo>
                  <a:pt x="0" y="0"/>
                </a:moveTo>
                <a:lnTo>
                  <a:pt x="11351222" y="0"/>
                </a:lnTo>
                <a:lnTo>
                  <a:pt x="11351222" y="1404992"/>
                </a:lnTo>
                <a:lnTo>
                  <a:pt x="0" y="1404992"/>
                </a:lnTo>
                <a:lnTo>
                  <a:pt x="0" y="0"/>
                </a:lnTo>
                <a:close/>
              </a:path>
            </a:pathLst>
          </a:custGeom>
          <a:blipFill>
            <a:blip r:embed="rId6"/>
            <a:stretch>
              <a:fillRect/>
            </a:stretch>
          </a:blipFill>
        </p:spPr>
      </p:sp>
      <p:sp>
        <p:nvSpPr>
          <p:cNvPr id="13" name="Freeform 13"/>
          <p:cNvSpPr/>
          <p:nvPr/>
        </p:nvSpPr>
        <p:spPr>
          <a:xfrm>
            <a:off x="2281459" y="3224055"/>
            <a:ext cx="3227765" cy="5696569"/>
          </a:xfrm>
          <a:custGeom>
            <a:avLst/>
            <a:gdLst/>
            <a:ahLst/>
            <a:cxnLst/>
            <a:rect l="l" t="t" r="r" b="b"/>
            <a:pathLst>
              <a:path w="3227765" h="5696569">
                <a:moveTo>
                  <a:pt x="0" y="0"/>
                </a:moveTo>
                <a:lnTo>
                  <a:pt x="3227765" y="0"/>
                </a:lnTo>
                <a:lnTo>
                  <a:pt x="3227765" y="5696569"/>
                </a:lnTo>
                <a:lnTo>
                  <a:pt x="0" y="5696569"/>
                </a:lnTo>
                <a:lnTo>
                  <a:pt x="0" y="0"/>
                </a:lnTo>
                <a:close/>
              </a:path>
            </a:pathLst>
          </a:custGeom>
          <a:blipFill>
            <a:blip r:embed="rId7"/>
            <a:stretch>
              <a:fillRect/>
            </a:stretch>
          </a:blipFill>
        </p:spPr>
      </p:sp>
      <p:sp>
        <p:nvSpPr>
          <p:cNvPr id="14" name="TextBox 14"/>
          <p:cNvSpPr txBox="1"/>
          <p:nvPr/>
        </p:nvSpPr>
        <p:spPr>
          <a:xfrm>
            <a:off x="840743" y="9548498"/>
            <a:ext cx="7754617" cy="323850"/>
          </a:xfrm>
          <a:prstGeom prst="rect">
            <a:avLst/>
          </a:prstGeom>
        </p:spPr>
        <p:txBody>
          <a:bodyPr lIns="0" tIns="0" rIns="0" bIns="0" rtlCol="0" anchor="t">
            <a:spAutoFit/>
          </a:bodyPr>
          <a:lstStyle/>
          <a:p>
            <a:pPr algn="l">
              <a:lnSpc>
                <a:spcPts val="2520"/>
              </a:lnSpc>
            </a:pPr>
            <a:r>
              <a:rPr lang="en-US" sz="2100" spc="450">
                <a:solidFill>
                  <a:srgbClr val="BFBFBF"/>
                </a:solidFill>
                <a:latin typeface="Arial"/>
                <a:ea typeface="Arial"/>
                <a:cs typeface="Arial"/>
                <a:sym typeface="Arial"/>
              </a:rPr>
              <a:t>www.viettelhightech.vn </a:t>
            </a:r>
          </a:p>
        </p:txBody>
      </p:sp>
      <p:sp>
        <p:nvSpPr>
          <p:cNvPr id="15" name="TextBox 15"/>
          <p:cNvSpPr txBox="1"/>
          <p:nvPr/>
        </p:nvSpPr>
        <p:spPr>
          <a:xfrm>
            <a:off x="451542" y="1237783"/>
            <a:ext cx="6887599" cy="521589"/>
          </a:xfrm>
          <a:prstGeom prst="rect">
            <a:avLst/>
          </a:prstGeom>
        </p:spPr>
        <p:txBody>
          <a:bodyPr lIns="0" tIns="0" rIns="0" bIns="0" rtlCol="0" anchor="t">
            <a:spAutoFit/>
          </a:bodyPr>
          <a:lstStyle/>
          <a:p>
            <a:pPr algn="l">
              <a:lnSpc>
                <a:spcPts val="3888"/>
              </a:lnSpc>
              <a:spcBef>
                <a:spcPct val="0"/>
              </a:spcBef>
            </a:pPr>
            <a:r>
              <a:rPr lang="en-US" sz="3600">
                <a:solidFill>
                  <a:srgbClr val="EE0033"/>
                </a:solidFill>
                <a:latin typeface="Arial"/>
                <a:ea typeface="Arial"/>
                <a:cs typeface="Arial"/>
                <a:sym typeface="Arial"/>
              </a:rPr>
              <a:t>Orphan process:</a:t>
            </a:r>
          </a:p>
        </p:txBody>
      </p:sp>
      <p:sp>
        <p:nvSpPr>
          <p:cNvPr id="16" name="TextBox 16"/>
          <p:cNvSpPr txBox="1"/>
          <p:nvPr/>
        </p:nvSpPr>
        <p:spPr>
          <a:xfrm>
            <a:off x="451542" y="1930822"/>
            <a:ext cx="17238737" cy="1007364"/>
          </a:xfrm>
          <a:prstGeom prst="rect">
            <a:avLst/>
          </a:prstGeom>
        </p:spPr>
        <p:txBody>
          <a:bodyPr lIns="0" tIns="0" rIns="0" bIns="0" rtlCol="0" anchor="t">
            <a:spAutoFit/>
          </a:bodyPr>
          <a:lstStyle/>
          <a:p>
            <a:pPr algn="l">
              <a:lnSpc>
                <a:spcPts val="3888"/>
              </a:lnSpc>
              <a:spcBef>
                <a:spcPct val="0"/>
              </a:spcBef>
            </a:pPr>
            <a:r>
              <a:rPr lang="en-US" sz="3600">
                <a:solidFill>
                  <a:srgbClr val="000000"/>
                </a:solidFill>
                <a:latin typeface="Arial"/>
                <a:ea typeface="Arial"/>
                <a:cs typeface="Arial"/>
                <a:sym typeface="Arial"/>
              </a:rPr>
              <a:t>Một tiến trình con trở thành tiến trình mồ côi (orphan) khi tiến trình cha “sinh ra nó” bị kết thúc, thì tiến trình con sẽ được tiến trình init hoặc tiến trình khác nhận nuôi. </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9206494"/>
            <a:ext cx="18288000" cy="1080506"/>
            <a:chOff x="0" y="0"/>
            <a:chExt cx="24384000" cy="1440675"/>
          </a:xfrm>
        </p:grpSpPr>
        <p:sp>
          <p:nvSpPr>
            <p:cNvPr id="3" name="Freeform 3"/>
            <p:cNvSpPr/>
            <p:nvPr/>
          </p:nvSpPr>
          <p:spPr>
            <a:xfrm>
              <a:off x="0" y="0"/>
              <a:ext cx="24384000" cy="1440688"/>
            </a:xfrm>
            <a:custGeom>
              <a:avLst/>
              <a:gdLst/>
              <a:ahLst/>
              <a:cxnLst/>
              <a:rect l="l" t="t" r="r" b="b"/>
              <a:pathLst>
                <a:path w="24384000" h="1440688">
                  <a:moveTo>
                    <a:pt x="0" y="0"/>
                  </a:moveTo>
                  <a:lnTo>
                    <a:pt x="24384000" y="0"/>
                  </a:lnTo>
                  <a:lnTo>
                    <a:pt x="24384000" y="1440688"/>
                  </a:lnTo>
                  <a:lnTo>
                    <a:pt x="0" y="1440688"/>
                  </a:lnTo>
                  <a:lnTo>
                    <a:pt x="0" y="0"/>
                  </a:lnTo>
                  <a:close/>
                </a:path>
              </a:pathLst>
            </a:custGeom>
            <a:blipFill>
              <a:blip r:embed="rId3"/>
              <a:stretch>
                <a:fillRect t="-364" b="-364"/>
              </a:stretch>
            </a:blipFill>
          </p:spPr>
        </p:sp>
      </p:grpSp>
      <p:grpSp>
        <p:nvGrpSpPr>
          <p:cNvPr id="4" name="Group 4"/>
          <p:cNvGrpSpPr/>
          <p:nvPr/>
        </p:nvGrpSpPr>
        <p:grpSpPr>
          <a:xfrm>
            <a:off x="15473315" y="9370285"/>
            <a:ext cx="1741541" cy="745693"/>
            <a:chOff x="0" y="0"/>
            <a:chExt cx="2322055" cy="994258"/>
          </a:xfrm>
        </p:grpSpPr>
        <p:sp>
          <p:nvSpPr>
            <p:cNvPr id="5" name="Freeform 5"/>
            <p:cNvSpPr/>
            <p:nvPr/>
          </p:nvSpPr>
          <p:spPr>
            <a:xfrm>
              <a:off x="0" y="0"/>
              <a:ext cx="2322068" cy="994283"/>
            </a:xfrm>
            <a:custGeom>
              <a:avLst/>
              <a:gdLst/>
              <a:ahLst/>
              <a:cxnLst/>
              <a:rect l="l" t="t" r="r" b="b"/>
              <a:pathLst>
                <a:path w="2322068" h="994283">
                  <a:moveTo>
                    <a:pt x="0" y="0"/>
                  </a:moveTo>
                  <a:lnTo>
                    <a:pt x="2322068" y="0"/>
                  </a:lnTo>
                  <a:lnTo>
                    <a:pt x="2322068" y="994283"/>
                  </a:lnTo>
                  <a:lnTo>
                    <a:pt x="0" y="994283"/>
                  </a:lnTo>
                  <a:lnTo>
                    <a:pt x="0" y="0"/>
                  </a:lnTo>
                  <a:close/>
                </a:path>
              </a:pathLst>
            </a:custGeom>
            <a:blipFill>
              <a:blip r:embed="rId4"/>
              <a:stretch>
                <a:fillRect b="-1456"/>
              </a:stretch>
            </a:blipFill>
          </p:spPr>
        </p:sp>
      </p:grpSp>
      <p:grpSp>
        <p:nvGrpSpPr>
          <p:cNvPr id="6" name="Group 6"/>
          <p:cNvGrpSpPr/>
          <p:nvPr/>
        </p:nvGrpSpPr>
        <p:grpSpPr>
          <a:xfrm>
            <a:off x="9981438" y="9581550"/>
            <a:ext cx="4114800" cy="392420"/>
            <a:chOff x="0" y="0"/>
            <a:chExt cx="5486400" cy="523227"/>
          </a:xfrm>
        </p:grpSpPr>
        <p:sp>
          <p:nvSpPr>
            <p:cNvPr id="7" name="Freeform 7"/>
            <p:cNvSpPr/>
            <p:nvPr/>
          </p:nvSpPr>
          <p:spPr>
            <a:xfrm>
              <a:off x="0" y="0"/>
              <a:ext cx="5486400" cy="523222"/>
            </a:xfrm>
            <a:custGeom>
              <a:avLst/>
              <a:gdLst/>
              <a:ahLst/>
              <a:cxnLst/>
              <a:rect l="l" t="t" r="r" b="b"/>
              <a:pathLst>
                <a:path w="5486400" h="523222">
                  <a:moveTo>
                    <a:pt x="0" y="0"/>
                  </a:moveTo>
                  <a:lnTo>
                    <a:pt x="5486400" y="0"/>
                  </a:lnTo>
                  <a:lnTo>
                    <a:pt x="5486400" y="523222"/>
                  </a:lnTo>
                  <a:lnTo>
                    <a:pt x="0" y="523222"/>
                  </a:lnTo>
                  <a:close/>
                </a:path>
              </a:pathLst>
            </a:custGeom>
            <a:blipFill>
              <a:blip r:embed="rId5">
                <a:alphaModFix amt="0"/>
              </a:blip>
              <a:stretch>
                <a:fillRect t="-154315" b="-154316"/>
              </a:stretch>
            </a:blipFill>
          </p:spPr>
        </p:sp>
        <p:sp>
          <p:nvSpPr>
            <p:cNvPr id="8" name="TextBox 8"/>
            <p:cNvSpPr txBox="1"/>
            <p:nvPr/>
          </p:nvSpPr>
          <p:spPr>
            <a:xfrm>
              <a:off x="0" y="-9525"/>
              <a:ext cx="5486400" cy="532752"/>
            </a:xfrm>
            <a:prstGeom prst="rect">
              <a:avLst/>
            </a:prstGeom>
          </p:spPr>
          <p:txBody>
            <a:bodyPr lIns="0" tIns="0" rIns="0" bIns="0" rtlCol="0" anchor="ctr"/>
            <a:lstStyle/>
            <a:p>
              <a:pPr algn="r">
                <a:lnSpc>
                  <a:spcPts val="2520"/>
                </a:lnSpc>
              </a:pPr>
              <a:r>
                <a:rPr lang="en-US" sz="2100">
                  <a:solidFill>
                    <a:srgbClr val="BFBFBF"/>
                  </a:solidFill>
                  <a:latin typeface="Roboto"/>
                  <a:ea typeface="Roboto"/>
                  <a:cs typeface="Roboto"/>
                  <a:sym typeface="Roboto"/>
                </a:rPr>
                <a:t>‹#›</a:t>
              </a:r>
            </a:p>
          </p:txBody>
        </p:sp>
      </p:grpSp>
      <p:grpSp>
        <p:nvGrpSpPr>
          <p:cNvPr id="9" name="Group 9"/>
          <p:cNvGrpSpPr/>
          <p:nvPr/>
        </p:nvGrpSpPr>
        <p:grpSpPr>
          <a:xfrm>
            <a:off x="451542" y="300771"/>
            <a:ext cx="15770323" cy="767782"/>
            <a:chOff x="0" y="0"/>
            <a:chExt cx="21027098" cy="1023710"/>
          </a:xfrm>
        </p:grpSpPr>
        <p:sp>
          <p:nvSpPr>
            <p:cNvPr id="10" name="Freeform 10"/>
            <p:cNvSpPr/>
            <p:nvPr/>
          </p:nvSpPr>
          <p:spPr>
            <a:xfrm>
              <a:off x="0" y="0"/>
              <a:ext cx="21027095" cy="1023711"/>
            </a:xfrm>
            <a:custGeom>
              <a:avLst/>
              <a:gdLst/>
              <a:ahLst/>
              <a:cxnLst/>
              <a:rect l="l" t="t" r="r" b="b"/>
              <a:pathLst>
                <a:path w="21027095" h="1023711">
                  <a:moveTo>
                    <a:pt x="0" y="0"/>
                  </a:moveTo>
                  <a:lnTo>
                    <a:pt x="21027095" y="0"/>
                  </a:lnTo>
                  <a:lnTo>
                    <a:pt x="21027095" y="1023711"/>
                  </a:lnTo>
                  <a:lnTo>
                    <a:pt x="0" y="1023711"/>
                  </a:lnTo>
                  <a:close/>
                </a:path>
              </a:pathLst>
            </a:custGeom>
            <a:blipFill>
              <a:blip r:embed="rId5">
                <a:alphaModFix amt="0"/>
              </a:blip>
              <a:stretch>
                <a:fillRect t="-350224" b="-350223"/>
              </a:stretch>
            </a:blipFill>
          </p:spPr>
        </p:sp>
        <p:sp>
          <p:nvSpPr>
            <p:cNvPr id="11" name="TextBox 11"/>
            <p:cNvSpPr txBox="1"/>
            <p:nvPr/>
          </p:nvSpPr>
          <p:spPr>
            <a:xfrm>
              <a:off x="0" y="19050"/>
              <a:ext cx="21027098" cy="1004660"/>
            </a:xfrm>
            <a:prstGeom prst="rect">
              <a:avLst/>
            </a:prstGeom>
          </p:spPr>
          <p:txBody>
            <a:bodyPr lIns="0" tIns="0" rIns="0" bIns="0" rtlCol="0" anchor="b"/>
            <a:lstStyle/>
            <a:p>
              <a:pPr algn="l">
                <a:lnSpc>
                  <a:spcPts val="3888"/>
                </a:lnSpc>
              </a:pPr>
              <a:r>
                <a:rPr lang="en-US" sz="3600">
                  <a:solidFill>
                    <a:srgbClr val="EE0033"/>
                  </a:solidFill>
                  <a:latin typeface="Arial"/>
                  <a:ea typeface="Arial"/>
                  <a:cs typeface="Arial"/>
                  <a:sym typeface="Arial"/>
                </a:rPr>
                <a:t>I. PROCESS:</a:t>
              </a:r>
            </a:p>
          </p:txBody>
        </p:sp>
      </p:grpSp>
      <p:sp>
        <p:nvSpPr>
          <p:cNvPr id="12" name="TextBox 12"/>
          <p:cNvSpPr txBox="1"/>
          <p:nvPr/>
        </p:nvSpPr>
        <p:spPr>
          <a:xfrm>
            <a:off x="840743" y="9548498"/>
            <a:ext cx="7754617" cy="323850"/>
          </a:xfrm>
          <a:prstGeom prst="rect">
            <a:avLst/>
          </a:prstGeom>
        </p:spPr>
        <p:txBody>
          <a:bodyPr lIns="0" tIns="0" rIns="0" bIns="0" rtlCol="0" anchor="t">
            <a:spAutoFit/>
          </a:bodyPr>
          <a:lstStyle/>
          <a:p>
            <a:pPr algn="l">
              <a:lnSpc>
                <a:spcPts val="2520"/>
              </a:lnSpc>
            </a:pPr>
            <a:r>
              <a:rPr lang="en-US" sz="2100" spc="450">
                <a:solidFill>
                  <a:srgbClr val="BFBFBF"/>
                </a:solidFill>
                <a:latin typeface="Arial"/>
                <a:ea typeface="Arial"/>
                <a:cs typeface="Arial"/>
                <a:sym typeface="Arial"/>
              </a:rPr>
              <a:t>www.viettelhightech.vn </a:t>
            </a:r>
          </a:p>
        </p:txBody>
      </p:sp>
      <p:sp>
        <p:nvSpPr>
          <p:cNvPr id="13" name="TextBox 13"/>
          <p:cNvSpPr txBox="1"/>
          <p:nvPr/>
        </p:nvSpPr>
        <p:spPr>
          <a:xfrm>
            <a:off x="451542" y="1237783"/>
            <a:ext cx="6887599" cy="521589"/>
          </a:xfrm>
          <a:prstGeom prst="rect">
            <a:avLst/>
          </a:prstGeom>
        </p:spPr>
        <p:txBody>
          <a:bodyPr lIns="0" tIns="0" rIns="0" bIns="0" rtlCol="0" anchor="t">
            <a:spAutoFit/>
          </a:bodyPr>
          <a:lstStyle/>
          <a:p>
            <a:pPr algn="l">
              <a:lnSpc>
                <a:spcPts val="3888"/>
              </a:lnSpc>
              <a:spcBef>
                <a:spcPct val="0"/>
              </a:spcBef>
            </a:pPr>
            <a:r>
              <a:rPr lang="en-US" sz="3600">
                <a:solidFill>
                  <a:srgbClr val="EE0033"/>
                </a:solidFill>
                <a:latin typeface="Arial"/>
                <a:ea typeface="Arial"/>
                <a:cs typeface="Arial"/>
                <a:sym typeface="Arial"/>
              </a:rPr>
              <a:t> Zombie process:</a:t>
            </a:r>
          </a:p>
        </p:txBody>
      </p:sp>
      <p:sp>
        <p:nvSpPr>
          <p:cNvPr id="14" name="TextBox 14"/>
          <p:cNvSpPr txBox="1"/>
          <p:nvPr/>
        </p:nvSpPr>
        <p:spPr>
          <a:xfrm>
            <a:off x="588274" y="1778422"/>
            <a:ext cx="17353677" cy="1493139"/>
          </a:xfrm>
          <a:prstGeom prst="rect">
            <a:avLst/>
          </a:prstGeom>
        </p:spPr>
        <p:txBody>
          <a:bodyPr lIns="0" tIns="0" rIns="0" bIns="0" rtlCol="0" anchor="t">
            <a:spAutoFit/>
          </a:bodyPr>
          <a:lstStyle/>
          <a:p>
            <a:pPr algn="l">
              <a:lnSpc>
                <a:spcPts val="3888"/>
              </a:lnSpc>
              <a:spcBef>
                <a:spcPct val="0"/>
              </a:spcBef>
            </a:pPr>
            <a:r>
              <a:rPr lang="en-US" sz="3600">
                <a:solidFill>
                  <a:srgbClr val="000000"/>
                </a:solidFill>
                <a:latin typeface="Arial"/>
                <a:ea typeface="Arial"/>
                <a:cs typeface="Arial"/>
                <a:sym typeface="Arial"/>
              </a:rPr>
              <a:t>Tiến trình zombie là tiến trình con gọi hàm exit(), trạng thái kernel của tiến trình con vẫn được giữ nguyên vì tiến trình cha chưa gọi hàm wait()/waitpid() (hoặc xử lý tín hiệu SIGCHLD) để thu hồi nó.</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9206494"/>
            <a:ext cx="18288000" cy="1080506"/>
            <a:chOff x="0" y="0"/>
            <a:chExt cx="24384000" cy="1440675"/>
          </a:xfrm>
        </p:grpSpPr>
        <p:sp>
          <p:nvSpPr>
            <p:cNvPr id="3" name="Freeform 3"/>
            <p:cNvSpPr/>
            <p:nvPr/>
          </p:nvSpPr>
          <p:spPr>
            <a:xfrm>
              <a:off x="0" y="0"/>
              <a:ext cx="24384000" cy="1440688"/>
            </a:xfrm>
            <a:custGeom>
              <a:avLst/>
              <a:gdLst/>
              <a:ahLst/>
              <a:cxnLst/>
              <a:rect l="l" t="t" r="r" b="b"/>
              <a:pathLst>
                <a:path w="24384000" h="1440688">
                  <a:moveTo>
                    <a:pt x="0" y="0"/>
                  </a:moveTo>
                  <a:lnTo>
                    <a:pt x="24384000" y="0"/>
                  </a:lnTo>
                  <a:lnTo>
                    <a:pt x="24384000" y="1440688"/>
                  </a:lnTo>
                  <a:lnTo>
                    <a:pt x="0" y="1440688"/>
                  </a:lnTo>
                  <a:lnTo>
                    <a:pt x="0" y="0"/>
                  </a:lnTo>
                  <a:close/>
                </a:path>
              </a:pathLst>
            </a:custGeom>
            <a:blipFill>
              <a:blip r:embed="rId3"/>
              <a:stretch>
                <a:fillRect t="-364" b="-364"/>
              </a:stretch>
            </a:blipFill>
          </p:spPr>
        </p:sp>
      </p:grpSp>
      <p:grpSp>
        <p:nvGrpSpPr>
          <p:cNvPr id="4" name="Group 4"/>
          <p:cNvGrpSpPr/>
          <p:nvPr/>
        </p:nvGrpSpPr>
        <p:grpSpPr>
          <a:xfrm>
            <a:off x="15473315" y="9370285"/>
            <a:ext cx="1741541" cy="745693"/>
            <a:chOff x="0" y="0"/>
            <a:chExt cx="2322055" cy="994258"/>
          </a:xfrm>
        </p:grpSpPr>
        <p:sp>
          <p:nvSpPr>
            <p:cNvPr id="5" name="Freeform 5"/>
            <p:cNvSpPr/>
            <p:nvPr/>
          </p:nvSpPr>
          <p:spPr>
            <a:xfrm>
              <a:off x="0" y="0"/>
              <a:ext cx="2322068" cy="994283"/>
            </a:xfrm>
            <a:custGeom>
              <a:avLst/>
              <a:gdLst/>
              <a:ahLst/>
              <a:cxnLst/>
              <a:rect l="l" t="t" r="r" b="b"/>
              <a:pathLst>
                <a:path w="2322068" h="994283">
                  <a:moveTo>
                    <a:pt x="0" y="0"/>
                  </a:moveTo>
                  <a:lnTo>
                    <a:pt x="2322068" y="0"/>
                  </a:lnTo>
                  <a:lnTo>
                    <a:pt x="2322068" y="994283"/>
                  </a:lnTo>
                  <a:lnTo>
                    <a:pt x="0" y="994283"/>
                  </a:lnTo>
                  <a:lnTo>
                    <a:pt x="0" y="0"/>
                  </a:lnTo>
                  <a:close/>
                </a:path>
              </a:pathLst>
            </a:custGeom>
            <a:blipFill>
              <a:blip r:embed="rId4"/>
              <a:stretch>
                <a:fillRect b="-1456"/>
              </a:stretch>
            </a:blipFill>
          </p:spPr>
        </p:sp>
      </p:grpSp>
      <p:grpSp>
        <p:nvGrpSpPr>
          <p:cNvPr id="6" name="Group 6"/>
          <p:cNvGrpSpPr/>
          <p:nvPr/>
        </p:nvGrpSpPr>
        <p:grpSpPr>
          <a:xfrm>
            <a:off x="9981438" y="9581550"/>
            <a:ext cx="4114800" cy="392420"/>
            <a:chOff x="0" y="0"/>
            <a:chExt cx="5486400" cy="523227"/>
          </a:xfrm>
        </p:grpSpPr>
        <p:sp>
          <p:nvSpPr>
            <p:cNvPr id="7" name="Freeform 7"/>
            <p:cNvSpPr/>
            <p:nvPr/>
          </p:nvSpPr>
          <p:spPr>
            <a:xfrm>
              <a:off x="0" y="0"/>
              <a:ext cx="5486400" cy="523222"/>
            </a:xfrm>
            <a:custGeom>
              <a:avLst/>
              <a:gdLst/>
              <a:ahLst/>
              <a:cxnLst/>
              <a:rect l="l" t="t" r="r" b="b"/>
              <a:pathLst>
                <a:path w="5486400" h="523222">
                  <a:moveTo>
                    <a:pt x="0" y="0"/>
                  </a:moveTo>
                  <a:lnTo>
                    <a:pt x="5486400" y="0"/>
                  </a:lnTo>
                  <a:lnTo>
                    <a:pt x="5486400" y="523222"/>
                  </a:lnTo>
                  <a:lnTo>
                    <a:pt x="0" y="523222"/>
                  </a:lnTo>
                  <a:close/>
                </a:path>
              </a:pathLst>
            </a:custGeom>
            <a:blipFill>
              <a:blip r:embed="rId5">
                <a:alphaModFix amt="0"/>
              </a:blip>
              <a:stretch>
                <a:fillRect t="-154315" b="-154316"/>
              </a:stretch>
            </a:blipFill>
          </p:spPr>
        </p:sp>
        <p:sp>
          <p:nvSpPr>
            <p:cNvPr id="8" name="TextBox 8"/>
            <p:cNvSpPr txBox="1"/>
            <p:nvPr/>
          </p:nvSpPr>
          <p:spPr>
            <a:xfrm>
              <a:off x="0" y="-9525"/>
              <a:ext cx="5486400" cy="532752"/>
            </a:xfrm>
            <a:prstGeom prst="rect">
              <a:avLst/>
            </a:prstGeom>
          </p:spPr>
          <p:txBody>
            <a:bodyPr lIns="0" tIns="0" rIns="0" bIns="0" rtlCol="0" anchor="ctr"/>
            <a:lstStyle/>
            <a:p>
              <a:pPr algn="r">
                <a:lnSpc>
                  <a:spcPts val="2520"/>
                </a:lnSpc>
              </a:pPr>
              <a:r>
                <a:rPr lang="en-US" sz="2100">
                  <a:solidFill>
                    <a:srgbClr val="BFBFBF"/>
                  </a:solidFill>
                  <a:latin typeface="Roboto"/>
                  <a:ea typeface="Roboto"/>
                  <a:cs typeface="Roboto"/>
                  <a:sym typeface="Roboto"/>
                </a:rPr>
                <a:t>‹#›</a:t>
              </a:r>
            </a:p>
          </p:txBody>
        </p:sp>
      </p:grpSp>
      <p:grpSp>
        <p:nvGrpSpPr>
          <p:cNvPr id="9" name="Group 9"/>
          <p:cNvGrpSpPr/>
          <p:nvPr/>
        </p:nvGrpSpPr>
        <p:grpSpPr>
          <a:xfrm>
            <a:off x="451542" y="300771"/>
            <a:ext cx="15770323" cy="767782"/>
            <a:chOff x="0" y="0"/>
            <a:chExt cx="21027098" cy="1023710"/>
          </a:xfrm>
        </p:grpSpPr>
        <p:sp>
          <p:nvSpPr>
            <p:cNvPr id="10" name="Freeform 10"/>
            <p:cNvSpPr/>
            <p:nvPr/>
          </p:nvSpPr>
          <p:spPr>
            <a:xfrm>
              <a:off x="0" y="0"/>
              <a:ext cx="21027095" cy="1023711"/>
            </a:xfrm>
            <a:custGeom>
              <a:avLst/>
              <a:gdLst/>
              <a:ahLst/>
              <a:cxnLst/>
              <a:rect l="l" t="t" r="r" b="b"/>
              <a:pathLst>
                <a:path w="21027095" h="1023711">
                  <a:moveTo>
                    <a:pt x="0" y="0"/>
                  </a:moveTo>
                  <a:lnTo>
                    <a:pt x="21027095" y="0"/>
                  </a:lnTo>
                  <a:lnTo>
                    <a:pt x="21027095" y="1023711"/>
                  </a:lnTo>
                  <a:lnTo>
                    <a:pt x="0" y="1023711"/>
                  </a:lnTo>
                  <a:close/>
                </a:path>
              </a:pathLst>
            </a:custGeom>
            <a:blipFill>
              <a:blip r:embed="rId5">
                <a:alphaModFix amt="0"/>
              </a:blip>
              <a:stretch>
                <a:fillRect t="-350224" b="-350223"/>
              </a:stretch>
            </a:blipFill>
          </p:spPr>
        </p:sp>
        <p:sp>
          <p:nvSpPr>
            <p:cNvPr id="11" name="TextBox 11"/>
            <p:cNvSpPr txBox="1"/>
            <p:nvPr/>
          </p:nvSpPr>
          <p:spPr>
            <a:xfrm>
              <a:off x="0" y="19050"/>
              <a:ext cx="21027098" cy="1004660"/>
            </a:xfrm>
            <a:prstGeom prst="rect">
              <a:avLst/>
            </a:prstGeom>
          </p:spPr>
          <p:txBody>
            <a:bodyPr lIns="0" tIns="0" rIns="0" bIns="0" rtlCol="0" anchor="b"/>
            <a:lstStyle/>
            <a:p>
              <a:pPr algn="l">
                <a:lnSpc>
                  <a:spcPts val="3888"/>
                </a:lnSpc>
              </a:pPr>
              <a:r>
                <a:rPr lang="en-US" sz="3600">
                  <a:solidFill>
                    <a:srgbClr val="EE0033"/>
                  </a:solidFill>
                  <a:latin typeface="Arial"/>
                  <a:ea typeface="Arial"/>
                  <a:cs typeface="Arial"/>
                  <a:sym typeface="Arial"/>
                </a:rPr>
                <a:t>I. PROCESS:</a:t>
              </a:r>
            </a:p>
          </p:txBody>
        </p:sp>
      </p:grpSp>
      <p:sp>
        <p:nvSpPr>
          <p:cNvPr id="12" name="Freeform 12"/>
          <p:cNvSpPr/>
          <p:nvPr/>
        </p:nvSpPr>
        <p:spPr>
          <a:xfrm>
            <a:off x="4836010" y="5344404"/>
            <a:ext cx="8818109" cy="3372045"/>
          </a:xfrm>
          <a:custGeom>
            <a:avLst/>
            <a:gdLst/>
            <a:ahLst/>
            <a:cxnLst/>
            <a:rect l="l" t="t" r="r" b="b"/>
            <a:pathLst>
              <a:path w="8818109" h="3372045">
                <a:moveTo>
                  <a:pt x="0" y="0"/>
                </a:moveTo>
                <a:lnTo>
                  <a:pt x="8818109" y="0"/>
                </a:lnTo>
                <a:lnTo>
                  <a:pt x="8818109" y="3372045"/>
                </a:lnTo>
                <a:lnTo>
                  <a:pt x="0" y="3372045"/>
                </a:lnTo>
                <a:lnTo>
                  <a:pt x="0" y="0"/>
                </a:lnTo>
                <a:close/>
              </a:path>
            </a:pathLst>
          </a:custGeom>
          <a:blipFill>
            <a:blip r:embed="rId6"/>
            <a:stretch>
              <a:fillRect/>
            </a:stretch>
          </a:blipFill>
        </p:spPr>
      </p:sp>
      <p:sp>
        <p:nvSpPr>
          <p:cNvPr id="13" name="TextBox 13"/>
          <p:cNvSpPr txBox="1"/>
          <p:nvPr/>
        </p:nvSpPr>
        <p:spPr>
          <a:xfrm>
            <a:off x="840743" y="9548498"/>
            <a:ext cx="7754617" cy="323850"/>
          </a:xfrm>
          <a:prstGeom prst="rect">
            <a:avLst/>
          </a:prstGeom>
        </p:spPr>
        <p:txBody>
          <a:bodyPr lIns="0" tIns="0" rIns="0" bIns="0" rtlCol="0" anchor="t">
            <a:spAutoFit/>
          </a:bodyPr>
          <a:lstStyle/>
          <a:p>
            <a:pPr algn="l">
              <a:lnSpc>
                <a:spcPts val="2520"/>
              </a:lnSpc>
            </a:pPr>
            <a:r>
              <a:rPr lang="en-US" sz="2100" spc="450">
                <a:solidFill>
                  <a:srgbClr val="BFBFBF"/>
                </a:solidFill>
                <a:latin typeface="Arial"/>
                <a:ea typeface="Arial"/>
                <a:cs typeface="Arial"/>
                <a:sym typeface="Arial"/>
              </a:rPr>
              <a:t>www.viettelhightech.vn </a:t>
            </a:r>
          </a:p>
        </p:txBody>
      </p:sp>
      <p:sp>
        <p:nvSpPr>
          <p:cNvPr id="14" name="TextBox 14"/>
          <p:cNvSpPr txBox="1"/>
          <p:nvPr/>
        </p:nvSpPr>
        <p:spPr>
          <a:xfrm>
            <a:off x="451542" y="1237783"/>
            <a:ext cx="6887599" cy="521589"/>
          </a:xfrm>
          <a:prstGeom prst="rect">
            <a:avLst/>
          </a:prstGeom>
        </p:spPr>
        <p:txBody>
          <a:bodyPr lIns="0" tIns="0" rIns="0" bIns="0" rtlCol="0" anchor="t">
            <a:spAutoFit/>
          </a:bodyPr>
          <a:lstStyle/>
          <a:p>
            <a:pPr algn="l">
              <a:lnSpc>
                <a:spcPts val="3888"/>
              </a:lnSpc>
              <a:spcBef>
                <a:spcPct val="0"/>
              </a:spcBef>
            </a:pPr>
            <a:r>
              <a:rPr lang="en-US" sz="3600">
                <a:solidFill>
                  <a:srgbClr val="EE0033"/>
                </a:solidFill>
                <a:latin typeface="Arial"/>
                <a:ea typeface="Arial"/>
                <a:cs typeface="Arial"/>
                <a:sym typeface="Arial"/>
              </a:rPr>
              <a:t>Đối số dòng lệnh:</a:t>
            </a:r>
          </a:p>
        </p:txBody>
      </p:sp>
      <p:sp>
        <p:nvSpPr>
          <p:cNvPr id="15" name="TextBox 15"/>
          <p:cNvSpPr txBox="1"/>
          <p:nvPr/>
        </p:nvSpPr>
        <p:spPr>
          <a:xfrm>
            <a:off x="451542" y="1930822"/>
            <a:ext cx="16940210" cy="1007364"/>
          </a:xfrm>
          <a:prstGeom prst="rect">
            <a:avLst/>
          </a:prstGeom>
        </p:spPr>
        <p:txBody>
          <a:bodyPr lIns="0" tIns="0" rIns="0" bIns="0" rtlCol="0" anchor="t">
            <a:spAutoFit/>
          </a:bodyPr>
          <a:lstStyle/>
          <a:p>
            <a:pPr algn="l">
              <a:lnSpc>
                <a:spcPts val="3888"/>
              </a:lnSpc>
              <a:spcBef>
                <a:spcPct val="0"/>
              </a:spcBef>
            </a:pPr>
            <a:r>
              <a:rPr lang="en-US" sz="3600">
                <a:solidFill>
                  <a:srgbClr val="000000"/>
                </a:solidFill>
                <a:latin typeface="Arial"/>
                <a:ea typeface="Arial"/>
                <a:cs typeface="Arial"/>
                <a:sym typeface="Arial"/>
              </a:rPr>
              <a:t>Khi chương trình được chạy, đối với hàm main() luôn có thể truyền vào 2 đối số gọi là đối số dòng lệnh.</a:t>
            </a:r>
          </a:p>
        </p:txBody>
      </p:sp>
      <p:sp>
        <p:nvSpPr>
          <p:cNvPr id="16" name="TextBox 16"/>
          <p:cNvSpPr txBox="1"/>
          <p:nvPr/>
        </p:nvSpPr>
        <p:spPr>
          <a:xfrm>
            <a:off x="260298" y="3109636"/>
            <a:ext cx="16626691" cy="1978914"/>
          </a:xfrm>
          <a:prstGeom prst="rect">
            <a:avLst/>
          </a:prstGeom>
        </p:spPr>
        <p:txBody>
          <a:bodyPr lIns="0" tIns="0" rIns="0" bIns="0" rtlCol="0" anchor="t">
            <a:spAutoFit/>
          </a:bodyPr>
          <a:lstStyle/>
          <a:p>
            <a:pPr marL="777240" lvl="1" indent="-388620" algn="l">
              <a:lnSpc>
                <a:spcPts val="3888"/>
              </a:lnSpc>
              <a:spcBef>
                <a:spcPct val="0"/>
              </a:spcBef>
              <a:buFont typeface="Arial"/>
              <a:buChar char="•"/>
            </a:pPr>
            <a:r>
              <a:rPr lang="en-US" sz="3600">
                <a:solidFill>
                  <a:srgbClr val="000000"/>
                </a:solidFill>
                <a:latin typeface="Arial"/>
                <a:ea typeface="Arial"/>
                <a:cs typeface="Arial"/>
                <a:sym typeface="Arial"/>
              </a:rPr>
              <a:t>Đối số thứ nhất: int argc, được shell phân tích để truyền vào, cho biết có bao nhiêu đối số dòng lệnh.</a:t>
            </a:r>
          </a:p>
          <a:p>
            <a:pPr marL="777240" lvl="1" indent="-388620" algn="l">
              <a:lnSpc>
                <a:spcPts val="3888"/>
              </a:lnSpc>
              <a:spcBef>
                <a:spcPct val="0"/>
              </a:spcBef>
              <a:buFont typeface="Arial"/>
              <a:buChar char="•"/>
            </a:pPr>
            <a:r>
              <a:rPr lang="en-US" sz="3600">
                <a:solidFill>
                  <a:srgbClr val="000000"/>
                </a:solidFill>
                <a:latin typeface="Arial"/>
                <a:ea typeface="Arial"/>
                <a:cs typeface="Arial"/>
                <a:sym typeface="Arial"/>
              </a:rPr>
              <a:t>Đối số thứ 2: char *argv[], là một mảng các con trỏ trỏ tới các đối số dòng lệnh, trong đó mỗi đối số là một chuỗi ký tự.</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9206494"/>
            <a:ext cx="18288000" cy="1080506"/>
            <a:chOff x="0" y="0"/>
            <a:chExt cx="24384000" cy="1440675"/>
          </a:xfrm>
        </p:grpSpPr>
        <p:sp>
          <p:nvSpPr>
            <p:cNvPr id="3" name="Freeform 3"/>
            <p:cNvSpPr/>
            <p:nvPr/>
          </p:nvSpPr>
          <p:spPr>
            <a:xfrm>
              <a:off x="0" y="0"/>
              <a:ext cx="24384000" cy="1440688"/>
            </a:xfrm>
            <a:custGeom>
              <a:avLst/>
              <a:gdLst/>
              <a:ahLst/>
              <a:cxnLst/>
              <a:rect l="l" t="t" r="r" b="b"/>
              <a:pathLst>
                <a:path w="24384000" h="1440688">
                  <a:moveTo>
                    <a:pt x="0" y="0"/>
                  </a:moveTo>
                  <a:lnTo>
                    <a:pt x="24384000" y="0"/>
                  </a:lnTo>
                  <a:lnTo>
                    <a:pt x="24384000" y="1440688"/>
                  </a:lnTo>
                  <a:lnTo>
                    <a:pt x="0" y="1440688"/>
                  </a:lnTo>
                  <a:lnTo>
                    <a:pt x="0" y="0"/>
                  </a:lnTo>
                  <a:close/>
                </a:path>
              </a:pathLst>
            </a:custGeom>
            <a:blipFill>
              <a:blip r:embed="rId3"/>
              <a:stretch>
                <a:fillRect t="-364" b="-364"/>
              </a:stretch>
            </a:blipFill>
          </p:spPr>
        </p:sp>
      </p:grpSp>
      <p:grpSp>
        <p:nvGrpSpPr>
          <p:cNvPr id="4" name="Group 4"/>
          <p:cNvGrpSpPr/>
          <p:nvPr/>
        </p:nvGrpSpPr>
        <p:grpSpPr>
          <a:xfrm>
            <a:off x="15473315" y="9370285"/>
            <a:ext cx="1741541" cy="745693"/>
            <a:chOff x="0" y="0"/>
            <a:chExt cx="2322055" cy="994258"/>
          </a:xfrm>
        </p:grpSpPr>
        <p:sp>
          <p:nvSpPr>
            <p:cNvPr id="5" name="Freeform 5"/>
            <p:cNvSpPr/>
            <p:nvPr/>
          </p:nvSpPr>
          <p:spPr>
            <a:xfrm>
              <a:off x="0" y="0"/>
              <a:ext cx="2322068" cy="994283"/>
            </a:xfrm>
            <a:custGeom>
              <a:avLst/>
              <a:gdLst/>
              <a:ahLst/>
              <a:cxnLst/>
              <a:rect l="l" t="t" r="r" b="b"/>
              <a:pathLst>
                <a:path w="2322068" h="994283">
                  <a:moveTo>
                    <a:pt x="0" y="0"/>
                  </a:moveTo>
                  <a:lnTo>
                    <a:pt x="2322068" y="0"/>
                  </a:lnTo>
                  <a:lnTo>
                    <a:pt x="2322068" y="994283"/>
                  </a:lnTo>
                  <a:lnTo>
                    <a:pt x="0" y="994283"/>
                  </a:lnTo>
                  <a:lnTo>
                    <a:pt x="0" y="0"/>
                  </a:lnTo>
                  <a:close/>
                </a:path>
              </a:pathLst>
            </a:custGeom>
            <a:blipFill>
              <a:blip r:embed="rId4"/>
              <a:stretch>
                <a:fillRect b="-1456"/>
              </a:stretch>
            </a:blipFill>
          </p:spPr>
        </p:sp>
      </p:grpSp>
      <p:grpSp>
        <p:nvGrpSpPr>
          <p:cNvPr id="6" name="Group 6"/>
          <p:cNvGrpSpPr/>
          <p:nvPr/>
        </p:nvGrpSpPr>
        <p:grpSpPr>
          <a:xfrm>
            <a:off x="9981438" y="9581550"/>
            <a:ext cx="4114800" cy="392420"/>
            <a:chOff x="0" y="0"/>
            <a:chExt cx="5486400" cy="523227"/>
          </a:xfrm>
        </p:grpSpPr>
        <p:sp>
          <p:nvSpPr>
            <p:cNvPr id="7" name="Freeform 7"/>
            <p:cNvSpPr/>
            <p:nvPr/>
          </p:nvSpPr>
          <p:spPr>
            <a:xfrm>
              <a:off x="0" y="0"/>
              <a:ext cx="5486400" cy="523222"/>
            </a:xfrm>
            <a:custGeom>
              <a:avLst/>
              <a:gdLst/>
              <a:ahLst/>
              <a:cxnLst/>
              <a:rect l="l" t="t" r="r" b="b"/>
              <a:pathLst>
                <a:path w="5486400" h="523222">
                  <a:moveTo>
                    <a:pt x="0" y="0"/>
                  </a:moveTo>
                  <a:lnTo>
                    <a:pt x="5486400" y="0"/>
                  </a:lnTo>
                  <a:lnTo>
                    <a:pt x="5486400" y="523222"/>
                  </a:lnTo>
                  <a:lnTo>
                    <a:pt x="0" y="523222"/>
                  </a:lnTo>
                  <a:close/>
                </a:path>
              </a:pathLst>
            </a:custGeom>
            <a:blipFill>
              <a:blip r:embed="rId5">
                <a:alphaModFix amt="0"/>
              </a:blip>
              <a:stretch>
                <a:fillRect t="-154315" b="-154316"/>
              </a:stretch>
            </a:blipFill>
          </p:spPr>
        </p:sp>
        <p:sp>
          <p:nvSpPr>
            <p:cNvPr id="8" name="TextBox 8"/>
            <p:cNvSpPr txBox="1"/>
            <p:nvPr/>
          </p:nvSpPr>
          <p:spPr>
            <a:xfrm>
              <a:off x="0" y="-9525"/>
              <a:ext cx="5486400" cy="532752"/>
            </a:xfrm>
            <a:prstGeom prst="rect">
              <a:avLst/>
            </a:prstGeom>
          </p:spPr>
          <p:txBody>
            <a:bodyPr lIns="0" tIns="0" rIns="0" bIns="0" rtlCol="0" anchor="ctr"/>
            <a:lstStyle/>
            <a:p>
              <a:pPr algn="r">
                <a:lnSpc>
                  <a:spcPts val="2520"/>
                </a:lnSpc>
              </a:pPr>
              <a:r>
                <a:rPr lang="en-US" sz="2100">
                  <a:solidFill>
                    <a:srgbClr val="BFBFBF"/>
                  </a:solidFill>
                  <a:latin typeface="Roboto"/>
                  <a:ea typeface="Roboto"/>
                  <a:cs typeface="Roboto"/>
                  <a:sym typeface="Roboto"/>
                </a:rPr>
                <a:t>‹#›</a:t>
              </a:r>
            </a:p>
          </p:txBody>
        </p:sp>
      </p:grpSp>
      <p:grpSp>
        <p:nvGrpSpPr>
          <p:cNvPr id="9" name="Group 9"/>
          <p:cNvGrpSpPr/>
          <p:nvPr/>
        </p:nvGrpSpPr>
        <p:grpSpPr>
          <a:xfrm>
            <a:off x="451542" y="300771"/>
            <a:ext cx="15770323" cy="767782"/>
            <a:chOff x="0" y="0"/>
            <a:chExt cx="21027098" cy="1023710"/>
          </a:xfrm>
        </p:grpSpPr>
        <p:sp>
          <p:nvSpPr>
            <p:cNvPr id="10" name="Freeform 10"/>
            <p:cNvSpPr/>
            <p:nvPr/>
          </p:nvSpPr>
          <p:spPr>
            <a:xfrm>
              <a:off x="0" y="0"/>
              <a:ext cx="21027095" cy="1023711"/>
            </a:xfrm>
            <a:custGeom>
              <a:avLst/>
              <a:gdLst/>
              <a:ahLst/>
              <a:cxnLst/>
              <a:rect l="l" t="t" r="r" b="b"/>
              <a:pathLst>
                <a:path w="21027095" h="1023711">
                  <a:moveTo>
                    <a:pt x="0" y="0"/>
                  </a:moveTo>
                  <a:lnTo>
                    <a:pt x="21027095" y="0"/>
                  </a:lnTo>
                  <a:lnTo>
                    <a:pt x="21027095" y="1023711"/>
                  </a:lnTo>
                  <a:lnTo>
                    <a:pt x="0" y="1023711"/>
                  </a:lnTo>
                  <a:close/>
                </a:path>
              </a:pathLst>
            </a:custGeom>
            <a:blipFill>
              <a:blip r:embed="rId5">
                <a:alphaModFix amt="0"/>
              </a:blip>
              <a:stretch>
                <a:fillRect t="-350224" b="-350223"/>
              </a:stretch>
            </a:blipFill>
          </p:spPr>
        </p:sp>
        <p:sp>
          <p:nvSpPr>
            <p:cNvPr id="11" name="TextBox 11"/>
            <p:cNvSpPr txBox="1"/>
            <p:nvPr/>
          </p:nvSpPr>
          <p:spPr>
            <a:xfrm>
              <a:off x="0" y="19050"/>
              <a:ext cx="21027098" cy="1004660"/>
            </a:xfrm>
            <a:prstGeom prst="rect">
              <a:avLst/>
            </a:prstGeom>
          </p:spPr>
          <p:txBody>
            <a:bodyPr lIns="0" tIns="0" rIns="0" bIns="0" rtlCol="0" anchor="b"/>
            <a:lstStyle/>
            <a:p>
              <a:pPr algn="l">
                <a:lnSpc>
                  <a:spcPts val="3888"/>
                </a:lnSpc>
              </a:pPr>
              <a:r>
                <a:rPr lang="en-US" sz="3600">
                  <a:solidFill>
                    <a:srgbClr val="EE0033"/>
                  </a:solidFill>
                  <a:latin typeface="Arial"/>
                  <a:ea typeface="Arial"/>
                  <a:cs typeface="Arial"/>
                  <a:sym typeface="Arial"/>
                </a:rPr>
                <a:t>I. PROCESS:</a:t>
              </a:r>
            </a:p>
          </p:txBody>
        </p:sp>
      </p:grpSp>
      <p:sp>
        <p:nvSpPr>
          <p:cNvPr id="12" name="Freeform 12"/>
          <p:cNvSpPr/>
          <p:nvPr/>
        </p:nvSpPr>
        <p:spPr>
          <a:xfrm>
            <a:off x="677435" y="3817804"/>
            <a:ext cx="7821569" cy="2990968"/>
          </a:xfrm>
          <a:custGeom>
            <a:avLst/>
            <a:gdLst/>
            <a:ahLst/>
            <a:cxnLst/>
            <a:rect l="l" t="t" r="r" b="b"/>
            <a:pathLst>
              <a:path w="7821569" h="2990968">
                <a:moveTo>
                  <a:pt x="0" y="0"/>
                </a:moveTo>
                <a:lnTo>
                  <a:pt x="7821569" y="0"/>
                </a:lnTo>
                <a:lnTo>
                  <a:pt x="7821569" y="2990968"/>
                </a:lnTo>
                <a:lnTo>
                  <a:pt x="0" y="2990968"/>
                </a:lnTo>
                <a:lnTo>
                  <a:pt x="0" y="0"/>
                </a:lnTo>
                <a:close/>
              </a:path>
            </a:pathLst>
          </a:custGeom>
          <a:blipFill>
            <a:blip r:embed="rId6"/>
            <a:stretch>
              <a:fillRect/>
            </a:stretch>
          </a:blipFill>
        </p:spPr>
      </p:sp>
      <p:sp>
        <p:nvSpPr>
          <p:cNvPr id="13" name="Freeform 13"/>
          <p:cNvSpPr/>
          <p:nvPr/>
        </p:nvSpPr>
        <p:spPr>
          <a:xfrm>
            <a:off x="9178696" y="3173652"/>
            <a:ext cx="7414984" cy="4476237"/>
          </a:xfrm>
          <a:custGeom>
            <a:avLst/>
            <a:gdLst/>
            <a:ahLst/>
            <a:cxnLst/>
            <a:rect l="l" t="t" r="r" b="b"/>
            <a:pathLst>
              <a:path w="7414984" h="4476237">
                <a:moveTo>
                  <a:pt x="0" y="0"/>
                </a:moveTo>
                <a:lnTo>
                  <a:pt x="7414984" y="0"/>
                </a:lnTo>
                <a:lnTo>
                  <a:pt x="7414984" y="4476237"/>
                </a:lnTo>
                <a:lnTo>
                  <a:pt x="0" y="4476237"/>
                </a:lnTo>
                <a:lnTo>
                  <a:pt x="0" y="0"/>
                </a:lnTo>
                <a:close/>
              </a:path>
            </a:pathLst>
          </a:custGeom>
          <a:blipFill>
            <a:blip r:embed="rId7"/>
            <a:stretch>
              <a:fillRect/>
            </a:stretch>
          </a:blipFill>
        </p:spPr>
      </p:sp>
      <p:sp>
        <p:nvSpPr>
          <p:cNvPr id="14" name="Freeform 14"/>
          <p:cNvSpPr/>
          <p:nvPr/>
        </p:nvSpPr>
        <p:spPr>
          <a:xfrm>
            <a:off x="1995838" y="7961739"/>
            <a:ext cx="11150424" cy="932904"/>
          </a:xfrm>
          <a:custGeom>
            <a:avLst/>
            <a:gdLst/>
            <a:ahLst/>
            <a:cxnLst/>
            <a:rect l="l" t="t" r="r" b="b"/>
            <a:pathLst>
              <a:path w="11150424" h="932904">
                <a:moveTo>
                  <a:pt x="0" y="0"/>
                </a:moveTo>
                <a:lnTo>
                  <a:pt x="11150424" y="0"/>
                </a:lnTo>
                <a:lnTo>
                  <a:pt x="11150424" y="932904"/>
                </a:lnTo>
                <a:lnTo>
                  <a:pt x="0" y="932904"/>
                </a:lnTo>
                <a:lnTo>
                  <a:pt x="0" y="0"/>
                </a:lnTo>
                <a:close/>
              </a:path>
            </a:pathLst>
          </a:custGeom>
          <a:blipFill>
            <a:blip r:embed="rId8"/>
            <a:stretch>
              <a:fillRect/>
            </a:stretch>
          </a:blipFill>
        </p:spPr>
      </p:sp>
      <p:sp>
        <p:nvSpPr>
          <p:cNvPr id="15" name="TextBox 15"/>
          <p:cNvSpPr txBox="1"/>
          <p:nvPr/>
        </p:nvSpPr>
        <p:spPr>
          <a:xfrm>
            <a:off x="840743" y="9548498"/>
            <a:ext cx="7754617" cy="323850"/>
          </a:xfrm>
          <a:prstGeom prst="rect">
            <a:avLst/>
          </a:prstGeom>
        </p:spPr>
        <p:txBody>
          <a:bodyPr lIns="0" tIns="0" rIns="0" bIns="0" rtlCol="0" anchor="t">
            <a:spAutoFit/>
          </a:bodyPr>
          <a:lstStyle/>
          <a:p>
            <a:pPr algn="l">
              <a:lnSpc>
                <a:spcPts val="2520"/>
              </a:lnSpc>
            </a:pPr>
            <a:r>
              <a:rPr lang="en-US" sz="2100" spc="450">
                <a:solidFill>
                  <a:srgbClr val="BFBFBF"/>
                </a:solidFill>
                <a:latin typeface="Arial"/>
                <a:ea typeface="Arial"/>
                <a:cs typeface="Arial"/>
                <a:sym typeface="Arial"/>
              </a:rPr>
              <a:t>www.viettelhightech.vn </a:t>
            </a:r>
          </a:p>
        </p:txBody>
      </p:sp>
      <p:sp>
        <p:nvSpPr>
          <p:cNvPr id="16" name="TextBox 16"/>
          <p:cNvSpPr txBox="1"/>
          <p:nvPr/>
        </p:nvSpPr>
        <p:spPr>
          <a:xfrm>
            <a:off x="451542" y="2139568"/>
            <a:ext cx="16530909" cy="1007364"/>
          </a:xfrm>
          <a:prstGeom prst="rect">
            <a:avLst/>
          </a:prstGeom>
        </p:spPr>
        <p:txBody>
          <a:bodyPr lIns="0" tIns="0" rIns="0" bIns="0" rtlCol="0" anchor="t">
            <a:spAutoFit/>
          </a:bodyPr>
          <a:lstStyle/>
          <a:p>
            <a:pPr algn="l">
              <a:lnSpc>
                <a:spcPts val="3888"/>
              </a:lnSpc>
              <a:spcBef>
                <a:spcPct val="0"/>
              </a:spcBef>
            </a:pPr>
            <a:r>
              <a:rPr lang="en-US" sz="3600">
                <a:solidFill>
                  <a:srgbClr val="000000"/>
                </a:solidFill>
                <a:latin typeface="Arial"/>
                <a:ea typeface="Arial"/>
                <a:cs typeface="Arial"/>
                <a:sym typeface="Arial"/>
              </a:rPr>
              <a:t>Khi chương trình được chạy, đối với hàm main() luôn có thể truyền vào 2 đối số gọi là đối số dòng lệnh </a:t>
            </a:r>
          </a:p>
        </p:txBody>
      </p:sp>
      <p:sp>
        <p:nvSpPr>
          <p:cNvPr id="17" name="TextBox 17"/>
          <p:cNvSpPr txBox="1"/>
          <p:nvPr/>
        </p:nvSpPr>
        <p:spPr>
          <a:xfrm>
            <a:off x="451542" y="1237783"/>
            <a:ext cx="6887599" cy="521589"/>
          </a:xfrm>
          <a:prstGeom prst="rect">
            <a:avLst/>
          </a:prstGeom>
        </p:spPr>
        <p:txBody>
          <a:bodyPr lIns="0" tIns="0" rIns="0" bIns="0" rtlCol="0" anchor="t">
            <a:spAutoFit/>
          </a:bodyPr>
          <a:lstStyle/>
          <a:p>
            <a:pPr algn="l">
              <a:lnSpc>
                <a:spcPts val="3888"/>
              </a:lnSpc>
              <a:spcBef>
                <a:spcPct val="0"/>
              </a:spcBef>
            </a:pPr>
            <a:r>
              <a:rPr lang="en-US" sz="3600">
                <a:solidFill>
                  <a:srgbClr val="EE0033"/>
                </a:solidFill>
                <a:latin typeface="Arial"/>
                <a:ea typeface="Arial"/>
                <a:cs typeface="Arial"/>
                <a:sym typeface="Arial"/>
              </a:rPr>
              <a:t>Đối số dòng lệnh:</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3">
              <a:alphaModFix amt="19999"/>
            </a:blip>
            <a:stretch>
              <a:fillRect/>
            </a:stretch>
          </a:blipFill>
        </p:spPr>
      </p:sp>
      <p:sp>
        <p:nvSpPr>
          <p:cNvPr id="3" name="Freeform 3"/>
          <p:cNvSpPr/>
          <p:nvPr/>
        </p:nvSpPr>
        <p:spPr>
          <a:xfrm>
            <a:off x="1221829" y="3061811"/>
            <a:ext cx="3059678" cy="3059678"/>
          </a:xfrm>
          <a:custGeom>
            <a:avLst/>
            <a:gdLst/>
            <a:ahLst/>
            <a:cxnLst/>
            <a:rect l="l" t="t" r="r" b="b"/>
            <a:pathLst>
              <a:path w="3059678" h="3059678">
                <a:moveTo>
                  <a:pt x="0" y="0"/>
                </a:moveTo>
                <a:lnTo>
                  <a:pt x="3059678" y="0"/>
                </a:lnTo>
                <a:lnTo>
                  <a:pt x="3059678" y="3059678"/>
                </a:lnTo>
                <a:lnTo>
                  <a:pt x="0" y="3059678"/>
                </a:lnTo>
                <a:lnTo>
                  <a:pt x="0" y="0"/>
                </a:lnTo>
                <a:close/>
              </a:path>
            </a:pathLst>
          </a:custGeom>
          <a:blipFill>
            <a:blip r:embed="rId4">
              <a:extLst>
                <a:ext uri="{96DAC541-7B7A-43D3-8B79-37D633B846F1}">
                  <asvg:svgBlip xmlns:asvg="http://schemas.microsoft.com/office/drawing/2016/SVG/main" xmlns="" r:embed="rId5"/>
                </a:ext>
              </a:extLst>
            </a:blip>
            <a:stretch>
              <a:fillRect/>
            </a:stretch>
          </a:blipFill>
        </p:spPr>
      </p:sp>
      <p:sp>
        <p:nvSpPr>
          <p:cNvPr id="4" name="TextBox 4"/>
          <p:cNvSpPr txBox="1"/>
          <p:nvPr/>
        </p:nvSpPr>
        <p:spPr>
          <a:xfrm>
            <a:off x="1887865" y="3743916"/>
            <a:ext cx="1913106" cy="369599"/>
          </a:xfrm>
          <a:prstGeom prst="rect">
            <a:avLst/>
          </a:prstGeom>
        </p:spPr>
        <p:txBody>
          <a:bodyPr lIns="0" tIns="0" rIns="0" bIns="0" rtlCol="0" anchor="t">
            <a:spAutoFit/>
          </a:bodyPr>
          <a:lstStyle/>
          <a:p>
            <a:pPr algn="just">
              <a:lnSpc>
                <a:spcPts val="2879"/>
              </a:lnSpc>
            </a:pPr>
            <a:r>
              <a:rPr lang="en-US" sz="2400">
                <a:solidFill>
                  <a:srgbClr val="FFFFFF"/>
                </a:solidFill>
                <a:latin typeface="Roboto"/>
                <a:ea typeface="Roboto"/>
                <a:cs typeface="Roboto"/>
                <a:sym typeface="Roboto"/>
              </a:rPr>
              <a:t>PHẦN</a:t>
            </a:r>
          </a:p>
        </p:txBody>
      </p:sp>
      <p:grpSp>
        <p:nvGrpSpPr>
          <p:cNvPr id="5" name="Group 5"/>
          <p:cNvGrpSpPr/>
          <p:nvPr/>
        </p:nvGrpSpPr>
        <p:grpSpPr>
          <a:xfrm>
            <a:off x="4624521" y="4498210"/>
            <a:ext cx="1487672" cy="130559"/>
            <a:chOff x="0" y="0"/>
            <a:chExt cx="1983562" cy="174079"/>
          </a:xfrm>
        </p:grpSpPr>
        <p:sp>
          <p:nvSpPr>
            <p:cNvPr id="6" name="Freeform 6"/>
            <p:cNvSpPr/>
            <p:nvPr/>
          </p:nvSpPr>
          <p:spPr>
            <a:xfrm>
              <a:off x="0" y="0"/>
              <a:ext cx="1983613" cy="174117"/>
            </a:xfrm>
            <a:custGeom>
              <a:avLst/>
              <a:gdLst/>
              <a:ahLst/>
              <a:cxnLst/>
              <a:rect l="l" t="t" r="r" b="b"/>
              <a:pathLst>
                <a:path w="1983613" h="174117">
                  <a:moveTo>
                    <a:pt x="0" y="0"/>
                  </a:moveTo>
                  <a:lnTo>
                    <a:pt x="1983613" y="0"/>
                  </a:lnTo>
                  <a:lnTo>
                    <a:pt x="1983613" y="174117"/>
                  </a:lnTo>
                  <a:lnTo>
                    <a:pt x="0" y="174117"/>
                  </a:lnTo>
                  <a:close/>
                </a:path>
              </a:pathLst>
            </a:custGeom>
            <a:blipFill>
              <a:blip r:embed="rId6">
                <a:alphaModFix amt="0"/>
              </a:blip>
              <a:stretch>
                <a:fillRect t="-171986" r="2" b="-171965"/>
              </a:stretch>
            </a:blipFill>
            <a:ln w="14288" cap="sq">
              <a:solidFill>
                <a:srgbClr val="EE0032"/>
              </a:solidFill>
              <a:prstDash val="solid"/>
              <a:miter/>
            </a:ln>
          </p:spPr>
        </p:sp>
      </p:grpSp>
      <p:sp>
        <p:nvSpPr>
          <p:cNvPr id="7" name="AutoShape 7"/>
          <p:cNvSpPr/>
          <p:nvPr/>
        </p:nvSpPr>
        <p:spPr>
          <a:xfrm rot="7620">
            <a:off x="6009151" y="4558722"/>
            <a:ext cx="10156155" cy="0"/>
          </a:xfrm>
          <a:prstGeom prst="line">
            <a:avLst/>
          </a:prstGeom>
          <a:ln w="9525" cap="rnd">
            <a:solidFill>
              <a:srgbClr val="EE0032"/>
            </a:solidFill>
            <a:prstDash val="solid"/>
            <a:headEnd type="none" w="sm" len="sm"/>
            <a:tailEnd type="none" w="sm" len="sm"/>
          </a:ln>
        </p:spPr>
      </p:sp>
      <p:grpSp>
        <p:nvGrpSpPr>
          <p:cNvPr id="8" name="Group 8"/>
          <p:cNvGrpSpPr/>
          <p:nvPr/>
        </p:nvGrpSpPr>
        <p:grpSpPr>
          <a:xfrm>
            <a:off x="530657" y="459334"/>
            <a:ext cx="2363524" cy="991476"/>
            <a:chOff x="0" y="0"/>
            <a:chExt cx="3151365" cy="1321968"/>
          </a:xfrm>
        </p:grpSpPr>
        <p:sp>
          <p:nvSpPr>
            <p:cNvPr id="9" name="Freeform 9"/>
            <p:cNvSpPr/>
            <p:nvPr/>
          </p:nvSpPr>
          <p:spPr>
            <a:xfrm>
              <a:off x="0" y="0"/>
              <a:ext cx="3151378" cy="1321943"/>
            </a:xfrm>
            <a:custGeom>
              <a:avLst/>
              <a:gdLst/>
              <a:ahLst/>
              <a:cxnLst/>
              <a:rect l="l" t="t" r="r" b="b"/>
              <a:pathLst>
                <a:path w="3151378" h="1321943">
                  <a:moveTo>
                    <a:pt x="0" y="0"/>
                  </a:moveTo>
                  <a:lnTo>
                    <a:pt x="3151378" y="0"/>
                  </a:lnTo>
                  <a:lnTo>
                    <a:pt x="3151378" y="1321943"/>
                  </a:lnTo>
                  <a:lnTo>
                    <a:pt x="0" y="1321943"/>
                  </a:lnTo>
                  <a:lnTo>
                    <a:pt x="0" y="0"/>
                  </a:lnTo>
                  <a:close/>
                </a:path>
              </a:pathLst>
            </a:custGeom>
            <a:blipFill>
              <a:blip r:embed="rId7"/>
              <a:stretch>
                <a:fillRect r="-83" b="-3484"/>
              </a:stretch>
            </a:blipFill>
          </p:spPr>
        </p:sp>
      </p:grpSp>
      <p:sp>
        <p:nvSpPr>
          <p:cNvPr id="10" name="TextBox 10"/>
          <p:cNvSpPr txBox="1"/>
          <p:nvPr/>
        </p:nvSpPr>
        <p:spPr>
          <a:xfrm>
            <a:off x="4667583" y="3887105"/>
            <a:ext cx="12984594" cy="521589"/>
          </a:xfrm>
          <a:prstGeom prst="rect">
            <a:avLst/>
          </a:prstGeom>
        </p:spPr>
        <p:txBody>
          <a:bodyPr lIns="0" tIns="0" rIns="0" bIns="0" rtlCol="0" anchor="t">
            <a:spAutoFit/>
          </a:bodyPr>
          <a:lstStyle/>
          <a:p>
            <a:pPr algn="l">
              <a:lnSpc>
                <a:spcPts val="3888"/>
              </a:lnSpc>
            </a:pPr>
            <a:r>
              <a:rPr lang="en-US" sz="3600">
                <a:solidFill>
                  <a:srgbClr val="EE0033"/>
                </a:solidFill>
                <a:latin typeface="Arial"/>
                <a:ea typeface="Arial"/>
                <a:cs typeface="Arial"/>
                <a:sym typeface="Arial"/>
              </a:rPr>
              <a:t>THREAD</a:t>
            </a:r>
          </a:p>
        </p:txBody>
      </p:sp>
      <p:sp>
        <p:nvSpPr>
          <p:cNvPr id="11" name="TextBox 11"/>
          <p:cNvSpPr txBox="1"/>
          <p:nvPr/>
        </p:nvSpPr>
        <p:spPr>
          <a:xfrm>
            <a:off x="2242128" y="4241321"/>
            <a:ext cx="1188482" cy="1085827"/>
          </a:xfrm>
          <a:prstGeom prst="rect">
            <a:avLst/>
          </a:prstGeom>
        </p:spPr>
        <p:txBody>
          <a:bodyPr lIns="0" tIns="0" rIns="0" bIns="0" rtlCol="0" anchor="t">
            <a:spAutoFit/>
          </a:bodyPr>
          <a:lstStyle/>
          <a:p>
            <a:pPr algn="ctr">
              <a:lnSpc>
                <a:spcPts val="8098"/>
              </a:lnSpc>
            </a:pPr>
            <a:r>
              <a:rPr lang="en-US" sz="7498">
                <a:solidFill>
                  <a:srgbClr val="FFFFFF"/>
                </a:solidFill>
                <a:latin typeface="Arial"/>
                <a:ea typeface="Arial"/>
                <a:cs typeface="Arial"/>
                <a:sym typeface="Arial"/>
              </a:rPr>
              <a:t>II</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9206494"/>
            <a:ext cx="18288000" cy="1080506"/>
            <a:chOff x="0" y="0"/>
            <a:chExt cx="24384000" cy="1440675"/>
          </a:xfrm>
        </p:grpSpPr>
        <p:sp>
          <p:nvSpPr>
            <p:cNvPr id="3" name="Freeform 3"/>
            <p:cNvSpPr/>
            <p:nvPr/>
          </p:nvSpPr>
          <p:spPr>
            <a:xfrm>
              <a:off x="0" y="0"/>
              <a:ext cx="24384000" cy="1440688"/>
            </a:xfrm>
            <a:custGeom>
              <a:avLst/>
              <a:gdLst/>
              <a:ahLst/>
              <a:cxnLst/>
              <a:rect l="l" t="t" r="r" b="b"/>
              <a:pathLst>
                <a:path w="24384000" h="1440688">
                  <a:moveTo>
                    <a:pt x="0" y="0"/>
                  </a:moveTo>
                  <a:lnTo>
                    <a:pt x="24384000" y="0"/>
                  </a:lnTo>
                  <a:lnTo>
                    <a:pt x="24384000" y="1440688"/>
                  </a:lnTo>
                  <a:lnTo>
                    <a:pt x="0" y="1440688"/>
                  </a:lnTo>
                  <a:lnTo>
                    <a:pt x="0" y="0"/>
                  </a:lnTo>
                  <a:close/>
                </a:path>
              </a:pathLst>
            </a:custGeom>
            <a:blipFill>
              <a:blip r:embed="rId3"/>
              <a:stretch>
                <a:fillRect t="-364" b="-364"/>
              </a:stretch>
            </a:blipFill>
          </p:spPr>
        </p:sp>
      </p:grpSp>
      <p:grpSp>
        <p:nvGrpSpPr>
          <p:cNvPr id="4" name="Group 4"/>
          <p:cNvGrpSpPr/>
          <p:nvPr/>
        </p:nvGrpSpPr>
        <p:grpSpPr>
          <a:xfrm>
            <a:off x="15473315" y="9370285"/>
            <a:ext cx="1741541" cy="745693"/>
            <a:chOff x="0" y="0"/>
            <a:chExt cx="2322055" cy="994258"/>
          </a:xfrm>
        </p:grpSpPr>
        <p:sp>
          <p:nvSpPr>
            <p:cNvPr id="5" name="Freeform 5"/>
            <p:cNvSpPr/>
            <p:nvPr/>
          </p:nvSpPr>
          <p:spPr>
            <a:xfrm>
              <a:off x="0" y="0"/>
              <a:ext cx="2322068" cy="994283"/>
            </a:xfrm>
            <a:custGeom>
              <a:avLst/>
              <a:gdLst/>
              <a:ahLst/>
              <a:cxnLst/>
              <a:rect l="l" t="t" r="r" b="b"/>
              <a:pathLst>
                <a:path w="2322068" h="994283">
                  <a:moveTo>
                    <a:pt x="0" y="0"/>
                  </a:moveTo>
                  <a:lnTo>
                    <a:pt x="2322068" y="0"/>
                  </a:lnTo>
                  <a:lnTo>
                    <a:pt x="2322068" y="994283"/>
                  </a:lnTo>
                  <a:lnTo>
                    <a:pt x="0" y="994283"/>
                  </a:lnTo>
                  <a:lnTo>
                    <a:pt x="0" y="0"/>
                  </a:lnTo>
                  <a:close/>
                </a:path>
              </a:pathLst>
            </a:custGeom>
            <a:blipFill>
              <a:blip r:embed="rId4"/>
              <a:stretch>
                <a:fillRect b="-1456"/>
              </a:stretch>
            </a:blipFill>
          </p:spPr>
        </p:sp>
      </p:grpSp>
      <p:grpSp>
        <p:nvGrpSpPr>
          <p:cNvPr id="6" name="Group 6"/>
          <p:cNvGrpSpPr/>
          <p:nvPr/>
        </p:nvGrpSpPr>
        <p:grpSpPr>
          <a:xfrm>
            <a:off x="9981438" y="9581550"/>
            <a:ext cx="4114800" cy="392420"/>
            <a:chOff x="0" y="0"/>
            <a:chExt cx="5486400" cy="523227"/>
          </a:xfrm>
        </p:grpSpPr>
        <p:sp>
          <p:nvSpPr>
            <p:cNvPr id="7" name="Freeform 7"/>
            <p:cNvSpPr/>
            <p:nvPr/>
          </p:nvSpPr>
          <p:spPr>
            <a:xfrm>
              <a:off x="0" y="0"/>
              <a:ext cx="5486400" cy="523222"/>
            </a:xfrm>
            <a:custGeom>
              <a:avLst/>
              <a:gdLst/>
              <a:ahLst/>
              <a:cxnLst/>
              <a:rect l="l" t="t" r="r" b="b"/>
              <a:pathLst>
                <a:path w="5486400" h="523222">
                  <a:moveTo>
                    <a:pt x="0" y="0"/>
                  </a:moveTo>
                  <a:lnTo>
                    <a:pt x="5486400" y="0"/>
                  </a:lnTo>
                  <a:lnTo>
                    <a:pt x="5486400" y="523222"/>
                  </a:lnTo>
                  <a:lnTo>
                    <a:pt x="0" y="523222"/>
                  </a:lnTo>
                  <a:close/>
                </a:path>
              </a:pathLst>
            </a:custGeom>
            <a:blipFill>
              <a:blip r:embed="rId5">
                <a:alphaModFix amt="0"/>
              </a:blip>
              <a:stretch>
                <a:fillRect t="-154315" b="-154316"/>
              </a:stretch>
            </a:blipFill>
          </p:spPr>
        </p:sp>
        <p:sp>
          <p:nvSpPr>
            <p:cNvPr id="8" name="TextBox 8"/>
            <p:cNvSpPr txBox="1"/>
            <p:nvPr/>
          </p:nvSpPr>
          <p:spPr>
            <a:xfrm>
              <a:off x="0" y="-9525"/>
              <a:ext cx="5486400" cy="532752"/>
            </a:xfrm>
            <a:prstGeom prst="rect">
              <a:avLst/>
            </a:prstGeom>
          </p:spPr>
          <p:txBody>
            <a:bodyPr lIns="0" tIns="0" rIns="0" bIns="0" rtlCol="0" anchor="ctr"/>
            <a:lstStyle/>
            <a:p>
              <a:pPr algn="r">
                <a:lnSpc>
                  <a:spcPts val="2520"/>
                </a:lnSpc>
              </a:pPr>
              <a:r>
                <a:rPr lang="en-US" sz="2100">
                  <a:solidFill>
                    <a:srgbClr val="BFBFBF"/>
                  </a:solidFill>
                  <a:latin typeface="Roboto"/>
                  <a:ea typeface="Roboto"/>
                  <a:cs typeface="Roboto"/>
                  <a:sym typeface="Roboto"/>
                </a:rPr>
                <a:t>‹#›</a:t>
              </a:r>
            </a:p>
          </p:txBody>
        </p:sp>
      </p:grpSp>
      <p:sp>
        <p:nvSpPr>
          <p:cNvPr id="9" name="Freeform 9"/>
          <p:cNvSpPr/>
          <p:nvPr/>
        </p:nvSpPr>
        <p:spPr>
          <a:xfrm>
            <a:off x="840743" y="2324285"/>
            <a:ext cx="6099458" cy="6439986"/>
          </a:xfrm>
          <a:custGeom>
            <a:avLst/>
            <a:gdLst/>
            <a:ahLst/>
            <a:cxnLst/>
            <a:rect l="l" t="t" r="r" b="b"/>
            <a:pathLst>
              <a:path w="6099458" h="6439986">
                <a:moveTo>
                  <a:pt x="0" y="0"/>
                </a:moveTo>
                <a:lnTo>
                  <a:pt x="6099458" y="0"/>
                </a:lnTo>
                <a:lnTo>
                  <a:pt x="6099458" y="6439986"/>
                </a:lnTo>
                <a:lnTo>
                  <a:pt x="0" y="6439986"/>
                </a:lnTo>
                <a:lnTo>
                  <a:pt x="0" y="0"/>
                </a:lnTo>
                <a:close/>
              </a:path>
            </a:pathLst>
          </a:custGeom>
          <a:blipFill>
            <a:blip r:embed="rId6"/>
            <a:stretch>
              <a:fillRect/>
            </a:stretch>
          </a:blipFill>
        </p:spPr>
      </p:sp>
      <p:sp>
        <p:nvSpPr>
          <p:cNvPr id="10" name="Freeform 10"/>
          <p:cNvSpPr/>
          <p:nvPr/>
        </p:nvSpPr>
        <p:spPr>
          <a:xfrm>
            <a:off x="7825203" y="5678821"/>
            <a:ext cx="9918013" cy="2073659"/>
          </a:xfrm>
          <a:custGeom>
            <a:avLst/>
            <a:gdLst/>
            <a:ahLst/>
            <a:cxnLst/>
            <a:rect l="l" t="t" r="r" b="b"/>
            <a:pathLst>
              <a:path w="9918013" h="2073659">
                <a:moveTo>
                  <a:pt x="0" y="0"/>
                </a:moveTo>
                <a:lnTo>
                  <a:pt x="9918013" y="0"/>
                </a:lnTo>
                <a:lnTo>
                  <a:pt x="9918013" y="2073658"/>
                </a:lnTo>
                <a:lnTo>
                  <a:pt x="0" y="2073658"/>
                </a:lnTo>
                <a:lnTo>
                  <a:pt x="0" y="0"/>
                </a:lnTo>
                <a:close/>
              </a:path>
            </a:pathLst>
          </a:custGeom>
          <a:blipFill>
            <a:blip r:embed="rId7"/>
            <a:stretch>
              <a:fillRect/>
            </a:stretch>
          </a:blipFill>
        </p:spPr>
      </p:sp>
      <p:sp>
        <p:nvSpPr>
          <p:cNvPr id="11" name="TextBox 11"/>
          <p:cNvSpPr txBox="1"/>
          <p:nvPr/>
        </p:nvSpPr>
        <p:spPr>
          <a:xfrm>
            <a:off x="840743" y="9548498"/>
            <a:ext cx="7754617" cy="323850"/>
          </a:xfrm>
          <a:prstGeom prst="rect">
            <a:avLst/>
          </a:prstGeom>
        </p:spPr>
        <p:txBody>
          <a:bodyPr lIns="0" tIns="0" rIns="0" bIns="0" rtlCol="0" anchor="t">
            <a:spAutoFit/>
          </a:bodyPr>
          <a:lstStyle/>
          <a:p>
            <a:pPr algn="l">
              <a:lnSpc>
                <a:spcPts val="2520"/>
              </a:lnSpc>
            </a:pPr>
            <a:r>
              <a:rPr lang="en-US" sz="2100" spc="450">
                <a:solidFill>
                  <a:srgbClr val="BFBFBF"/>
                </a:solidFill>
                <a:latin typeface="Arial"/>
                <a:ea typeface="Arial"/>
                <a:cs typeface="Arial"/>
                <a:sym typeface="Arial"/>
              </a:rPr>
              <a:t>www.viettelhightech.vn </a:t>
            </a:r>
          </a:p>
        </p:txBody>
      </p:sp>
      <p:sp>
        <p:nvSpPr>
          <p:cNvPr id="12" name="TextBox 12"/>
          <p:cNvSpPr txBox="1"/>
          <p:nvPr/>
        </p:nvSpPr>
        <p:spPr>
          <a:xfrm>
            <a:off x="451542" y="1151186"/>
            <a:ext cx="16763314" cy="734949"/>
          </a:xfrm>
          <a:prstGeom prst="rect">
            <a:avLst/>
          </a:prstGeom>
        </p:spPr>
        <p:txBody>
          <a:bodyPr lIns="0" tIns="0" rIns="0" bIns="0" rtlCol="0" anchor="t">
            <a:spAutoFit/>
          </a:bodyPr>
          <a:lstStyle/>
          <a:p>
            <a:pPr algn="l">
              <a:lnSpc>
                <a:spcPts val="2808"/>
              </a:lnSpc>
              <a:spcBef>
                <a:spcPct val="0"/>
              </a:spcBef>
            </a:pPr>
            <a:r>
              <a:rPr lang="en-US" sz="2600">
                <a:solidFill>
                  <a:srgbClr val="000000"/>
                </a:solidFill>
                <a:latin typeface="Arial"/>
                <a:ea typeface="Arial"/>
                <a:cs typeface="Arial"/>
                <a:sym typeface="Arial"/>
              </a:rPr>
              <a:t>Thread (luồng) là một cơ chế cho phép một ứng dụng thực hiện nhiều tác vụ đồng thời. Một process có thể chứa nhiều thread.</a:t>
            </a:r>
          </a:p>
        </p:txBody>
      </p:sp>
      <p:sp>
        <p:nvSpPr>
          <p:cNvPr id="13" name="TextBox 13"/>
          <p:cNvSpPr txBox="1"/>
          <p:nvPr/>
        </p:nvSpPr>
        <p:spPr>
          <a:xfrm>
            <a:off x="8102904" y="2432583"/>
            <a:ext cx="9362611" cy="1792224"/>
          </a:xfrm>
          <a:prstGeom prst="rect">
            <a:avLst/>
          </a:prstGeom>
        </p:spPr>
        <p:txBody>
          <a:bodyPr lIns="0" tIns="0" rIns="0" bIns="0" rtlCol="0" anchor="t">
            <a:spAutoFit/>
          </a:bodyPr>
          <a:lstStyle/>
          <a:p>
            <a:pPr algn="l">
              <a:lnSpc>
                <a:spcPts val="2808"/>
              </a:lnSpc>
              <a:spcBef>
                <a:spcPct val="0"/>
              </a:spcBef>
            </a:pPr>
            <a:r>
              <a:rPr lang="en-US" sz="2600">
                <a:solidFill>
                  <a:srgbClr val="000000"/>
                </a:solidFill>
                <a:latin typeface="Arial"/>
                <a:ea typeface="Arial"/>
                <a:cs typeface="Arial"/>
                <a:sym typeface="Arial"/>
              </a:rPr>
              <a:t>Tất cả các thread này đều thực thi độc lập và cùng chia sẻ vùng nhớ bao gồm:</a:t>
            </a:r>
          </a:p>
          <a:p>
            <a:pPr marL="561341" lvl="1" indent="-280670" algn="l">
              <a:lnSpc>
                <a:spcPts val="2808"/>
              </a:lnSpc>
              <a:spcBef>
                <a:spcPct val="0"/>
              </a:spcBef>
              <a:buFont typeface="Arial"/>
              <a:buChar char="•"/>
            </a:pPr>
            <a:r>
              <a:rPr lang="en-US" sz="2600">
                <a:solidFill>
                  <a:srgbClr val="000000"/>
                </a:solidFill>
                <a:latin typeface="Arial"/>
                <a:ea typeface="Arial"/>
                <a:cs typeface="Arial"/>
                <a:sym typeface="Arial"/>
              </a:rPr>
              <a:t>initialized data</a:t>
            </a:r>
          </a:p>
          <a:p>
            <a:pPr marL="561341" lvl="1" indent="-280670" algn="l">
              <a:lnSpc>
                <a:spcPts val="2808"/>
              </a:lnSpc>
              <a:spcBef>
                <a:spcPct val="0"/>
              </a:spcBef>
              <a:buFont typeface="Arial"/>
              <a:buChar char="•"/>
            </a:pPr>
            <a:r>
              <a:rPr lang="en-US" sz="2600">
                <a:solidFill>
                  <a:srgbClr val="000000"/>
                </a:solidFill>
                <a:latin typeface="Arial"/>
                <a:ea typeface="Arial"/>
                <a:cs typeface="Arial"/>
                <a:sym typeface="Arial"/>
              </a:rPr>
              <a:t>uninitialized data</a:t>
            </a:r>
          </a:p>
          <a:p>
            <a:pPr marL="561341" lvl="1" indent="-280670" algn="l">
              <a:lnSpc>
                <a:spcPts val="2808"/>
              </a:lnSpc>
              <a:spcBef>
                <a:spcPct val="0"/>
              </a:spcBef>
              <a:buFont typeface="Arial"/>
              <a:buChar char="•"/>
            </a:pPr>
            <a:r>
              <a:rPr lang="en-US" sz="2600">
                <a:solidFill>
                  <a:srgbClr val="000000"/>
                </a:solidFill>
                <a:latin typeface="Arial"/>
                <a:ea typeface="Arial"/>
                <a:cs typeface="Arial"/>
                <a:sym typeface="Arial"/>
              </a:rPr>
              <a:t>heap</a:t>
            </a:r>
          </a:p>
        </p:txBody>
      </p:sp>
      <p:sp>
        <p:nvSpPr>
          <p:cNvPr id="14" name="TextBox 14"/>
          <p:cNvSpPr txBox="1"/>
          <p:nvPr/>
        </p:nvSpPr>
        <p:spPr>
          <a:xfrm>
            <a:off x="8102904" y="4682007"/>
            <a:ext cx="9389076" cy="734949"/>
          </a:xfrm>
          <a:prstGeom prst="rect">
            <a:avLst/>
          </a:prstGeom>
        </p:spPr>
        <p:txBody>
          <a:bodyPr lIns="0" tIns="0" rIns="0" bIns="0" rtlCol="0" anchor="t">
            <a:spAutoFit/>
          </a:bodyPr>
          <a:lstStyle/>
          <a:p>
            <a:pPr algn="l">
              <a:lnSpc>
                <a:spcPts val="2808"/>
              </a:lnSpc>
              <a:spcBef>
                <a:spcPct val="0"/>
              </a:spcBef>
            </a:pPr>
            <a:r>
              <a:rPr lang="en-US" sz="2600">
                <a:solidFill>
                  <a:srgbClr val="000000"/>
                </a:solidFill>
                <a:latin typeface="Arial"/>
                <a:ea typeface="Arial"/>
                <a:cs typeface="Arial"/>
                <a:sym typeface="Arial"/>
              </a:rPr>
              <a:t>Chia sẻ thông tin giữa các thread rất dễ dàng và nhanh chóng hơn process.</a:t>
            </a:r>
          </a:p>
        </p:txBody>
      </p:sp>
      <p:sp>
        <p:nvSpPr>
          <p:cNvPr id="15" name="TextBox 15"/>
          <p:cNvSpPr txBox="1"/>
          <p:nvPr/>
        </p:nvSpPr>
        <p:spPr>
          <a:xfrm>
            <a:off x="8102904" y="8019179"/>
            <a:ext cx="6603696" cy="359073"/>
          </a:xfrm>
          <a:prstGeom prst="rect">
            <a:avLst/>
          </a:prstGeom>
        </p:spPr>
        <p:txBody>
          <a:bodyPr wrap="square" lIns="0" tIns="0" rIns="0" bIns="0" rtlCol="0" anchor="t">
            <a:spAutoFit/>
          </a:bodyPr>
          <a:lstStyle/>
          <a:p>
            <a:pPr algn="ctr">
              <a:lnSpc>
                <a:spcPts val="2808"/>
              </a:lnSpc>
              <a:spcBef>
                <a:spcPct val="0"/>
              </a:spcBef>
            </a:pPr>
            <a:r>
              <a:rPr lang="en-US" sz="2600" dirty="0">
                <a:solidFill>
                  <a:srgbClr val="000000"/>
                </a:solidFill>
                <a:latin typeface="Arial"/>
                <a:ea typeface="Arial"/>
                <a:cs typeface="Arial"/>
                <a:sym typeface="Arial"/>
              </a:rPr>
              <a:t>Process </a:t>
            </a:r>
            <a:r>
              <a:rPr lang="en-US" sz="2600" dirty="0" err="1">
                <a:solidFill>
                  <a:srgbClr val="000000"/>
                </a:solidFill>
                <a:latin typeface="Arial"/>
                <a:ea typeface="Arial"/>
                <a:cs typeface="Arial"/>
                <a:sym typeface="Arial"/>
              </a:rPr>
              <a:t>kết</a:t>
            </a:r>
            <a:r>
              <a:rPr lang="en-US" sz="2600" dirty="0">
                <a:solidFill>
                  <a:srgbClr val="000000"/>
                </a:solidFill>
                <a:latin typeface="Arial"/>
                <a:ea typeface="Arial"/>
                <a:cs typeface="Arial"/>
                <a:sym typeface="Arial"/>
              </a:rPr>
              <a:t> </a:t>
            </a:r>
            <a:r>
              <a:rPr lang="en-US" sz="2600" dirty="0" err="1">
                <a:solidFill>
                  <a:srgbClr val="000000"/>
                </a:solidFill>
                <a:latin typeface="Arial"/>
                <a:ea typeface="Arial"/>
                <a:cs typeface="Arial"/>
                <a:sym typeface="Arial"/>
              </a:rPr>
              <a:t>thúc</a:t>
            </a:r>
            <a:r>
              <a:rPr lang="en-US" sz="2600" dirty="0">
                <a:solidFill>
                  <a:srgbClr val="000000"/>
                </a:solidFill>
                <a:latin typeface="Arial"/>
                <a:ea typeface="Arial"/>
                <a:cs typeface="Arial"/>
                <a:sym typeface="Arial"/>
              </a:rPr>
              <a:t>, </a:t>
            </a:r>
            <a:r>
              <a:rPr lang="en-US" sz="2600" dirty="0" err="1">
                <a:solidFill>
                  <a:srgbClr val="000000"/>
                </a:solidFill>
                <a:latin typeface="Arial"/>
                <a:ea typeface="Arial"/>
                <a:cs typeface="Arial"/>
                <a:sym typeface="Arial"/>
              </a:rPr>
              <a:t>mọi</a:t>
            </a:r>
            <a:r>
              <a:rPr lang="en-US" sz="2600" dirty="0">
                <a:solidFill>
                  <a:srgbClr val="000000"/>
                </a:solidFill>
                <a:latin typeface="Arial"/>
                <a:ea typeface="Arial"/>
                <a:cs typeface="Arial"/>
                <a:sym typeface="Arial"/>
              </a:rPr>
              <a:t> thread </a:t>
            </a:r>
            <a:r>
              <a:rPr lang="en-US" sz="2600" dirty="0" err="1">
                <a:solidFill>
                  <a:srgbClr val="000000"/>
                </a:solidFill>
                <a:latin typeface="Arial"/>
                <a:ea typeface="Arial"/>
                <a:cs typeface="Arial"/>
                <a:sym typeface="Arial"/>
              </a:rPr>
              <a:t>chết</a:t>
            </a:r>
            <a:r>
              <a:rPr lang="en-US" sz="2600" dirty="0">
                <a:solidFill>
                  <a:srgbClr val="000000"/>
                </a:solidFill>
                <a:latin typeface="Arial"/>
                <a:ea typeface="Arial"/>
                <a:cs typeface="Arial"/>
                <a:sym typeface="Arial"/>
              </a:rPr>
              <a:t> </a:t>
            </a:r>
            <a:r>
              <a:rPr lang="en-US" sz="2600" dirty="0" err="1">
                <a:solidFill>
                  <a:srgbClr val="000000"/>
                </a:solidFill>
                <a:latin typeface="Arial"/>
                <a:ea typeface="Arial"/>
                <a:cs typeface="Arial"/>
                <a:sym typeface="Arial"/>
              </a:rPr>
              <a:t>theo.</a:t>
            </a:r>
            <a:endParaRPr lang="en-US" sz="2600" dirty="0">
              <a:solidFill>
                <a:srgbClr val="000000"/>
              </a:solidFill>
              <a:latin typeface="Arial"/>
              <a:ea typeface="Arial"/>
              <a:cs typeface="Arial"/>
              <a:sym typeface="Arial"/>
            </a:endParaRPr>
          </a:p>
        </p:txBody>
      </p:sp>
      <p:grpSp>
        <p:nvGrpSpPr>
          <p:cNvPr id="16" name="Group 16"/>
          <p:cNvGrpSpPr/>
          <p:nvPr/>
        </p:nvGrpSpPr>
        <p:grpSpPr>
          <a:xfrm>
            <a:off x="451542" y="300771"/>
            <a:ext cx="15770323" cy="767782"/>
            <a:chOff x="0" y="0"/>
            <a:chExt cx="21027098" cy="1023710"/>
          </a:xfrm>
        </p:grpSpPr>
        <p:sp>
          <p:nvSpPr>
            <p:cNvPr id="17" name="Freeform 17"/>
            <p:cNvSpPr/>
            <p:nvPr/>
          </p:nvSpPr>
          <p:spPr>
            <a:xfrm>
              <a:off x="0" y="0"/>
              <a:ext cx="21027095" cy="1023711"/>
            </a:xfrm>
            <a:custGeom>
              <a:avLst/>
              <a:gdLst/>
              <a:ahLst/>
              <a:cxnLst/>
              <a:rect l="l" t="t" r="r" b="b"/>
              <a:pathLst>
                <a:path w="21027095" h="1023711">
                  <a:moveTo>
                    <a:pt x="0" y="0"/>
                  </a:moveTo>
                  <a:lnTo>
                    <a:pt x="21027095" y="0"/>
                  </a:lnTo>
                  <a:lnTo>
                    <a:pt x="21027095" y="1023711"/>
                  </a:lnTo>
                  <a:lnTo>
                    <a:pt x="0" y="1023711"/>
                  </a:lnTo>
                  <a:close/>
                </a:path>
              </a:pathLst>
            </a:custGeom>
            <a:blipFill>
              <a:blip r:embed="rId5">
                <a:alphaModFix amt="0"/>
              </a:blip>
              <a:stretch>
                <a:fillRect t="-350224" b="-350223"/>
              </a:stretch>
            </a:blipFill>
          </p:spPr>
        </p:sp>
        <p:sp>
          <p:nvSpPr>
            <p:cNvPr id="18" name="TextBox 18"/>
            <p:cNvSpPr txBox="1"/>
            <p:nvPr/>
          </p:nvSpPr>
          <p:spPr>
            <a:xfrm>
              <a:off x="0" y="19050"/>
              <a:ext cx="21027098" cy="1004660"/>
            </a:xfrm>
            <a:prstGeom prst="rect">
              <a:avLst/>
            </a:prstGeom>
          </p:spPr>
          <p:txBody>
            <a:bodyPr lIns="0" tIns="0" rIns="0" bIns="0" rtlCol="0" anchor="b"/>
            <a:lstStyle/>
            <a:p>
              <a:pPr algn="l">
                <a:lnSpc>
                  <a:spcPts val="3888"/>
                </a:lnSpc>
              </a:pPr>
              <a:r>
                <a:rPr lang="en-US" sz="3600">
                  <a:solidFill>
                    <a:srgbClr val="EE0033"/>
                  </a:solidFill>
                  <a:latin typeface="Arial"/>
                  <a:ea typeface="Arial"/>
                  <a:cs typeface="Arial"/>
                  <a:sym typeface="Arial"/>
                </a:rPr>
                <a:t>II. THREAD:</a:t>
              </a:r>
            </a:p>
          </p:txBody>
        </p:sp>
      </p:gr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9206494"/>
            <a:ext cx="18288000" cy="1080506"/>
            <a:chOff x="0" y="0"/>
            <a:chExt cx="24384000" cy="1440675"/>
          </a:xfrm>
        </p:grpSpPr>
        <p:sp>
          <p:nvSpPr>
            <p:cNvPr id="3" name="Freeform 3"/>
            <p:cNvSpPr/>
            <p:nvPr/>
          </p:nvSpPr>
          <p:spPr>
            <a:xfrm>
              <a:off x="0" y="0"/>
              <a:ext cx="24384000" cy="1440688"/>
            </a:xfrm>
            <a:custGeom>
              <a:avLst/>
              <a:gdLst/>
              <a:ahLst/>
              <a:cxnLst/>
              <a:rect l="l" t="t" r="r" b="b"/>
              <a:pathLst>
                <a:path w="24384000" h="1440688">
                  <a:moveTo>
                    <a:pt x="0" y="0"/>
                  </a:moveTo>
                  <a:lnTo>
                    <a:pt x="24384000" y="0"/>
                  </a:lnTo>
                  <a:lnTo>
                    <a:pt x="24384000" y="1440688"/>
                  </a:lnTo>
                  <a:lnTo>
                    <a:pt x="0" y="1440688"/>
                  </a:lnTo>
                  <a:lnTo>
                    <a:pt x="0" y="0"/>
                  </a:lnTo>
                  <a:close/>
                </a:path>
              </a:pathLst>
            </a:custGeom>
            <a:blipFill>
              <a:blip r:embed="rId3"/>
              <a:stretch>
                <a:fillRect t="-364" b="-364"/>
              </a:stretch>
            </a:blipFill>
          </p:spPr>
        </p:sp>
      </p:grpSp>
      <p:grpSp>
        <p:nvGrpSpPr>
          <p:cNvPr id="4" name="Group 4"/>
          <p:cNvGrpSpPr/>
          <p:nvPr/>
        </p:nvGrpSpPr>
        <p:grpSpPr>
          <a:xfrm>
            <a:off x="15473315" y="9370285"/>
            <a:ext cx="1741541" cy="745693"/>
            <a:chOff x="0" y="0"/>
            <a:chExt cx="2322055" cy="994258"/>
          </a:xfrm>
        </p:grpSpPr>
        <p:sp>
          <p:nvSpPr>
            <p:cNvPr id="5" name="Freeform 5"/>
            <p:cNvSpPr/>
            <p:nvPr/>
          </p:nvSpPr>
          <p:spPr>
            <a:xfrm>
              <a:off x="0" y="0"/>
              <a:ext cx="2322068" cy="994283"/>
            </a:xfrm>
            <a:custGeom>
              <a:avLst/>
              <a:gdLst/>
              <a:ahLst/>
              <a:cxnLst/>
              <a:rect l="l" t="t" r="r" b="b"/>
              <a:pathLst>
                <a:path w="2322068" h="994283">
                  <a:moveTo>
                    <a:pt x="0" y="0"/>
                  </a:moveTo>
                  <a:lnTo>
                    <a:pt x="2322068" y="0"/>
                  </a:lnTo>
                  <a:lnTo>
                    <a:pt x="2322068" y="994283"/>
                  </a:lnTo>
                  <a:lnTo>
                    <a:pt x="0" y="994283"/>
                  </a:lnTo>
                  <a:lnTo>
                    <a:pt x="0" y="0"/>
                  </a:lnTo>
                  <a:close/>
                </a:path>
              </a:pathLst>
            </a:custGeom>
            <a:blipFill>
              <a:blip r:embed="rId4"/>
              <a:stretch>
                <a:fillRect b="-1456"/>
              </a:stretch>
            </a:blipFill>
          </p:spPr>
        </p:sp>
      </p:grpSp>
      <p:grpSp>
        <p:nvGrpSpPr>
          <p:cNvPr id="6" name="Group 6"/>
          <p:cNvGrpSpPr/>
          <p:nvPr/>
        </p:nvGrpSpPr>
        <p:grpSpPr>
          <a:xfrm>
            <a:off x="9981438" y="9581550"/>
            <a:ext cx="4114800" cy="392420"/>
            <a:chOff x="0" y="0"/>
            <a:chExt cx="5486400" cy="523227"/>
          </a:xfrm>
        </p:grpSpPr>
        <p:sp>
          <p:nvSpPr>
            <p:cNvPr id="7" name="Freeform 7"/>
            <p:cNvSpPr/>
            <p:nvPr/>
          </p:nvSpPr>
          <p:spPr>
            <a:xfrm>
              <a:off x="0" y="0"/>
              <a:ext cx="5486400" cy="523222"/>
            </a:xfrm>
            <a:custGeom>
              <a:avLst/>
              <a:gdLst/>
              <a:ahLst/>
              <a:cxnLst/>
              <a:rect l="l" t="t" r="r" b="b"/>
              <a:pathLst>
                <a:path w="5486400" h="523222">
                  <a:moveTo>
                    <a:pt x="0" y="0"/>
                  </a:moveTo>
                  <a:lnTo>
                    <a:pt x="5486400" y="0"/>
                  </a:lnTo>
                  <a:lnTo>
                    <a:pt x="5486400" y="523222"/>
                  </a:lnTo>
                  <a:lnTo>
                    <a:pt x="0" y="523222"/>
                  </a:lnTo>
                  <a:close/>
                </a:path>
              </a:pathLst>
            </a:custGeom>
            <a:blipFill>
              <a:blip r:embed="rId5">
                <a:alphaModFix amt="0"/>
              </a:blip>
              <a:stretch>
                <a:fillRect t="-154315" b="-154316"/>
              </a:stretch>
            </a:blipFill>
          </p:spPr>
        </p:sp>
        <p:sp>
          <p:nvSpPr>
            <p:cNvPr id="8" name="TextBox 8"/>
            <p:cNvSpPr txBox="1"/>
            <p:nvPr/>
          </p:nvSpPr>
          <p:spPr>
            <a:xfrm>
              <a:off x="0" y="-9525"/>
              <a:ext cx="5486400" cy="532752"/>
            </a:xfrm>
            <a:prstGeom prst="rect">
              <a:avLst/>
            </a:prstGeom>
          </p:spPr>
          <p:txBody>
            <a:bodyPr lIns="0" tIns="0" rIns="0" bIns="0" rtlCol="0" anchor="ctr"/>
            <a:lstStyle/>
            <a:p>
              <a:pPr algn="r">
                <a:lnSpc>
                  <a:spcPts val="2520"/>
                </a:lnSpc>
              </a:pPr>
              <a:r>
                <a:rPr lang="en-US" sz="2100">
                  <a:solidFill>
                    <a:srgbClr val="BFBFBF"/>
                  </a:solidFill>
                  <a:latin typeface="Roboto"/>
                  <a:ea typeface="Roboto"/>
                  <a:cs typeface="Roboto"/>
                  <a:sym typeface="Roboto"/>
                </a:rPr>
                <a:t>‹#›</a:t>
              </a:r>
            </a:p>
          </p:txBody>
        </p:sp>
      </p:grpSp>
      <p:sp>
        <p:nvSpPr>
          <p:cNvPr id="9" name="Freeform 9"/>
          <p:cNvSpPr/>
          <p:nvPr/>
        </p:nvSpPr>
        <p:spPr>
          <a:xfrm>
            <a:off x="1913336" y="3435571"/>
            <a:ext cx="11397437" cy="2084730"/>
          </a:xfrm>
          <a:custGeom>
            <a:avLst/>
            <a:gdLst/>
            <a:ahLst/>
            <a:cxnLst/>
            <a:rect l="l" t="t" r="r" b="b"/>
            <a:pathLst>
              <a:path w="11397437" h="2084730">
                <a:moveTo>
                  <a:pt x="0" y="0"/>
                </a:moveTo>
                <a:lnTo>
                  <a:pt x="11397436" y="0"/>
                </a:lnTo>
                <a:lnTo>
                  <a:pt x="11397436" y="2084730"/>
                </a:lnTo>
                <a:lnTo>
                  <a:pt x="0" y="2084730"/>
                </a:lnTo>
                <a:lnTo>
                  <a:pt x="0" y="0"/>
                </a:lnTo>
                <a:close/>
              </a:path>
            </a:pathLst>
          </a:custGeom>
          <a:blipFill>
            <a:blip r:embed="rId6"/>
            <a:stretch>
              <a:fillRect/>
            </a:stretch>
          </a:blipFill>
        </p:spPr>
      </p:sp>
      <p:sp>
        <p:nvSpPr>
          <p:cNvPr id="10" name="Freeform 10"/>
          <p:cNvSpPr/>
          <p:nvPr/>
        </p:nvSpPr>
        <p:spPr>
          <a:xfrm>
            <a:off x="2223512" y="7091420"/>
            <a:ext cx="10777084" cy="2078043"/>
          </a:xfrm>
          <a:custGeom>
            <a:avLst/>
            <a:gdLst/>
            <a:ahLst/>
            <a:cxnLst/>
            <a:rect l="l" t="t" r="r" b="b"/>
            <a:pathLst>
              <a:path w="10777084" h="2078043">
                <a:moveTo>
                  <a:pt x="0" y="0"/>
                </a:moveTo>
                <a:lnTo>
                  <a:pt x="10777084" y="0"/>
                </a:lnTo>
                <a:lnTo>
                  <a:pt x="10777084" y="2078042"/>
                </a:lnTo>
                <a:lnTo>
                  <a:pt x="0" y="2078042"/>
                </a:lnTo>
                <a:lnTo>
                  <a:pt x="0" y="0"/>
                </a:lnTo>
                <a:close/>
              </a:path>
            </a:pathLst>
          </a:custGeom>
          <a:blipFill>
            <a:blip r:embed="rId7"/>
            <a:stretch>
              <a:fillRect/>
            </a:stretch>
          </a:blipFill>
        </p:spPr>
      </p:sp>
      <p:sp>
        <p:nvSpPr>
          <p:cNvPr id="11" name="TextBox 11"/>
          <p:cNvSpPr txBox="1"/>
          <p:nvPr/>
        </p:nvSpPr>
        <p:spPr>
          <a:xfrm>
            <a:off x="840743" y="9548498"/>
            <a:ext cx="7754617" cy="323850"/>
          </a:xfrm>
          <a:prstGeom prst="rect">
            <a:avLst/>
          </a:prstGeom>
        </p:spPr>
        <p:txBody>
          <a:bodyPr lIns="0" tIns="0" rIns="0" bIns="0" rtlCol="0" anchor="t">
            <a:spAutoFit/>
          </a:bodyPr>
          <a:lstStyle/>
          <a:p>
            <a:pPr algn="l">
              <a:lnSpc>
                <a:spcPts val="2520"/>
              </a:lnSpc>
            </a:pPr>
            <a:r>
              <a:rPr lang="en-US" sz="2100" spc="450">
                <a:solidFill>
                  <a:srgbClr val="BFBFBF"/>
                </a:solidFill>
                <a:latin typeface="Arial"/>
                <a:ea typeface="Arial"/>
                <a:cs typeface="Arial"/>
                <a:sym typeface="Arial"/>
              </a:rPr>
              <a:t>www.viettelhightech.vn </a:t>
            </a:r>
          </a:p>
        </p:txBody>
      </p:sp>
      <p:sp>
        <p:nvSpPr>
          <p:cNvPr id="12" name="TextBox 12"/>
          <p:cNvSpPr txBox="1"/>
          <p:nvPr/>
        </p:nvSpPr>
        <p:spPr>
          <a:xfrm>
            <a:off x="692993" y="2035396"/>
            <a:ext cx="16521863" cy="1181100"/>
          </a:xfrm>
          <a:prstGeom prst="rect">
            <a:avLst/>
          </a:prstGeom>
        </p:spPr>
        <p:txBody>
          <a:bodyPr lIns="0" tIns="0" rIns="0" bIns="0" rtlCol="0" anchor="t">
            <a:spAutoFit/>
          </a:bodyPr>
          <a:lstStyle/>
          <a:p>
            <a:pPr algn="l">
              <a:lnSpc>
                <a:spcPts val="3119"/>
              </a:lnSpc>
              <a:spcBef>
                <a:spcPct val="0"/>
              </a:spcBef>
            </a:pPr>
            <a:r>
              <a:rPr lang="en-US" sz="2599">
                <a:solidFill>
                  <a:srgbClr val="000000"/>
                </a:solidFill>
                <a:latin typeface="Roboto"/>
                <a:ea typeface="Roboto"/>
                <a:cs typeface="Roboto"/>
                <a:sym typeface="Roboto"/>
              </a:rPr>
              <a:t>     Một thread khi được tạo ra sẽ mặc định là joinable (không detached), thread khi chạy xong nhưng hệ điều hành chưa giải phóng tài nguyên mà sẽ chờ 1 thread khác gọi pthread_join() nó thì lúc này mới giải phóng tài nguyên.  </a:t>
            </a:r>
          </a:p>
        </p:txBody>
      </p:sp>
      <p:sp>
        <p:nvSpPr>
          <p:cNvPr id="13" name="TextBox 13"/>
          <p:cNvSpPr txBox="1"/>
          <p:nvPr/>
        </p:nvSpPr>
        <p:spPr>
          <a:xfrm>
            <a:off x="692992" y="5739376"/>
            <a:ext cx="16680607" cy="1590179"/>
          </a:xfrm>
          <a:prstGeom prst="rect">
            <a:avLst/>
          </a:prstGeom>
        </p:spPr>
        <p:txBody>
          <a:bodyPr wrap="square" lIns="0" tIns="0" rIns="0" bIns="0" rtlCol="0" anchor="t">
            <a:spAutoFit/>
          </a:bodyPr>
          <a:lstStyle/>
          <a:p>
            <a:pPr algn="just">
              <a:lnSpc>
                <a:spcPts val="3120"/>
              </a:lnSpc>
              <a:spcBef>
                <a:spcPct val="0"/>
              </a:spcBef>
            </a:pPr>
            <a:r>
              <a:rPr lang="en-US" sz="2600" dirty="0" err="1">
                <a:solidFill>
                  <a:srgbClr val="000000"/>
                </a:solidFill>
                <a:latin typeface="Roboto"/>
                <a:ea typeface="Roboto"/>
                <a:cs typeface="Roboto"/>
                <a:sym typeface="Roboto"/>
              </a:rPr>
              <a:t>Nếu</a:t>
            </a:r>
            <a:r>
              <a:rPr lang="en-US" sz="2600" dirty="0">
                <a:solidFill>
                  <a:srgbClr val="000000"/>
                </a:solidFill>
                <a:latin typeface="Roboto"/>
                <a:ea typeface="Roboto"/>
                <a:cs typeface="Roboto"/>
                <a:sym typeface="Roboto"/>
              </a:rPr>
              <a:t> </a:t>
            </a:r>
            <a:r>
              <a:rPr lang="en-US" sz="2600" dirty="0" err="1">
                <a:solidFill>
                  <a:srgbClr val="000000"/>
                </a:solidFill>
                <a:latin typeface="Roboto"/>
                <a:ea typeface="Roboto"/>
                <a:cs typeface="Roboto"/>
                <a:sym typeface="Roboto"/>
              </a:rPr>
              <a:t>sau</a:t>
            </a:r>
            <a:r>
              <a:rPr lang="en-US" sz="2600" dirty="0">
                <a:solidFill>
                  <a:srgbClr val="000000"/>
                </a:solidFill>
                <a:latin typeface="Roboto"/>
                <a:ea typeface="Roboto"/>
                <a:cs typeface="Roboto"/>
                <a:sym typeface="Roboto"/>
              </a:rPr>
              <a:t> </a:t>
            </a:r>
            <a:r>
              <a:rPr lang="en-US" sz="2600" dirty="0" err="1">
                <a:solidFill>
                  <a:srgbClr val="000000"/>
                </a:solidFill>
                <a:latin typeface="Roboto"/>
                <a:ea typeface="Roboto"/>
                <a:cs typeface="Roboto"/>
                <a:sym typeface="Roboto"/>
              </a:rPr>
              <a:t>khi</a:t>
            </a:r>
            <a:r>
              <a:rPr lang="en-US" sz="2600" dirty="0">
                <a:solidFill>
                  <a:srgbClr val="000000"/>
                </a:solidFill>
                <a:latin typeface="Roboto"/>
                <a:ea typeface="Roboto"/>
                <a:cs typeface="Roboto"/>
                <a:sym typeface="Roboto"/>
              </a:rPr>
              <a:t> </a:t>
            </a:r>
            <a:r>
              <a:rPr lang="en-US" sz="2600" dirty="0" err="1">
                <a:solidFill>
                  <a:srgbClr val="000000"/>
                </a:solidFill>
                <a:latin typeface="Roboto"/>
                <a:ea typeface="Roboto"/>
                <a:cs typeface="Roboto"/>
                <a:sym typeface="Roboto"/>
              </a:rPr>
              <a:t>tạo</a:t>
            </a:r>
            <a:r>
              <a:rPr lang="en-US" sz="2600" dirty="0">
                <a:solidFill>
                  <a:srgbClr val="000000"/>
                </a:solidFill>
                <a:latin typeface="Roboto"/>
                <a:ea typeface="Roboto"/>
                <a:cs typeface="Roboto"/>
                <a:sym typeface="Roboto"/>
              </a:rPr>
              <a:t> thread, ta </a:t>
            </a:r>
            <a:r>
              <a:rPr lang="en-US" sz="2600" dirty="0" err="1">
                <a:solidFill>
                  <a:srgbClr val="000000"/>
                </a:solidFill>
                <a:latin typeface="Roboto"/>
                <a:ea typeface="Roboto"/>
                <a:cs typeface="Roboto"/>
                <a:sym typeface="Roboto"/>
              </a:rPr>
              <a:t>gọi</a:t>
            </a:r>
            <a:r>
              <a:rPr lang="en-US" sz="2600" dirty="0">
                <a:solidFill>
                  <a:srgbClr val="000000"/>
                </a:solidFill>
                <a:latin typeface="Roboto"/>
                <a:ea typeface="Roboto"/>
                <a:cs typeface="Roboto"/>
                <a:sym typeface="Roboto"/>
              </a:rPr>
              <a:t> </a:t>
            </a:r>
            <a:r>
              <a:rPr lang="en-US" sz="2600" dirty="0" err="1">
                <a:solidFill>
                  <a:srgbClr val="000000"/>
                </a:solidFill>
                <a:latin typeface="Roboto"/>
                <a:ea typeface="Roboto"/>
                <a:cs typeface="Roboto"/>
                <a:sym typeface="Roboto"/>
              </a:rPr>
              <a:t>pthread_detach</a:t>
            </a:r>
            <a:r>
              <a:rPr lang="en-US" sz="2600" dirty="0">
                <a:solidFill>
                  <a:srgbClr val="000000"/>
                </a:solidFill>
                <a:latin typeface="Roboto"/>
                <a:ea typeface="Roboto"/>
                <a:cs typeface="Roboto"/>
                <a:sym typeface="Roboto"/>
              </a:rPr>
              <a:t>() </a:t>
            </a:r>
            <a:r>
              <a:rPr lang="en-US" sz="2600" dirty="0" err="1">
                <a:solidFill>
                  <a:srgbClr val="000000"/>
                </a:solidFill>
                <a:latin typeface="Roboto"/>
                <a:ea typeface="Roboto"/>
                <a:cs typeface="Roboto"/>
                <a:sym typeface="Roboto"/>
              </a:rPr>
              <a:t>thì</a:t>
            </a:r>
            <a:r>
              <a:rPr lang="en-US" sz="2600" dirty="0">
                <a:solidFill>
                  <a:srgbClr val="000000"/>
                </a:solidFill>
                <a:latin typeface="Roboto"/>
                <a:ea typeface="Roboto"/>
                <a:cs typeface="Roboto"/>
                <a:sym typeface="Roboto"/>
              </a:rPr>
              <a:t> thread </a:t>
            </a:r>
            <a:r>
              <a:rPr lang="en-US" sz="2600" dirty="0" err="1">
                <a:solidFill>
                  <a:srgbClr val="000000"/>
                </a:solidFill>
                <a:latin typeface="Roboto"/>
                <a:ea typeface="Roboto"/>
                <a:cs typeface="Roboto"/>
                <a:sym typeface="Roboto"/>
              </a:rPr>
              <a:t>sẽ</a:t>
            </a:r>
            <a:r>
              <a:rPr lang="en-US" sz="2600" dirty="0">
                <a:solidFill>
                  <a:srgbClr val="000000"/>
                </a:solidFill>
                <a:latin typeface="Roboto"/>
                <a:ea typeface="Roboto"/>
                <a:cs typeface="Roboto"/>
                <a:sym typeface="Roboto"/>
              </a:rPr>
              <a:t> </a:t>
            </a:r>
            <a:r>
              <a:rPr lang="en-US" sz="2600" dirty="0" err="1">
                <a:solidFill>
                  <a:srgbClr val="000000"/>
                </a:solidFill>
                <a:latin typeface="Roboto"/>
                <a:ea typeface="Roboto"/>
                <a:cs typeface="Roboto"/>
                <a:sym typeface="Roboto"/>
              </a:rPr>
              <a:t>chuyển</a:t>
            </a:r>
            <a:r>
              <a:rPr lang="en-US" sz="2600" dirty="0">
                <a:solidFill>
                  <a:srgbClr val="000000"/>
                </a:solidFill>
                <a:latin typeface="Roboto"/>
                <a:ea typeface="Roboto"/>
                <a:cs typeface="Roboto"/>
                <a:sym typeface="Roboto"/>
              </a:rPr>
              <a:t> sang </a:t>
            </a:r>
            <a:r>
              <a:rPr lang="en-US" sz="2600" dirty="0" err="1">
                <a:solidFill>
                  <a:srgbClr val="000000"/>
                </a:solidFill>
                <a:latin typeface="Roboto"/>
                <a:ea typeface="Roboto"/>
                <a:cs typeface="Roboto"/>
                <a:sym typeface="Roboto"/>
              </a:rPr>
              <a:t>trạng</a:t>
            </a:r>
            <a:r>
              <a:rPr lang="en-US" sz="2600" dirty="0">
                <a:solidFill>
                  <a:srgbClr val="000000"/>
                </a:solidFill>
                <a:latin typeface="Roboto"/>
                <a:ea typeface="Roboto"/>
                <a:cs typeface="Roboto"/>
                <a:sym typeface="Roboto"/>
              </a:rPr>
              <a:t> </a:t>
            </a:r>
            <a:r>
              <a:rPr lang="en-US" sz="2600" dirty="0" err="1">
                <a:solidFill>
                  <a:srgbClr val="000000"/>
                </a:solidFill>
                <a:latin typeface="Roboto"/>
                <a:ea typeface="Roboto"/>
                <a:cs typeface="Roboto"/>
                <a:sym typeface="Roboto"/>
              </a:rPr>
              <a:t>thái</a:t>
            </a:r>
            <a:r>
              <a:rPr lang="en-US" sz="2600" dirty="0">
                <a:solidFill>
                  <a:srgbClr val="000000"/>
                </a:solidFill>
                <a:latin typeface="Roboto"/>
                <a:ea typeface="Roboto"/>
                <a:cs typeface="Roboto"/>
                <a:sym typeface="Roboto"/>
              </a:rPr>
              <a:t> detach. </a:t>
            </a:r>
            <a:r>
              <a:rPr lang="en-US" sz="2600" dirty="0" err="1">
                <a:solidFill>
                  <a:srgbClr val="000000"/>
                </a:solidFill>
                <a:latin typeface="Roboto"/>
                <a:ea typeface="Roboto"/>
                <a:cs typeface="Roboto"/>
                <a:sym typeface="Roboto"/>
              </a:rPr>
              <a:t>Khi</a:t>
            </a:r>
            <a:r>
              <a:rPr lang="en-US" sz="2600" dirty="0">
                <a:solidFill>
                  <a:srgbClr val="000000"/>
                </a:solidFill>
                <a:latin typeface="Roboto"/>
                <a:ea typeface="Roboto"/>
                <a:cs typeface="Roboto"/>
                <a:sym typeface="Roboto"/>
              </a:rPr>
              <a:t> thread </a:t>
            </a:r>
            <a:r>
              <a:rPr lang="en-US" sz="2600" dirty="0" err="1">
                <a:solidFill>
                  <a:srgbClr val="000000"/>
                </a:solidFill>
                <a:latin typeface="Roboto"/>
                <a:ea typeface="Roboto"/>
                <a:cs typeface="Roboto"/>
                <a:sym typeface="Roboto"/>
              </a:rPr>
              <a:t>kết</a:t>
            </a:r>
            <a:r>
              <a:rPr lang="en-US" sz="2600" dirty="0">
                <a:solidFill>
                  <a:srgbClr val="000000"/>
                </a:solidFill>
                <a:latin typeface="Roboto"/>
                <a:ea typeface="Roboto"/>
                <a:cs typeface="Roboto"/>
                <a:sym typeface="Roboto"/>
              </a:rPr>
              <a:t> </a:t>
            </a:r>
            <a:r>
              <a:rPr lang="en-US" sz="2600" dirty="0" err="1">
                <a:solidFill>
                  <a:srgbClr val="000000"/>
                </a:solidFill>
                <a:latin typeface="Roboto"/>
                <a:ea typeface="Roboto"/>
                <a:cs typeface="Roboto"/>
                <a:sym typeface="Roboto"/>
              </a:rPr>
              <a:t>thúc</a:t>
            </a:r>
            <a:r>
              <a:rPr lang="en-US" sz="2600" dirty="0">
                <a:solidFill>
                  <a:srgbClr val="000000"/>
                </a:solidFill>
                <a:latin typeface="Roboto"/>
                <a:ea typeface="Roboto"/>
                <a:cs typeface="Roboto"/>
                <a:sym typeface="Roboto"/>
              </a:rPr>
              <a:t>:</a:t>
            </a:r>
          </a:p>
          <a:p>
            <a:pPr marL="561341" lvl="1" indent="-280670" algn="just">
              <a:lnSpc>
                <a:spcPts val="3120"/>
              </a:lnSpc>
              <a:spcBef>
                <a:spcPct val="0"/>
              </a:spcBef>
              <a:buFont typeface="Arial"/>
              <a:buChar char="•"/>
            </a:pPr>
            <a:r>
              <a:rPr lang="en-US" sz="2600" dirty="0" err="1">
                <a:solidFill>
                  <a:srgbClr val="000000"/>
                </a:solidFill>
                <a:latin typeface="Roboto"/>
                <a:ea typeface="Roboto"/>
                <a:cs typeface="Roboto"/>
                <a:sym typeface="Roboto"/>
              </a:rPr>
              <a:t>Hệ</a:t>
            </a:r>
            <a:r>
              <a:rPr lang="en-US" sz="2600" dirty="0">
                <a:solidFill>
                  <a:srgbClr val="000000"/>
                </a:solidFill>
                <a:latin typeface="Roboto"/>
                <a:ea typeface="Roboto"/>
                <a:cs typeface="Roboto"/>
                <a:sym typeface="Roboto"/>
              </a:rPr>
              <a:t> </a:t>
            </a:r>
            <a:r>
              <a:rPr lang="en-US" sz="2600" dirty="0" err="1">
                <a:solidFill>
                  <a:srgbClr val="000000"/>
                </a:solidFill>
                <a:latin typeface="Roboto"/>
                <a:ea typeface="Roboto"/>
                <a:cs typeface="Roboto"/>
                <a:sym typeface="Roboto"/>
              </a:rPr>
              <a:t>điều</a:t>
            </a:r>
            <a:r>
              <a:rPr lang="en-US" sz="2600" dirty="0">
                <a:solidFill>
                  <a:srgbClr val="000000"/>
                </a:solidFill>
                <a:latin typeface="Roboto"/>
                <a:ea typeface="Roboto"/>
                <a:cs typeface="Roboto"/>
                <a:sym typeface="Roboto"/>
              </a:rPr>
              <a:t> </a:t>
            </a:r>
            <a:r>
              <a:rPr lang="en-US" sz="2600" dirty="0" err="1">
                <a:solidFill>
                  <a:srgbClr val="000000"/>
                </a:solidFill>
                <a:latin typeface="Roboto"/>
                <a:ea typeface="Roboto"/>
                <a:cs typeface="Roboto"/>
                <a:sym typeface="Roboto"/>
              </a:rPr>
              <a:t>hành</a:t>
            </a:r>
            <a:r>
              <a:rPr lang="en-US" sz="2600" dirty="0">
                <a:solidFill>
                  <a:srgbClr val="000000"/>
                </a:solidFill>
                <a:latin typeface="Roboto"/>
                <a:ea typeface="Roboto"/>
                <a:cs typeface="Roboto"/>
                <a:sym typeface="Roboto"/>
              </a:rPr>
              <a:t> </a:t>
            </a:r>
            <a:r>
              <a:rPr lang="en-US" sz="2600" dirty="0" err="1">
                <a:solidFill>
                  <a:srgbClr val="000000"/>
                </a:solidFill>
                <a:latin typeface="Roboto"/>
                <a:ea typeface="Roboto"/>
                <a:cs typeface="Roboto"/>
                <a:sym typeface="Roboto"/>
              </a:rPr>
              <a:t>tự</a:t>
            </a:r>
            <a:r>
              <a:rPr lang="en-US" sz="2600" dirty="0">
                <a:solidFill>
                  <a:srgbClr val="000000"/>
                </a:solidFill>
                <a:latin typeface="Roboto"/>
                <a:ea typeface="Roboto"/>
                <a:cs typeface="Roboto"/>
                <a:sym typeface="Roboto"/>
              </a:rPr>
              <a:t> </a:t>
            </a:r>
            <a:r>
              <a:rPr lang="en-US" sz="2600" dirty="0" err="1">
                <a:solidFill>
                  <a:srgbClr val="000000"/>
                </a:solidFill>
                <a:latin typeface="Roboto"/>
                <a:ea typeface="Roboto"/>
                <a:cs typeface="Roboto"/>
                <a:sym typeface="Roboto"/>
              </a:rPr>
              <a:t>động</a:t>
            </a:r>
            <a:r>
              <a:rPr lang="en-US" sz="2600" dirty="0">
                <a:solidFill>
                  <a:srgbClr val="000000"/>
                </a:solidFill>
                <a:latin typeface="Roboto"/>
                <a:ea typeface="Roboto"/>
                <a:cs typeface="Roboto"/>
                <a:sym typeface="Roboto"/>
              </a:rPr>
              <a:t> </a:t>
            </a:r>
            <a:r>
              <a:rPr lang="en-US" sz="2600" dirty="0" err="1">
                <a:solidFill>
                  <a:srgbClr val="000000"/>
                </a:solidFill>
                <a:latin typeface="Roboto"/>
                <a:ea typeface="Roboto"/>
                <a:cs typeface="Roboto"/>
                <a:sym typeface="Roboto"/>
              </a:rPr>
              <a:t>thu</a:t>
            </a:r>
            <a:r>
              <a:rPr lang="en-US" sz="2600" dirty="0">
                <a:solidFill>
                  <a:srgbClr val="000000"/>
                </a:solidFill>
                <a:latin typeface="Roboto"/>
                <a:ea typeface="Roboto"/>
                <a:cs typeface="Roboto"/>
                <a:sym typeface="Roboto"/>
              </a:rPr>
              <a:t> </a:t>
            </a:r>
            <a:r>
              <a:rPr lang="en-US" sz="2600" dirty="0" err="1">
                <a:solidFill>
                  <a:srgbClr val="000000"/>
                </a:solidFill>
                <a:latin typeface="Roboto"/>
                <a:ea typeface="Roboto"/>
                <a:cs typeface="Roboto"/>
                <a:sym typeface="Roboto"/>
              </a:rPr>
              <a:t>hồi</a:t>
            </a:r>
            <a:r>
              <a:rPr lang="en-US" sz="2600" dirty="0">
                <a:solidFill>
                  <a:srgbClr val="000000"/>
                </a:solidFill>
                <a:latin typeface="Roboto"/>
                <a:ea typeface="Roboto"/>
                <a:cs typeface="Roboto"/>
                <a:sym typeface="Roboto"/>
              </a:rPr>
              <a:t> </a:t>
            </a:r>
            <a:r>
              <a:rPr lang="en-US" sz="2600" dirty="0" err="1">
                <a:solidFill>
                  <a:srgbClr val="000000"/>
                </a:solidFill>
                <a:latin typeface="Roboto"/>
                <a:ea typeface="Roboto"/>
                <a:cs typeface="Roboto"/>
                <a:sym typeface="Roboto"/>
              </a:rPr>
              <a:t>toàn</a:t>
            </a:r>
            <a:r>
              <a:rPr lang="en-US" sz="2600" dirty="0">
                <a:solidFill>
                  <a:srgbClr val="000000"/>
                </a:solidFill>
                <a:latin typeface="Roboto"/>
                <a:ea typeface="Roboto"/>
                <a:cs typeface="Roboto"/>
                <a:sym typeface="Roboto"/>
              </a:rPr>
              <a:t> </a:t>
            </a:r>
            <a:r>
              <a:rPr lang="en-US" sz="2600" dirty="0" err="1">
                <a:solidFill>
                  <a:srgbClr val="000000"/>
                </a:solidFill>
                <a:latin typeface="Roboto"/>
                <a:ea typeface="Roboto"/>
                <a:cs typeface="Roboto"/>
                <a:sym typeface="Roboto"/>
              </a:rPr>
              <a:t>bộ</a:t>
            </a:r>
            <a:r>
              <a:rPr lang="en-US" sz="2600" dirty="0">
                <a:solidFill>
                  <a:srgbClr val="000000"/>
                </a:solidFill>
                <a:latin typeface="Roboto"/>
                <a:ea typeface="Roboto"/>
                <a:cs typeface="Roboto"/>
                <a:sym typeface="Roboto"/>
              </a:rPr>
              <a:t> </a:t>
            </a:r>
            <a:r>
              <a:rPr lang="en-US" sz="2600" dirty="0" err="1">
                <a:solidFill>
                  <a:srgbClr val="000000"/>
                </a:solidFill>
                <a:latin typeface="Roboto"/>
                <a:ea typeface="Roboto"/>
                <a:cs typeface="Roboto"/>
                <a:sym typeface="Roboto"/>
              </a:rPr>
              <a:t>tài</a:t>
            </a:r>
            <a:r>
              <a:rPr lang="en-US" sz="2600" dirty="0">
                <a:solidFill>
                  <a:srgbClr val="000000"/>
                </a:solidFill>
                <a:latin typeface="Roboto"/>
                <a:ea typeface="Roboto"/>
                <a:cs typeface="Roboto"/>
                <a:sym typeface="Roboto"/>
              </a:rPr>
              <a:t> </a:t>
            </a:r>
            <a:r>
              <a:rPr lang="en-US" sz="2600" dirty="0" err="1">
                <a:solidFill>
                  <a:srgbClr val="000000"/>
                </a:solidFill>
                <a:latin typeface="Roboto"/>
                <a:ea typeface="Roboto"/>
                <a:cs typeface="Roboto"/>
                <a:sym typeface="Roboto"/>
              </a:rPr>
              <a:t>nguyên</a:t>
            </a:r>
            <a:r>
              <a:rPr lang="en-US" sz="2600" dirty="0">
                <a:solidFill>
                  <a:srgbClr val="000000"/>
                </a:solidFill>
                <a:latin typeface="Roboto"/>
                <a:ea typeface="Roboto"/>
                <a:cs typeface="Roboto"/>
                <a:sym typeface="Roboto"/>
              </a:rPr>
              <a:t>. </a:t>
            </a:r>
          </a:p>
          <a:p>
            <a:pPr marL="561341" lvl="1" indent="-280670" algn="just">
              <a:lnSpc>
                <a:spcPts val="3120"/>
              </a:lnSpc>
              <a:spcBef>
                <a:spcPct val="0"/>
              </a:spcBef>
              <a:buFont typeface="Arial"/>
              <a:buChar char="•"/>
            </a:pPr>
            <a:r>
              <a:rPr lang="en-US" sz="2600" dirty="0" err="1">
                <a:solidFill>
                  <a:srgbClr val="000000"/>
                </a:solidFill>
                <a:latin typeface="Roboto"/>
                <a:ea typeface="Roboto"/>
                <a:cs typeface="Roboto"/>
                <a:sym typeface="Roboto"/>
              </a:rPr>
              <a:t>Không</a:t>
            </a:r>
            <a:r>
              <a:rPr lang="en-US" sz="2600" dirty="0">
                <a:solidFill>
                  <a:srgbClr val="000000"/>
                </a:solidFill>
                <a:latin typeface="Roboto"/>
                <a:ea typeface="Roboto"/>
                <a:cs typeface="Roboto"/>
                <a:sym typeface="Roboto"/>
              </a:rPr>
              <a:t> </a:t>
            </a:r>
            <a:r>
              <a:rPr lang="en-US" sz="2600" dirty="0" err="1">
                <a:solidFill>
                  <a:srgbClr val="000000"/>
                </a:solidFill>
                <a:latin typeface="Roboto"/>
                <a:ea typeface="Roboto"/>
                <a:cs typeface="Roboto"/>
                <a:sym typeface="Roboto"/>
              </a:rPr>
              <a:t>được</a:t>
            </a:r>
            <a:r>
              <a:rPr lang="en-US" sz="2600" dirty="0">
                <a:solidFill>
                  <a:srgbClr val="000000"/>
                </a:solidFill>
                <a:latin typeface="Roboto"/>
                <a:ea typeface="Roboto"/>
                <a:cs typeface="Roboto"/>
                <a:sym typeface="Roboto"/>
              </a:rPr>
              <a:t> </a:t>
            </a:r>
            <a:r>
              <a:rPr lang="en-US" sz="2600" dirty="0" err="1">
                <a:solidFill>
                  <a:srgbClr val="000000"/>
                </a:solidFill>
                <a:latin typeface="Roboto"/>
                <a:ea typeface="Roboto"/>
                <a:cs typeface="Roboto"/>
                <a:sym typeface="Roboto"/>
              </a:rPr>
              <a:t>phép</a:t>
            </a:r>
            <a:r>
              <a:rPr lang="en-US" sz="2600" dirty="0">
                <a:solidFill>
                  <a:srgbClr val="000000"/>
                </a:solidFill>
                <a:latin typeface="Roboto"/>
                <a:ea typeface="Roboto"/>
                <a:cs typeface="Roboto"/>
                <a:sym typeface="Roboto"/>
              </a:rPr>
              <a:t> </a:t>
            </a:r>
            <a:r>
              <a:rPr lang="en-US" sz="2600" dirty="0" err="1">
                <a:solidFill>
                  <a:srgbClr val="000000"/>
                </a:solidFill>
                <a:latin typeface="Roboto"/>
                <a:ea typeface="Roboto"/>
                <a:cs typeface="Roboto"/>
                <a:sym typeface="Roboto"/>
              </a:rPr>
              <a:t>pthread_join</a:t>
            </a:r>
            <a:r>
              <a:rPr lang="en-US" sz="2600" dirty="0">
                <a:solidFill>
                  <a:srgbClr val="000000"/>
                </a:solidFill>
                <a:latin typeface="Roboto"/>
                <a:ea typeface="Roboto"/>
                <a:cs typeface="Roboto"/>
                <a:sym typeface="Roboto"/>
              </a:rPr>
              <a:t>() </a:t>
            </a:r>
            <a:r>
              <a:rPr lang="en-US" sz="2600" dirty="0" err="1">
                <a:solidFill>
                  <a:srgbClr val="000000"/>
                </a:solidFill>
                <a:latin typeface="Roboto"/>
                <a:ea typeface="Roboto"/>
                <a:cs typeface="Roboto"/>
                <a:sym typeface="Roboto"/>
              </a:rPr>
              <a:t>nữa</a:t>
            </a:r>
            <a:r>
              <a:rPr lang="en-US" sz="2600" dirty="0">
                <a:solidFill>
                  <a:srgbClr val="000000"/>
                </a:solidFill>
                <a:latin typeface="Roboto"/>
                <a:ea typeface="Roboto"/>
                <a:cs typeface="Roboto"/>
                <a:sym typeface="Roboto"/>
              </a:rPr>
              <a:t>.</a:t>
            </a:r>
          </a:p>
          <a:p>
            <a:pPr algn="just">
              <a:lnSpc>
                <a:spcPts val="3120"/>
              </a:lnSpc>
              <a:spcBef>
                <a:spcPct val="0"/>
              </a:spcBef>
            </a:pPr>
            <a:r>
              <a:rPr lang="en-US" sz="2600" dirty="0">
                <a:solidFill>
                  <a:srgbClr val="000000"/>
                </a:solidFill>
                <a:latin typeface="Roboto"/>
                <a:ea typeface="Roboto"/>
                <a:cs typeface="Roboto"/>
                <a:sym typeface="Roboto"/>
              </a:rPr>
              <a:t>  </a:t>
            </a:r>
          </a:p>
        </p:txBody>
      </p:sp>
      <p:sp>
        <p:nvSpPr>
          <p:cNvPr id="14" name="TextBox 14"/>
          <p:cNvSpPr txBox="1"/>
          <p:nvPr/>
        </p:nvSpPr>
        <p:spPr>
          <a:xfrm>
            <a:off x="451542" y="1237783"/>
            <a:ext cx="6887599" cy="521589"/>
          </a:xfrm>
          <a:prstGeom prst="rect">
            <a:avLst/>
          </a:prstGeom>
        </p:spPr>
        <p:txBody>
          <a:bodyPr lIns="0" tIns="0" rIns="0" bIns="0" rtlCol="0" anchor="t">
            <a:spAutoFit/>
          </a:bodyPr>
          <a:lstStyle/>
          <a:p>
            <a:pPr algn="l">
              <a:lnSpc>
                <a:spcPts val="3888"/>
              </a:lnSpc>
              <a:spcBef>
                <a:spcPct val="0"/>
              </a:spcBef>
            </a:pPr>
            <a:r>
              <a:rPr lang="en-US" sz="3600">
                <a:solidFill>
                  <a:srgbClr val="EE0033"/>
                </a:solidFill>
                <a:latin typeface="Arial"/>
                <a:ea typeface="Arial"/>
                <a:cs typeface="Arial"/>
                <a:sym typeface="Arial"/>
              </a:rPr>
              <a:t> Joinable và detach:</a:t>
            </a:r>
          </a:p>
        </p:txBody>
      </p:sp>
      <p:grpSp>
        <p:nvGrpSpPr>
          <p:cNvPr id="15" name="Group 15"/>
          <p:cNvGrpSpPr/>
          <p:nvPr/>
        </p:nvGrpSpPr>
        <p:grpSpPr>
          <a:xfrm>
            <a:off x="451542" y="300771"/>
            <a:ext cx="15770323" cy="767782"/>
            <a:chOff x="0" y="0"/>
            <a:chExt cx="21027098" cy="1023710"/>
          </a:xfrm>
        </p:grpSpPr>
        <p:sp>
          <p:nvSpPr>
            <p:cNvPr id="16" name="Freeform 16"/>
            <p:cNvSpPr/>
            <p:nvPr/>
          </p:nvSpPr>
          <p:spPr>
            <a:xfrm>
              <a:off x="0" y="0"/>
              <a:ext cx="21027095" cy="1023711"/>
            </a:xfrm>
            <a:custGeom>
              <a:avLst/>
              <a:gdLst/>
              <a:ahLst/>
              <a:cxnLst/>
              <a:rect l="l" t="t" r="r" b="b"/>
              <a:pathLst>
                <a:path w="21027095" h="1023711">
                  <a:moveTo>
                    <a:pt x="0" y="0"/>
                  </a:moveTo>
                  <a:lnTo>
                    <a:pt x="21027095" y="0"/>
                  </a:lnTo>
                  <a:lnTo>
                    <a:pt x="21027095" y="1023711"/>
                  </a:lnTo>
                  <a:lnTo>
                    <a:pt x="0" y="1023711"/>
                  </a:lnTo>
                  <a:close/>
                </a:path>
              </a:pathLst>
            </a:custGeom>
            <a:blipFill>
              <a:blip r:embed="rId5">
                <a:alphaModFix amt="0"/>
              </a:blip>
              <a:stretch>
                <a:fillRect t="-350224" b="-350223"/>
              </a:stretch>
            </a:blipFill>
          </p:spPr>
        </p:sp>
        <p:sp>
          <p:nvSpPr>
            <p:cNvPr id="17" name="TextBox 17"/>
            <p:cNvSpPr txBox="1"/>
            <p:nvPr/>
          </p:nvSpPr>
          <p:spPr>
            <a:xfrm>
              <a:off x="0" y="19050"/>
              <a:ext cx="21027098" cy="1004660"/>
            </a:xfrm>
            <a:prstGeom prst="rect">
              <a:avLst/>
            </a:prstGeom>
          </p:spPr>
          <p:txBody>
            <a:bodyPr lIns="0" tIns="0" rIns="0" bIns="0" rtlCol="0" anchor="b"/>
            <a:lstStyle/>
            <a:p>
              <a:pPr algn="l">
                <a:lnSpc>
                  <a:spcPts val="3888"/>
                </a:lnSpc>
              </a:pPr>
              <a:r>
                <a:rPr lang="en-US" sz="3600">
                  <a:solidFill>
                    <a:srgbClr val="EE0033"/>
                  </a:solidFill>
                  <a:latin typeface="Arial"/>
                  <a:ea typeface="Arial"/>
                  <a:cs typeface="Arial"/>
                  <a:sym typeface="Arial"/>
                </a:rPr>
                <a:t>II. THREAD:</a:t>
              </a:r>
            </a:p>
          </p:txBody>
        </p:sp>
      </p:gr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9206494"/>
            <a:ext cx="18288000" cy="1080506"/>
            <a:chOff x="0" y="0"/>
            <a:chExt cx="24384000" cy="1440675"/>
          </a:xfrm>
        </p:grpSpPr>
        <p:sp>
          <p:nvSpPr>
            <p:cNvPr id="3" name="Freeform 3"/>
            <p:cNvSpPr/>
            <p:nvPr/>
          </p:nvSpPr>
          <p:spPr>
            <a:xfrm>
              <a:off x="0" y="0"/>
              <a:ext cx="24384000" cy="1440688"/>
            </a:xfrm>
            <a:custGeom>
              <a:avLst/>
              <a:gdLst/>
              <a:ahLst/>
              <a:cxnLst/>
              <a:rect l="l" t="t" r="r" b="b"/>
              <a:pathLst>
                <a:path w="24384000" h="1440688">
                  <a:moveTo>
                    <a:pt x="0" y="0"/>
                  </a:moveTo>
                  <a:lnTo>
                    <a:pt x="24384000" y="0"/>
                  </a:lnTo>
                  <a:lnTo>
                    <a:pt x="24384000" y="1440688"/>
                  </a:lnTo>
                  <a:lnTo>
                    <a:pt x="0" y="1440688"/>
                  </a:lnTo>
                  <a:lnTo>
                    <a:pt x="0" y="0"/>
                  </a:lnTo>
                  <a:close/>
                </a:path>
              </a:pathLst>
            </a:custGeom>
            <a:blipFill>
              <a:blip r:embed="rId3"/>
              <a:stretch>
                <a:fillRect t="-364" b="-364"/>
              </a:stretch>
            </a:blipFill>
          </p:spPr>
        </p:sp>
      </p:grpSp>
      <p:grpSp>
        <p:nvGrpSpPr>
          <p:cNvPr id="4" name="Group 4"/>
          <p:cNvGrpSpPr/>
          <p:nvPr/>
        </p:nvGrpSpPr>
        <p:grpSpPr>
          <a:xfrm>
            <a:off x="15473315" y="9370285"/>
            <a:ext cx="1741541" cy="745693"/>
            <a:chOff x="0" y="0"/>
            <a:chExt cx="2322055" cy="994258"/>
          </a:xfrm>
        </p:grpSpPr>
        <p:sp>
          <p:nvSpPr>
            <p:cNvPr id="5" name="Freeform 5"/>
            <p:cNvSpPr/>
            <p:nvPr/>
          </p:nvSpPr>
          <p:spPr>
            <a:xfrm>
              <a:off x="0" y="0"/>
              <a:ext cx="2322068" cy="994283"/>
            </a:xfrm>
            <a:custGeom>
              <a:avLst/>
              <a:gdLst/>
              <a:ahLst/>
              <a:cxnLst/>
              <a:rect l="l" t="t" r="r" b="b"/>
              <a:pathLst>
                <a:path w="2322068" h="994283">
                  <a:moveTo>
                    <a:pt x="0" y="0"/>
                  </a:moveTo>
                  <a:lnTo>
                    <a:pt x="2322068" y="0"/>
                  </a:lnTo>
                  <a:lnTo>
                    <a:pt x="2322068" y="994283"/>
                  </a:lnTo>
                  <a:lnTo>
                    <a:pt x="0" y="994283"/>
                  </a:lnTo>
                  <a:lnTo>
                    <a:pt x="0" y="0"/>
                  </a:lnTo>
                  <a:close/>
                </a:path>
              </a:pathLst>
            </a:custGeom>
            <a:blipFill>
              <a:blip r:embed="rId4"/>
              <a:stretch>
                <a:fillRect b="-1456"/>
              </a:stretch>
            </a:blipFill>
          </p:spPr>
        </p:sp>
      </p:grpSp>
      <p:grpSp>
        <p:nvGrpSpPr>
          <p:cNvPr id="6" name="Group 6"/>
          <p:cNvGrpSpPr/>
          <p:nvPr/>
        </p:nvGrpSpPr>
        <p:grpSpPr>
          <a:xfrm>
            <a:off x="9981438" y="9581550"/>
            <a:ext cx="4114800" cy="392420"/>
            <a:chOff x="0" y="0"/>
            <a:chExt cx="5486400" cy="523227"/>
          </a:xfrm>
        </p:grpSpPr>
        <p:sp>
          <p:nvSpPr>
            <p:cNvPr id="7" name="Freeform 7"/>
            <p:cNvSpPr/>
            <p:nvPr/>
          </p:nvSpPr>
          <p:spPr>
            <a:xfrm>
              <a:off x="0" y="0"/>
              <a:ext cx="5486400" cy="523222"/>
            </a:xfrm>
            <a:custGeom>
              <a:avLst/>
              <a:gdLst/>
              <a:ahLst/>
              <a:cxnLst/>
              <a:rect l="l" t="t" r="r" b="b"/>
              <a:pathLst>
                <a:path w="5486400" h="523222">
                  <a:moveTo>
                    <a:pt x="0" y="0"/>
                  </a:moveTo>
                  <a:lnTo>
                    <a:pt x="5486400" y="0"/>
                  </a:lnTo>
                  <a:lnTo>
                    <a:pt x="5486400" y="523222"/>
                  </a:lnTo>
                  <a:lnTo>
                    <a:pt x="0" y="523222"/>
                  </a:lnTo>
                  <a:close/>
                </a:path>
              </a:pathLst>
            </a:custGeom>
            <a:blipFill>
              <a:blip r:embed="rId5">
                <a:alphaModFix amt="0"/>
              </a:blip>
              <a:stretch>
                <a:fillRect t="-154315" b="-154316"/>
              </a:stretch>
            </a:blipFill>
          </p:spPr>
        </p:sp>
        <p:sp>
          <p:nvSpPr>
            <p:cNvPr id="8" name="TextBox 8"/>
            <p:cNvSpPr txBox="1"/>
            <p:nvPr/>
          </p:nvSpPr>
          <p:spPr>
            <a:xfrm>
              <a:off x="0" y="-9525"/>
              <a:ext cx="5486400" cy="532752"/>
            </a:xfrm>
            <a:prstGeom prst="rect">
              <a:avLst/>
            </a:prstGeom>
          </p:spPr>
          <p:txBody>
            <a:bodyPr lIns="0" tIns="0" rIns="0" bIns="0" rtlCol="0" anchor="ctr"/>
            <a:lstStyle/>
            <a:p>
              <a:pPr algn="r">
                <a:lnSpc>
                  <a:spcPts val="2520"/>
                </a:lnSpc>
              </a:pPr>
              <a:r>
                <a:rPr lang="en-US" sz="2100">
                  <a:solidFill>
                    <a:srgbClr val="BFBFBF"/>
                  </a:solidFill>
                  <a:latin typeface="Roboto"/>
                  <a:ea typeface="Roboto"/>
                  <a:cs typeface="Roboto"/>
                  <a:sym typeface="Roboto"/>
                </a:rPr>
                <a:t>‹#›</a:t>
              </a:r>
            </a:p>
          </p:txBody>
        </p:sp>
      </p:grpSp>
      <p:sp>
        <p:nvSpPr>
          <p:cNvPr id="9" name="Freeform 9"/>
          <p:cNvSpPr/>
          <p:nvPr/>
        </p:nvSpPr>
        <p:spPr>
          <a:xfrm>
            <a:off x="1447800" y="1333500"/>
            <a:ext cx="5700841" cy="7326982"/>
          </a:xfrm>
          <a:custGeom>
            <a:avLst/>
            <a:gdLst/>
            <a:ahLst/>
            <a:cxnLst/>
            <a:rect l="l" t="t" r="r" b="b"/>
            <a:pathLst>
              <a:path w="5700841" h="7326982">
                <a:moveTo>
                  <a:pt x="0" y="0"/>
                </a:moveTo>
                <a:lnTo>
                  <a:pt x="5700841" y="0"/>
                </a:lnTo>
                <a:lnTo>
                  <a:pt x="5700841" y="7326983"/>
                </a:lnTo>
                <a:lnTo>
                  <a:pt x="0" y="7326983"/>
                </a:lnTo>
                <a:lnTo>
                  <a:pt x="0" y="0"/>
                </a:lnTo>
                <a:close/>
              </a:path>
            </a:pathLst>
          </a:custGeom>
          <a:blipFill>
            <a:blip r:embed="rId6"/>
            <a:stretch>
              <a:fillRect/>
            </a:stretch>
          </a:blipFill>
        </p:spPr>
      </p:sp>
      <p:sp>
        <p:nvSpPr>
          <p:cNvPr id="10" name="Freeform 10"/>
          <p:cNvSpPr/>
          <p:nvPr/>
        </p:nvSpPr>
        <p:spPr>
          <a:xfrm>
            <a:off x="7772400" y="4100689"/>
            <a:ext cx="10128197" cy="1049177"/>
          </a:xfrm>
          <a:custGeom>
            <a:avLst/>
            <a:gdLst/>
            <a:ahLst/>
            <a:cxnLst/>
            <a:rect l="l" t="t" r="r" b="b"/>
            <a:pathLst>
              <a:path w="10128197" h="1049177">
                <a:moveTo>
                  <a:pt x="0" y="0"/>
                </a:moveTo>
                <a:lnTo>
                  <a:pt x="10128197" y="0"/>
                </a:lnTo>
                <a:lnTo>
                  <a:pt x="10128197" y="1049177"/>
                </a:lnTo>
                <a:lnTo>
                  <a:pt x="0" y="1049177"/>
                </a:lnTo>
                <a:lnTo>
                  <a:pt x="0" y="0"/>
                </a:lnTo>
                <a:close/>
              </a:path>
            </a:pathLst>
          </a:custGeom>
          <a:blipFill>
            <a:blip r:embed="rId7"/>
            <a:stretch>
              <a:fillRect/>
            </a:stretch>
          </a:blipFill>
        </p:spPr>
      </p:sp>
      <p:sp>
        <p:nvSpPr>
          <p:cNvPr id="11" name="TextBox 11"/>
          <p:cNvSpPr txBox="1"/>
          <p:nvPr/>
        </p:nvSpPr>
        <p:spPr>
          <a:xfrm>
            <a:off x="840743" y="9548498"/>
            <a:ext cx="7754617" cy="323850"/>
          </a:xfrm>
          <a:prstGeom prst="rect">
            <a:avLst/>
          </a:prstGeom>
        </p:spPr>
        <p:txBody>
          <a:bodyPr lIns="0" tIns="0" rIns="0" bIns="0" rtlCol="0" anchor="t">
            <a:spAutoFit/>
          </a:bodyPr>
          <a:lstStyle/>
          <a:p>
            <a:pPr algn="l">
              <a:lnSpc>
                <a:spcPts val="2520"/>
              </a:lnSpc>
            </a:pPr>
            <a:r>
              <a:rPr lang="en-US" sz="2100" spc="450">
                <a:solidFill>
                  <a:srgbClr val="BFBFBF"/>
                </a:solidFill>
                <a:latin typeface="Arial"/>
                <a:ea typeface="Arial"/>
                <a:cs typeface="Arial"/>
                <a:sym typeface="Arial"/>
              </a:rPr>
              <a:t>www.viettelhightech.vn </a:t>
            </a:r>
          </a:p>
        </p:txBody>
      </p:sp>
      <p:grpSp>
        <p:nvGrpSpPr>
          <p:cNvPr id="12" name="Group 12"/>
          <p:cNvGrpSpPr/>
          <p:nvPr/>
        </p:nvGrpSpPr>
        <p:grpSpPr>
          <a:xfrm>
            <a:off x="451542" y="300771"/>
            <a:ext cx="15770323" cy="767782"/>
            <a:chOff x="0" y="0"/>
            <a:chExt cx="21027098" cy="1023710"/>
          </a:xfrm>
        </p:grpSpPr>
        <p:sp>
          <p:nvSpPr>
            <p:cNvPr id="13" name="Freeform 13"/>
            <p:cNvSpPr/>
            <p:nvPr/>
          </p:nvSpPr>
          <p:spPr>
            <a:xfrm>
              <a:off x="0" y="0"/>
              <a:ext cx="21027095" cy="1023711"/>
            </a:xfrm>
            <a:custGeom>
              <a:avLst/>
              <a:gdLst/>
              <a:ahLst/>
              <a:cxnLst/>
              <a:rect l="l" t="t" r="r" b="b"/>
              <a:pathLst>
                <a:path w="21027095" h="1023711">
                  <a:moveTo>
                    <a:pt x="0" y="0"/>
                  </a:moveTo>
                  <a:lnTo>
                    <a:pt x="21027095" y="0"/>
                  </a:lnTo>
                  <a:lnTo>
                    <a:pt x="21027095" y="1023711"/>
                  </a:lnTo>
                  <a:lnTo>
                    <a:pt x="0" y="1023711"/>
                  </a:lnTo>
                  <a:close/>
                </a:path>
              </a:pathLst>
            </a:custGeom>
            <a:blipFill>
              <a:blip r:embed="rId5">
                <a:alphaModFix amt="0"/>
              </a:blip>
              <a:stretch>
                <a:fillRect t="-350224" b="-350223"/>
              </a:stretch>
            </a:blipFill>
          </p:spPr>
        </p:sp>
        <p:sp>
          <p:nvSpPr>
            <p:cNvPr id="14" name="TextBox 14"/>
            <p:cNvSpPr txBox="1"/>
            <p:nvPr/>
          </p:nvSpPr>
          <p:spPr>
            <a:xfrm>
              <a:off x="0" y="19050"/>
              <a:ext cx="21027098" cy="1004660"/>
            </a:xfrm>
            <a:prstGeom prst="rect">
              <a:avLst/>
            </a:prstGeom>
          </p:spPr>
          <p:txBody>
            <a:bodyPr lIns="0" tIns="0" rIns="0" bIns="0" rtlCol="0" anchor="b"/>
            <a:lstStyle/>
            <a:p>
              <a:pPr algn="l">
                <a:lnSpc>
                  <a:spcPts val="3888"/>
                </a:lnSpc>
              </a:pPr>
              <a:r>
                <a:rPr lang="en-US" sz="3600">
                  <a:solidFill>
                    <a:srgbClr val="EE0033"/>
                  </a:solidFill>
                  <a:latin typeface="Arial"/>
                  <a:ea typeface="Arial"/>
                  <a:cs typeface="Arial"/>
                  <a:sym typeface="Arial"/>
                </a:rPr>
                <a:t>II. THREAD:</a:t>
              </a:r>
            </a:p>
          </p:txBody>
        </p:sp>
      </p:gr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9206494"/>
            <a:ext cx="18288000" cy="1080506"/>
            <a:chOff x="0" y="0"/>
            <a:chExt cx="24384000" cy="1440675"/>
          </a:xfrm>
        </p:grpSpPr>
        <p:sp>
          <p:nvSpPr>
            <p:cNvPr id="3" name="Freeform 3"/>
            <p:cNvSpPr/>
            <p:nvPr/>
          </p:nvSpPr>
          <p:spPr>
            <a:xfrm>
              <a:off x="0" y="0"/>
              <a:ext cx="24384000" cy="1440688"/>
            </a:xfrm>
            <a:custGeom>
              <a:avLst/>
              <a:gdLst/>
              <a:ahLst/>
              <a:cxnLst/>
              <a:rect l="l" t="t" r="r" b="b"/>
              <a:pathLst>
                <a:path w="24384000" h="1440688">
                  <a:moveTo>
                    <a:pt x="0" y="0"/>
                  </a:moveTo>
                  <a:lnTo>
                    <a:pt x="24384000" y="0"/>
                  </a:lnTo>
                  <a:lnTo>
                    <a:pt x="24384000" y="1440688"/>
                  </a:lnTo>
                  <a:lnTo>
                    <a:pt x="0" y="1440688"/>
                  </a:lnTo>
                  <a:lnTo>
                    <a:pt x="0" y="0"/>
                  </a:lnTo>
                  <a:close/>
                </a:path>
              </a:pathLst>
            </a:custGeom>
            <a:blipFill>
              <a:blip r:embed="rId3"/>
              <a:stretch>
                <a:fillRect t="-364" b="-364"/>
              </a:stretch>
            </a:blipFill>
          </p:spPr>
        </p:sp>
      </p:grpSp>
      <p:grpSp>
        <p:nvGrpSpPr>
          <p:cNvPr id="4" name="Group 4"/>
          <p:cNvGrpSpPr/>
          <p:nvPr/>
        </p:nvGrpSpPr>
        <p:grpSpPr>
          <a:xfrm>
            <a:off x="15473315" y="9370285"/>
            <a:ext cx="1741541" cy="745693"/>
            <a:chOff x="0" y="0"/>
            <a:chExt cx="2322055" cy="994258"/>
          </a:xfrm>
        </p:grpSpPr>
        <p:sp>
          <p:nvSpPr>
            <p:cNvPr id="5" name="Freeform 5"/>
            <p:cNvSpPr/>
            <p:nvPr/>
          </p:nvSpPr>
          <p:spPr>
            <a:xfrm>
              <a:off x="0" y="0"/>
              <a:ext cx="2322068" cy="994283"/>
            </a:xfrm>
            <a:custGeom>
              <a:avLst/>
              <a:gdLst/>
              <a:ahLst/>
              <a:cxnLst/>
              <a:rect l="l" t="t" r="r" b="b"/>
              <a:pathLst>
                <a:path w="2322068" h="994283">
                  <a:moveTo>
                    <a:pt x="0" y="0"/>
                  </a:moveTo>
                  <a:lnTo>
                    <a:pt x="2322068" y="0"/>
                  </a:lnTo>
                  <a:lnTo>
                    <a:pt x="2322068" y="994283"/>
                  </a:lnTo>
                  <a:lnTo>
                    <a:pt x="0" y="994283"/>
                  </a:lnTo>
                  <a:lnTo>
                    <a:pt x="0" y="0"/>
                  </a:lnTo>
                  <a:close/>
                </a:path>
              </a:pathLst>
            </a:custGeom>
            <a:blipFill>
              <a:blip r:embed="rId4"/>
              <a:stretch>
                <a:fillRect b="-1456"/>
              </a:stretch>
            </a:blipFill>
          </p:spPr>
        </p:sp>
      </p:grpSp>
      <p:grpSp>
        <p:nvGrpSpPr>
          <p:cNvPr id="6" name="Group 6"/>
          <p:cNvGrpSpPr/>
          <p:nvPr/>
        </p:nvGrpSpPr>
        <p:grpSpPr>
          <a:xfrm>
            <a:off x="9981438" y="9581550"/>
            <a:ext cx="4114800" cy="392420"/>
            <a:chOff x="0" y="0"/>
            <a:chExt cx="5486400" cy="523227"/>
          </a:xfrm>
        </p:grpSpPr>
        <p:sp>
          <p:nvSpPr>
            <p:cNvPr id="7" name="Freeform 7"/>
            <p:cNvSpPr/>
            <p:nvPr/>
          </p:nvSpPr>
          <p:spPr>
            <a:xfrm>
              <a:off x="0" y="0"/>
              <a:ext cx="5486400" cy="523222"/>
            </a:xfrm>
            <a:custGeom>
              <a:avLst/>
              <a:gdLst/>
              <a:ahLst/>
              <a:cxnLst/>
              <a:rect l="l" t="t" r="r" b="b"/>
              <a:pathLst>
                <a:path w="5486400" h="523222">
                  <a:moveTo>
                    <a:pt x="0" y="0"/>
                  </a:moveTo>
                  <a:lnTo>
                    <a:pt x="5486400" y="0"/>
                  </a:lnTo>
                  <a:lnTo>
                    <a:pt x="5486400" y="523222"/>
                  </a:lnTo>
                  <a:lnTo>
                    <a:pt x="0" y="523222"/>
                  </a:lnTo>
                  <a:close/>
                </a:path>
              </a:pathLst>
            </a:custGeom>
            <a:blipFill>
              <a:blip r:embed="rId5">
                <a:alphaModFix amt="0"/>
              </a:blip>
              <a:stretch>
                <a:fillRect t="-154315" b="-154316"/>
              </a:stretch>
            </a:blipFill>
          </p:spPr>
        </p:sp>
        <p:sp>
          <p:nvSpPr>
            <p:cNvPr id="8" name="TextBox 8"/>
            <p:cNvSpPr txBox="1"/>
            <p:nvPr/>
          </p:nvSpPr>
          <p:spPr>
            <a:xfrm>
              <a:off x="0" y="-9525"/>
              <a:ext cx="5486400" cy="532752"/>
            </a:xfrm>
            <a:prstGeom prst="rect">
              <a:avLst/>
            </a:prstGeom>
          </p:spPr>
          <p:txBody>
            <a:bodyPr lIns="0" tIns="0" rIns="0" bIns="0" rtlCol="0" anchor="ctr"/>
            <a:lstStyle/>
            <a:p>
              <a:pPr algn="r">
                <a:lnSpc>
                  <a:spcPts val="2520"/>
                </a:lnSpc>
              </a:pPr>
              <a:r>
                <a:rPr lang="en-US" sz="2100">
                  <a:solidFill>
                    <a:srgbClr val="BFBFBF"/>
                  </a:solidFill>
                  <a:latin typeface="Roboto"/>
                  <a:ea typeface="Roboto"/>
                  <a:cs typeface="Roboto"/>
                  <a:sym typeface="Roboto"/>
                </a:rPr>
                <a:t>‹#›</a:t>
              </a:r>
            </a:p>
          </p:txBody>
        </p:sp>
      </p:grpSp>
      <p:sp>
        <p:nvSpPr>
          <p:cNvPr id="9" name="Freeform 9"/>
          <p:cNvSpPr/>
          <p:nvPr/>
        </p:nvSpPr>
        <p:spPr>
          <a:xfrm>
            <a:off x="840743" y="1766805"/>
            <a:ext cx="4866387" cy="7491495"/>
          </a:xfrm>
          <a:custGeom>
            <a:avLst/>
            <a:gdLst/>
            <a:ahLst/>
            <a:cxnLst/>
            <a:rect l="l" t="t" r="r" b="b"/>
            <a:pathLst>
              <a:path w="4866387" h="7491495">
                <a:moveTo>
                  <a:pt x="0" y="0"/>
                </a:moveTo>
                <a:lnTo>
                  <a:pt x="4866388" y="0"/>
                </a:lnTo>
                <a:lnTo>
                  <a:pt x="4866388" y="7491495"/>
                </a:lnTo>
                <a:lnTo>
                  <a:pt x="0" y="7491495"/>
                </a:lnTo>
                <a:lnTo>
                  <a:pt x="0" y="0"/>
                </a:lnTo>
                <a:close/>
              </a:path>
            </a:pathLst>
          </a:custGeom>
          <a:blipFill>
            <a:blip r:embed="rId6"/>
            <a:stretch>
              <a:fillRect/>
            </a:stretch>
          </a:blipFill>
        </p:spPr>
      </p:sp>
      <p:sp>
        <p:nvSpPr>
          <p:cNvPr id="10" name="Freeform 10"/>
          <p:cNvSpPr/>
          <p:nvPr/>
        </p:nvSpPr>
        <p:spPr>
          <a:xfrm>
            <a:off x="6200547" y="1219843"/>
            <a:ext cx="11330533" cy="1243453"/>
          </a:xfrm>
          <a:custGeom>
            <a:avLst/>
            <a:gdLst/>
            <a:ahLst/>
            <a:cxnLst/>
            <a:rect l="l" t="t" r="r" b="b"/>
            <a:pathLst>
              <a:path w="11330533" h="1243453">
                <a:moveTo>
                  <a:pt x="0" y="0"/>
                </a:moveTo>
                <a:lnTo>
                  <a:pt x="11330533" y="0"/>
                </a:lnTo>
                <a:lnTo>
                  <a:pt x="11330533" y="1243454"/>
                </a:lnTo>
                <a:lnTo>
                  <a:pt x="0" y="1243454"/>
                </a:lnTo>
                <a:lnTo>
                  <a:pt x="0" y="0"/>
                </a:lnTo>
                <a:close/>
              </a:path>
            </a:pathLst>
          </a:custGeom>
          <a:blipFill>
            <a:blip r:embed="rId7"/>
            <a:stretch>
              <a:fillRect/>
            </a:stretch>
          </a:blipFill>
        </p:spPr>
      </p:sp>
      <p:sp>
        <p:nvSpPr>
          <p:cNvPr id="11" name="TextBox 11"/>
          <p:cNvSpPr txBox="1"/>
          <p:nvPr/>
        </p:nvSpPr>
        <p:spPr>
          <a:xfrm>
            <a:off x="840743" y="9548498"/>
            <a:ext cx="7754617" cy="323850"/>
          </a:xfrm>
          <a:prstGeom prst="rect">
            <a:avLst/>
          </a:prstGeom>
        </p:spPr>
        <p:txBody>
          <a:bodyPr lIns="0" tIns="0" rIns="0" bIns="0" rtlCol="0" anchor="t">
            <a:spAutoFit/>
          </a:bodyPr>
          <a:lstStyle/>
          <a:p>
            <a:pPr algn="l">
              <a:lnSpc>
                <a:spcPts val="2520"/>
              </a:lnSpc>
            </a:pPr>
            <a:r>
              <a:rPr lang="en-US" sz="2100" spc="450">
                <a:solidFill>
                  <a:srgbClr val="BFBFBF"/>
                </a:solidFill>
                <a:latin typeface="Arial"/>
                <a:ea typeface="Arial"/>
                <a:cs typeface="Arial"/>
                <a:sym typeface="Arial"/>
              </a:rPr>
              <a:t>www.viettelhightech.vn </a:t>
            </a:r>
          </a:p>
        </p:txBody>
      </p:sp>
      <p:sp>
        <p:nvSpPr>
          <p:cNvPr id="12" name="TextBox 12"/>
          <p:cNvSpPr txBox="1"/>
          <p:nvPr/>
        </p:nvSpPr>
        <p:spPr>
          <a:xfrm>
            <a:off x="840743" y="1238893"/>
            <a:ext cx="6887599" cy="521589"/>
          </a:xfrm>
          <a:prstGeom prst="rect">
            <a:avLst/>
          </a:prstGeom>
        </p:spPr>
        <p:txBody>
          <a:bodyPr lIns="0" tIns="0" rIns="0" bIns="0" rtlCol="0" anchor="t">
            <a:spAutoFit/>
          </a:bodyPr>
          <a:lstStyle/>
          <a:p>
            <a:pPr algn="l">
              <a:lnSpc>
                <a:spcPts val="3888"/>
              </a:lnSpc>
              <a:spcBef>
                <a:spcPct val="0"/>
              </a:spcBef>
            </a:pPr>
            <a:r>
              <a:rPr lang="en-US" sz="3600">
                <a:solidFill>
                  <a:srgbClr val="EE0033"/>
                </a:solidFill>
                <a:latin typeface="Arial"/>
                <a:ea typeface="Arial"/>
                <a:cs typeface="Arial"/>
                <a:sym typeface="Arial"/>
              </a:rPr>
              <a:t>Mutex:</a:t>
            </a:r>
          </a:p>
        </p:txBody>
      </p:sp>
      <p:sp>
        <p:nvSpPr>
          <p:cNvPr id="13" name="Freeform 13"/>
          <p:cNvSpPr/>
          <p:nvPr/>
        </p:nvSpPr>
        <p:spPr>
          <a:xfrm>
            <a:off x="7357770" y="2709211"/>
            <a:ext cx="7324766" cy="6227664"/>
          </a:xfrm>
          <a:custGeom>
            <a:avLst/>
            <a:gdLst/>
            <a:ahLst/>
            <a:cxnLst/>
            <a:rect l="l" t="t" r="r" b="b"/>
            <a:pathLst>
              <a:path w="7324766" h="6227664">
                <a:moveTo>
                  <a:pt x="0" y="0"/>
                </a:moveTo>
                <a:lnTo>
                  <a:pt x="7324766" y="0"/>
                </a:lnTo>
                <a:lnTo>
                  <a:pt x="7324766" y="6227664"/>
                </a:lnTo>
                <a:lnTo>
                  <a:pt x="0" y="6227664"/>
                </a:lnTo>
                <a:lnTo>
                  <a:pt x="0" y="0"/>
                </a:lnTo>
                <a:close/>
              </a:path>
            </a:pathLst>
          </a:custGeom>
          <a:blipFill>
            <a:blip r:embed="rId8"/>
            <a:stretch>
              <a:fillRect/>
            </a:stretch>
          </a:blipFill>
        </p:spPr>
      </p:sp>
      <p:grpSp>
        <p:nvGrpSpPr>
          <p:cNvPr id="14" name="Group 14"/>
          <p:cNvGrpSpPr/>
          <p:nvPr/>
        </p:nvGrpSpPr>
        <p:grpSpPr>
          <a:xfrm>
            <a:off x="451542" y="300771"/>
            <a:ext cx="15770323" cy="767782"/>
            <a:chOff x="0" y="0"/>
            <a:chExt cx="21027098" cy="1023710"/>
          </a:xfrm>
        </p:grpSpPr>
        <p:sp>
          <p:nvSpPr>
            <p:cNvPr id="15" name="Freeform 15"/>
            <p:cNvSpPr/>
            <p:nvPr/>
          </p:nvSpPr>
          <p:spPr>
            <a:xfrm>
              <a:off x="0" y="0"/>
              <a:ext cx="21027095" cy="1023711"/>
            </a:xfrm>
            <a:custGeom>
              <a:avLst/>
              <a:gdLst/>
              <a:ahLst/>
              <a:cxnLst/>
              <a:rect l="l" t="t" r="r" b="b"/>
              <a:pathLst>
                <a:path w="21027095" h="1023711">
                  <a:moveTo>
                    <a:pt x="0" y="0"/>
                  </a:moveTo>
                  <a:lnTo>
                    <a:pt x="21027095" y="0"/>
                  </a:lnTo>
                  <a:lnTo>
                    <a:pt x="21027095" y="1023711"/>
                  </a:lnTo>
                  <a:lnTo>
                    <a:pt x="0" y="1023711"/>
                  </a:lnTo>
                  <a:close/>
                </a:path>
              </a:pathLst>
            </a:custGeom>
            <a:blipFill>
              <a:blip r:embed="rId5">
                <a:alphaModFix amt="0"/>
              </a:blip>
              <a:stretch>
                <a:fillRect t="-350224" b="-350223"/>
              </a:stretch>
            </a:blipFill>
          </p:spPr>
        </p:sp>
        <p:sp>
          <p:nvSpPr>
            <p:cNvPr id="16" name="TextBox 16"/>
            <p:cNvSpPr txBox="1"/>
            <p:nvPr/>
          </p:nvSpPr>
          <p:spPr>
            <a:xfrm>
              <a:off x="0" y="19050"/>
              <a:ext cx="21027098" cy="1004660"/>
            </a:xfrm>
            <a:prstGeom prst="rect">
              <a:avLst/>
            </a:prstGeom>
          </p:spPr>
          <p:txBody>
            <a:bodyPr lIns="0" tIns="0" rIns="0" bIns="0" rtlCol="0" anchor="b"/>
            <a:lstStyle/>
            <a:p>
              <a:pPr algn="l">
                <a:lnSpc>
                  <a:spcPts val="3888"/>
                </a:lnSpc>
              </a:pPr>
              <a:r>
                <a:rPr lang="en-US" sz="3600">
                  <a:solidFill>
                    <a:srgbClr val="EE0033"/>
                  </a:solidFill>
                  <a:latin typeface="Arial"/>
                  <a:ea typeface="Arial"/>
                  <a:cs typeface="Arial"/>
                  <a:sym typeface="Arial"/>
                </a:rPr>
                <a:t>II. THREAD:</a:t>
              </a:r>
            </a:p>
          </p:txBody>
        </p:sp>
      </p:gr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9206494"/>
            <a:ext cx="18288000" cy="1080506"/>
            <a:chOff x="0" y="0"/>
            <a:chExt cx="24384000" cy="1440675"/>
          </a:xfrm>
        </p:grpSpPr>
        <p:sp>
          <p:nvSpPr>
            <p:cNvPr id="3" name="Freeform 3"/>
            <p:cNvSpPr/>
            <p:nvPr/>
          </p:nvSpPr>
          <p:spPr>
            <a:xfrm>
              <a:off x="0" y="0"/>
              <a:ext cx="24384000" cy="1440688"/>
            </a:xfrm>
            <a:custGeom>
              <a:avLst/>
              <a:gdLst/>
              <a:ahLst/>
              <a:cxnLst/>
              <a:rect l="l" t="t" r="r" b="b"/>
              <a:pathLst>
                <a:path w="24384000" h="1440688">
                  <a:moveTo>
                    <a:pt x="0" y="0"/>
                  </a:moveTo>
                  <a:lnTo>
                    <a:pt x="24384000" y="0"/>
                  </a:lnTo>
                  <a:lnTo>
                    <a:pt x="24384000" y="1440688"/>
                  </a:lnTo>
                  <a:lnTo>
                    <a:pt x="0" y="1440688"/>
                  </a:lnTo>
                  <a:lnTo>
                    <a:pt x="0" y="0"/>
                  </a:lnTo>
                  <a:close/>
                </a:path>
              </a:pathLst>
            </a:custGeom>
            <a:blipFill>
              <a:blip r:embed="rId3"/>
              <a:stretch>
                <a:fillRect t="-364" b="-364"/>
              </a:stretch>
            </a:blipFill>
          </p:spPr>
        </p:sp>
      </p:grpSp>
      <p:grpSp>
        <p:nvGrpSpPr>
          <p:cNvPr id="4" name="Group 4"/>
          <p:cNvGrpSpPr/>
          <p:nvPr/>
        </p:nvGrpSpPr>
        <p:grpSpPr>
          <a:xfrm>
            <a:off x="15473315" y="9370285"/>
            <a:ext cx="1741541" cy="745693"/>
            <a:chOff x="0" y="0"/>
            <a:chExt cx="2322055" cy="994258"/>
          </a:xfrm>
        </p:grpSpPr>
        <p:sp>
          <p:nvSpPr>
            <p:cNvPr id="5" name="Freeform 5"/>
            <p:cNvSpPr/>
            <p:nvPr/>
          </p:nvSpPr>
          <p:spPr>
            <a:xfrm>
              <a:off x="0" y="0"/>
              <a:ext cx="2322068" cy="994283"/>
            </a:xfrm>
            <a:custGeom>
              <a:avLst/>
              <a:gdLst/>
              <a:ahLst/>
              <a:cxnLst/>
              <a:rect l="l" t="t" r="r" b="b"/>
              <a:pathLst>
                <a:path w="2322068" h="994283">
                  <a:moveTo>
                    <a:pt x="0" y="0"/>
                  </a:moveTo>
                  <a:lnTo>
                    <a:pt x="2322068" y="0"/>
                  </a:lnTo>
                  <a:lnTo>
                    <a:pt x="2322068" y="994283"/>
                  </a:lnTo>
                  <a:lnTo>
                    <a:pt x="0" y="994283"/>
                  </a:lnTo>
                  <a:lnTo>
                    <a:pt x="0" y="0"/>
                  </a:lnTo>
                  <a:close/>
                </a:path>
              </a:pathLst>
            </a:custGeom>
            <a:blipFill>
              <a:blip r:embed="rId4"/>
              <a:stretch>
                <a:fillRect b="-1456"/>
              </a:stretch>
            </a:blipFill>
          </p:spPr>
        </p:sp>
      </p:grpSp>
      <p:grpSp>
        <p:nvGrpSpPr>
          <p:cNvPr id="6" name="Group 6"/>
          <p:cNvGrpSpPr/>
          <p:nvPr/>
        </p:nvGrpSpPr>
        <p:grpSpPr>
          <a:xfrm>
            <a:off x="9981438" y="9581550"/>
            <a:ext cx="4114800" cy="392420"/>
            <a:chOff x="0" y="0"/>
            <a:chExt cx="5486400" cy="523227"/>
          </a:xfrm>
        </p:grpSpPr>
        <p:sp>
          <p:nvSpPr>
            <p:cNvPr id="7" name="Freeform 7"/>
            <p:cNvSpPr/>
            <p:nvPr/>
          </p:nvSpPr>
          <p:spPr>
            <a:xfrm>
              <a:off x="0" y="0"/>
              <a:ext cx="5486400" cy="523222"/>
            </a:xfrm>
            <a:custGeom>
              <a:avLst/>
              <a:gdLst/>
              <a:ahLst/>
              <a:cxnLst/>
              <a:rect l="l" t="t" r="r" b="b"/>
              <a:pathLst>
                <a:path w="5486400" h="523222">
                  <a:moveTo>
                    <a:pt x="0" y="0"/>
                  </a:moveTo>
                  <a:lnTo>
                    <a:pt x="5486400" y="0"/>
                  </a:lnTo>
                  <a:lnTo>
                    <a:pt x="5486400" y="523222"/>
                  </a:lnTo>
                  <a:lnTo>
                    <a:pt x="0" y="523222"/>
                  </a:lnTo>
                  <a:close/>
                </a:path>
              </a:pathLst>
            </a:custGeom>
            <a:blipFill>
              <a:blip r:embed="rId5">
                <a:alphaModFix amt="0"/>
              </a:blip>
              <a:stretch>
                <a:fillRect t="-154315" b="-154316"/>
              </a:stretch>
            </a:blipFill>
          </p:spPr>
        </p:sp>
        <p:sp>
          <p:nvSpPr>
            <p:cNvPr id="8" name="TextBox 8"/>
            <p:cNvSpPr txBox="1"/>
            <p:nvPr/>
          </p:nvSpPr>
          <p:spPr>
            <a:xfrm>
              <a:off x="0" y="-9525"/>
              <a:ext cx="5486400" cy="532752"/>
            </a:xfrm>
            <a:prstGeom prst="rect">
              <a:avLst/>
            </a:prstGeom>
          </p:spPr>
          <p:txBody>
            <a:bodyPr lIns="0" tIns="0" rIns="0" bIns="0" rtlCol="0" anchor="ctr"/>
            <a:lstStyle/>
            <a:p>
              <a:pPr algn="r">
                <a:lnSpc>
                  <a:spcPts val="2520"/>
                </a:lnSpc>
              </a:pPr>
              <a:r>
                <a:rPr lang="en-US" sz="2100">
                  <a:solidFill>
                    <a:srgbClr val="BFBFBF"/>
                  </a:solidFill>
                  <a:latin typeface="Roboto"/>
                  <a:ea typeface="Roboto"/>
                  <a:cs typeface="Roboto"/>
                  <a:sym typeface="Roboto"/>
                </a:rPr>
                <a:t>‹#›</a:t>
              </a:r>
            </a:p>
          </p:txBody>
        </p:sp>
      </p:grpSp>
      <p:sp>
        <p:nvSpPr>
          <p:cNvPr id="9" name="Freeform 9"/>
          <p:cNvSpPr/>
          <p:nvPr/>
        </p:nvSpPr>
        <p:spPr>
          <a:xfrm>
            <a:off x="5300838" y="2844851"/>
            <a:ext cx="6499404" cy="5628231"/>
          </a:xfrm>
          <a:custGeom>
            <a:avLst/>
            <a:gdLst/>
            <a:ahLst/>
            <a:cxnLst/>
            <a:rect l="l" t="t" r="r" b="b"/>
            <a:pathLst>
              <a:path w="6499404" h="5628231">
                <a:moveTo>
                  <a:pt x="0" y="0"/>
                </a:moveTo>
                <a:lnTo>
                  <a:pt x="6499403" y="0"/>
                </a:lnTo>
                <a:lnTo>
                  <a:pt x="6499403" y="5628232"/>
                </a:lnTo>
                <a:lnTo>
                  <a:pt x="0" y="5628232"/>
                </a:lnTo>
                <a:lnTo>
                  <a:pt x="0" y="0"/>
                </a:lnTo>
                <a:close/>
              </a:path>
            </a:pathLst>
          </a:custGeom>
          <a:blipFill>
            <a:blip r:embed="rId6"/>
            <a:stretch>
              <a:fillRect/>
            </a:stretch>
          </a:blipFill>
        </p:spPr>
      </p:sp>
      <p:sp>
        <p:nvSpPr>
          <p:cNvPr id="10" name="TextBox 10"/>
          <p:cNvSpPr txBox="1"/>
          <p:nvPr/>
        </p:nvSpPr>
        <p:spPr>
          <a:xfrm>
            <a:off x="840743" y="9548498"/>
            <a:ext cx="7754617" cy="323850"/>
          </a:xfrm>
          <a:prstGeom prst="rect">
            <a:avLst/>
          </a:prstGeom>
        </p:spPr>
        <p:txBody>
          <a:bodyPr lIns="0" tIns="0" rIns="0" bIns="0" rtlCol="0" anchor="t">
            <a:spAutoFit/>
          </a:bodyPr>
          <a:lstStyle/>
          <a:p>
            <a:pPr algn="l">
              <a:lnSpc>
                <a:spcPts val="2520"/>
              </a:lnSpc>
            </a:pPr>
            <a:r>
              <a:rPr lang="en-US" sz="2100" spc="450">
                <a:solidFill>
                  <a:srgbClr val="BFBFBF"/>
                </a:solidFill>
                <a:latin typeface="Arial"/>
                <a:ea typeface="Arial"/>
                <a:cs typeface="Arial"/>
                <a:sym typeface="Arial"/>
              </a:rPr>
              <a:t>www.viettelhightech.vn </a:t>
            </a:r>
          </a:p>
        </p:txBody>
      </p:sp>
      <p:sp>
        <p:nvSpPr>
          <p:cNvPr id="11" name="TextBox 11"/>
          <p:cNvSpPr txBox="1"/>
          <p:nvPr/>
        </p:nvSpPr>
        <p:spPr>
          <a:xfrm>
            <a:off x="840743" y="1238893"/>
            <a:ext cx="6887599" cy="521589"/>
          </a:xfrm>
          <a:prstGeom prst="rect">
            <a:avLst/>
          </a:prstGeom>
        </p:spPr>
        <p:txBody>
          <a:bodyPr lIns="0" tIns="0" rIns="0" bIns="0" rtlCol="0" anchor="t">
            <a:spAutoFit/>
          </a:bodyPr>
          <a:lstStyle/>
          <a:p>
            <a:pPr algn="l">
              <a:lnSpc>
                <a:spcPts val="3888"/>
              </a:lnSpc>
              <a:spcBef>
                <a:spcPct val="0"/>
              </a:spcBef>
            </a:pPr>
            <a:r>
              <a:rPr lang="en-US" sz="3600">
                <a:solidFill>
                  <a:srgbClr val="EE0033"/>
                </a:solidFill>
                <a:latin typeface="Arial"/>
                <a:ea typeface="Arial"/>
                <a:cs typeface="Arial"/>
                <a:sym typeface="Arial"/>
              </a:rPr>
              <a:t>Mutex:</a:t>
            </a:r>
          </a:p>
        </p:txBody>
      </p:sp>
      <p:sp>
        <p:nvSpPr>
          <p:cNvPr id="12" name="TextBox 12"/>
          <p:cNvSpPr txBox="1"/>
          <p:nvPr/>
        </p:nvSpPr>
        <p:spPr>
          <a:xfrm>
            <a:off x="907760" y="1922407"/>
            <a:ext cx="14261248" cy="734949"/>
          </a:xfrm>
          <a:prstGeom prst="rect">
            <a:avLst/>
          </a:prstGeom>
        </p:spPr>
        <p:txBody>
          <a:bodyPr lIns="0" tIns="0" rIns="0" bIns="0" rtlCol="0" anchor="t">
            <a:spAutoFit/>
          </a:bodyPr>
          <a:lstStyle/>
          <a:p>
            <a:pPr algn="l">
              <a:lnSpc>
                <a:spcPts val="2808"/>
              </a:lnSpc>
              <a:spcBef>
                <a:spcPct val="0"/>
              </a:spcBef>
            </a:pPr>
            <a:r>
              <a:rPr lang="en-US" sz="2600">
                <a:solidFill>
                  <a:srgbClr val="000000"/>
                </a:solidFill>
                <a:latin typeface="Arial"/>
                <a:ea typeface="Arial"/>
                <a:cs typeface="Arial"/>
                <a:sym typeface="Arial"/>
              </a:rPr>
              <a:t>Mutex là một cơ chế đồng bộ dùng để đảm bảo tại một thời điểm chỉ có một thread được phép truy cập vào vùng dữ liệu dùng chung (critical section).</a:t>
            </a:r>
          </a:p>
        </p:txBody>
      </p:sp>
      <p:grpSp>
        <p:nvGrpSpPr>
          <p:cNvPr id="13" name="Group 13"/>
          <p:cNvGrpSpPr/>
          <p:nvPr/>
        </p:nvGrpSpPr>
        <p:grpSpPr>
          <a:xfrm>
            <a:off x="451542" y="300771"/>
            <a:ext cx="15770323" cy="767782"/>
            <a:chOff x="0" y="0"/>
            <a:chExt cx="21027098" cy="1023710"/>
          </a:xfrm>
        </p:grpSpPr>
        <p:sp>
          <p:nvSpPr>
            <p:cNvPr id="14" name="Freeform 14"/>
            <p:cNvSpPr/>
            <p:nvPr/>
          </p:nvSpPr>
          <p:spPr>
            <a:xfrm>
              <a:off x="0" y="0"/>
              <a:ext cx="21027095" cy="1023711"/>
            </a:xfrm>
            <a:custGeom>
              <a:avLst/>
              <a:gdLst/>
              <a:ahLst/>
              <a:cxnLst/>
              <a:rect l="l" t="t" r="r" b="b"/>
              <a:pathLst>
                <a:path w="21027095" h="1023711">
                  <a:moveTo>
                    <a:pt x="0" y="0"/>
                  </a:moveTo>
                  <a:lnTo>
                    <a:pt x="21027095" y="0"/>
                  </a:lnTo>
                  <a:lnTo>
                    <a:pt x="21027095" y="1023711"/>
                  </a:lnTo>
                  <a:lnTo>
                    <a:pt x="0" y="1023711"/>
                  </a:lnTo>
                  <a:close/>
                </a:path>
              </a:pathLst>
            </a:custGeom>
            <a:blipFill>
              <a:blip r:embed="rId5">
                <a:alphaModFix amt="0"/>
              </a:blip>
              <a:stretch>
                <a:fillRect t="-350224" b="-350223"/>
              </a:stretch>
            </a:blipFill>
          </p:spPr>
        </p:sp>
        <p:sp>
          <p:nvSpPr>
            <p:cNvPr id="15" name="TextBox 15"/>
            <p:cNvSpPr txBox="1"/>
            <p:nvPr/>
          </p:nvSpPr>
          <p:spPr>
            <a:xfrm>
              <a:off x="0" y="19050"/>
              <a:ext cx="21027098" cy="1004660"/>
            </a:xfrm>
            <a:prstGeom prst="rect">
              <a:avLst/>
            </a:prstGeom>
          </p:spPr>
          <p:txBody>
            <a:bodyPr lIns="0" tIns="0" rIns="0" bIns="0" rtlCol="0" anchor="b"/>
            <a:lstStyle/>
            <a:p>
              <a:pPr algn="l">
                <a:lnSpc>
                  <a:spcPts val="3888"/>
                </a:lnSpc>
              </a:pPr>
              <a:r>
                <a:rPr lang="en-US" sz="3600">
                  <a:solidFill>
                    <a:srgbClr val="EE0033"/>
                  </a:solidFill>
                  <a:latin typeface="Arial"/>
                  <a:ea typeface="Arial"/>
                  <a:cs typeface="Arial"/>
                  <a:sym typeface="Arial"/>
                </a:rPr>
                <a:t>II. THREAD:</a:t>
              </a:r>
            </a:p>
          </p:txBody>
        </p:sp>
      </p:gr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9206494"/>
            <a:ext cx="18288000" cy="1080506"/>
            <a:chOff x="0" y="0"/>
            <a:chExt cx="24384000" cy="1440675"/>
          </a:xfrm>
        </p:grpSpPr>
        <p:sp>
          <p:nvSpPr>
            <p:cNvPr id="3" name="Freeform 3"/>
            <p:cNvSpPr/>
            <p:nvPr/>
          </p:nvSpPr>
          <p:spPr>
            <a:xfrm>
              <a:off x="0" y="0"/>
              <a:ext cx="24384000" cy="1440688"/>
            </a:xfrm>
            <a:custGeom>
              <a:avLst/>
              <a:gdLst/>
              <a:ahLst/>
              <a:cxnLst/>
              <a:rect l="l" t="t" r="r" b="b"/>
              <a:pathLst>
                <a:path w="24384000" h="1440688">
                  <a:moveTo>
                    <a:pt x="0" y="0"/>
                  </a:moveTo>
                  <a:lnTo>
                    <a:pt x="24384000" y="0"/>
                  </a:lnTo>
                  <a:lnTo>
                    <a:pt x="24384000" y="1440688"/>
                  </a:lnTo>
                  <a:lnTo>
                    <a:pt x="0" y="1440688"/>
                  </a:lnTo>
                  <a:lnTo>
                    <a:pt x="0" y="0"/>
                  </a:lnTo>
                  <a:close/>
                </a:path>
              </a:pathLst>
            </a:custGeom>
            <a:blipFill>
              <a:blip r:embed="rId3"/>
              <a:stretch>
                <a:fillRect t="-364" b="-364"/>
              </a:stretch>
            </a:blipFill>
          </p:spPr>
        </p:sp>
      </p:grpSp>
      <p:grpSp>
        <p:nvGrpSpPr>
          <p:cNvPr id="4" name="Group 4"/>
          <p:cNvGrpSpPr/>
          <p:nvPr/>
        </p:nvGrpSpPr>
        <p:grpSpPr>
          <a:xfrm>
            <a:off x="15473315" y="9370285"/>
            <a:ext cx="1741541" cy="745693"/>
            <a:chOff x="0" y="0"/>
            <a:chExt cx="2322055" cy="994258"/>
          </a:xfrm>
        </p:grpSpPr>
        <p:sp>
          <p:nvSpPr>
            <p:cNvPr id="5" name="Freeform 5"/>
            <p:cNvSpPr/>
            <p:nvPr/>
          </p:nvSpPr>
          <p:spPr>
            <a:xfrm>
              <a:off x="0" y="0"/>
              <a:ext cx="2322068" cy="994283"/>
            </a:xfrm>
            <a:custGeom>
              <a:avLst/>
              <a:gdLst/>
              <a:ahLst/>
              <a:cxnLst/>
              <a:rect l="l" t="t" r="r" b="b"/>
              <a:pathLst>
                <a:path w="2322068" h="994283">
                  <a:moveTo>
                    <a:pt x="0" y="0"/>
                  </a:moveTo>
                  <a:lnTo>
                    <a:pt x="2322068" y="0"/>
                  </a:lnTo>
                  <a:lnTo>
                    <a:pt x="2322068" y="994283"/>
                  </a:lnTo>
                  <a:lnTo>
                    <a:pt x="0" y="994283"/>
                  </a:lnTo>
                  <a:lnTo>
                    <a:pt x="0" y="0"/>
                  </a:lnTo>
                  <a:close/>
                </a:path>
              </a:pathLst>
            </a:custGeom>
            <a:blipFill>
              <a:blip r:embed="rId4"/>
              <a:stretch>
                <a:fillRect b="-1456"/>
              </a:stretch>
            </a:blipFill>
          </p:spPr>
        </p:sp>
      </p:grpSp>
      <p:grpSp>
        <p:nvGrpSpPr>
          <p:cNvPr id="6" name="Group 6"/>
          <p:cNvGrpSpPr/>
          <p:nvPr/>
        </p:nvGrpSpPr>
        <p:grpSpPr>
          <a:xfrm>
            <a:off x="9981438" y="9581550"/>
            <a:ext cx="4114800" cy="392420"/>
            <a:chOff x="0" y="0"/>
            <a:chExt cx="5486400" cy="523227"/>
          </a:xfrm>
        </p:grpSpPr>
        <p:sp>
          <p:nvSpPr>
            <p:cNvPr id="7" name="Freeform 7"/>
            <p:cNvSpPr/>
            <p:nvPr/>
          </p:nvSpPr>
          <p:spPr>
            <a:xfrm>
              <a:off x="0" y="0"/>
              <a:ext cx="5486400" cy="523222"/>
            </a:xfrm>
            <a:custGeom>
              <a:avLst/>
              <a:gdLst/>
              <a:ahLst/>
              <a:cxnLst/>
              <a:rect l="l" t="t" r="r" b="b"/>
              <a:pathLst>
                <a:path w="5486400" h="523222">
                  <a:moveTo>
                    <a:pt x="0" y="0"/>
                  </a:moveTo>
                  <a:lnTo>
                    <a:pt x="5486400" y="0"/>
                  </a:lnTo>
                  <a:lnTo>
                    <a:pt x="5486400" y="523222"/>
                  </a:lnTo>
                  <a:lnTo>
                    <a:pt x="0" y="523222"/>
                  </a:lnTo>
                  <a:close/>
                </a:path>
              </a:pathLst>
            </a:custGeom>
            <a:blipFill>
              <a:blip r:embed="rId5">
                <a:alphaModFix amt="0"/>
              </a:blip>
              <a:stretch>
                <a:fillRect t="-154315" b="-154316"/>
              </a:stretch>
            </a:blipFill>
          </p:spPr>
        </p:sp>
        <p:sp>
          <p:nvSpPr>
            <p:cNvPr id="8" name="TextBox 8"/>
            <p:cNvSpPr txBox="1"/>
            <p:nvPr/>
          </p:nvSpPr>
          <p:spPr>
            <a:xfrm>
              <a:off x="0" y="-9525"/>
              <a:ext cx="5486400" cy="532752"/>
            </a:xfrm>
            <a:prstGeom prst="rect">
              <a:avLst/>
            </a:prstGeom>
          </p:spPr>
          <p:txBody>
            <a:bodyPr lIns="0" tIns="0" rIns="0" bIns="0" rtlCol="0" anchor="ctr"/>
            <a:lstStyle/>
            <a:p>
              <a:pPr algn="r">
                <a:lnSpc>
                  <a:spcPts val="2520"/>
                </a:lnSpc>
              </a:pPr>
              <a:r>
                <a:rPr lang="en-US" sz="2100">
                  <a:solidFill>
                    <a:srgbClr val="BFBFBF"/>
                  </a:solidFill>
                  <a:latin typeface="Roboto"/>
                  <a:ea typeface="Roboto"/>
                  <a:cs typeface="Roboto"/>
                  <a:sym typeface="Roboto"/>
                </a:rPr>
                <a:t>‹#›</a:t>
              </a:r>
            </a:p>
          </p:txBody>
        </p:sp>
      </p:grpSp>
      <p:sp>
        <p:nvSpPr>
          <p:cNvPr id="9" name="Freeform 9"/>
          <p:cNvSpPr/>
          <p:nvPr/>
        </p:nvSpPr>
        <p:spPr>
          <a:xfrm>
            <a:off x="2520600" y="4847652"/>
            <a:ext cx="11485097" cy="2510696"/>
          </a:xfrm>
          <a:custGeom>
            <a:avLst/>
            <a:gdLst/>
            <a:ahLst/>
            <a:cxnLst/>
            <a:rect l="l" t="t" r="r" b="b"/>
            <a:pathLst>
              <a:path w="11485097" h="2510696">
                <a:moveTo>
                  <a:pt x="0" y="0"/>
                </a:moveTo>
                <a:lnTo>
                  <a:pt x="11485097" y="0"/>
                </a:lnTo>
                <a:lnTo>
                  <a:pt x="11485097" y="2510695"/>
                </a:lnTo>
                <a:lnTo>
                  <a:pt x="0" y="2510695"/>
                </a:lnTo>
                <a:lnTo>
                  <a:pt x="0" y="0"/>
                </a:lnTo>
                <a:close/>
              </a:path>
            </a:pathLst>
          </a:custGeom>
          <a:blipFill>
            <a:blip r:embed="rId6"/>
            <a:stretch>
              <a:fillRect/>
            </a:stretch>
          </a:blipFill>
        </p:spPr>
      </p:sp>
      <p:sp>
        <p:nvSpPr>
          <p:cNvPr id="10" name="Freeform 10"/>
          <p:cNvSpPr/>
          <p:nvPr/>
        </p:nvSpPr>
        <p:spPr>
          <a:xfrm>
            <a:off x="2905966" y="3744173"/>
            <a:ext cx="10714364" cy="974033"/>
          </a:xfrm>
          <a:custGeom>
            <a:avLst/>
            <a:gdLst/>
            <a:ahLst/>
            <a:cxnLst/>
            <a:rect l="l" t="t" r="r" b="b"/>
            <a:pathLst>
              <a:path w="10714364" h="974033">
                <a:moveTo>
                  <a:pt x="0" y="0"/>
                </a:moveTo>
                <a:lnTo>
                  <a:pt x="10714364" y="0"/>
                </a:lnTo>
                <a:lnTo>
                  <a:pt x="10714364" y="974033"/>
                </a:lnTo>
                <a:lnTo>
                  <a:pt x="0" y="974033"/>
                </a:lnTo>
                <a:lnTo>
                  <a:pt x="0" y="0"/>
                </a:lnTo>
                <a:close/>
              </a:path>
            </a:pathLst>
          </a:custGeom>
          <a:blipFill>
            <a:blip r:embed="rId7"/>
            <a:stretch>
              <a:fillRect/>
            </a:stretch>
          </a:blipFill>
        </p:spPr>
      </p:sp>
      <p:sp>
        <p:nvSpPr>
          <p:cNvPr id="11" name="TextBox 11"/>
          <p:cNvSpPr txBox="1"/>
          <p:nvPr/>
        </p:nvSpPr>
        <p:spPr>
          <a:xfrm>
            <a:off x="840743" y="9548498"/>
            <a:ext cx="7754617" cy="323850"/>
          </a:xfrm>
          <a:prstGeom prst="rect">
            <a:avLst/>
          </a:prstGeom>
        </p:spPr>
        <p:txBody>
          <a:bodyPr lIns="0" tIns="0" rIns="0" bIns="0" rtlCol="0" anchor="t">
            <a:spAutoFit/>
          </a:bodyPr>
          <a:lstStyle/>
          <a:p>
            <a:pPr algn="l">
              <a:lnSpc>
                <a:spcPts val="2520"/>
              </a:lnSpc>
            </a:pPr>
            <a:r>
              <a:rPr lang="en-US" sz="2100" spc="450">
                <a:solidFill>
                  <a:srgbClr val="BFBFBF"/>
                </a:solidFill>
                <a:latin typeface="Arial"/>
                <a:ea typeface="Arial"/>
                <a:cs typeface="Arial"/>
                <a:sym typeface="Arial"/>
              </a:rPr>
              <a:t>www.viettelhightech.vn </a:t>
            </a:r>
          </a:p>
        </p:txBody>
      </p:sp>
      <p:sp>
        <p:nvSpPr>
          <p:cNvPr id="12" name="TextBox 12"/>
          <p:cNvSpPr txBox="1"/>
          <p:nvPr/>
        </p:nvSpPr>
        <p:spPr>
          <a:xfrm>
            <a:off x="840743" y="1238893"/>
            <a:ext cx="6887599" cy="521589"/>
          </a:xfrm>
          <a:prstGeom prst="rect">
            <a:avLst/>
          </a:prstGeom>
        </p:spPr>
        <p:txBody>
          <a:bodyPr lIns="0" tIns="0" rIns="0" bIns="0" rtlCol="0" anchor="t">
            <a:spAutoFit/>
          </a:bodyPr>
          <a:lstStyle/>
          <a:p>
            <a:pPr algn="l">
              <a:lnSpc>
                <a:spcPts val="3888"/>
              </a:lnSpc>
              <a:spcBef>
                <a:spcPct val="0"/>
              </a:spcBef>
            </a:pPr>
            <a:r>
              <a:rPr lang="en-US" sz="3600">
                <a:solidFill>
                  <a:srgbClr val="EE0033"/>
                </a:solidFill>
                <a:latin typeface="Arial"/>
                <a:ea typeface="Arial"/>
                <a:cs typeface="Arial"/>
                <a:sym typeface="Arial"/>
              </a:rPr>
              <a:t>Mutex:</a:t>
            </a:r>
          </a:p>
        </p:txBody>
      </p:sp>
      <p:sp>
        <p:nvSpPr>
          <p:cNvPr id="13" name="TextBox 13"/>
          <p:cNvSpPr txBox="1"/>
          <p:nvPr/>
        </p:nvSpPr>
        <p:spPr>
          <a:xfrm>
            <a:off x="907760" y="1922407"/>
            <a:ext cx="14261248" cy="734949"/>
          </a:xfrm>
          <a:prstGeom prst="rect">
            <a:avLst/>
          </a:prstGeom>
        </p:spPr>
        <p:txBody>
          <a:bodyPr lIns="0" tIns="0" rIns="0" bIns="0" rtlCol="0" anchor="t">
            <a:spAutoFit/>
          </a:bodyPr>
          <a:lstStyle/>
          <a:p>
            <a:pPr algn="l">
              <a:lnSpc>
                <a:spcPts val="2808"/>
              </a:lnSpc>
              <a:spcBef>
                <a:spcPct val="0"/>
              </a:spcBef>
            </a:pPr>
            <a:r>
              <a:rPr lang="en-US" sz="2600">
                <a:solidFill>
                  <a:srgbClr val="000000"/>
                </a:solidFill>
                <a:latin typeface="Arial"/>
                <a:ea typeface="Arial"/>
                <a:cs typeface="Arial"/>
                <a:sym typeface="Arial"/>
              </a:rPr>
              <a:t>Mutex là một cơ chế đồng bộ dùng để đảm bảo tại một thời điểm chỉ có một thread được phép truy cập vào vùng dữ liệu dùng chung (critical section).</a:t>
            </a:r>
          </a:p>
        </p:txBody>
      </p:sp>
      <p:grpSp>
        <p:nvGrpSpPr>
          <p:cNvPr id="14" name="Group 14"/>
          <p:cNvGrpSpPr/>
          <p:nvPr/>
        </p:nvGrpSpPr>
        <p:grpSpPr>
          <a:xfrm>
            <a:off x="451542" y="300771"/>
            <a:ext cx="15770323" cy="767782"/>
            <a:chOff x="0" y="0"/>
            <a:chExt cx="21027098" cy="1023710"/>
          </a:xfrm>
        </p:grpSpPr>
        <p:sp>
          <p:nvSpPr>
            <p:cNvPr id="15" name="Freeform 15"/>
            <p:cNvSpPr/>
            <p:nvPr/>
          </p:nvSpPr>
          <p:spPr>
            <a:xfrm>
              <a:off x="0" y="0"/>
              <a:ext cx="21027095" cy="1023711"/>
            </a:xfrm>
            <a:custGeom>
              <a:avLst/>
              <a:gdLst/>
              <a:ahLst/>
              <a:cxnLst/>
              <a:rect l="l" t="t" r="r" b="b"/>
              <a:pathLst>
                <a:path w="21027095" h="1023711">
                  <a:moveTo>
                    <a:pt x="0" y="0"/>
                  </a:moveTo>
                  <a:lnTo>
                    <a:pt x="21027095" y="0"/>
                  </a:lnTo>
                  <a:lnTo>
                    <a:pt x="21027095" y="1023711"/>
                  </a:lnTo>
                  <a:lnTo>
                    <a:pt x="0" y="1023711"/>
                  </a:lnTo>
                  <a:close/>
                </a:path>
              </a:pathLst>
            </a:custGeom>
            <a:blipFill>
              <a:blip r:embed="rId5">
                <a:alphaModFix amt="0"/>
              </a:blip>
              <a:stretch>
                <a:fillRect t="-350224" b="-350223"/>
              </a:stretch>
            </a:blipFill>
          </p:spPr>
        </p:sp>
        <p:sp>
          <p:nvSpPr>
            <p:cNvPr id="16" name="TextBox 16"/>
            <p:cNvSpPr txBox="1"/>
            <p:nvPr/>
          </p:nvSpPr>
          <p:spPr>
            <a:xfrm>
              <a:off x="0" y="19050"/>
              <a:ext cx="21027098" cy="1004660"/>
            </a:xfrm>
            <a:prstGeom prst="rect">
              <a:avLst/>
            </a:prstGeom>
          </p:spPr>
          <p:txBody>
            <a:bodyPr lIns="0" tIns="0" rIns="0" bIns="0" rtlCol="0" anchor="b"/>
            <a:lstStyle/>
            <a:p>
              <a:pPr algn="l">
                <a:lnSpc>
                  <a:spcPts val="3888"/>
                </a:lnSpc>
              </a:pPr>
              <a:r>
                <a:rPr lang="en-US" sz="3600">
                  <a:solidFill>
                    <a:srgbClr val="EE0033"/>
                  </a:solidFill>
                  <a:latin typeface="Arial"/>
                  <a:ea typeface="Arial"/>
                  <a:cs typeface="Arial"/>
                  <a:sym typeface="Arial"/>
                </a:rPr>
                <a:t>II. THREAD:</a:t>
              </a:r>
            </a:p>
          </p:txBody>
        </p:sp>
      </p:gr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9206494"/>
            <a:ext cx="18288000" cy="1080506"/>
            <a:chOff x="0" y="0"/>
            <a:chExt cx="24384000" cy="1440675"/>
          </a:xfrm>
        </p:grpSpPr>
        <p:sp>
          <p:nvSpPr>
            <p:cNvPr id="3" name="Freeform 3"/>
            <p:cNvSpPr/>
            <p:nvPr/>
          </p:nvSpPr>
          <p:spPr>
            <a:xfrm>
              <a:off x="0" y="0"/>
              <a:ext cx="24384000" cy="1440688"/>
            </a:xfrm>
            <a:custGeom>
              <a:avLst/>
              <a:gdLst/>
              <a:ahLst/>
              <a:cxnLst/>
              <a:rect l="l" t="t" r="r" b="b"/>
              <a:pathLst>
                <a:path w="24384000" h="1440688">
                  <a:moveTo>
                    <a:pt x="0" y="0"/>
                  </a:moveTo>
                  <a:lnTo>
                    <a:pt x="24384000" y="0"/>
                  </a:lnTo>
                  <a:lnTo>
                    <a:pt x="24384000" y="1440688"/>
                  </a:lnTo>
                  <a:lnTo>
                    <a:pt x="0" y="1440688"/>
                  </a:lnTo>
                  <a:lnTo>
                    <a:pt x="0" y="0"/>
                  </a:lnTo>
                  <a:close/>
                </a:path>
              </a:pathLst>
            </a:custGeom>
            <a:blipFill>
              <a:blip r:embed="rId3"/>
              <a:stretch>
                <a:fillRect t="-364" b="-364"/>
              </a:stretch>
            </a:blipFill>
          </p:spPr>
        </p:sp>
      </p:grpSp>
      <p:grpSp>
        <p:nvGrpSpPr>
          <p:cNvPr id="4" name="Group 4"/>
          <p:cNvGrpSpPr/>
          <p:nvPr/>
        </p:nvGrpSpPr>
        <p:grpSpPr>
          <a:xfrm>
            <a:off x="15473315" y="9370285"/>
            <a:ext cx="1741541" cy="745693"/>
            <a:chOff x="0" y="0"/>
            <a:chExt cx="2322055" cy="994258"/>
          </a:xfrm>
        </p:grpSpPr>
        <p:sp>
          <p:nvSpPr>
            <p:cNvPr id="5" name="Freeform 5"/>
            <p:cNvSpPr/>
            <p:nvPr/>
          </p:nvSpPr>
          <p:spPr>
            <a:xfrm>
              <a:off x="0" y="0"/>
              <a:ext cx="2322068" cy="994283"/>
            </a:xfrm>
            <a:custGeom>
              <a:avLst/>
              <a:gdLst/>
              <a:ahLst/>
              <a:cxnLst/>
              <a:rect l="l" t="t" r="r" b="b"/>
              <a:pathLst>
                <a:path w="2322068" h="994283">
                  <a:moveTo>
                    <a:pt x="0" y="0"/>
                  </a:moveTo>
                  <a:lnTo>
                    <a:pt x="2322068" y="0"/>
                  </a:lnTo>
                  <a:lnTo>
                    <a:pt x="2322068" y="994283"/>
                  </a:lnTo>
                  <a:lnTo>
                    <a:pt x="0" y="994283"/>
                  </a:lnTo>
                  <a:lnTo>
                    <a:pt x="0" y="0"/>
                  </a:lnTo>
                  <a:close/>
                </a:path>
              </a:pathLst>
            </a:custGeom>
            <a:blipFill>
              <a:blip r:embed="rId4"/>
              <a:stretch>
                <a:fillRect b="-1456"/>
              </a:stretch>
            </a:blipFill>
          </p:spPr>
        </p:sp>
      </p:grpSp>
      <p:grpSp>
        <p:nvGrpSpPr>
          <p:cNvPr id="6" name="Group 6"/>
          <p:cNvGrpSpPr/>
          <p:nvPr/>
        </p:nvGrpSpPr>
        <p:grpSpPr>
          <a:xfrm>
            <a:off x="9981438" y="9581550"/>
            <a:ext cx="4114800" cy="392420"/>
            <a:chOff x="0" y="0"/>
            <a:chExt cx="5486400" cy="523227"/>
          </a:xfrm>
        </p:grpSpPr>
        <p:sp>
          <p:nvSpPr>
            <p:cNvPr id="7" name="Freeform 7"/>
            <p:cNvSpPr/>
            <p:nvPr/>
          </p:nvSpPr>
          <p:spPr>
            <a:xfrm>
              <a:off x="0" y="0"/>
              <a:ext cx="5486400" cy="523222"/>
            </a:xfrm>
            <a:custGeom>
              <a:avLst/>
              <a:gdLst/>
              <a:ahLst/>
              <a:cxnLst/>
              <a:rect l="l" t="t" r="r" b="b"/>
              <a:pathLst>
                <a:path w="5486400" h="523222">
                  <a:moveTo>
                    <a:pt x="0" y="0"/>
                  </a:moveTo>
                  <a:lnTo>
                    <a:pt x="5486400" y="0"/>
                  </a:lnTo>
                  <a:lnTo>
                    <a:pt x="5486400" y="523222"/>
                  </a:lnTo>
                  <a:lnTo>
                    <a:pt x="0" y="523222"/>
                  </a:lnTo>
                  <a:close/>
                </a:path>
              </a:pathLst>
            </a:custGeom>
            <a:blipFill>
              <a:blip r:embed="rId5">
                <a:alphaModFix amt="0"/>
              </a:blip>
              <a:stretch>
                <a:fillRect t="-154315" b="-154316"/>
              </a:stretch>
            </a:blipFill>
          </p:spPr>
        </p:sp>
        <p:sp>
          <p:nvSpPr>
            <p:cNvPr id="8" name="TextBox 8"/>
            <p:cNvSpPr txBox="1"/>
            <p:nvPr/>
          </p:nvSpPr>
          <p:spPr>
            <a:xfrm>
              <a:off x="0" y="-9525"/>
              <a:ext cx="5486400" cy="532752"/>
            </a:xfrm>
            <a:prstGeom prst="rect">
              <a:avLst/>
            </a:prstGeom>
          </p:spPr>
          <p:txBody>
            <a:bodyPr lIns="0" tIns="0" rIns="0" bIns="0" rtlCol="0" anchor="ctr"/>
            <a:lstStyle/>
            <a:p>
              <a:pPr algn="r">
                <a:lnSpc>
                  <a:spcPts val="2520"/>
                </a:lnSpc>
              </a:pPr>
              <a:r>
                <a:rPr lang="en-US" sz="2100">
                  <a:solidFill>
                    <a:srgbClr val="BFBFBF"/>
                  </a:solidFill>
                  <a:latin typeface="Roboto"/>
                  <a:ea typeface="Roboto"/>
                  <a:cs typeface="Roboto"/>
                  <a:sym typeface="Roboto"/>
                </a:rPr>
                <a:t>‹#›</a:t>
              </a:r>
            </a:p>
          </p:txBody>
        </p:sp>
      </p:grpSp>
      <p:sp>
        <p:nvSpPr>
          <p:cNvPr id="9" name="Freeform 9"/>
          <p:cNvSpPr/>
          <p:nvPr/>
        </p:nvSpPr>
        <p:spPr>
          <a:xfrm>
            <a:off x="5239998" y="1930472"/>
            <a:ext cx="6798840" cy="5149817"/>
          </a:xfrm>
          <a:custGeom>
            <a:avLst/>
            <a:gdLst/>
            <a:ahLst/>
            <a:cxnLst/>
            <a:rect l="l" t="t" r="r" b="b"/>
            <a:pathLst>
              <a:path w="6798840" h="5149817">
                <a:moveTo>
                  <a:pt x="0" y="0"/>
                </a:moveTo>
                <a:lnTo>
                  <a:pt x="6798840" y="0"/>
                </a:lnTo>
                <a:lnTo>
                  <a:pt x="6798840" y="5149817"/>
                </a:lnTo>
                <a:lnTo>
                  <a:pt x="0" y="5149817"/>
                </a:lnTo>
                <a:lnTo>
                  <a:pt x="0" y="0"/>
                </a:lnTo>
                <a:close/>
              </a:path>
            </a:pathLst>
          </a:custGeom>
          <a:blipFill>
            <a:blip r:embed="rId6"/>
            <a:stretch>
              <a:fillRect/>
            </a:stretch>
          </a:blipFill>
        </p:spPr>
      </p:sp>
      <p:sp>
        <p:nvSpPr>
          <p:cNvPr id="10" name="Freeform 10"/>
          <p:cNvSpPr/>
          <p:nvPr/>
        </p:nvSpPr>
        <p:spPr>
          <a:xfrm>
            <a:off x="2493784" y="7908964"/>
            <a:ext cx="11811676" cy="823789"/>
          </a:xfrm>
          <a:custGeom>
            <a:avLst/>
            <a:gdLst/>
            <a:ahLst/>
            <a:cxnLst/>
            <a:rect l="l" t="t" r="r" b="b"/>
            <a:pathLst>
              <a:path w="11811676" h="823789">
                <a:moveTo>
                  <a:pt x="0" y="0"/>
                </a:moveTo>
                <a:lnTo>
                  <a:pt x="11811676" y="0"/>
                </a:lnTo>
                <a:lnTo>
                  <a:pt x="11811676" y="823789"/>
                </a:lnTo>
                <a:lnTo>
                  <a:pt x="0" y="823789"/>
                </a:lnTo>
                <a:lnTo>
                  <a:pt x="0" y="0"/>
                </a:lnTo>
                <a:close/>
              </a:path>
            </a:pathLst>
          </a:custGeom>
          <a:blipFill>
            <a:blip r:embed="rId7"/>
            <a:stretch>
              <a:fillRect/>
            </a:stretch>
          </a:blipFill>
        </p:spPr>
      </p:sp>
      <p:sp>
        <p:nvSpPr>
          <p:cNvPr id="11" name="TextBox 11"/>
          <p:cNvSpPr txBox="1"/>
          <p:nvPr/>
        </p:nvSpPr>
        <p:spPr>
          <a:xfrm>
            <a:off x="840743" y="9548498"/>
            <a:ext cx="7754617" cy="323850"/>
          </a:xfrm>
          <a:prstGeom prst="rect">
            <a:avLst/>
          </a:prstGeom>
        </p:spPr>
        <p:txBody>
          <a:bodyPr lIns="0" tIns="0" rIns="0" bIns="0" rtlCol="0" anchor="t">
            <a:spAutoFit/>
          </a:bodyPr>
          <a:lstStyle/>
          <a:p>
            <a:pPr algn="l">
              <a:lnSpc>
                <a:spcPts val="2520"/>
              </a:lnSpc>
            </a:pPr>
            <a:r>
              <a:rPr lang="en-US" sz="2100" spc="450">
                <a:solidFill>
                  <a:srgbClr val="BFBFBF"/>
                </a:solidFill>
                <a:latin typeface="Arial"/>
                <a:ea typeface="Arial"/>
                <a:cs typeface="Arial"/>
                <a:sym typeface="Arial"/>
              </a:rPr>
              <a:t>www.viettelhightech.vn </a:t>
            </a:r>
          </a:p>
        </p:txBody>
      </p:sp>
      <p:sp>
        <p:nvSpPr>
          <p:cNvPr id="12" name="TextBox 12"/>
          <p:cNvSpPr txBox="1"/>
          <p:nvPr/>
        </p:nvSpPr>
        <p:spPr>
          <a:xfrm>
            <a:off x="840743" y="1238893"/>
            <a:ext cx="6887599" cy="521589"/>
          </a:xfrm>
          <a:prstGeom prst="rect">
            <a:avLst/>
          </a:prstGeom>
        </p:spPr>
        <p:txBody>
          <a:bodyPr lIns="0" tIns="0" rIns="0" bIns="0" rtlCol="0" anchor="t">
            <a:spAutoFit/>
          </a:bodyPr>
          <a:lstStyle/>
          <a:p>
            <a:pPr algn="l">
              <a:lnSpc>
                <a:spcPts val="3888"/>
              </a:lnSpc>
              <a:spcBef>
                <a:spcPct val="0"/>
              </a:spcBef>
            </a:pPr>
            <a:r>
              <a:rPr lang="en-US" sz="3600">
                <a:solidFill>
                  <a:srgbClr val="EE0033"/>
                </a:solidFill>
                <a:latin typeface="Arial"/>
                <a:ea typeface="Arial"/>
                <a:cs typeface="Arial"/>
                <a:sym typeface="Arial"/>
              </a:rPr>
              <a:t>Mutex:</a:t>
            </a:r>
          </a:p>
        </p:txBody>
      </p:sp>
      <p:grpSp>
        <p:nvGrpSpPr>
          <p:cNvPr id="13" name="Group 13"/>
          <p:cNvGrpSpPr/>
          <p:nvPr/>
        </p:nvGrpSpPr>
        <p:grpSpPr>
          <a:xfrm>
            <a:off x="451542" y="300771"/>
            <a:ext cx="15770323" cy="767782"/>
            <a:chOff x="0" y="0"/>
            <a:chExt cx="21027098" cy="1023710"/>
          </a:xfrm>
        </p:grpSpPr>
        <p:sp>
          <p:nvSpPr>
            <p:cNvPr id="14" name="Freeform 14"/>
            <p:cNvSpPr/>
            <p:nvPr/>
          </p:nvSpPr>
          <p:spPr>
            <a:xfrm>
              <a:off x="0" y="0"/>
              <a:ext cx="21027095" cy="1023711"/>
            </a:xfrm>
            <a:custGeom>
              <a:avLst/>
              <a:gdLst/>
              <a:ahLst/>
              <a:cxnLst/>
              <a:rect l="l" t="t" r="r" b="b"/>
              <a:pathLst>
                <a:path w="21027095" h="1023711">
                  <a:moveTo>
                    <a:pt x="0" y="0"/>
                  </a:moveTo>
                  <a:lnTo>
                    <a:pt x="21027095" y="0"/>
                  </a:lnTo>
                  <a:lnTo>
                    <a:pt x="21027095" y="1023711"/>
                  </a:lnTo>
                  <a:lnTo>
                    <a:pt x="0" y="1023711"/>
                  </a:lnTo>
                  <a:close/>
                </a:path>
              </a:pathLst>
            </a:custGeom>
            <a:blipFill>
              <a:blip r:embed="rId5">
                <a:alphaModFix amt="0"/>
              </a:blip>
              <a:stretch>
                <a:fillRect t="-350224" b="-350223"/>
              </a:stretch>
            </a:blipFill>
          </p:spPr>
        </p:sp>
        <p:sp>
          <p:nvSpPr>
            <p:cNvPr id="15" name="TextBox 15"/>
            <p:cNvSpPr txBox="1"/>
            <p:nvPr/>
          </p:nvSpPr>
          <p:spPr>
            <a:xfrm>
              <a:off x="0" y="19050"/>
              <a:ext cx="21027098" cy="1004660"/>
            </a:xfrm>
            <a:prstGeom prst="rect">
              <a:avLst/>
            </a:prstGeom>
          </p:spPr>
          <p:txBody>
            <a:bodyPr lIns="0" tIns="0" rIns="0" bIns="0" rtlCol="0" anchor="b"/>
            <a:lstStyle/>
            <a:p>
              <a:pPr algn="l">
                <a:lnSpc>
                  <a:spcPts val="3888"/>
                </a:lnSpc>
              </a:pPr>
              <a:r>
                <a:rPr lang="en-US" sz="3600">
                  <a:solidFill>
                    <a:srgbClr val="EE0033"/>
                  </a:solidFill>
                  <a:latin typeface="Arial"/>
                  <a:ea typeface="Arial"/>
                  <a:cs typeface="Arial"/>
                  <a:sym typeface="Arial"/>
                </a:rPr>
                <a:t>II. THREAD:</a:t>
              </a:r>
            </a:p>
          </p:txBody>
        </p:sp>
      </p:gr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9206494"/>
            <a:ext cx="18288000" cy="1080506"/>
            <a:chOff x="0" y="0"/>
            <a:chExt cx="24384000" cy="1440675"/>
          </a:xfrm>
        </p:grpSpPr>
        <p:sp>
          <p:nvSpPr>
            <p:cNvPr id="3" name="Freeform 3"/>
            <p:cNvSpPr/>
            <p:nvPr/>
          </p:nvSpPr>
          <p:spPr>
            <a:xfrm>
              <a:off x="0" y="0"/>
              <a:ext cx="24384000" cy="1440688"/>
            </a:xfrm>
            <a:custGeom>
              <a:avLst/>
              <a:gdLst/>
              <a:ahLst/>
              <a:cxnLst/>
              <a:rect l="l" t="t" r="r" b="b"/>
              <a:pathLst>
                <a:path w="24384000" h="1440688">
                  <a:moveTo>
                    <a:pt x="0" y="0"/>
                  </a:moveTo>
                  <a:lnTo>
                    <a:pt x="24384000" y="0"/>
                  </a:lnTo>
                  <a:lnTo>
                    <a:pt x="24384000" y="1440688"/>
                  </a:lnTo>
                  <a:lnTo>
                    <a:pt x="0" y="1440688"/>
                  </a:lnTo>
                  <a:lnTo>
                    <a:pt x="0" y="0"/>
                  </a:lnTo>
                  <a:close/>
                </a:path>
              </a:pathLst>
            </a:custGeom>
            <a:blipFill>
              <a:blip r:embed="rId3"/>
              <a:stretch>
                <a:fillRect t="-364" b="-364"/>
              </a:stretch>
            </a:blipFill>
          </p:spPr>
        </p:sp>
      </p:grpSp>
      <p:grpSp>
        <p:nvGrpSpPr>
          <p:cNvPr id="4" name="Group 4"/>
          <p:cNvGrpSpPr/>
          <p:nvPr/>
        </p:nvGrpSpPr>
        <p:grpSpPr>
          <a:xfrm>
            <a:off x="15473315" y="9370285"/>
            <a:ext cx="1741541" cy="745693"/>
            <a:chOff x="0" y="0"/>
            <a:chExt cx="2322055" cy="994258"/>
          </a:xfrm>
        </p:grpSpPr>
        <p:sp>
          <p:nvSpPr>
            <p:cNvPr id="5" name="Freeform 5"/>
            <p:cNvSpPr/>
            <p:nvPr/>
          </p:nvSpPr>
          <p:spPr>
            <a:xfrm>
              <a:off x="0" y="0"/>
              <a:ext cx="2322068" cy="994283"/>
            </a:xfrm>
            <a:custGeom>
              <a:avLst/>
              <a:gdLst/>
              <a:ahLst/>
              <a:cxnLst/>
              <a:rect l="l" t="t" r="r" b="b"/>
              <a:pathLst>
                <a:path w="2322068" h="994283">
                  <a:moveTo>
                    <a:pt x="0" y="0"/>
                  </a:moveTo>
                  <a:lnTo>
                    <a:pt x="2322068" y="0"/>
                  </a:lnTo>
                  <a:lnTo>
                    <a:pt x="2322068" y="994283"/>
                  </a:lnTo>
                  <a:lnTo>
                    <a:pt x="0" y="994283"/>
                  </a:lnTo>
                  <a:lnTo>
                    <a:pt x="0" y="0"/>
                  </a:lnTo>
                  <a:close/>
                </a:path>
              </a:pathLst>
            </a:custGeom>
            <a:blipFill>
              <a:blip r:embed="rId4"/>
              <a:stretch>
                <a:fillRect b="-1456"/>
              </a:stretch>
            </a:blipFill>
          </p:spPr>
        </p:sp>
      </p:grpSp>
      <p:grpSp>
        <p:nvGrpSpPr>
          <p:cNvPr id="6" name="Group 6"/>
          <p:cNvGrpSpPr/>
          <p:nvPr/>
        </p:nvGrpSpPr>
        <p:grpSpPr>
          <a:xfrm>
            <a:off x="9981438" y="9581550"/>
            <a:ext cx="4114800" cy="392420"/>
            <a:chOff x="0" y="0"/>
            <a:chExt cx="5486400" cy="523227"/>
          </a:xfrm>
        </p:grpSpPr>
        <p:sp>
          <p:nvSpPr>
            <p:cNvPr id="7" name="Freeform 7"/>
            <p:cNvSpPr/>
            <p:nvPr/>
          </p:nvSpPr>
          <p:spPr>
            <a:xfrm>
              <a:off x="0" y="0"/>
              <a:ext cx="5486400" cy="523222"/>
            </a:xfrm>
            <a:custGeom>
              <a:avLst/>
              <a:gdLst/>
              <a:ahLst/>
              <a:cxnLst/>
              <a:rect l="l" t="t" r="r" b="b"/>
              <a:pathLst>
                <a:path w="5486400" h="523222">
                  <a:moveTo>
                    <a:pt x="0" y="0"/>
                  </a:moveTo>
                  <a:lnTo>
                    <a:pt x="5486400" y="0"/>
                  </a:lnTo>
                  <a:lnTo>
                    <a:pt x="5486400" y="523222"/>
                  </a:lnTo>
                  <a:lnTo>
                    <a:pt x="0" y="523222"/>
                  </a:lnTo>
                  <a:close/>
                </a:path>
              </a:pathLst>
            </a:custGeom>
            <a:blipFill>
              <a:blip r:embed="rId5">
                <a:alphaModFix amt="0"/>
              </a:blip>
              <a:stretch>
                <a:fillRect t="-154315" b="-154316"/>
              </a:stretch>
            </a:blipFill>
          </p:spPr>
        </p:sp>
        <p:sp>
          <p:nvSpPr>
            <p:cNvPr id="8" name="TextBox 8"/>
            <p:cNvSpPr txBox="1"/>
            <p:nvPr/>
          </p:nvSpPr>
          <p:spPr>
            <a:xfrm>
              <a:off x="0" y="-9525"/>
              <a:ext cx="5486400" cy="532752"/>
            </a:xfrm>
            <a:prstGeom prst="rect">
              <a:avLst/>
            </a:prstGeom>
          </p:spPr>
          <p:txBody>
            <a:bodyPr lIns="0" tIns="0" rIns="0" bIns="0" rtlCol="0" anchor="ctr"/>
            <a:lstStyle/>
            <a:p>
              <a:pPr algn="r">
                <a:lnSpc>
                  <a:spcPts val="2520"/>
                </a:lnSpc>
              </a:pPr>
              <a:r>
                <a:rPr lang="en-US" sz="2100">
                  <a:solidFill>
                    <a:srgbClr val="BFBFBF"/>
                  </a:solidFill>
                  <a:latin typeface="Roboto"/>
                  <a:ea typeface="Roboto"/>
                  <a:cs typeface="Roboto"/>
                  <a:sym typeface="Roboto"/>
                </a:rPr>
                <a:t>‹#›</a:t>
              </a:r>
            </a:p>
          </p:txBody>
        </p:sp>
      </p:grpSp>
      <p:grpSp>
        <p:nvGrpSpPr>
          <p:cNvPr id="9" name="Group 9"/>
          <p:cNvGrpSpPr/>
          <p:nvPr/>
        </p:nvGrpSpPr>
        <p:grpSpPr>
          <a:xfrm>
            <a:off x="451542" y="300771"/>
            <a:ext cx="15770323" cy="767782"/>
            <a:chOff x="0" y="0"/>
            <a:chExt cx="21027098" cy="1023710"/>
          </a:xfrm>
        </p:grpSpPr>
        <p:sp>
          <p:nvSpPr>
            <p:cNvPr id="10" name="Freeform 10"/>
            <p:cNvSpPr/>
            <p:nvPr/>
          </p:nvSpPr>
          <p:spPr>
            <a:xfrm>
              <a:off x="0" y="0"/>
              <a:ext cx="21027095" cy="1023711"/>
            </a:xfrm>
            <a:custGeom>
              <a:avLst/>
              <a:gdLst/>
              <a:ahLst/>
              <a:cxnLst/>
              <a:rect l="l" t="t" r="r" b="b"/>
              <a:pathLst>
                <a:path w="21027095" h="1023711">
                  <a:moveTo>
                    <a:pt x="0" y="0"/>
                  </a:moveTo>
                  <a:lnTo>
                    <a:pt x="21027095" y="0"/>
                  </a:lnTo>
                  <a:lnTo>
                    <a:pt x="21027095" y="1023711"/>
                  </a:lnTo>
                  <a:lnTo>
                    <a:pt x="0" y="1023711"/>
                  </a:lnTo>
                  <a:close/>
                </a:path>
              </a:pathLst>
            </a:custGeom>
            <a:blipFill>
              <a:blip r:embed="rId5">
                <a:alphaModFix amt="0"/>
              </a:blip>
              <a:stretch>
                <a:fillRect t="-350224" b="-350223"/>
              </a:stretch>
            </a:blipFill>
          </p:spPr>
        </p:sp>
        <p:sp>
          <p:nvSpPr>
            <p:cNvPr id="11" name="TextBox 11"/>
            <p:cNvSpPr txBox="1"/>
            <p:nvPr/>
          </p:nvSpPr>
          <p:spPr>
            <a:xfrm>
              <a:off x="0" y="19050"/>
              <a:ext cx="21027098" cy="1004660"/>
            </a:xfrm>
            <a:prstGeom prst="rect">
              <a:avLst/>
            </a:prstGeom>
          </p:spPr>
          <p:txBody>
            <a:bodyPr lIns="0" tIns="0" rIns="0" bIns="0" rtlCol="0" anchor="b"/>
            <a:lstStyle/>
            <a:p>
              <a:pPr algn="l">
                <a:lnSpc>
                  <a:spcPts val="3888"/>
                </a:lnSpc>
              </a:pPr>
              <a:r>
                <a:rPr lang="en-US" sz="3600">
                  <a:solidFill>
                    <a:srgbClr val="EE0033"/>
                  </a:solidFill>
                  <a:latin typeface="Arial"/>
                  <a:ea typeface="Arial"/>
                  <a:cs typeface="Arial"/>
                  <a:sym typeface="Arial"/>
                </a:rPr>
                <a:t>II. THREAD:</a:t>
              </a:r>
            </a:p>
          </p:txBody>
        </p:sp>
      </p:grpSp>
      <p:sp>
        <p:nvSpPr>
          <p:cNvPr id="12" name="Freeform 12"/>
          <p:cNvSpPr/>
          <p:nvPr/>
        </p:nvSpPr>
        <p:spPr>
          <a:xfrm>
            <a:off x="3245593" y="2050756"/>
            <a:ext cx="11010340" cy="2756456"/>
          </a:xfrm>
          <a:custGeom>
            <a:avLst/>
            <a:gdLst/>
            <a:ahLst/>
            <a:cxnLst/>
            <a:rect l="l" t="t" r="r" b="b"/>
            <a:pathLst>
              <a:path w="11010340" h="2756456">
                <a:moveTo>
                  <a:pt x="0" y="0"/>
                </a:moveTo>
                <a:lnTo>
                  <a:pt x="11010339" y="0"/>
                </a:lnTo>
                <a:lnTo>
                  <a:pt x="11010339" y="2756457"/>
                </a:lnTo>
                <a:lnTo>
                  <a:pt x="0" y="2756457"/>
                </a:lnTo>
                <a:lnTo>
                  <a:pt x="0" y="0"/>
                </a:lnTo>
                <a:close/>
              </a:path>
            </a:pathLst>
          </a:custGeom>
          <a:blipFill>
            <a:blip r:embed="rId6"/>
            <a:stretch>
              <a:fillRect/>
            </a:stretch>
          </a:blipFill>
        </p:spPr>
      </p:sp>
      <p:sp>
        <p:nvSpPr>
          <p:cNvPr id="13" name="TextBox 13"/>
          <p:cNvSpPr txBox="1"/>
          <p:nvPr/>
        </p:nvSpPr>
        <p:spPr>
          <a:xfrm>
            <a:off x="840743" y="9548498"/>
            <a:ext cx="7754617" cy="323850"/>
          </a:xfrm>
          <a:prstGeom prst="rect">
            <a:avLst/>
          </a:prstGeom>
        </p:spPr>
        <p:txBody>
          <a:bodyPr lIns="0" tIns="0" rIns="0" bIns="0" rtlCol="0" anchor="t">
            <a:spAutoFit/>
          </a:bodyPr>
          <a:lstStyle/>
          <a:p>
            <a:pPr algn="l">
              <a:lnSpc>
                <a:spcPts val="2520"/>
              </a:lnSpc>
            </a:pPr>
            <a:r>
              <a:rPr lang="en-US" sz="2100" spc="450">
                <a:solidFill>
                  <a:srgbClr val="BFBFBF"/>
                </a:solidFill>
                <a:latin typeface="Arial"/>
                <a:ea typeface="Arial"/>
                <a:cs typeface="Arial"/>
                <a:sym typeface="Arial"/>
              </a:rPr>
              <a:t>www.viettelhightech.vn </a:t>
            </a:r>
          </a:p>
        </p:txBody>
      </p:sp>
      <p:sp>
        <p:nvSpPr>
          <p:cNvPr id="14" name="TextBox 14"/>
          <p:cNvSpPr txBox="1"/>
          <p:nvPr/>
        </p:nvSpPr>
        <p:spPr>
          <a:xfrm>
            <a:off x="840743" y="1238893"/>
            <a:ext cx="6887599" cy="521589"/>
          </a:xfrm>
          <a:prstGeom prst="rect">
            <a:avLst/>
          </a:prstGeom>
        </p:spPr>
        <p:txBody>
          <a:bodyPr lIns="0" tIns="0" rIns="0" bIns="0" rtlCol="0" anchor="t">
            <a:spAutoFit/>
          </a:bodyPr>
          <a:lstStyle/>
          <a:p>
            <a:pPr algn="l">
              <a:lnSpc>
                <a:spcPts val="3888"/>
              </a:lnSpc>
              <a:spcBef>
                <a:spcPct val="0"/>
              </a:spcBef>
            </a:pPr>
            <a:r>
              <a:rPr lang="en-US" sz="3600">
                <a:solidFill>
                  <a:srgbClr val="EE0033"/>
                </a:solidFill>
                <a:latin typeface="Arial"/>
                <a:ea typeface="Arial"/>
                <a:cs typeface="Arial"/>
                <a:sym typeface="Arial"/>
              </a:rPr>
              <a:t>Deadlock:</a:t>
            </a:r>
          </a:p>
        </p:txBody>
      </p:sp>
      <p:sp>
        <p:nvSpPr>
          <p:cNvPr id="15" name="TextBox 15"/>
          <p:cNvSpPr txBox="1"/>
          <p:nvPr/>
        </p:nvSpPr>
        <p:spPr>
          <a:xfrm>
            <a:off x="4826463" y="5407983"/>
            <a:ext cx="7848600" cy="521589"/>
          </a:xfrm>
          <a:prstGeom prst="rect">
            <a:avLst/>
          </a:prstGeom>
        </p:spPr>
        <p:txBody>
          <a:bodyPr lIns="0" tIns="0" rIns="0" bIns="0" rtlCol="0" anchor="t">
            <a:spAutoFit/>
          </a:bodyPr>
          <a:lstStyle/>
          <a:p>
            <a:pPr algn="ctr">
              <a:lnSpc>
                <a:spcPts val="3888"/>
              </a:lnSpc>
              <a:spcBef>
                <a:spcPct val="0"/>
              </a:spcBef>
            </a:pPr>
            <a:r>
              <a:rPr lang="en-US" sz="3600" dirty="0" err="1">
                <a:solidFill>
                  <a:srgbClr val="000000"/>
                </a:solidFill>
                <a:latin typeface="Arial"/>
                <a:ea typeface="Arial"/>
                <a:cs typeface="Arial"/>
                <a:sym typeface="Arial"/>
              </a:rPr>
              <a:t>Cả</a:t>
            </a:r>
            <a:r>
              <a:rPr lang="en-US" sz="3600" dirty="0">
                <a:solidFill>
                  <a:srgbClr val="000000"/>
                </a:solidFill>
                <a:latin typeface="Arial"/>
                <a:ea typeface="Arial"/>
                <a:cs typeface="Arial"/>
                <a:sym typeface="Arial"/>
              </a:rPr>
              <a:t> </a:t>
            </a:r>
            <a:r>
              <a:rPr lang="en-US" sz="3600" dirty="0" err="1">
                <a:solidFill>
                  <a:srgbClr val="000000"/>
                </a:solidFill>
                <a:latin typeface="Arial"/>
                <a:ea typeface="Arial"/>
                <a:cs typeface="Arial"/>
                <a:sym typeface="Arial"/>
              </a:rPr>
              <a:t>hai</a:t>
            </a:r>
            <a:r>
              <a:rPr lang="en-US" sz="3600" dirty="0">
                <a:solidFill>
                  <a:srgbClr val="000000"/>
                </a:solidFill>
                <a:latin typeface="Arial"/>
                <a:ea typeface="Arial"/>
                <a:cs typeface="Arial"/>
                <a:sym typeface="Arial"/>
              </a:rPr>
              <a:t> thread </a:t>
            </a:r>
            <a:r>
              <a:rPr lang="en-US" sz="3600" dirty="0" err="1">
                <a:solidFill>
                  <a:srgbClr val="000000"/>
                </a:solidFill>
                <a:latin typeface="Arial"/>
                <a:ea typeface="Arial"/>
                <a:cs typeface="Arial"/>
                <a:sym typeface="Arial"/>
              </a:rPr>
              <a:t>đều</a:t>
            </a:r>
            <a:r>
              <a:rPr lang="en-US" sz="3600" dirty="0">
                <a:solidFill>
                  <a:srgbClr val="000000"/>
                </a:solidFill>
                <a:latin typeface="Arial"/>
                <a:ea typeface="Arial"/>
                <a:cs typeface="Arial"/>
                <a:sym typeface="Arial"/>
              </a:rPr>
              <a:t> </a:t>
            </a:r>
            <a:r>
              <a:rPr lang="en-US" sz="3600" dirty="0" err="1">
                <a:solidFill>
                  <a:srgbClr val="000000"/>
                </a:solidFill>
                <a:latin typeface="Arial"/>
                <a:ea typeface="Arial"/>
                <a:cs typeface="Arial"/>
                <a:sym typeface="Arial"/>
              </a:rPr>
              <a:t>bị</a:t>
            </a:r>
            <a:r>
              <a:rPr lang="en-US" sz="3600" dirty="0">
                <a:solidFill>
                  <a:srgbClr val="000000"/>
                </a:solidFill>
                <a:latin typeface="Arial"/>
                <a:ea typeface="Arial"/>
                <a:cs typeface="Arial"/>
                <a:sym typeface="Arial"/>
              </a:rPr>
              <a:t> block </a:t>
            </a:r>
            <a:r>
              <a:rPr lang="en-US" sz="3600" dirty="0" err="1">
                <a:solidFill>
                  <a:srgbClr val="000000"/>
                </a:solidFill>
                <a:latin typeface="Arial"/>
                <a:ea typeface="Arial"/>
                <a:cs typeface="Arial"/>
                <a:sym typeface="Arial"/>
              </a:rPr>
              <a:t>vô</a:t>
            </a:r>
            <a:r>
              <a:rPr lang="en-US" sz="3600" dirty="0">
                <a:solidFill>
                  <a:srgbClr val="000000"/>
                </a:solidFill>
                <a:latin typeface="Arial"/>
                <a:ea typeface="Arial"/>
                <a:cs typeface="Arial"/>
                <a:sym typeface="Arial"/>
              </a:rPr>
              <a:t> </a:t>
            </a:r>
            <a:r>
              <a:rPr lang="en-US" sz="3600" dirty="0" err="1">
                <a:solidFill>
                  <a:srgbClr val="000000"/>
                </a:solidFill>
                <a:latin typeface="Arial"/>
                <a:ea typeface="Arial"/>
                <a:cs typeface="Arial"/>
                <a:sym typeface="Arial"/>
              </a:rPr>
              <a:t>thời</a:t>
            </a:r>
            <a:r>
              <a:rPr lang="en-US" sz="3600" dirty="0">
                <a:solidFill>
                  <a:srgbClr val="000000"/>
                </a:solidFill>
                <a:latin typeface="Arial"/>
                <a:ea typeface="Arial"/>
                <a:cs typeface="Arial"/>
                <a:sym typeface="Arial"/>
              </a:rPr>
              <a:t> </a:t>
            </a:r>
            <a:r>
              <a:rPr lang="en-US" sz="3600" dirty="0" err="1">
                <a:solidFill>
                  <a:srgbClr val="000000"/>
                </a:solidFill>
                <a:latin typeface="Arial"/>
                <a:ea typeface="Arial"/>
                <a:cs typeface="Arial"/>
                <a:sym typeface="Arial"/>
              </a:rPr>
              <a:t>hạn</a:t>
            </a:r>
            <a:r>
              <a:rPr lang="en-US" sz="3600" dirty="0">
                <a:solidFill>
                  <a:srgbClr val="000000"/>
                </a:solidFill>
                <a:latin typeface="Arial"/>
                <a:ea typeface="Arial"/>
                <a:cs typeface="Arial"/>
                <a:sym typeface="Arial"/>
              </a:rPr>
              <a:t>.</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3">
              <a:alphaModFix amt="19999"/>
            </a:blip>
            <a:stretch>
              <a:fillRect/>
            </a:stretch>
          </a:blipFill>
        </p:spPr>
      </p:sp>
      <p:grpSp>
        <p:nvGrpSpPr>
          <p:cNvPr id="3" name="Group 3"/>
          <p:cNvGrpSpPr/>
          <p:nvPr/>
        </p:nvGrpSpPr>
        <p:grpSpPr>
          <a:xfrm>
            <a:off x="0" y="9206494"/>
            <a:ext cx="18288000" cy="1080506"/>
            <a:chOff x="0" y="0"/>
            <a:chExt cx="24384000" cy="1440675"/>
          </a:xfrm>
        </p:grpSpPr>
        <p:sp>
          <p:nvSpPr>
            <p:cNvPr id="4" name="Freeform 4"/>
            <p:cNvSpPr/>
            <p:nvPr/>
          </p:nvSpPr>
          <p:spPr>
            <a:xfrm>
              <a:off x="0" y="0"/>
              <a:ext cx="24384000" cy="1440688"/>
            </a:xfrm>
            <a:custGeom>
              <a:avLst/>
              <a:gdLst/>
              <a:ahLst/>
              <a:cxnLst/>
              <a:rect l="l" t="t" r="r" b="b"/>
              <a:pathLst>
                <a:path w="24384000" h="1440688">
                  <a:moveTo>
                    <a:pt x="0" y="0"/>
                  </a:moveTo>
                  <a:lnTo>
                    <a:pt x="24384000" y="0"/>
                  </a:lnTo>
                  <a:lnTo>
                    <a:pt x="24384000" y="1440688"/>
                  </a:lnTo>
                  <a:lnTo>
                    <a:pt x="0" y="1440688"/>
                  </a:lnTo>
                  <a:lnTo>
                    <a:pt x="0" y="0"/>
                  </a:lnTo>
                  <a:close/>
                </a:path>
              </a:pathLst>
            </a:custGeom>
            <a:blipFill>
              <a:blip r:embed="rId4"/>
              <a:stretch>
                <a:fillRect t="-364" b="-364"/>
              </a:stretch>
            </a:blipFill>
          </p:spPr>
        </p:sp>
      </p:grpSp>
      <p:grpSp>
        <p:nvGrpSpPr>
          <p:cNvPr id="5" name="Group 5"/>
          <p:cNvGrpSpPr/>
          <p:nvPr/>
        </p:nvGrpSpPr>
        <p:grpSpPr>
          <a:xfrm>
            <a:off x="15473315" y="9370285"/>
            <a:ext cx="1741541" cy="745693"/>
            <a:chOff x="0" y="0"/>
            <a:chExt cx="2322055" cy="994258"/>
          </a:xfrm>
        </p:grpSpPr>
        <p:sp>
          <p:nvSpPr>
            <p:cNvPr id="6" name="Freeform 6"/>
            <p:cNvSpPr/>
            <p:nvPr/>
          </p:nvSpPr>
          <p:spPr>
            <a:xfrm>
              <a:off x="0" y="0"/>
              <a:ext cx="2322068" cy="994283"/>
            </a:xfrm>
            <a:custGeom>
              <a:avLst/>
              <a:gdLst/>
              <a:ahLst/>
              <a:cxnLst/>
              <a:rect l="l" t="t" r="r" b="b"/>
              <a:pathLst>
                <a:path w="2322068" h="994283">
                  <a:moveTo>
                    <a:pt x="0" y="0"/>
                  </a:moveTo>
                  <a:lnTo>
                    <a:pt x="2322068" y="0"/>
                  </a:lnTo>
                  <a:lnTo>
                    <a:pt x="2322068" y="994283"/>
                  </a:lnTo>
                  <a:lnTo>
                    <a:pt x="0" y="994283"/>
                  </a:lnTo>
                  <a:lnTo>
                    <a:pt x="0" y="0"/>
                  </a:lnTo>
                  <a:close/>
                </a:path>
              </a:pathLst>
            </a:custGeom>
            <a:blipFill>
              <a:blip r:embed="rId5"/>
              <a:stretch>
                <a:fillRect b="-1456"/>
              </a:stretch>
            </a:blipFill>
          </p:spPr>
        </p:sp>
      </p:grpSp>
      <p:grpSp>
        <p:nvGrpSpPr>
          <p:cNvPr id="7" name="Group 7"/>
          <p:cNvGrpSpPr/>
          <p:nvPr/>
        </p:nvGrpSpPr>
        <p:grpSpPr>
          <a:xfrm>
            <a:off x="9981438" y="9581550"/>
            <a:ext cx="4114800" cy="392420"/>
            <a:chOff x="0" y="0"/>
            <a:chExt cx="5486400" cy="523227"/>
          </a:xfrm>
        </p:grpSpPr>
        <p:sp>
          <p:nvSpPr>
            <p:cNvPr id="8" name="Freeform 8"/>
            <p:cNvSpPr/>
            <p:nvPr/>
          </p:nvSpPr>
          <p:spPr>
            <a:xfrm>
              <a:off x="0" y="0"/>
              <a:ext cx="5486400" cy="523222"/>
            </a:xfrm>
            <a:custGeom>
              <a:avLst/>
              <a:gdLst/>
              <a:ahLst/>
              <a:cxnLst/>
              <a:rect l="l" t="t" r="r" b="b"/>
              <a:pathLst>
                <a:path w="5486400" h="523222">
                  <a:moveTo>
                    <a:pt x="0" y="0"/>
                  </a:moveTo>
                  <a:lnTo>
                    <a:pt x="5486400" y="0"/>
                  </a:lnTo>
                  <a:lnTo>
                    <a:pt x="5486400" y="523222"/>
                  </a:lnTo>
                  <a:lnTo>
                    <a:pt x="0" y="523222"/>
                  </a:lnTo>
                  <a:close/>
                </a:path>
              </a:pathLst>
            </a:custGeom>
            <a:blipFill>
              <a:blip r:embed="rId6">
                <a:alphaModFix amt="0"/>
              </a:blip>
              <a:stretch>
                <a:fillRect t="-154315" b="-154316"/>
              </a:stretch>
            </a:blipFill>
          </p:spPr>
        </p:sp>
        <p:sp>
          <p:nvSpPr>
            <p:cNvPr id="9" name="TextBox 9"/>
            <p:cNvSpPr txBox="1"/>
            <p:nvPr/>
          </p:nvSpPr>
          <p:spPr>
            <a:xfrm>
              <a:off x="0" y="-9525"/>
              <a:ext cx="5486400" cy="532752"/>
            </a:xfrm>
            <a:prstGeom prst="rect">
              <a:avLst/>
            </a:prstGeom>
          </p:spPr>
          <p:txBody>
            <a:bodyPr lIns="0" tIns="0" rIns="0" bIns="0" rtlCol="0" anchor="ctr"/>
            <a:lstStyle/>
            <a:p>
              <a:pPr algn="r">
                <a:lnSpc>
                  <a:spcPts val="2520"/>
                </a:lnSpc>
              </a:pPr>
              <a:r>
                <a:rPr lang="en-US" sz="2100">
                  <a:solidFill>
                    <a:srgbClr val="BFBFBF"/>
                  </a:solidFill>
                  <a:latin typeface="Roboto"/>
                  <a:ea typeface="Roboto"/>
                  <a:cs typeface="Roboto"/>
                  <a:sym typeface="Roboto"/>
                </a:rPr>
                <a:t>‹#›</a:t>
              </a:r>
            </a:p>
          </p:txBody>
        </p:sp>
      </p:grpSp>
      <p:sp>
        <p:nvSpPr>
          <p:cNvPr id="10" name="TextBox 10"/>
          <p:cNvSpPr txBox="1"/>
          <p:nvPr/>
        </p:nvSpPr>
        <p:spPr>
          <a:xfrm>
            <a:off x="840743" y="9548498"/>
            <a:ext cx="7754617" cy="323850"/>
          </a:xfrm>
          <a:prstGeom prst="rect">
            <a:avLst/>
          </a:prstGeom>
        </p:spPr>
        <p:txBody>
          <a:bodyPr lIns="0" tIns="0" rIns="0" bIns="0" rtlCol="0" anchor="t">
            <a:spAutoFit/>
          </a:bodyPr>
          <a:lstStyle/>
          <a:p>
            <a:pPr algn="l">
              <a:lnSpc>
                <a:spcPts val="2520"/>
              </a:lnSpc>
            </a:pPr>
            <a:r>
              <a:rPr lang="en-US" sz="2100" spc="450">
                <a:solidFill>
                  <a:srgbClr val="BFBFBF"/>
                </a:solidFill>
                <a:latin typeface="Arial"/>
                <a:ea typeface="Arial"/>
                <a:cs typeface="Arial"/>
                <a:sym typeface="Arial"/>
              </a:rPr>
              <a:t>www.viettelhightech.vn </a:t>
            </a:r>
          </a:p>
        </p:txBody>
      </p:sp>
      <p:sp>
        <p:nvSpPr>
          <p:cNvPr id="11" name="Freeform 11"/>
          <p:cNvSpPr/>
          <p:nvPr/>
        </p:nvSpPr>
        <p:spPr>
          <a:xfrm>
            <a:off x="1221829" y="3061811"/>
            <a:ext cx="3059678" cy="3059678"/>
          </a:xfrm>
          <a:custGeom>
            <a:avLst/>
            <a:gdLst/>
            <a:ahLst/>
            <a:cxnLst/>
            <a:rect l="l" t="t" r="r" b="b"/>
            <a:pathLst>
              <a:path w="3059678" h="3059678">
                <a:moveTo>
                  <a:pt x="0" y="0"/>
                </a:moveTo>
                <a:lnTo>
                  <a:pt x="3059678" y="0"/>
                </a:lnTo>
                <a:lnTo>
                  <a:pt x="3059678" y="3059678"/>
                </a:lnTo>
                <a:lnTo>
                  <a:pt x="0" y="3059678"/>
                </a:lnTo>
                <a:lnTo>
                  <a:pt x="0" y="0"/>
                </a:lnTo>
                <a:close/>
              </a:path>
            </a:pathLst>
          </a:custGeom>
          <a:blipFill>
            <a:blip r:embed="rId7">
              <a:extLst>
                <a:ext uri="{96DAC541-7B7A-43D3-8B79-37D633B846F1}">
                  <asvg:svgBlip xmlns:asvg="http://schemas.microsoft.com/office/drawing/2016/SVG/main" xmlns="" r:embed="rId8"/>
                </a:ext>
              </a:extLst>
            </a:blip>
            <a:stretch>
              <a:fillRect/>
            </a:stretch>
          </a:blipFill>
        </p:spPr>
      </p:sp>
      <p:grpSp>
        <p:nvGrpSpPr>
          <p:cNvPr id="12" name="Group 12"/>
          <p:cNvGrpSpPr/>
          <p:nvPr/>
        </p:nvGrpSpPr>
        <p:grpSpPr>
          <a:xfrm>
            <a:off x="4624521" y="4498210"/>
            <a:ext cx="1487672" cy="130559"/>
            <a:chOff x="0" y="0"/>
            <a:chExt cx="1983562" cy="174079"/>
          </a:xfrm>
        </p:grpSpPr>
        <p:sp>
          <p:nvSpPr>
            <p:cNvPr id="13" name="Freeform 13"/>
            <p:cNvSpPr/>
            <p:nvPr/>
          </p:nvSpPr>
          <p:spPr>
            <a:xfrm>
              <a:off x="0" y="0"/>
              <a:ext cx="1983613" cy="174117"/>
            </a:xfrm>
            <a:custGeom>
              <a:avLst/>
              <a:gdLst/>
              <a:ahLst/>
              <a:cxnLst/>
              <a:rect l="l" t="t" r="r" b="b"/>
              <a:pathLst>
                <a:path w="1983613" h="174117">
                  <a:moveTo>
                    <a:pt x="0" y="0"/>
                  </a:moveTo>
                  <a:lnTo>
                    <a:pt x="1983613" y="0"/>
                  </a:lnTo>
                  <a:lnTo>
                    <a:pt x="1983613" y="174117"/>
                  </a:lnTo>
                  <a:lnTo>
                    <a:pt x="0" y="174117"/>
                  </a:lnTo>
                  <a:close/>
                </a:path>
              </a:pathLst>
            </a:custGeom>
            <a:blipFill>
              <a:blip r:embed="rId6">
                <a:alphaModFix amt="0"/>
              </a:blip>
              <a:stretch>
                <a:fillRect t="-171986" r="2" b="-171965"/>
              </a:stretch>
            </a:blipFill>
            <a:ln w="14288" cap="sq">
              <a:solidFill>
                <a:srgbClr val="EE0032"/>
              </a:solidFill>
              <a:prstDash val="solid"/>
              <a:miter/>
            </a:ln>
          </p:spPr>
        </p:sp>
      </p:grpSp>
      <p:sp>
        <p:nvSpPr>
          <p:cNvPr id="14" name="AutoShape 14"/>
          <p:cNvSpPr/>
          <p:nvPr/>
        </p:nvSpPr>
        <p:spPr>
          <a:xfrm rot="7619">
            <a:off x="6009151" y="4558722"/>
            <a:ext cx="10156155" cy="0"/>
          </a:xfrm>
          <a:prstGeom prst="line">
            <a:avLst/>
          </a:prstGeom>
          <a:ln w="9525" cap="rnd">
            <a:solidFill>
              <a:srgbClr val="EE0032"/>
            </a:solidFill>
            <a:prstDash val="solid"/>
            <a:headEnd type="none" w="sm" len="sm"/>
            <a:tailEnd type="none" w="sm" len="sm"/>
          </a:ln>
        </p:spPr>
      </p:sp>
      <p:sp>
        <p:nvSpPr>
          <p:cNvPr id="15" name="TextBox 15"/>
          <p:cNvSpPr txBox="1"/>
          <p:nvPr/>
        </p:nvSpPr>
        <p:spPr>
          <a:xfrm>
            <a:off x="4667583" y="3887105"/>
            <a:ext cx="12984594" cy="521589"/>
          </a:xfrm>
          <a:prstGeom prst="rect">
            <a:avLst/>
          </a:prstGeom>
        </p:spPr>
        <p:txBody>
          <a:bodyPr lIns="0" tIns="0" rIns="0" bIns="0" rtlCol="0" anchor="t">
            <a:spAutoFit/>
          </a:bodyPr>
          <a:lstStyle/>
          <a:p>
            <a:pPr algn="l">
              <a:lnSpc>
                <a:spcPts val="3888"/>
              </a:lnSpc>
            </a:pPr>
            <a:r>
              <a:rPr lang="en-US" sz="3600">
                <a:solidFill>
                  <a:srgbClr val="EE0033"/>
                </a:solidFill>
                <a:latin typeface="Arial"/>
                <a:ea typeface="Arial"/>
                <a:cs typeface="Arial"/>
                <a:sym typeface="Arial"/>
              </a:rPr>
              <a:t>INTER-PROCESS COMMUNICATION</a:t>
            </a:r>
          </a:p>
        </p:txBody>
      </p:sp>
      <p:sp>
        <p:nvSpPr>
          <p:cNvPr id="16" name="TextBox 16"/>
          <p:cNvSpPr txBox="1"/>
          <p:nvPr/>
        </p:nvSpPr>
        <p:spPr>
          <a:xfrm>
            <a:off x="2157427" y="4185999"/>
            <a:ext cx="1188482" cy="1085827"/>
          </a:xfrm>
          <a:prstGeom prst="rect">
            <a:avLst/>
          </a:prstGeom>
        </p:spPr>
        <p:txBody>
          <a:bodyPr lIns="0" tIns="0" rIns="0" bIns="0" rtlCol="0" anchor="t">
            <a:spAutoFit/>
          </a:bodyPr>
          <a:lstStyle/>
          <a:p>
            <a:pPr algn="ctr">
              <a:lnSpc>
                <a:spcPts val="8098"/>
              </a:lnSpc>
            </a:pPr>
            <a:r>
              <a:rPr lang="en-US" sz="7498">
                <a:solidFill>
                  <a:srgbClr val="FFFFFF"/>
                </a:solidFill>
                <a:latin typeface="Arial"/>
                <a:ea typeface="Arial"/>
                <a:cs typeface="Arial"/>
                <a:sym typeface="Arial"/>
              </a:rPr>
              <a:t>III</a:t>
            </a:r>
          </a:p>
        </p:txBody>
      </p:sp>
      <p:sp>
        <p:nvSpPr>
          <p:cNvPr id="17" name="TextBox 17"/>
          <p:cNvSpPr txBox="1"/>
          <p:nvPr/>
        </p:nvSpPr>
        <p:spPr>
          <a:xfrm>
            <a:off x="1887865" y="3743916"/>
            <a:ext cx="1913106" cy="369599"/>
          </a:xfrm>
          <a:prstGeom prst="rect">
            <a:avLst/>
          </a:prstGeom>
        </p:spPr>
        <p:txBody>
          <a:bodyPr lIns="0" tIns="0" rIns="0" bIns="0" rtlCol="0" anchor="t">
            <a:spAutoFit/>
          </a:bodyPr>
          <a:lstStyle/>
          <a:p>
            <a:pPr algn="just">
              <a:lnSpc>
                <a:spcPts val="2879"/>
              </a:lnSpc>
            </a:pPr>
            <a:r>
              <a:rPr lang="en-US" sz="2400">
                <a:solidFill>
                  <a:srgbClr val="FFFFFF"/>
                </a:solidFill>
                <a:latin typeface="Roboto"/>
                <a:ea typeface="Roboto"/>
                <a:cs typeface="Roboto"/>
                <a:sym typeface="Roboto"/>
              </a:rPr>
              <a:t>PHẦN</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9206494"/>
            <a:ext cx="18288000" cy="1080506"/>
            <a:chOff x="0" y="0"/>
            <a:chExt cx="24384000" cy="1440675"/>
          </a:xfrm>
        </p:grpSpPr>
        <p:sp>
          <p:nvSpPr>
            <p:cNvPr id="3" name="Freeform 3"/>
            <p:cNvSpPr/>
            <p:nvPr/>
          </p:nvSpPr>
          <p:spPr>
            <a:xfrm>
              <a:off x="0" y="0"/>
              <a:ext cx="24384000" cy="1440688"/>
            </a:xfrm>
            <a:custGeom>
              <a:avLst/>
              <a:gdLst/>
              <a:ahLst/>
              <a:cxnLst/>
              <a:rect l="l" t="t" r="r" b="b"/>
              <a:pathLst>
                <a:path w="24384000" h="1440688">
                  <a:moveTo>
                    <a:pt x="0" y="0"/>
                  </a:moveTo>
                  <a:lnTo>
                    <a:pt x="24384000" y="0"/>
                  </a:lnTo>
                  <a:lnTo>
                    <a:pt x="24384000" y="1440688"/>
                  </a:lnTo>
                  <a:lnTo>
                    <a:pt x="0" y="1440688"/>
                  </a:lnTo>
                  <a:lnTo>
                    <a:pt x="0" y="0"/>
                  </a:lnTo>
                  <a:close/>
                </a:path>
              </a:pathLst>
            </a:custGeom>
            <a:blipFill>
              <a:blip r:embed="rId3"/>
              <a:stretch>
                <a:fillRect t="-364" b="-364"/>
              </a:stretch>
            </a:blipFill>
          </p:spPr>
        </p:sp>
      </p:grpSp>
      <p:grpSp>
        <p:nvGrpSpPr>
          <p:cNvPr id="4" name="Group 4"/>
          <p:cNvGrpSpPr/>
          <p:nvPr/>
        </p:nvGrpSpPr>
        <p:grpSpPr>
          <a:xfrm>
            <a:off x="15473315" y="9370285"/>
            <a:ext cx="1741541" cy="745693"/>
            <a:chOff x="0" y="0"/>
            <a:chExt cx="2322055" cy="994258"/>
          </a:xfrm>
        </p:grpSpPr>
        <p:sp>
          <p:nvSpPr>
            <p:cNvPr id="5" name="Freeform 5"/>
            <p:cNvSpPr/>
            <p:nvPr/>
          </p:nvSpPr>
          <p:spPr>
            <a:xfrm>
              <a:off x="0" y="0"/>
              <a:ext cx="2322068" cy="994283"/>
            </a:xfrm>
            <a:custGeom>
              <a:avLst/>
              <a:gdLst/>
              <a:ahLst/>
              <a:cxnLst/>
              <a:rect l="l" t="t" r="r" b="b"/>
              <a:pathLst>
                <a:path w="2322068" h="994283">
                  <a:moveTo>
                    <a:pt x="0" y="0"/>
                  </a:moveTo>
                  <a:lnTo>
                    <a:pt x="2322068" y="0"/>
                  </a:lnTo>
                  <a:lnTo>
                    <a:pt x="2322068" y="994283"/>
                  </a:lnTo>
                  <a:lnTo>
                    <a:pt x="0" y="994283"/>
                  </a:lnTo>
                  <a:lnTo>
                    <a:pt x="0" y="0"/>
                  </a:lnTo>
                  <a:close/>
                </a:path>
              </a:pathLst>
            </a:custGeom>
            <a:blipFill>
              <a:blip r:embed="rId4"/>
              <a:stretch>
                <a:fillRect b="-1456"/>
              </a:stretch>
            </a:blipFill>
          </p:spPr>
        </p:sp>
      </p:grpSp>
      <p:grpSp>
        <p:nvGrpSpPr>
          <p:cNvPr id="6" name="Group 6"/>
          <p:cNvGrpSpPr/>
          <p:nvPr/>
        </p:nvGrpSpPr>
        <p:grpSpPr>
          <a:xfrm>
            <a:off x="9981438" y="9581550"/>
            <a:ext cx="4114800" cy="392420"/>
            <a:chOff x="0" y="0"/>
            <a:chExt cx="5486400" cy="523227"/>
          </a:xfrm>
        </p:grpSpPr>
        <p:sp>
          <p:nvSpPr>
            <p:cNvPr id="7" name="Freeform 7"/>
            <p:cNvSpPr/>
            <p:nvPr/>
          </p:nvSpPr>
          <p:spPr>
            <a:xfrm>
              <a:off x="0" y="0"/>
              <a:ext cx="5486400" cy="523222"/>
            </a:xfrm>
            <a:custGeom>
              <a:avLst/>
              <a:gdLst/>
              <a:ahLst/>
              <a:cxnLst/>
              <a:rect l="l" t="t" r="r" b="b"/>
              <a:pathLst>
                <a:path w="5486400" h="523222">
                  <a:moveTo>
                    <a:pt x="0" y="0"/>
                  </a:moveTo>
                  <a:lnTo>
                    <a:pt x="5486400" y="0"/>
                  </a:lnTo>
                  <a:lnTo>
                    <a:pt x="5486400" y="523222"/>
                  </a:lnTo>
                  <a:lnTo>
                    <a:pt x="0" y="523222"/>
                  </a:lnTo>
                  <a:close/>
                </a:path>
              </a:pathLst>
            </a:custGeom>
            <a:blipFill>
              <a:blip r:embed="rId5">
                <a:alphaModFix amt="0"/>
              </a:blip>
              <a:stretch>
                <a:fillRect t="-154315" b="-154316"/>
              </a:stretch>
            </a:blipFill>
          </p:spPr>
        </p:sp>
        <p:sp>
          <p:nvSpPr>
            <p:cNvPr id="8" name="TextBox 8"/>
            <p:cNvSpPr txBox="1"/>
            <p:nvPr/>
          </p:nvSpPr>
          <p:spPr>
            <a:xfrm>
              <a:off x="0" y="-9525"/>
              <a:ext cx="5486400" cy="532752"/>
            </a:xfrm>
            <a:prstGeom prst="rect">
              <a:avLst/>
            </a:prstGeom>
          </p:spPr>
          <p:txBody>
            <a:bodyPr lIns="0" tIns="0" rIns="0" bIns="0" rtlCol="0" anchor="ctr"/>
            <a:lstStyle/>
            <a:p>
              <a:pPr algn="r">
                <a:lnSpc>
                  <a:spcPts val="2520"/>
                </a:lnSpc>
              </a:pPr>
              <a:r>
                <a:rPr lang="en-US" sz="2100">
                  <a:solidFill>
                    <a:srgbClr val="BFBFBF"/>
                  </a:solidFill>
                  <a:latin typeface="Roboto"/>
                  <a:ea typeface="Roboto"/>
                  <a:cs typeface="Roboto"/>
                  <a:sym typeface="Roboto"/>
                </a:rPr>
                <a:t>‹#›</a:t>
              </a:r>
            </a:p>
          </p:txBody>
        </p:sp>
      </p:grpSp>
      <p:grpSp>
        <p:nvGrpSpPr>
          <p:cNvPr id="9" name="Group 9"/>
          <p:cNvGrpSpPr/>
          <p:nvPr/>
        </p:nvGrpSpPr>
        <p:grpSpPr>
          <a:xfrm>
            <a:off x="451542" y="300771"/>
            <a:ext cx="15770323" cy="767782"/>
            <a:chOff x="0" y="0"/>
            <a:chExt cx="21027098" cy="1023710"/>
          </a:xfrm>
        </p:grpSpPr>
        <p:sp>
          <p:nvSpPr>
            <p:cNvPr id="10" name="Freeform 10"/>
            <p:cNvSpPr/>
            <p:nvPr/>
          </p:nvSpPr>
          <p:spPr>
            <a:xfrm>
              <a:off x="0" y="0"/>
              <a:ext cx="21027095" cy="1023711"/>
            </a:xfrm>
            <a:custGeom>
              <a:avLst/>
              <a:gdLst/>
              <a:ahLst/>
              <a:cxnLst/>
              <a:rect l="l" t="t" r="r" b="b"/>
              <a:pathLst>
                <a:path w="21027095" h="1023711">
                  <a:moveTo>
                    <a:pt x="0" y="0"/>
                  </a:moveTo>
                  <a:lnTo>
                    <a:pt x="21027095" y="0"/>
                  </a:lnTo>
                  <a:lnTo>
                    <a:pt x="21027095" y="1023711"/>
                  </a:lnTo>
                  <a:lnTo>
                    <a:pt x="0" y="1023711"/>
                  </a:lnTo>
                  <a:close/>
                </a:path>
              </a:pathLst>
            </a:custGeom>
            <a:blipFill>
              <a:blip r:embed="rId5">
                <a:alphaModFix amt="0"/>
              </a:blip>
              <a:stretch>
                <a:fillRect t="-350224" b="-350223"/>
              </a:stretch>
            </a:blipFill>
          </p:spPr>
        </p:sp>
        <p:sp>
          <p:nvSpPr>
            <p:cNvPr id="11" name="TextBox 11"/>
            <p:cNvSpPr txBox="1"/>
            <p:nvPr/>
          </p:nvSpPr>
          <p:spPr>
            <a:xfrm>
              <a:off x="0" y="19050"/>
              <a:ext cx="21027098" cy="1004660"/>
            </a:xfrm>
            <a:prstGeom prst="rect">
              <a:avLst/>
            </a:prstGeom>
          </p:spPr>
          <p:txBody>
            <a:bodyPr lIns="0" tIns="0" rIns="0" bIns="0" rtlCol="0" anchor="b"/>
            <a:lstStyle/>
            <a:p>
              <a:pPr algn="l">
                <a:lnSpc>
                  <a:spcPts val="3888"/>
                </a:lnSpc>
              </a:pPr>
              <a:r>
                <a:rPr lang="en-US" sz="3600">
                  <a:solidFill>
                    <a:srgbClr val="EE0033"/>
                  </a:solidFill>
                  <a:latin typeface="Arial"/>
                  <a:ea typeface="Arial"/>
                  <a:cs typeface="Arial"/>
                  <a:sym typeface="Arial"/>
                </a:rPr>
                <a:t>III. INTER-PROCESS COMMUNICATION:</a:t>
              </a:r>
            </a:p>
          </p:txBody>
        </p:sp>
      </p:grpSp>
      <p:sp>
        <p:nvSpPr>
          <p:cNvPr id="12" name="TextBox 12"/>
          <p:cNvSpPr txBox="1"/>
          <p:nvPr/>
        </p:nvSpPr>
        <p:spPr>
          <a:xfrm>
            <a:off x="840743" y="9548498"/>
            <a:ext cx="7754617" cy="323850"/>
          </a:xfrm>
          <a:prstGeom prst="rect">
            <a:avLst/>
          </a:prstGeom>
        </p:spPr>
        <p:txBody>
          <a:bodyPr lIns="0" tIns="0" rIns="0" bIns="0" rtlCol="0" anchor="t">
            <a:spAutoFit/>
          </a:bodyPr>
          <a:lstStyle/>
          <a:p>
            <a:pPr algn="l">
              <a:lnSpc>
                <a:spcPts val="2520"/>
              </a:lnSpc>
            </a:pPr>
            <a:r>
              <a:rPr lang="en-US" sz="2100" spc="450">
                <a:solidFill>
                  <a:srgbClr val="BFBFBF"/>
                </a:solidFill>
                <a:latin typeface="Arial"/>
                <a:ea typeface="Arial"/>
                <a:cs typeface="Arial"/>
                <a:sym typeface="Arial"/>
              </a:rPr>
              <a:t>www.viettelhightech.vn </a:t>
            </a:r>
          </a:p>
        </p:txBody>
      </p:sp>
      <p:pic>
        <p:nvPicPr>
          <p:cNvPr id="20" name="Picture 19"/>
          <p:cNvPicPr>
            <a:picLocks noChangeAspect="1"/>
          </p:cNvPicPr>
          <p:nvPr/>
        </p:nvPicPr>
        <p:blipFill>
          <a:blip r:embed="rId6"/>
          <a:stretch>
            <a:fillRect/>
          </a:stretch>
        </p:blipFill>
        <p:spPr>
          <a:xfrm>
            <a:off x="2667000" y="4533900"/>
            <a:ext cx="5277587" cy="1724266"/>
          </a:xfrm>
          <a:prstGeom prst="rect">
            <a:avLst/>
          </a:prstGeom>
        </p:spPr>
      </p:pic>
      <p:pic>
        <p:nvPicPr>
          <p:cNvPr id="21" name="Picture 20"/>
          <p:cNvPicPr>
            <a:picLocks noChangeAspect="1"/>
          </p:cNvPicPr>
          <p:nvPr/>
        </p:nvPicPr>
        <p:blipFill>
          <a:blip r:embed="rId7"/>
          <a:stretch>
            <a:fillRect/>
          </a:stretch>
        </p:blipFill>
        <p:spPr>
          <a:xfrm>
            <a:off x="9144000" y="3636008"/>
            <a:ext cx="5106113" cy="4096322"/>
          </a:xfrm>
          <a:prstGeom prst="rect">
            <a:avLst/>
          </a:prstGeom>
        </p:spPr>
      </p:pic>
      <p:sp>
        <p:nvSpPr>
          <p:cNvPr id="22" name="Rectangle 21"/>
          <p:cNvSpPr/>
          <p:nvPr/>
        </p:nvSpPr>
        <p:spPr>
          <a:xfrm>
            <a:off x="876300" y="1359359"/>
            <a:ext cx="16535400" cy="892552"/>
          </a:xfrm>
          <a:prstGeom prst="rect">
            <a:avLst/>
          </a:prstGeom>
        </p:spPr>
        <p:txBody>
          <a:bodyPr wrap="square">
            <a:spAutoFit/>
          </a:bodyPr>
          <a:lstStyle/>
          <a:p>
            <a:r>
              <a:rPr lang="vi-VN" sz="2600" dirty="0"/>
              <a:t>IPC (Inter-Process Communication) là tập hợp các cơ chế mà hệ điều hành cung cấp để các tiến </a:t>
            </a:r>
            <a:r>
              <a:rPr lang="vi-VN" sz="2600" dirty="0" smtClean="0"/>
              <a:t>trình </a:t>
            </a:r>
            <a:r>
              <a:rPr lang="vi-VN" sz="2600" dirty="0"/>
              <a:t>có thể trao đổi dữ liệu và đồng bộ hoạt động với nhau</a:t>
            </a:r>
            <a:endParaRPr lang="en-US" sz="2600" dirty="0"/>
          </a:p>
        </p:txBody>
      </p:sp>
    </p:spTree>
    <p:extLst>
      <p:ext uri="{BB962C8B-B14F-4D97-AF65-F5344CB8AC3E}">
        <p14:creationId xmlns:p14="http://schemas.microsoft.com/office/powerpoint/2010/main" val="294675413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9206494"/>
            <a:ext cx="18288000" cy="1080506"/>
            <a:chOff x="0" y="0"/>
            <a:chExt cx="24384000" cy="1440675"/>
          </a:xfrm>
        </p:grpSpPr>
        <p:sp>
          <p:nvSpPr>
            <p:cNvPr id="3" name="Freeform 3"/>
            <p:cNvSpPr/>
            <p:nvPr/>
          </p:nvSpPr>
          <p:spPr>
            <a:xfrm>
              <a:off x="0" y="0"/>
              <a:ext cx="24384000" cy="1440688"/>
            </a:xfrm>
            <a:custGeom>
              <a:avLst/>
              <a:gdLst/>
              <a:ahLst/>
              <a:cxnLst/>
              <a:rect l="l" t="t" r="r" b="b"/>
              <a:pathLst>
                <a:path w="24384000" h="1440688">
                  <a:moveTo>
                    <a:pt x="0" y="0"/>
                  </a:moveTo>
                  <a:lnTo>
                    <a:pt x="24384000" y="0"/>
                  </a:lnTo>
                  <a:lnTo>
                    <a:pt x="24384000" y="1440688"/>
                  </a:lnTo>
                  <a:lnTo>
                    <a:pt x="0" y="1440688"/>
                  </a:lnTo>
                  <a:lnTo>
                    <a:pt x="0" y="0"/>
                  </a:lnTo>
                  <a:close/>
                </a:path>
              </a:pathLst>
            </a:custGeom>
            <a:blipFill>
              <a:blip r:embed="rId3"/>
              <a:stretch>
                <a:fillRect t="-364" b="-364"/>
              </a:stretch>
            </a:blipFill>
          </p:spPr>
        </p:sp>
      </p:grpSp>
      <p:grpSp>
        <p:nvGrpSpPr>
          <p:cNvPr id="4" name="Group 4"/>
          <p:cNvGrpSpPr/>
          <p:nvPr/>
        </p:nvGrpSpPr>
        <p:grpSpPr>
          <a:xfrm>
            <a:off x="15473315" y="9370285"/>
            <a:ext cx="1741541" cy="745693"/>
            <a:chOff x="0" y="0"/>
            <a:chExt cx="2322055" cy="994258"/>
          </a:xfrm>
        </p:grpSpPr>
        <p:sp>
          <p:nvSpPr>
            <p:cNvPr id="5" name="Freeform 5"/>
            <p:cNvSpPr/>
            <p:nvPr/>
          </p:nvSpPr>
          <p:spPr>
            <a:xfrm>
              <a:off x="0" y="0"/>
              <a:ext cx="2322068" cy="994283"/>
            </a:xfrm>
            <a:custGeom>
              <a:avLst/>
              <a:gdLst/>
              <a:ahLst/>
              <a:cxnLst/>
              <a:rect l="l" t="t" r="r" b="b"/>
              <a:pathLst>
                <a:path w="2322068" h="994283">
                  <a:moveTo>
                    <a:pt x="0" y="0"/>
                  </a:moveTo>
                  <a:lnTo>
                    <a:pt x="2322068" y="0"/>
                  </a:lnTo>
                  <a:lnTo>
                    <a:pt x="2322068" y="994283"/>
                  </a:lnTo>
                  <a:lnTo>
                    <a:pt x="0" y="994283"/>
                  </a:lnTo>
                  <a:lnTo>
                    <a:pt x="0" y="0"/>
                  </a:lnTo>
                  <a:close/>
                </a:path>
              </a:pathLst>
            </a:custGeom>
            <a:blipFill>
              <a:blip r:embed="rId4"/>
              <a:stretch>
                <a:fillRect b="-1456"/>
              </a:stretch>
            </a:blipFill>
          </p:spPr>
        </p:sp>
      </p:grpSp>
      <p:grpSp>
        <p:nvGrpSpPr>
          <p:cNvPr id="6" name="Group 6"/>
          <p:cNvGrpSpPr/>
          <p:nvPr/>
        </p:nvGrpSpPr>
        <p:grpSpPr>
          <a:xfrm>
            <a:off x="9981438" y="9581550"/>
            <a:ext cx="4114800" cy="392420"/>
            <a:chOff x="0" y="0"/>
            <a:chExt cx="5486400" cy="523227"/>
          </a:xfrm>
        </p:grpSpPr>
        <p:sp>
          <p:nvSpPr>
            <p:cNvPr id="7" name="Freeform 7"/>
            <p:cNvSpPr/>
            <p:nvPr/>
          </p:nvSpPr>
          <p:spPr>
            <a:xfrm>
              <a:off x="0" y="0"/>
              <a:ext cx="5486400" cy="523222"/>
            </a:xfrm>
            <a:custGeom>
              <a:avLst/>
              <a:gdLst/>
              <a:ahLst/>
              <a:cxnLst/>
              <a:rect l="l" t="t" r="r" b="b"/>
              <a:pathLst>
                <a:path w="5486400" h="523222">
                  <a:moveTo>
                    <a:pt x="0" y="0"/>
                  </a:moveTo>
                  <a:lnTo>
                    <a:pt x="5486400" y="0"/>
                  </a:lnTo>
                  <a:lnTo>
                    <a:pt x="5486400" y="523222"/>
                  </a:lnTo>
                  <a:lnTo>
                    <a:pt x="0" y="523222"/>
                  </a:lnTo>
                  <a:close/>
                </a:path>
              </a:pathLst>
            </a:custGeom>
            <a:blipFill>
              <a:blip r:embed="rId5">
                <a:alphaModFix amt="0"/>
              </a:blip>
              <a:stretch>
                <a:fillRect t="-154315" b="-154316"/>
              </a:stretch>
            </a:blipFill>
          </p:spPr>
        </p:sp>
        <p:sp>
          <p:nvSpPr>
            <p:cNvPr id="8" name="TextBox 8"/>
            <p:cNvSpPr txBox="1"/>
            <p:nvPr/>
          </p:nvSpPr>
          <p:spPr>
            <a:xfrm>
              <a:off x="0" y="-9525"/>
              <a:ext cx="5486400" cy="532752"/>
            </a:xfrm>
            <a:prstGeom prst="rect">
              <a:avLst/>
            </a:prstGeom>
          </p:spPr>
          <p:txBody>
            <a:bodyPr lIns="0" tIns="0" rIns="0" bIns="0" rtlCol="0" anchor="ctr"/>
            <a:lstStyle/>
            <a:p>
              <a:pPr algn="r">
                <a:lnSpc>
                  <a:spcPts val="2520"/>
                </a:lnSpc>
              </a:pPr>
              <a:r>
                <a:rPr lang="en-US" sz="2100">
                  <a:solidFill>
                    <a:srgbClr val="BFBFBF"/>
                  </a:solidFill>
                  <a:latin typeface="Roboto"/>
                  <a:ea typeface="Roboto"/>
                  <a:cs typeface="Roboto"/>
                  <a:sym typeface="Roboto"/>
                </a:rPr>
                <a:t>‹#›</a:t>
              </a:r>
            </a:p>
          </p:txBody>
        </p:sp>
      </p:grpSp>
      <p:grpSp>
        <p:nvGrpSpPr>
          <p:cNvPr id="9" name="Group 9"/>
          <p:cNvGrpSpPr/>
          <p:nvPr/>
        </p:nvGrpSpPr>
        <p:grpSpPr>
          <a:xfrm>
            <a:off x="451542" y="300771"/>
            <a:ext cx="15770323" cy="767782"/>
            <a:chOff x="0" y="0"/>
            <a:chExt cx="21027098" cy="1023710"/>
          </a:xfrm>
        </p:grpSpPr>
        <p:sp>
          <p:nvSpPr>
            <p:cNvPr id="10" name="Freeform 10"/>
            <p:cNvSpPr/>
            <p:nvPr/>
          </p:nvSpPr>
          <p:spPr>
            <a:xfrm>
              <a:off x="0" y="0"/>
              <a:ext cx="21027095" cy="1023711"/>
            </a:xfrm>
            <a:custGeom>
              <a:avLst/>
              <a:gdLst/>
              <a:ahLst/>
              <a:cxnLst/>
              <a:rect l="l" t="t" r="r" b="b"/>
              <a:pathLst>
                <a:path w="21027095" h="1023711">
                  <a:moveTo>
                    <a:pt x="0" y="0"/>
                  </a:moveTo>
                  <a:lnTo>
                    <a:pt x="21027095" y="0"/>
                  </a:lnTo>
                  <a:lnTo>
                    <a:pt x="21027095" y="1023711"/>
                  </a:lnTo>
                  <a:lnTo>
                    <a:pt x="0" y="1023711"/>
                  </a:lnTo>
                  <a:close/>
                </a:path>
              </a:pathLst>
            </a:custGeom>
            <a:blipFill>
              <a:blip r:embed="rId5">
                <a:alphaModFix amt="0"/>
              </a:blip>
              <a:stretch>
                <a:fillRect t="-350224" b="-350223"/>
              </a:stretch>
            </a:blipFill>
          </p:spPr>
        </p:sp>
        <p:sp>
          <p:nvSpPr>
            <p:cNvPr id="11" name="TextBox 11"/>
            <p:cNvSpPr txBox="1"/>
            <p:nvPr/>
          </p:nvSpPr>
          <p:spPr>
            <a:xfrm>
              <a:off x="0" y="19050"/>
              <a:ext cx="21027098" cy="1004660"/>
            </a:xfrm>
            <a:prstGeom prst="rect">
              <a:avLst/>
            </a:prstGeom>
          </p:spPr>
          <p:txBody>
            <a:bodyPr lIns="0" tIns="0" rIns="0" bIns="0" rtlCol="0" anchor="b"/>
            <a:lstStyle/>
            <a:p>
              <a:pPr algn="l">
                <a:lnSpc>
                  <a:spcPts val="3888"/>
                </a:lnSpc>
              </a:pPr>
              <a:r>
                <a:rPr lang="en-US" sz="3600">
                  <a:solidFill>
                    <a:srgbClr val="EE0033"/>
                  </a:solidFill>
                  <a:latin typeface="Arial"/>
                  <a:ea typeface="Arial"/>
                  <a:cs typeface="Arial"/>
                  <a:sym typeface="Arial"/>
                </a:rPr>
                <a:t>III. INTER-PROCESS COMMUNICATION:</a:t>
              </a:r>
            </a:p>
          </p:txBody>
        </p:sp>
      </p:grpSp>
      <p:sp>
        <p:nvSpPr>
          <p:cNvPr id="12" name="TextBox 12"/>
          <p:cNvSpPr txBox="1"/>
          <p:nvPr/>
        </p:nvSpPr>
        <p:spPr>
          <a:xfrm>
            <a:off x="840743" y="9548498"/>
            <a:ext cx="7754617" cy="323850"/>
          </a:xfrm>
          <a:prstGeom prst="rect">
            <a:avLst/>
          </a:prstGeom>
        </p:spPr>
        <p:txBody>
          <a:bodyPr lIns="0" tIns="0" rIns="0" bIns="0" rtlCol="0" anchor="t">
            <a:spAutoFit/>
          </a:bodyPr>
          <a:lstStyle/>
          <a:p>
            <a:pPr algn="l">
              <a:lnSpc>
                <a:spcPts val="2520"/>
              </a:lnSpc>
            </a:pPr>
            <a:r>
              <a:rPr lang="en-US" sz="2100" spc="450">
                <a:solidFill>
                  <a:srgbClr val="BFBFBF"/>
                </a:solidFill>
                <a:latin typeface="Arial"/>
                <a:ea typeface="Arial"/>
                <a:cs typeface="Arial"/>
                <a:sym typeface="Arial"/>
              </a:rPr>
              <a:t>www.viettelhightech.vn </a:t>
            </a:r>
          </a:p>
        </p:txBody>
      </p:sp>
      <p:sp>
        <p:nvSpPr>
          <p:cNvPr id="13" name="TextBox 13"/>
          <p:cNvSpPr txBox="1"/>
          <p:nvPr/>
        </p:nvSpPr>
        <p:spPr>
          <a:xfrm>
            <a:off x="840743" y="1238893"/>
            <a:ext cx="6887599" cy="521589"/>
          </a:xfrm>
          <a:prstGeom prst="rect">
            <a:avLst/>
          </a:prstGeom>
        </p:spPr>
        <p:txBody>
          <a:bodyPr lIns="0" tIns="0" rIns="0" bIns="0" rtlCol="0" anchor="t">
            <a:spAutoFit/>
          </a:bodyPr>
          <a:lstStyle/>
          <a:p>
            <a:pPr algn="l">
              <a:lnSpc>
                <a:spcPts val="3888"/>
              </a:lnSpc>
              <a:spcBef>
                <a:spcPct val="0"/>
              </a:spcBef>
            </a:pPr>
            <a:r>
              <a:rPr lang="en-US" sz="3600">
                <a:solidFill>
                  <a:srgbClr val="EE0033"/>
                </a:solidFill>
                <a:latin typeface="Arial"/>
                <a:ea typeface="Arial"/>
                <a:cs typeface="Arial"/>
                <a:sym typeface="Arial"/>
              </a:rPr>
              <a:t>Pipe:</a:t>
            </a:r>
          </a:p>
        </p:txBody>
      </p:sp>
      <p:sp>
        <p:nvSpPr>
          <p:cNvPr id="14" name="TextBox 14"/>
          <p:cNvSpPr txBox="1"/>
          <p:nvPr/>
        </p:nvSpPr>
        <p:spPr>
          <a:xfrm>
            <a:off x="840743" y="1922407"/>
            <a:ext cx="16186156" cy="734949"/>
          </a:xfrm>
          <a:prstGeom prst="rect">
            <a:avLst/>
          </a:prstGeom>
        </p:spPr>
        <p:txBody>
          <a:bodyPr lIns="0" tIns="0" rIns="0" bIns="0" rtlCol="0" anchor="t">
            <a:spAutoFit/>
          </a:bodyPr>
          <a:lstStyle/>
          <a:p>
            <a:pPr algn="l">
              <a:lnSpc>
                <a:spcPts val="2808"/>
              </a:lnSpc>
              <a:spcBef>
                <a:spcPct val="0"/>
              </a:spcBef>
            </a:pPr>
            <a:r>
              <a:rPr lang="en-US" sz="2600" dirty="0">
                <a:solidFill>
                  <a:srgbClr val="000000"/>
                </a:solidFill>
                <a:latin typeface="Arial"/>
                <a:ea typeface="Arial"/>
                <a:cs typeface="Arial"/>
                <a:sym typeface="Arial"/>
              </a:rPr>
              <a:t>Pipe </a:t>
            </a:r>
            <a:r>
              <a:rPr lang="en-US" sz="2600" dirty="0" err="1">
                <a:solidFill>
                  <a:srgbClr val="000000"/>
                </a:solidFill>
                <a:latin typeface="Arial"/>
                <a:ea typeface="Arial"/>
                <a:cs typeface="Arial"/>
                <a:sym typeface="Arial"/>
              </a:rPr>
              <a:t>là</a:t>
            </a:r>
            <a:r>
              <a:rPr lang="en-US" sz="2600" dirty="0">
                <a:solidFill>
                  <a:srgbClr val="000000"/>
                </a:solidFill>
                <a:latin typeface="Arial"/>
                <a:ea typeface="Arial"/>
                <a:cs typeface="Arial"/>
                <a:sym typeface="Arial"/>
              </a:rPr>
              <a:t> </a:t>
            </a:r>
            <a:r>
              <a:rPr lang="en-US" sz="2600" dirty="0" err="1">
                <a:solidFill>
                  <a:srgbClr val="000000"/>
                </a:solidFill>
                <a:latin typeface="Arial"/>
                <a:ea typeface="Arial"/>
                <a:cs typeface="Arial"/>
                <a:sym typeface="Arial"/>
              </a:rPr>
              <a:t>phương</a:t>
            </a:r>
            <a:r>
              <a:rPr lang="en-US" sz="2600" dirty="0">
                <a:solidFill>
                  <a:srgbClr val="000000"/>
                </a:solidFill>
                <a:latin typeface="Arial"/>
                <a:ea typeface="Arial"/>
                <a:cs typeface="Arial"/>
                <a:sym typeface="Arial"/>
              </a:rPr>
              <a:t> </a:t>
            </a:r>
            <a:r>
              <a:rPr lang="en-US" sz="2600" dirty="0" err="1">
                <a:solidFill>
                  <a:srgbClr val="000000"/>
                </a:solidFill>
                <a:latin typeface="Arial"/>
                <a:ea typeface="Arial"/>
                <a:cs typeface="Arial"/>
                <a:sym typeface="Arial"/>
              </a:rPr>
              <a:t>thức</a:t>
            </a:r>
            <a:r>
              <a:rPr lang="en-US" sz="2600" dirty="0">
                <a:solidFill>
                  <a:srgbClr val="000000"/>
                </a:solidFill>
                <a:latin typeface="Arial"/>
                <a:ea typeface="Arial"/>
                <a:cs typeface="Arial"/>
                <a:sym typeface="Arial"/>
              </a:rPr>
              <a:t> IPC (</a:t>
            </a:r>
            <a:r>
              <a:rPr lang="en-US" sz="2600" dirty="0" err="1">
                <a:solidFill>
                  <a:srgbClr val="000000"/>
                </a:solidFill>
                <a:latin typeface="Arial"/>
                <a:ea typeface="Arial"/>
                <a:cs typeface="Arial"/>
                <a:sym typeface="Arial"/>
              </a:rPr>
              <a:t>Interprocess</a:t>
            </a:r>
            <a:r>
              <a:rPr lang="en-US" sz="2600" dirty="0">
                <a:solidFill>
                  <a:srgbClr val="000000"/>
                </a:solidFill>
                <a:latin typeface="Arial"/>
                <a:ea typeface="Arial"/>
                <a:cs typeface="Arial"/>
                <a:sym typeface="Arial"/>
              </a:rPr>
              <a:t> Communication – </a:t>
            </a:r>
            <a:r>
              <a:rPr lang="en-US" sz="2600" dirty="0" err="1">
                <a:solidFill>
                  <a:srgbClr val="000000"/>
                </a:solidFill>
                <a:latin typeface="Arial"/>
                <a:ea typeface="Arial"/>
                <a:cs typeface="Arial"/>
                <a:sym typeface="Arial"/>
              </a:rPr>
              <a:t>giao</a:t>
            </a:r>
            <a:r>
              <a:rPr lang="en-US" sz="2600" dirty="0">
                <a:solidFill>
                  <a:srgbClr val="000000"/>
                </a:solidFill>
                <a:latin typeface="Arial"/>
                <a:ea typeface="Arial"/>
                <a:cs typeface="Arial"/>
                <a:sym typeface="Arial"/>
              </a:rPr>
              <a:t> </a:t>
            </a:r>
            <a:r>
              <a:rPr lang="en-US" sz="2600" dirty="0" err="1">
                <a:solidFill>
                  <a:srgbClr val="000000"/>
                </a:solidFill>
                <a:latin typeface="Arial"/>
                <a:ea typeface="Arial"/>
                <a:cs typeface="Arial"/>
                <a:sym typeface="Arial"/>
              </a:rPr>
              <a:t>tiếp</a:t>
            </a:r>
            <a:r>
              <a:rPr lang="en-US" sz="2600" dirty="0">
                <a:solidFill>
                  <a:srgbClr val="000000"/>
                </a:solidFill>
                <a:latin typeface="Arial"/>
                <a:ea typeface="Arial"/>
                <a:cs typeface="Arial"/>
                <a:sym typeface="Arial"/>
              </a:rPr>
              <a:t> </a:t>
            </a:r>
            <a:r>
              <a:rPr lang="en-US" sz="2600" dirty="0" err="1">
                <a:solidFill>
                  <a:srgbClr val="000000"/>
                </a:solidFill>
                <a:latin typeface="Arial"/>
                <a:ea typeface="Arial"/>
                <a:cs typeface="Arial"/>
                <a:sym typeface="Arial"/>
              </a:rPr>
              <a:t>giữa</a:t>
            </a:r>
            <a:r>
              <a:rPr lang="en-US" sz="2600" dirty="0">
                <a:solidFill>
                  <a:srgbClr val="000000"/>
                </a:solidFill>
                <a:latin typeface="Arial"/>
                <a:ea typeface="Arial"/>
                <a:cs typeface="Arial"/>
                <a:sym typeface="Arial"/>
              </a:rPr>
              <a:t> </a:t>
            </a:r>
            <a:r>
              <a:rPr lang="en-US" sz="2600" dirty="0" err="1">
                <a:solidFill>
                  <a:srgbClr val="000000"/>
                </a:solidFill>
                <a:latin typeface="Arial"/>
                <a:ea typeface="Arial"/>
                <a:cs typeface="Arial"/>
                <a:sym typeface="Arial"/>
              </a:rPr>
              <a:t>các</a:t>
            </a:r>
            <a:r>
              <a:rPr lang="en-US" sz="2600" dirty="0">
                <a:solidFill>
                  <a:srgbClr val="000000"/>
                </a:solidFill>
                <a:latin typeface="Arial"/>
                <a:ea typeface="Arial"/>
                <a:cs typeface="Arial"/>
                <a:sym typeface="Arial"/>
              </a:rPr>
              <a:t> </a:t>
            </a:r>
            <a:r>
              <a:rPr lang="en-US" sz="2600" dirty="0" err="1">
                <a:solidFill>
                  <a:srgbClr val="000000"/>
                </a:solidFill>
                <a:latin typeface="Arial"/>
                <a:ea typeface="Arial"/>
                <a:cs typeface="Arial"/>
                <a:sym typeface="Arial"/>
              </a:rPr>
              <a:t>tiến</a:t>
            </a:r>
            <a:r>
              <a:rPr lang="en-US" sz="2600" dirty="0">
                <a:solidFill>
                  <a:srgbClr val="000000"/>
                </a:solidFill>
                <a:latin typeface="Arial"/>
                <a:ea typeface="Arial"/>
                <a:cs typeface="Arial"/>
                <a:sym typeface="Arial"/>
              </a:rPr>
              <a:t> </a:t>
            </a:r>
            <a:r>
              <a:rPr lang="en-US" sz="2600" dirty="0" err="1">
                <a:solidFill>
                  <a:srgbClr val="000000"/>
                </a:solidFill>
                <a:latin typeface="Arial"/>
                <a:ea typeface="Arial"/>
                <a:cs typeface="Arial"/>
                <a:sym typeface="Arial"/>
              </a:rPr>
              <a:t>trình</a:t>
            </a:r>
            <a:r>
              <a:rPr lang="en-US" sz="2600" dirty="0">
                <a:solidFill>
                  <a:srgbClr val="000000"/>
                </a:solidFill>
                <a:latin typeface="Arial"/>
                <a:ea typeface="Arial"/>
                <a:cs typeface="Arial"/>
                <a:sym typeface="Arial"/>
              </a:rPr>
              <a:t>). Pipe </a:t>
            </a:r>
            <a:r>
              <a:rPr lang="en-US" sz="2600" dirty="0" err="1">
                <a:solidFill>
                  <a:srgbClr val="000000"/>
                </a:solidFill>
                <a:latin typeface="Arial"/>
                <a:ea typeface="Arial"/>
                <a:cs typeface="Arial"/>
                <a:sym typeface="Arial"/>
              </a:rPr>
              <a:t>có</a:t>
            </a:r>
            <a:r>
              <a:rPr lang="en-US" sz="2600" dirty="0">
                <a:solidFill>
                  <a:srgbClr val="000000"/>
                </a:solidFill>
                <a:latin typeface="Arial"/>
                <a:ea typeface="Arial"/>
                <a:cs typeface="Arial"/>
                <a:sym typeface="Arial"/>
              </a:rPr>
              <a:t> </a:t>
            </a:r>
            <a:r>
              <a:rPr lang="en-US" sz="2600" dirty="0" err="1">
                <a:solidFill>
                  <a:srgbClr val="000000"/>
                </a:solidFill>
                <a:latin typeface="Arial"/>
                <a:ea typeface="Arial"/>
                <a:cs typeface="Arial"/>
                <a:sym typeface="Arial"/>
              </a:rPr>
              <a:t>thể</a:t>
            </a:r>
            <a:r>
              <a:rPr lang="en-US" sz="2600" dirty="0">
                <a:solidFill>
                  <a:srgbClr val="000000"/>
                </a:solidFill>
                <a:latin typeface="Arial"/>
                <a:ea typeface="Arial"/>
                <a:cs typeface="Arial"/>
                <a:sym typeface="Arial"/>
              </a:rPr>
              <a:t> </a:t>
            </a:r>
            <a:r>
              <a:rPr lang="en-US" sz="2600" dirty="0" err="1">
                <a:solidFill>
                  <a:srgbClr val="000000"/>
                </a:solidFill>
                <a:latin typeface="Arial"/>
                <a:ea typeface="Arial"/>
                <a:cs typeface="Arial"/>
                <a:sym typeface="Arial"/>
              </a:rPr>
              <a:t>được</a:t>
            </a:r>
            <a:r>
              <a:rPr lang="en-US" sz="2600" dirty="0">
                <a:solidFill>
                  <a:srgbClr val="000000"/>
                </a:solidFill>
                <a:latin typeface="Arial"/>
                <a:ea typeface="Arial"/>
                <a:cs typeface="Arial"/>
                <a:sym typeface="Arial"/>
              </a:rPr>
              <a:t> </a:t>
            </a:r>
            <a:r>
              <a:rPr lang="en-US" sz="2600" dirty="0" err="1">
                <a:solidFill>
                  <a:srgbClr val="000000"/>
                </a:solidFill>
                <a:latin typeface="Arial"/>
                <a:ea typeface="Arial"/>
                <a:cs typeface="Arial"/>
                <a:sym typeface="Arial"/>
              </a:rPr>
              <a:t>sử</a:t>
            </a:r>
            <a:r>
              <a:rPr lang="en-US" sz="2600" dirty="0">
                <a:solidFill>
                  <a:srgbClr val="000000"/>
                </a:solidFill>
                <a:latin typeface="Arial"/>
                <a:ea typeface="Arial"/>
                <a:cs typeface="Arial"/>
                <a:sym typeface="Arial"/>
              </a:rPr>
              <a:t> </a:t>
            </a:r>
            <a:r>
              <a:rPr lang="en-US" sz="2600" dirty="0" err="1">
                <a:solidFill>
                  <a:srgbClr val="000000"/>
                </a:solidFill>
                <a:latin typeface="Arial"/>
                <a:ea typeface="Arial"/>
                <a:cs typeface="Arial"/>
                <a:sym typeface="Arial"/>
              </a:rPr>
              <a:t>dụng</a:t>
            </a:r>
            <a:r>
              <a:rPr lang="en-US" sz="2600" dirty="0">
                <a:solidFill>
                  <a:srgbClr val="000000"/>
                </a:solidFill>
                <a:latin typeface="Arial"/>
                <a:ea typeface="Arial"/>
                <a:cs typeface="Arial"/>
                <a:sym typeface="Arial"/>
              </a:rPr>
              <a:t> </a:t>
            </a:r>
            <a:r>
              <a:rPr lang="en-US" sz="2600" dirty="0" err="1">
                <a:solidFill>
                  <a:srgbClr val="000000"/>
                </a:solidFill>
                <a:latin typeface="Arial"/>
                <a:ea typeface="Arial"/>
                <a:cs typeface="Arial"/>
                <a:sym typeface="Arial"/>
              </a:rPr>
              <a:t>để</a:t>
            </a:r>
            <a:r>
              <a:rPr lang="en-US" sz="2600" dirty="0">
                <a:solidFill>
                  <a:srgbClr val="000000"/>
                </a:solidFill>
                <a:latin typeface="Arial"/>
                <a:ea typeface="Arial"/>
                <a:cs typeface="Arial"/>
                <a:sym typeface="Arial"/>
              </a:rPr>
              <a:t> </a:t>
            </a:r>
            <a:r>
              <a:rPr lang="en-US" sz="2600" dirty="0" err="1">
                <a:solidFill>
                  <a:srgbClr val="000000"/>
                </a:solidFill>
                <a:latin typeface="Arial"/>
                <a:ea typeface="Arial"/>
                <a:cs typeface="Arial"/>
                <a:sym typeface="Arial"/>
              </a:rPr>
              <a:t>truyền</a:t>
            </a:r>
            <a:r>
              <a:rPr lang="en-US" sz="2600" dirty="0">
                <a:solidFill>
                  <a:srgbClr val="000000"/>
                </a:solidFill>
                <a:latin typeface="Arial"/>
                <a:ea typeface="Arial"/>
                <a:cs typeface="Arial"/>
                <a:sym typeface="Arial"/>
              </a:rPr>
              <a:t> </a:t>
            </a:r>
            <a:r>
              <a:rPr lang="en-US" sz="2600" dirty="0" err="1">
                <a:solidFill>
                  <a:srgbClr val="000000"/>
                </a:solidFill>
                <a:latin typeface="Arial"/>
                <a:ea typeface="Arial"/>
                <a:cs typeface="Arial"/>
                <a:sym typeface="Arial"/>
              </a:rPr>
              <a:t>dữ</a:t>
            </a:r>
            <a:r>
              <a:rPr lang="en-US" sz="2600" dirty="0">
                <a:solidFill>
                  <a:srgbClr val="000000"/>
                </a:solidFill>
                <a:latin typeface="Arial"/>
                <a:ea typeface="Arial"/>
                <a:cs typeface="Arial"/>
                <a:sym typeface="Arial"/>
              </a:rPr>
              <a:t> </a:t>
            </a:r>
            <a:r>
              <a:rPr lang="en-US" sz="2600" dirty="0" err="1">
                <a:solidFill>
                  <a:srgbClr val="000000"/>
                </a:solidFill>
                <a:latin typeface="Arial"/>
                <a:ea typeface="Arial"/>
                <a:cs typeface="Arial"/>
                <a:sym typeface="Arial"/>
              </a:rPr>
              <a:t>liệu</a:t>
            </a:r>
            <a:r>
              <a:rPr lang="en-US" sz="2600" dirty="0">
                <a:solidFill>
                  <a:srgbClr val="000000"/>
                </a:solidFill>
                <a:latin typeface="Arial"/>
                <a:ea typeface="Arial"/>
                <a:cs typeface="Arial"/>
                <a:sym typeface="Arial"/>
              </a:rPr>
              <a:t> </a:t>
            </a:r>
            <a:r>
              <a:rPr lang="en-US" sz="2600" dirty="0" err="1">
                <a:solidFill>
                  <a:srgbClr val="000000"/>
                </a:solidFill>
                <a:latin typeface="Arial"/>
                <a:ea typeface="Arial"/>
                <a:cs typeface="Arial"/>
                <a:sym typeface="Arial"/>
              </a:rPr>
              <a:t>giữa</a:t>
            </a:r>
            <a:r>
              <a:rPr lang="en-US" sz="2600" dirty="0">
                <a:solidFill>
                  <a:srgbClr val="000000"/>
                </a:solidFill>
                <a:latin typeface="Arial"/>
                <a:ea typeface="Arial"/>
                <a:cs typeface="Arial"/>
                <a:sym typeface="Arial"/>
              </a:rPr>
              <a:t> </a:t>
            </a:r>
            <a:r>
              <a:rPr lang="en-US" sz="2600" dirty="0" err="1">
                <a:solidFill>
                  <a:srgbClr val="000000"/>
                </a:solidFill>
                <a:latin typeface="Arial"/>
                <a:ea typeface="Arial"/>
                <a:cs typeface="Arial"/>
                <a:sym typeface="Arial"/>
              </a:rPr>
              <a:t>các</a:t>
            </a:r>
            <a:r>
              <a:rPr lang="en-US" sz="2600" dirty="0">
                <a:solidFill>
                  <a:srgbClr val="000000"/>
                </a:solidFill>
                <a:latin typeface="Arial"/>
                <a:ea typeface="Arial"/>
                <a:cs typeface="Arial"/>
                <a:sym typeface="Arial"/>
              </a:rPr>
              <a:t> </a:t>
            </a:r>
            <a:r>
              <a:rPr lang="en-US" sz="2600" dirty="0" err="1">
                <a:solidFill>
                  <a:srgbClr val="000000"/>
                </a:solidFill>
                <a:latin typeface="Arial"/>
                <a:ea typeface="Arial"/>
                <a:cs typeface="Arial"/>
                <a:sym typeface="Arial"/>
              </a:rPr>
              <a:t>tiến</a:t>
            </a:r>
            <a:r>
              <a:rPr lang="en-US" sz="2600" dirty="0">
                <a:solidFill>
                  <a:srgbClr val="000000"/>
                </a:solidFill>
                <a:latin typeface="Arial"/>
                <a:ea typeface="Arial"/>
                <a:cs typeface="Arial"/>
                <a:sym typeface="Arial"/>
              </a:rPr>
              <a:t> </a:t>
            </a:r>
            <a:r>
              <a:rPr lang="en-US" sz="2600" dirty="0" err="1">
                <a:solidFill>
                  <a:srgbClr val="000000"/>
                </a:solidFill>
                <a:latin typeface="Arial"/>
                <a:ea typeface="Arial"/>
                <a:cs typeface="Arial"/>
                <a:sym typeface="Arial"/>
              </a:rPr>
              <a:t>trình</a:t>
            </a:r>
            <a:r>
              <a:rPr lang="en-US" sz="2600" dirty="0">
                <a:solidFill>
                  <a:srgbClr val="000000"/>
                </a:solidFill>
                <a:latin typeface="Arial"/>
                <a:ea typeface="Arial"/>
                <a:cs typeface="Arial"/>
                <a:sym typeface="Arial"/>
              </a:rPr>
              <a:t> </a:t>
            </a:r>
            <a:r>
              <a:rPr lang="en-US" sz="2600" dirty="0" err="1">
                <a:solidFill>
                  <a:srgbClr val="000000"/>
                </a:solidFill>
                <a:latin typeface="Arial"/>
                <a:ea typeface="Arial"/>
                <a:cs typeface="Arial"/>
                <a:sym typeface="Arial"/>
              </a:rPr>
              <a:t>có</a:t>
            </a:r>
            <a:r>
              <a:rPr lang="en-US" sz="2600" dirty="0">
                <a:solidFill>
                  <a:srgbClr val="000000"/>
                </a:solidFill>
                <a:latin typeface="Arial"/>
                <a:ea typeface="Arial"/>
                <a:cs typeface="Arial"/>
                <a:sym typeface="Arial"/>
              </a:rPr>
              <a:t> </a:t>
            </a:r>
            <a:r>
              <a:rPr lang="en-US" sz="2600" dirty="0" err="1">
                <a:solidFill>
                  <a:srgbClr val="000000"/>
                </a:solidFill>
                <a:latin typeface="Arial"/>
                <a:ea typeface="Arial"/>
                <a:cs typeface="Arial"/>
                <a:sym typeface="Arial"/>
              </a:rPr>
              <a:t>quan</a:t>
            </a:r>
            <a:r>
              <a:rPr lang="en-US" sz="2600" dirty="0">
                <a:solidFill>
                  <a:srgbClr val="000000"/>
                </a:solidFill>
                <a:latin typeface="Arial"/>
                <a:ea typeface="Arial"/>
                <a:cs typeface="Arial"/>
                <a:sym typeface="Arial"/>
              </a:rPr>
              <a:t> </a:t>
            </a:r>
            <a:r>
              <a:rPr lang="en-US" sz="2600" dirty="0" err="1">
                <a:solidFill>
                  <a:srgbClr val="000000"/>
                </a:solidFill>
                <a:latin typeface="Arial"/>
                <a:ea typeface="Arial"/>
                <a:cs typeface="Arial"/>
                <a:sym typeface="Arial"/>
              </a:rPr>
              <a:t>hệ</a:t>
            </a:r>
            <a:r>
              <a:rPr lang="en-US" sz="2600" dirty="0">
                <a:solidFill>
                  <a:srgbClr val="000000"/>
                </a:solidFill>
                <a:latin typeface="Arial"/>
                <a:ea typeface="Arial"/>
                <a:cs typeface="Arial"/>
                <a:sym typeface="Arial"/>
              </a:rPr>
              <a:t> </a:t>
            </a:r>
            <a:r>
              <a:rPr lang="en-US" sz="2600" dirty="0" err="1">
                <a:solidFill>
                  <a:srgbClr val="000000"/>
                </a:solidFill>
                <a:latin typeface="Arial"/>
                <a:ea typeface="Arial"/>
                <a:cs typeface="Arial"/>
                <a:sym typeface="Arial"/>
              </a:rPr>
              <a:t>với</a:t>
            </a:r>
            <a:r>
              <a:rPr lang="en-US" sz="2600" dirty="0">
                <a:solidFill>
                  <a:srgbClr val="000000"/>
                </a:solidFill>
                <a:latin typeface="Arial"/>
                <a:ea typeface="Arial"/>
                <a:cs typeface="Arial"/>
                <a:sym typeface="Arial"/>
              </a:rPr>
              <a:t> </a:t>
            </a:r>
            <a:r>
              <a:rPr lang="en-US" sz="2600" dirty="0" err="1">
                <a:solidFill>
                  <a:srgbClr val="000000"/>
                </a:solidFill>
                <a:latin typeface="Arial"/>
                <a:ea typeface="Arial"/>
                <a:cs typeface="Arial"/>
                <a:sym typeface="Arial"/>
              </a:rPr>
              <a:t>nhau</a:t>
            </a:r>
            <a:r>
              <a:rPr lang="en-US" sz="2600" dirty="0">
                <a:solidFill>
                  <a:srgbClr val="000000"/>
                </a:solidFill>
                <a:latin typeface="Arial"/>
                <a:ea typeface="Arial"/>
                <a:cs typeface="Arial"/>
                <a:sym typeface="Arial"/>
              </a:rPr>
              <a:t>. </a:t>
            </a:r>
          </a:p>
        </p:txBody>
      </p:sp>
      <p:sp>
        <p:nvSpPr>
          <p:cNvPr id="15" name="TextBox 15"/>
          <p:cNvSpPr txBox="1"/>
          <p:nvPr/>
        </p:nvSpPr>
        <p:spPr>
          <a:xfrm>
            <a:off x="730204" y="2975355"/>
            <a:ext cx="15085057" cy="359073"/>
          </a:xfrm>
          <a:prstGeom prst="rect">
            <a:avLst/>
          </a:prstGeom>
        </p:spPr>
        <p:txBody>
          <a:bodyPr wrap="square" lIns="0" tIns="0" rIns="0" bIns="0" rtlCol="0" anchor="t">
            <a:spAutoFit/>
          </a:bodyPr>
          <a:lstStyle/>
          <a:p>
            <a:pPr algn="ctr">
              <a:lnSpc>
                <a:spcPts val="2808"/>
              </a:lnSpc>
              <a:spcBef>
                <a:spcPct val="0"/>
              </a:spcBef>
            </a:pPr>
            <a:r>
              <a:rPr lang="en-US" sz="2600" dirty="0" err="1">
                <a:solidFill>
                  <a:srgbClr val="000000"/>
                </a:solidFill>
                <a:latin typeface="Arial"/>
                <a:ea typeface="Arial"/>
                <a:cs typeface="Arial"/>
                <a:sym typeface="Arial"/>
              </a:rPr>
              <a:t>Tiến</a:t>
            </a:r>
            <a:r>
              <a:rPr lang="en-US" sz="2600" dirty="0">
                <a:solidFill>
                  <a:srgbClr val="000000"/>
                </a:solidFill>
                <a:latin typeface="Arial"/>
                <a:ea typeface="Arial"/>
                <a:cs typeface="Arial"/>
                <a:sym typeface="Arial"/>
              </a:rPr>
              <a:t> </a:t>
            </a:r>
            <a:r>
              <a:rPr lang="en-US" sz="2600" dirty="0" err="1">
                <a:solidFill>
                  <a:srgbClr val="000000"/>
                </a:solidFill>
                <a:latin typeface="Arial"/>
                <a:ea typeface="Arial"/>
                <a:cs typeface="Arial"/>
                <a:sym typeface="Arial"/>
              </a:rPr>
              <a:t>trình</a:t>
            </a:r>
            <a:r>
              <a:rPr lang="en-US" sz="2600" dirty="0">
                <a:solidFill>
                  <a:srgbClr val="000000"/>
                </a:solidFill>
                <a:latin typeface="Arial"/>
                <a:ea typeface="Arial"/>
                <a:cs typeface="Arial"/>
                <a:sym typeface="Arial"/>
              </a:rPr>
              <a:t> </a:t>
            </a:r>
            <a:r>
              <a:rPr lang="en-US" sz="2600" dirty="0" err="1">
                <a:solidFill>
                  <a:srgbClr val="000000"/>
                </a:solidFill>
                <a:latin typeface="Arial"/>
                <a:ea typeface="Arial"/>
                <a:cs typeface="Arial"/>
                <a:sym typeface="Arial"/>
              </a:rPr>
              <a:t>đọc</a:t>
            </a:r>
            <a:r>
              <a:rPr lang="en-US" sz="2600" dirty="0">
                <a:solidFill>
                  <a:srgbClr val="000000"/>
                </a:solidFill>
                <a:latin typeface="Arial"/>
                <a:ea typeface="Arial"/>
                <a:cs typeface="Arial"/>
                <a:sym typeface="Arial"/>
              </a:rPr>
              <a:t> </a:t>
            </a:r>
            <a:r>
              <a:rPr lang="en-US" sz="2600" dirty="0" err="1">
                <a:solidFill>
                  <a:srgbClr val="000000"/>
                </a:solidFill>
                <a:latin typeface="Arial"/>
                <a:ea typeface="Arial"/>
                <a:cs typeface="Arial"/>
                <a:sym typeface="Arial"/>
              </a:rPr>
              <a:t>từ</a:t>
            </a:r>
            <a:r>
              <a:rPr lang="en-US" sz="2600" dirty="0">
                <a:solidFill>
                  <a:srgbClr val="000000"/>
                </a:solidFill>
                <a:latin typeface="Arial"/>
                <a:ea typeface="Arial"/>
                <a:cs typeface="Arial"/>
                <a:sym typeface="Arial"/>
              </a:rPr>
              <a:t> pipe </a:t>
            </a:r>
            <a:r>
              <a:rPr lang="en-US" sz="2600" dirty="0" err="1">
                <a:solidFill>
                  <a:srgbClr val="000000"/>
                </a:solidFill>
                <a:latin typeface="Arial"/>
                <a:ea typeface="Arial"/>
                <a:cs typeface="Arial"/>
                <a:sym typeface="Arial"/>
              </a:rPr>
              <a:t>có</a:t>
            </a:r>
            <a:r>
              <a:rPr lang="en-US" sz="2600" dirty="0">
                <a:solidFill>
                  <a:srgbClr val="000000"/>
                </a:solidFill>
                <a:latin typeface="Arial"/>
                <a:ea typeface="Arial"/>
                <a:cs typeface="Arial"/>
                <a:sym typeface="Arial"/>
              </a:rPr>
              <a:t> </a:t>
            </a:r>
            <a:r>
              <a:rPr lang="en-US" sz="2600" dirty="0" err="1">
                <a:solidFill>
                  <a:srgbClr val="000000"/>
                </a:solidFill>
                <a:latin typeface="Arial"/>
                <a:ea typeface="Arial"/>
                <a:cs typeface="Arial"/>
                <a:sym typeface="Arial"/>
              </a:rPr>
              <a:t>thể</a:t>
            </a:r>
            <a:r>
              <a:rPr lang="en-US" sz="2600" dirty="0">
                <a:solidFill>
                  <a:srgbClr val="000000"/>
                </a:solidFill>
                <a:latin typeface="Arial"/>
                <a:ea typeface="Arial"/>
                <a:cs typeface="Arial"/>
                <a:sym typeface="Arial"/>
              </a:rPr>
              <a:t> </a:t>
            </a:r>
            <a:r>
              <a:rPr lang="en-US" sz="2600" dirty="0" err="1">
                <a:solidFill>
                  <a:srgbClr val="000000"/>
                </a:solidFill>
                <a:latin typeface="Arial"/>
                <a:ea typeface="Arial"/>
                <a:cs typeface="Arial"/>
                <a:sym typeface="Arial"/>
              </a:rPr>
              <a:t>đọc</a:t>
            </a:r>
            <a:r>
              <a:rPr lang="en-US" sz="2600" dirty="0">
                <a:solidFill>
                  <a:srgbClr val="000000"/>
                </a:solidFill>
                <a:latin typeface="Arial"/>
                <a:ea typeface="Arial"/>
                <a:cs typeface="Arial"/>
                <a:sym typeface="Arial"/>
              </a:rPr>
              <a:t> </a:t>
            </a:r>
            <a:r>
              <a:rPr lang="en-US" sz="2600" dirty="0" err="1">
                <a:solidFill>
                  <a:srgbClr val="000000"/>
                </a:solidFill>
                <a:latin typeface="Arial"/>
                <a:ea typeface="Arial"/>
                <a:cs typeface="Arial"/>
                <a:sym typeface="Arial"/>
              </a:rPr>
              <a:t>các</a:t>
            </a:r>
            <a:r>
              <a:rPr lang="en-US" sz="2600" dirty="0">
                <a:solidFill>
                  <a:srgbClr val="000000"/>
                </a:solidFill>
                <a:latin typeface="Arial"/>
                <a:ea typeface="Arial"/>
                <a:cs typeface="Arial"/>
                <a:sym typeface="Arial"/>
              </a:rPr>
              <a:t> </a:t>
            </a:r>
            <a:r>
              <a:rPr lang="en-US" sz="2600" dirty="0" err="1">
                <a:solidFill>
                  <a:srgbClr val="000000"/>
                </a:solidFill>
                <a:latin typeface="Arial"/>
                <a:ea typeface="Arial"/>
                <a:cs typeface="Arial"/>
                <a:sym typeface="Arial"/>
              </a:rPr>
              <a:t>khối</a:t>
            </a:r>
            <a:r>
              <a:rPr lang="en-US" sz="2600" dirty="0">
                <a:solidFill>
                  <a:srgbClr val="000000"/>
                </a:solidFill>
                <a:latin typeface="Arial"/>
                <a:ea typeface="Arial"/>
                <a:cs typeface="Arial"/>
                <a:sym typeface="Arial"/>
              </a:rPr>
              <a:t> </a:t>
            </a:r>
            <a:r>
              <a:rPr lang="en-US" sz="2600" dirty="0" err="1">
                <a:solidFill>
                  <a:srgbClr val="000000"/>
                </a:solidFill>
                <a:latin typeface="Arial"/>
                <a:ea typeface="Arial"/>
                <a:cs typeface="Arial"/>
                <a:sym typeface="Arial"/>
              </a:rPr>
              <a:t>dữ</a:t>
            </a:r>
            <a:r>
              <a:rPr lang="en-US" sz="2600" dirty="0">
                <a:solidFill>
                  <a:srgbClr val="000000"/>
                </a:solidFill>
                <a:latin typeface="Arial"/>
                <a:ea typeface="Arial"/>
                <a:cs typeface="Arial"/>
                <a:sym typeface="Arial"/>
              </a:rPr>
              <a:t> </a:t>
            </a:r>
            <a:r>
              <a:rPr lang="en-US" sz="2600" dirty="0" err="1">
                <a:solidFill>
                  <a:srgbClr val="000000"/>
                </a:solidFill>
                <a:latin typeface="Arial"/>
                <a:ea typeface="Arial"/>
                <a:cs typeface="Arial"/>
                <a:sym typeface="Arial"/>
              </a:rPr>
              <a:t>liệu</a:t>
            </a:r>
            <a:r>
              <a:rPr lang="en-US" sz="2600" dirty="0">
                <a:solidFill>
                  <a:srgbClr val="000000"/>
                </a:solidFill>
                <a:latin typeface="Arial"/>
                <a:ea typeface="Arial"/>
                <a:cs typeface="Arial"/>
                <a:sym typeface="Arial"/>
              </a:rPr>
              <a:t> </a:t>
            </a:r>
            <a:r>
              <a:rPr lang="en-US" sz="2600" dirty="0" err="1">
                <a:solidFill>
                  <a:srgbClr val="000000"/>
                </a:solidFill>
                <a:latin typeface="Arial"/>
                <a:ea typeface="Arial"/>
                <a:cs typeface="Arial"/>
                <a:sym typeface="Arial"/>
              </a:rPr>
              <a:t>với</a:t>
            </a:r>
            <a:r>
              <a:rPr lang="en-US" sz="2600" dirty="0">
                <a:solidFill>
                  <a:srgbClr val="000000"/>
                </a:solidFill>
                <a:latin typeface="Arial"/>
                <a:ea typeface="Arial"/>
                <a:cs typeface="Arial"/>
                <a:sym typeface="Arial"/>
              </a:rPr>
              <a:t> </a:t>
            </a:r>
            <a:r>
              <a:rPr lang="en-US" sz="2600" dirty="0" err="1">
                <a:solidFill>
                  <a:srgbClr val="000000"/>
                </a:solidFill>
                <a:latin typeface="Arial"/>
                <a:ea typeface="Arial"/>
                <a:cs typeface="Arial"/>
                <a:sym typeface="Arial"/>
              </a:rPr>
              <a:t>kích</a:t>
            </a:r>
            <a:r>
              <a:rPr lang="en-US" sz="2600" dirty="0">
                <a:solidFill>
                  <a:srgbClr val="000000"/>
                </a:solidFill>
                <a:latin typeface="Arial"/>
                <a:ea typeface="Arial"/>
                <a:cs typeface="Arial"/>
                <a:sym typeface="Arial"/>
              </a:rPr>
              <a:t> </a:t>
            </a:r>
            <a:r>
              <a:rPr lang="en-US" sz="2600" dirty="0" err="1">
                <a:solidFill>
                  <a:srgbClr val="000000"/>
                </a:solidFill>
                <a:latin typeface="Arial"/>
                <a:ea typeface="Arial"/>
                <a:cs typeface="Arial"/>
                <a:sym typeface="Arial"/>
              </a:rPr>
              <a:t>thước</a:t>
            </a:r>
            <a:r>
              <a:rPr lang="en-US" sz="2600" dirty="0">
                <a:solidFill>
                  <a:srgbClr val="000000"/>
                </a:solidFill>
                <a:latin typeface="Arial"/>
                <a:ea typeface="Arial"/>
                <a:cs typeface="Arial"/>
                <a:sym typeface="Arial"/>
              </a:rPr>
              <a:t> </a:t>
            </a:r>
            <a:r>
              <a:rPr lang="en-US" sz="2600" dirty="0" err="1">
                <a:solidFill>
                  <a:srgbClr val="000000"/>
                </a:solidFill>
                <a:latin typeface="Arial"/>
                <a:ea typeface="Arial"/>
                <a:cs typeface="Arial"/>
                <a:sym typeface="Arial"/>
              </a:rPr>
              <a:t>bất</a:t>
            </a:r>
            <a:r>
              <a:rPr lang="en-US" sz="2600" dirty="0">
                <a:solidFill>
                  <a:srgbClr val="000000"/>
                </a:solidFill>
                <a:latin typeface="Arial"/>
                <a:ea typeface="Arial"/>
                <a:cs typeface="Arial"/>
                <a:sym typeface="Arial"/>
              </a:rPr>
              <a:t> </a:t>
            </a:r>
            <a:r>
              <a:rPr lang="en-US" sz="2600" dirty="0" err="1">
                <a:solidFill>
                  <a:srgbClr val="000000"/>
                </a:solidFill>
                <a:latin typeface="Arial"/>
                <a:ea typeface="Arial"/>
                <a:cs typeface="Arial"/>
                <a:sym typeface="Arial"/>
              </a:rPr>
              <a:t>kỳ</a:t>
            </a:r>
            <a:r>
              <a:rPr lang="en-US" sz="2600" dirty="0">
                <a:solidFill>
                  <a:srgbClr val="000000"/>
                </a:solidFill>
                <a:latin typeface="Arial"/>
                <a:ea typeface="Arial"/>
                <a:cs typeface="Arial"/>
                <a:sym typeface="Arial"/>
              </a:rPr>
              <a:t> </a:t>
            </a:r>
            <a:r>
              <a:rPr lang="en-US" sz="2600" dirty="0" err="1">
                <a:solidFill>
                  <a:srgbClr val="000000"/>
                </a:solidFill>
                <a:latin typeface="Arial"/>
                <a:ea typeface="Arial"/>
                <a:cs typeface="Arial"/>
                <a:sym typeface="Arial"/>
              </a:rPr>
              <a:t>theo</a:t>
            </a:r>
            <a:r>
              <a:rPr lang="en-US" sz="2600" dirty="0">
                <a:solidFill>
                  <a:srgbClr val="000000"/>
                </a:solidFill>
                <a:latin typeface="Arial"/>
                <a:ea typeface="Arial"/>
                <a:cs typeface="Arial"/>
                <a:sym typeface="Arial"/>
              </a:rPr>
              <a:t> </a:t>
            </a:r>
            <a:r>
              <a:rPr lang="en-US" sz="2600" dirty="0" err="1">
                <a:solidFill>
                  <a:srgbClr val="000000"/>
                </a:solidFill>
                <a:latin typeface="Arial"/>
                <a:ea typeface="Arial"/>
                <a:cs typeface="Arial"/>
                <a:sym typeface="Arial"/>
              </a:rPr>
              <a:t>đúng</a:t>
            </a:r>
            <a:r>
              <a:rPr lang="en-US" sz="2600" dirty="0">
                <a:solidFill>
                  <a:srgbClr val="000000"/>
                </a:solidFill>
                <a:latin typeface="Arial"/>
                <a:ea typeface="Arial"/>
                <a:cs typeface="Arial"/>
                <a:sym typeface="Arial"/>
              </a:rPr>
              <a:t> </a:t>
            </a:r>
            <a:r>
              <a:rPr lang="en-US" sz="2600" dirty="0" err="1">
                <a:solidFill>
                  <a:srgbClr val="000000"/>
                </a:solidFill>
                <a:latin typeface="Arial"/>
                <a:ea typeface="Arial"/>
                <a:cs typeface="Arial"/>
                <a:sym typeface="Arial"/>
              </a:rPr>
              <a:t>thứ</a:t>
            </a:r>
            <a:r>
              <a:rPr lang="en-US" sz="2600" dirty="0">
                <a:solidFill>
                  <a:srgbClr val="000000"/>
                </a:solidFill>
                <a:latin typeface="Arial"/>
                <a:ea typeface="Arial"/>
                <a:cs typeface="Arial"/>
                <a:sym typeface="Arial"/>
              </a:rPr>
              <a:t> </a:t>
            </a:r>
            <a:r>
              <a:rPr lang="en-US" sz="2600" dirty="0" err="1">
                <a:solidFill>
                  <a:srgbClr val="000000"/>
                </a:solidFill>
                <a:latin typeface="Arial"/>
                <a:ea typeface="Arial"/>
                <a:cs typeface="Arial"/>
                <a:sym typeface="Arial"/>
              </a:rPr>
              <a:t>tự</a:t>
            </a:r>
            <a:r>
              <a:rPr lang="en-US" sz="2600" dirty="0">
                <a:solidFill>
                  <a:srgbClr val="000000"/>
                </a:solidFill>
                <a:latin typeface="Arial"/>
                <a:ea typeface="Arial"/>
                <a:cs typeface="Arial"/>
                <a:sym typeface="Arial"/>
              </a:rPr>
              <a:t> </a:t>
            </a:r>
            <a:r>
              <a:rPr lang="en-US" sz="2600" dirty="0" err="1">
                <a:solidFill>
                  <a:srgbClr val="000000"/>
                </a:solidFill>
                <a:latin typeface="Arial"/>
                <a:ea typeface="Arial"/>
                <a:cs typeface="Arial"/>
                <a:sym typeface="Arial"/>
              </a:rPr>
              <a:t>đã</a:t>
            </a:r>
            <a:r>
              <a:rPr lang="en-US" sz="2600" dirty="0">
                <a:solidFill>
                  <a:srgbClr val="000000"/>
                </a:solidFill>
                <a:latin typeface="Arial"/>
                <a:ea typeface="Arial"/>
                <a:cs typeface="Arial"/>
                <a:sym typeface="Arial"/>
              </a:rPr>
              <a:t> </a:t>
            </a:r>
            <a:r>
              <a:rPr lang="en-US" sz="2600" dirty="0" err="1">
                <a:solidFill>
                  <a:srgbClr val="000000"/>
                </a:solidFill>
                <a:latin typeface="Arial"/>
                <a:ea typeface="Arial"/>
                <a:cs typeface="Arial"/>
                <a:sym typeface="Arial"/>
              </a:rPr>
              <a:t>được</a:t>
            </a:r>
            <a:r>
              <a:rPr lang="en-US" sz="2600" dirty="0">
                <a:solidFill>
                  <a:srgbClr val="000000"/>
                </a:solidFill>
                <a:latin typeface="Arial"/>
                <a:ea typeface="Arial"/>
                <a:cs typeface="Arial"/>
                <a:sym typeface="Arial"/>
              </a:rPr>
              <a:t> </a:t>
            </a:r>
            <a:r>
              <a:rPr lang="en-US" sz="2600" dirty="0" err="1">
                <a:solidFill>
                  <a:srgbClr val="000000"/>
                </a:solidFill>
                <a:latin typeface="Arial"/>
                <a:ea typeface="Arial"/>
                <a:cs typeface="Arial"/>
                <a:sym typeface="Arial"/>
              </a:rPr>
              <a:t>ghi</a:t>
            </a:r>
            <a:r>
              <a:rPr lang="en-US" sz="2600" dirty="0">
                <a:solidFill>
                  <a:srgbClr val="000000"/>
                </a:solidFill>
                <a:latin typeface="Arial"/>
                <a:ea typeface="Arial"/>
                <a:cs typeface="Arial"/>
                <a:sym typeface="Arial"/>
              </a:rPr>
              <a:t>.</a:t>
            </a:r>
          </a:p>
        </p:txBody>
      </p:sp>
      <p:sp>
        <p:nvSpPr>
          <p:cNvPr id="16" name="TextBox 16"/>
          <p:cNvSpPr txBox="1"/>
          <p:nvPr/>
        </p:nvSpPr>
        <p:spPr>
          <a:xfrm>
            <a:off x="747376" y="4564158"/>
            <a:ext cx="9370057" cy="359073"/>
          </a:xfrm>
          <a:prstGeom prst="rect">
            <a:avLst/>
          </a:prstGeom>
        </p:spPr>
        <p:txBody>
          <a:bodyPr wrap="square" lIns="0" tIns="0" rIns="0" bIns="0" rtlCol="0" anchor="t">
            <a:spAutoFit/>
          </a:bodyPr>
          <a:lstStyle/>
          <a:p>
            <a:pPr algn="ctr">
              <a:lnSpc>
                <a:spcPts val="2808"/>
              </a:lnSpc>
              <a:spcBef>
                <a:spcPct val="0"/>
              </a:spcBef>
            </a:pPr>
            <a:r>
              <a:rPr lang="en-US" sz="2600" dirty="0" err="1">
                <a:solidFill>
                  <a:srgbClr val="000000"/>
                </a:solidFill>
                <a:latin typeface="Arial"/>
                <a:ea typeface="Arial"/>
                <a:cs typeface="Arial"/>
                <a:sym typeface="Arial"/>
              </a:rPr>
              <a:t>Nếu</a:t>
            </a:r>
            <a:r>
              <a:rPr lang="en-US" sz="2600" dirty="0">
                <a:solidFill>
                  <a:srgbClr val="000000"/>
                </a:solidFill>
                <a:latin typeface="Arial"/>
                <a:ea typeface="Arial"/>
                <a:cs typeface="Arial"/>
                <a:sym typeface="Arial"/>
              </a:rPr>
              <a:t> </a:t>
            </a:r>
            <a:r>
              <a:rPr lang="en-US" sz="2600" dirty="0" err="1">
                <a:solidFill>
                  <a:srgbClr val="000000"/>
                </a:solidFill>
                <a:latin typeface="Arial"/>
                <a:ea typeface="Arial"/>
                <a:cs typeface="Arial"/>
                <a:sym typeface="Arial"/>
              </a:rPr>
              <a:t>cố</a:t>
            </a:r>
            <a:r>
              <a:rPr lang="en-US" sz="2600" dirty="0">
                <a:solidFill>
                  <a:srgbClr val="000000"/>
                </a:solidFill>
                <a:latin typeface="Arial"/>
                <a:ea typeface="Arial"/>
                <a:cs typeface="Arial"/>
                <a:sym typeface="Arial"/>
              </a:rPr>
              <a:t> </a:t>
            </a:r>
            <a:r>
              <a:rPr lang="en-US" sz="2600" dirty="0" err="1">
                <a:solidFill>
                  <a:srgbClr val="000000"/>
                </a:solidFill>
                <a:latin typeface="Arial"/>
                <a:ea typeface="Arial"/>
                <a:cs typeface="Arial"/>
                <a:sym typeface="Arial"/>
              </a:rPr>
              <a:t>gắng</a:t>
            </a:r>
            <a:r>
              <a:rPr lang="en-US" sz="2600" dirty="0">
                <a:solidFill>
                  <a:srgbClr val="000000"/>
                </a:solidFill>
                <a:latin typeface="Arial"/>
                <a:ea typeface="Arial"/>
                <a:cs typeface="Arial"/>
                <a:sym typeface="Arial"/>
              </a:rPr>
              <a:t> </a:t>
            </a:r>
            <a:r>
              <a:rPr lang="en-US" sz="2600" dirty="0" err="1">
                <a:solidFill>
                  <a:srgbClr val="000000"/>
                </a:solidFill>
                <a:latin typeface="Arial"/>
                <a:ea typeface="Arial"/>
                <a:cs typeface="Arial"/>
                <a:sym typeface="Arial"/>
              </a:rPr>
              <a:t>đọc</a:t>
            </a:r>
            <a:r>
              <a:rPr lang="en-US" sz="2600" dirty="0">
                <a:solidFill>
                  <a:srgbClr val="000000"/>
                </a:solidFill>
                <a:latin typeface="Arial"/>
                <a:ea typeface="Arial"/>
                <a:cs typeface="Arial"/>
                <a:sym typeface="Arial"/>
              </a:rPr>
              <a:t> </a:t>
            </a:r>
            <a:r>
              <a:rPr lang="en-US" sz="2600" dirty="0" err="1">
                <a:solidFill>
                  <a:srgbClr val="000000"/>
                </a:solidFill>
                <a:latin typeface="Arial"/>
                <a:ea typeface="Arial"/>
                <a:cs typeface="Arial"/>
                <a:sym typeface="Arial"/>
              </a:rPr>
              <a:t>từ</a:t>
            </a:r>
            <a:r>
              <a:rPr lang="en-US" sz="2600" dirty="0">
                <a:solidFill>
                  <a:srgbClr val="000000"/>
                </a:solidFill>
                <a:latin typeface="Arial"/>
                <a:ea typeface="Arial"/>
                <a:cs typeface="Arial"/>
                <a:sym typeface="Arial"/>
              </a:rPr>
              <a:t> </a:t>
            </a:r>
            <a:r>
              <a:rPr lang="en-US" sz="2600" dirty="0" err="1">
                <a:solidFill>
                  <a:srgbClr val="000000"/>
                </a:solidFill>
                <a:latin typeface="Arial"/>
                <a:ea typeface="Arial"/>
                <a:cs typeface="Arial"/>
                <a:sym typeface="Arial"/>
              </a:rPr>
              <a:t>một</a:t>
            </a:r>
            <a:r>
              <a:rPr lang="en-US" sz="2600" dirty="0">
                <a:solidFill>
                  <a:srgbClr val="000000"/>
                </a:solidFill>
                <a:latin typeface="Arial"/>
                <a:ea typeface="Arial"/>
                <a:cs typeface="Arial"/>
                <a:sym typeface="Arial"/>
              </a:rPr>
              <a:t> pipe </a:t>
            </a:r>
            <a:r>
              <a:rPr lang="en-US" sz="2600" dirty="0" err="1">
                <a:solidFill>
                  <a:srgbClr val="000000"/>
                </a:solidFill>
                <a:latin typeface="Arial"/>
                <a:ea typeface="Arial"/>
                <a:cs typeface="Arial"/>
                <a:sym typeface="Arial"/>
              </a:rPr>
              <a:t>đang</a:t>
            </a:r>
            <a:r>
              <a:rPr lang="en-US" sz="2600" dirty="0">
                <a:solidFill>
                  <a:srgbClr val="000000"/>
                </a:solidFill>
                <a:latin typeface="Arial"/>
                <a:ea typeface="Arial"/>
                <a:cs typeface="Arial"/>
                <a:sym typeface="Arial"/>
              </a:rPr>
              <a:t> </a:t>
            </a:r>
            <a:r>
              <a:rPr lang="en-US" sz="2600" dirty="0" err="1">
                <a:solidFill>
                  <a:srgbClr val="000000"/>
                </a:solidFill>
                <a:latin typeface="Arial"/>
                <a:ea typeface="Arial"/>
                <a:cs typeface="Arial"/>
                <a:sym typeface="Arial"/>
              </a:rPr>
              <a:t>rỗng</a:t>
            </a:r>
            <a:r>
              <a:rPr lang="en-US" sz="2600" dirty="0">
                <a:solidFill>
                  <a:srgbClr val="000000"/>
                </a:solidFill>
                <a:latin typeface="Arial"/>
                <a:ea typeface="Arial"/>
                <a:cs typeface="Arial"/>
                <a:sym typeface="Arial"/>
              </a:rPr>
              <a:t>, </a:t>
            </a:r>
            <a:r>
              <a:rPr lang="en-US" sz="2600" dirty="0" err="1">
                <a:solidFill>
                  <a:srgbClr val="000000"/>
                </a:solidFill>
                <a:latin typeface="Arial"/>
                <a:ea typeface="Arial"/>
                <a:cs typeface="Arial"/>
                <a:sym typeface="Arial"/>
              </a:rPr>
              <a:t>lời</a:t>
            </a:r>
            <a:r>
              <a:rPr lang="en-US" sz="2600" dirty="0">
                <a:solidFill>
                  <a:srgbClr val="000000"/>
                </a:solidFill>
                <a:latin typeface="Arial"/>
                <a:ea typeface="Arial"/>
                <a:cs typeface="Arial"/>
                <a:sym typeface="Arial"/>
              </a:rPr>
              <a:t> </a:t>
            </a:r>
            <a:r>
              <a:rPr lang="en-US" sz="2600" dirty="0" err="1">
                <a:solidFill>
                  <a:srgbClr val="000000"/>
                </a:solidFill>
                <a:latin typeface="Arial"/>
                <a:ea typeface="Arial"/>
                <a:cs typeface="Arial"/>
                <a:sym typeface="Arial"/>
              </a:rPr>
              <a:t>gọi</a:t>
            </a:r>
            <a:r>
              <a:rPr lang="en-US" sz="2600" dirty="0">
                <a:solidFill>
                  <a:srgbClr val="000000"/>
                </a:solidFill>
                <a:latin typeface="Arial"/>
                <a:ea typeface="Arial"/>
                <a:cs typeface="Arial"/>
                <a:sym typeface="Arial"/>
              </a:rPr>
              <a:t> </a:t>
            </a:r>
            <a:r>
              <a:rPr lang="en-US" sz="2600" dirty="0" err="1">
                <a:solidFill>
                  <a:srgbClr val="000000"/>
                </a:solidFill>
                <a:latin typeface="Arial"/>
                <a:ea typeface="Arial"/>
                <a:cs typeface="Arial"/>
                <a:sym typeface="Arial"/>
              </a:rPr>
              <a:t>đọc</a:t>
            </a:r>
            <a:r>
              <a:rPr lang="en-US" sz="2600" dirty="0">
                <a:solidFill>
                  <a:srgbClr val="000000"/>
                </a:solidFill>
                <a:latin typeface="Arial"/>
                <a:ea typeface="Arial"/>
                <a:cs typeface="Arial"/>
                <a:sym typeface="Arial"/>
              </a:rPr>
              <a:t> </a:t>
            </a:r>
            <a:r>
              <a:rPr lang="en-US" sz="2600" dirty="0" err="1">
                <a:solidFill>
                  <a:srgbClr val="000000"/>
                </a:solidFill>
                <a:latin typeface="Arial"/>
                <a:ea typeface="Arial"/>
                <a:cs typeface="Arial"/>
                <a:sym typeface="Arial"/>
              </a:rPr>
              <a:t>sẽ</a:t>
            </a:r>
            <a:r>
              <a:rPr lang="en-US" sz="2600" dirty="0">
                <a:solidFill>
                  <a:srgbClr val="000000"/>
                </a:solidFill>
                <a:latin typeface="Arial"/>
                <a:ea typeface="Arial"/>
                <a:cs typeface="Arial"/>
                <a:sym typeface="Arial"/>
              </a:rPr>
              <a:t> </a:t>
            </a:r>
            <a:r>
              <a:rPr lang="en-US" sz="2600" dirty="0" err="1">
                <a:solidFill>
                  <a:srgbClr val="000000"/>
                </a:solidFill>
                <a:latin typeface="Arial"/>
                <a:ea typeface="Arial"/>
                <a:cs typeface="Arial"/>
                <a:sym typeface="Arial"/>
              </a:rPr>
              <a:t>bị</a:t>
            </a:r>
            <a:r>
              <a:rPr lang="en-US" sz="2600" dirty="0">
                <a:solidFill>
                  <a:srgbClr val="000000"/>
                </a:solidFill>
                <a:latin typeface="Arial"/>
                <a:ea typeface="Arial"/>
                <a:cs typeface="Arial"/>
                <a:sym typeface="Arial"/>
              </a:rPr>
              <a:t> block.</a:t>
            </a:r>
          </a:p>
        </p:txBody>
      </p:sp>
      <p:sp>
        <p:nvSpPr>
          <p:cNvPr id="17" name="TextBox 17"/>
          <p:cNvSpPr txBox="1"/>
          <p:nvPr/>
        </p:nvSpPr>
        <p:spPr>
          <a:xfrm>
            <a:off x="747376" y="5265235"/>
            <a:ext cx="14925150" cy="734949"/>
          </a:xfrm>
          <a:prstGeom prst="rect">
            <a:avLst/>
          </a:prstGeom>
        </p:spPr>
        <p:txBody>
          <a:bodyPr lIns="0" tIns="0" rIns="0" bIns="0" rtlCol="0" anchor="t">
            <a:spAutoFit/>
          </a:bodyPr>
          <a:lstStyle/>
          <a:p>
            <a:pPr algn="l">
              <a:lnSpc>
                <a:spcPts val="2808"/>
              </a:lnSpc>
              <a:spcBef>
                <a:spcPct val="0"/>
              </a:spcBef>
            </a:pPr>
            <a:r>
              <a:rPr lang="en-US" sz="2600" dirty="0" err="1">
                <a:solidFill>
                  <a:srgbClr val="000000"/>
                </a:solidFill>
                <a:latin typeface="Arial"/>
                <a:ea typeface="Arial"/>
                <a:cs typeface="Arial"/>
                <a:sym typeface="Arial"/>
              </a:rPr>
              <a:t>Nếu</a:t>
            </a:r>
            <a:r>
              <a:rPr lang="en-US" sz="2600" dirty="0">
                <a:solidFill>
                  <a:srgbClr val="000000"/>
                </a:solidFill>
                <a:latin typeface="Arial"/>
                <a:ea typeface="Arial"/>
                <a:cs typeface="Arial"/>
                <a:sym typeface="Arial"/>
              </a:rPr>
              <a:t> </a:t>
            </a:r>
            <a:r>
              <a:rPr lang="en-US" sz="2600" dirty="0" err="1">
                <a:solidFill>
                  <a:srgbClr val="000000"/>
                </a:solidFill>
                <a:latin typeface="Arial"/>
                <a:ea typeface="Arial"/>
                <a:cs typeface="Arial"/>
                <a:sym typeface="Arial"/>
              </a:rPr>
              <a:t>tất</a:t>
            </a:r>
            <a:r>
              <a:rPr lang="en-US" sz="2600" dirty="0">
                <a:solidFill>
                  <a:srgbClr val="000000"/>
                </a:solidFill>
                <a:latin typeface="Arial"/>
                <a:ea typeface="Arial"/>
                <a:cs typeface="Arial"/>
                <a:sym typeface="Arial"/>
              </a:rPr>
              <a:t> </a:t>
            </a:r>
            <a:r>
              <a:rPr lang="en-US" sz="2600" dirty="0" err="1">
                <a:solidFill>
                  <a:srgbClr val="000000"/>
                </a:solidFill>
                <a:latin typeface="Arial"/>
                <a:ea typeface="Arial"/>
                <a:cs typeface="Arial"/>
                <a:sym typeface="Arial"/>
              </a:rPr>
              <a:t>cả</a:t>
            </a:r>
            <a:r>
              <a:rPr lang="en-US" sz="2600" dirty="0">
                <a:solidFill>
                  <a:srgbClr val="000000"/>
                </a:solidFill>
                <a:latin typeface="Arial"/>
                <a:ea typeface="Arial"/>
                <a:cs typeface="Arial"/>
                <a:sym typeface="Arial"/>
              </a:rPr>
              <a:t> </a:t>
            </a:r>
            <a:r>
              <a:rPr lang="en-US" sz="2600" dirty="0" err="1">
                <a:solidFill>
                  <a:srgbClr val="000000"/>
                </a:solidFill>
                <a:latin typeface="Arial"/>
                <a:ea typeface="Arial"/>
                <a:cs typeface="Arial"/>
                <a:sym typeface="Arial"/>
              </a:rPr>
              <a:t>đầu</a:t>
            </a:r>
            <a:r>
              <a:rPr lang="en-US" sz="2600" dirty="0">
                <a:solidFill>
                  <a:srgbClr val="000000"/>
                </a:solidFill>
                <a:latin typeface="Arial"/>
                <a:ea typeface="Arial"/>
                <a:cs typeface="Arial"/>
                <a:sym typeface="Arial"/>
              </a:rPr>
              <a:t> </a:t>
            </a:r>
            <a:r>
              <a:rPr lang="en-US" sz="2600" dirty="0" err="1">
                <a:solidFill>
                  <a:srgbClr val="000000"/>
                </a:solidFill>
                <a:latin typeface="Arial"/>
                <a:ea typeface="Arial"/>
                <a:cs typeface="Arial"/>
                <a:sym typeface="Arial"/>
              </a:rPr>
              <a:t>ghi</a:t>
            </a:r>
            <a:r>
              <a:rPr lang="en-US" sz="2600" dirty="0">
                <a:solidFill>
                  <a:srgbClr val="000000"/>
                </a:solidFill>
                <a:latin typeface="Arial"/>
                <a:ea typeface="Arial"/>
                <a:cs typeface="Arial"/>
                <a:sym typeface="Arial"/>
              </a:rPr>
              <a:t> </a:t>
            </a:r>
            <a:r>
              <a:rPr lang="en-US" sz="2600" dirty="0" err="1">
                <a:solidFill>
                  <a:srgbClr val="000000"/>
                </a:solidFill>
                <a:latin typeface="Arial"/>
                <a:ea typeface="Arial"/>
                <a:cs typeface="Arial"/>
                <a:sym typeface="Arial"/>
              </a:rPr>
              <a:t>của</a:t>
            </a:r>
            <a:r>
              <a:rPr lang="en-US" sz="2600" dirty="0">
                <a:solidFill>
                  <a:srgbClr val="000000"/>
                </a:solidFill>
                <a:latin typeface="Arial"/>
                <a:ea typeface="Arial"/>
                <a:cs typeface="Arial"/>
                <a:sym typeface="Arial"/>
              </a:rPr>
              <a:t> file </a:t>
            </a:r>
            <a:r>
              <a:rPr lang="en-US" sz="2600" dirty="0" err="1">
                <a:solidFill>
                  <a:srgbClr val="000000"/>
                </a:solidFill>
                <a:latin typeface="Arial"/>
                <a:ea typeface="Arial"/>
                <a:cs typeface="Arial"/>
                <a:sym typeface="Arial"/>
              </a:rPr>
              <a:t>đã</a:t>
            </a:r>
            <a:r>
              <a:rPr lang="en-US" sz="2600" dirty="0">
                <a:solidFill>
                  <a:srgbClr val="000000"/>
                </a:solidFill>
                <a:latin typeface="Arial"/>
                <a:ea typeface="Arial"/>
                <a:cs typeface="Arial"/>
                <a:sym typeface="Arial"/>
              </a:rPr>
              <a:t> </a:t>
            </a:r>
            <a:r>
              <a:rPr lang="en-US" sz="2600" dirty="0" err="1">
                <a:solidFill>
                  <a:srgbClr val="000000"/>
                </a:solidFill>
                <a:latin typeface="Arial"/>
                <a:ea typeface="Arial"/>
                <a:cs typeface="Arial"/>
                <a:sym typeface="Arial"/>
              </a:rPr>
              <a:t>được</a:t>
            </a:r>
            <a:r>
              <a:rPr lang="en-US" sz="2600" dirty="0">
                <a:solidFill>
                  <a:srgbClr val="000000"/>
                </a:solidFill>
                <a:latin typeface="Arial"/>
                <a:ea typeface="Arial"/>
                <a:cs typeface="Arial"/>
                <a:sym typeface="Arial"/>
              </a:rPr>
              <a:t> </a:t>
            </a:r>
            <a:r>
              <a:rPr lang="en-US" sz="2600" dirty="0" err="1">
                <a:solidFill>
                  <a:srgbClr val="000000"/>
                </a:solidFill>
                <a:latin typeface="Arial"/>
                <a:ea typeface="Arial"/>
                <a:cs typeface="Arial"/>
                <a:sym typeface="Arial"/>
              </a:rPr>
              <a:t>đóng</a:t>
            </a:r>
            <a:r>
              <a:rPr lang="en-US" sz="2600" dirty="0">
                <a:solidFill>
                  <a:srgbClr val="000000"/>
                </a:solidFill>
                <a:latin typeface="Arial"/>
                <a:ea typeface="Arial"/>
                <a:cs typeface="Arial"/>
                <a:sym typeface="Arial"/>
              </a:rPr>
              <a:t> </a:t>
            </a:r>
            <a:r>
              <a:rPr lang="en-US" sz="2600" dirty="0" err="1">
                <a:solidFill>
                  <a:srgbClr val="000000"/>
                </a:solidFill>
                <a:latin typeface="Arial"/>
                <a:ea typeface="Arial"/>
                <a:cs typeface="Arial"/>
                <a:sym typeface="Arial"/>
              </a:rPr>
              <a:t>thì</a:t>
            </a:r>
            <a:r>
              <a:rPr lang="en-US" sz="2600" dirty="0">
                <a:solidFill>
                  <a:srgbClr val="000000"/>
                </a:solidFill>
                <a:latin typeface="Arial"/>
                <a:ea typeface="Arial"/>
                <a:cs typeface="Arial"/>
                <a:sym typeface="Arial"/>
              </a:rPr>
              <a:t> </a:t>
            </a:r>
            <a:r>
              <a:rPr lang="en-US" sz="2600" dirty="0" err="1">
                <a:solidFill>
                  <a:srgbClr val="000000"/>
                </a:solidFill>
                <a:latin typeface="Arial"/>
                <a:ea typeface="Arial"/>
                <a:cs typeface="Arial"/>
                <a:sym typeface="Arial"/>
              </a:rPr>
              <a:t>tiến</a:t>
            </a:r>
            <a:r>
              <a:rPr lang="en-US" sz="2600" dirty="0">
                <a:solidFill>
                  <a:srgbClr val="000000"/>
                </a:solidFill>
                <a:latin typeface="Arial"/>
                <a:ea typeface="Arial"/>
                <a:cs typeface="Arial"/>
                <a:sym typeface="Arial"/>
              </a:rPr>
              <a:t> </a:t>
            </a:r>
            <a:r>
              <a:rPr lang="en-US" sz="2600" dirty="0" err="1">
                <a:solidFill>
                  <a:srgbClr val="000000"/>
                </a:solidFill>
                <a:latin typeface="Arial"/>
                <a:ea typeface="Arial"/>
                <a:cs typeface="Arial"/>
                <a:sym typeface="Arial"/>
              </a:rPr>
              <a:t>trình</a:t>
            </a:r>
            <a:r>
              <a:rPr lang="en-US" sz="2600" dirty="0">
                <a:solidFill>
                  <a:srgbClr val="000000"/>
                </a:solidFill>
                <a:latin typeface="Arial"/>
                <a:ea typeface="Arial"/>
                <a:cs typeface="Arial"/>
                <a:sym typeface="Arial"/>
              </a:rPr>
              <a:t> </a:t>
            </a:r>
            <a:r>
              <a:rPr lang="en-US" sz="2600" dirty="0" err="1">
                <a:solidFill>
                  <a:srgbClr val="000000"/>
                </a:solidFill>
                <a:latin typeface="Arial"/>
                <a:ea typeface="Arial"/>
                <a:cs typeface="Arial"/>
                <a:sym typeface="Arial"/>
              </a:rPr>
              <a:t>sau</a:t>
            </a:r>
            <a:r>
              <a:rPr lang="en-US" sz="2600" dirty="0">
                <a:solidFill>
                  <a:srgbClr val="000000"/>
                </a:solidFill>
                <a:latin typeface="Arial"/>
                <a:ea typeface="Arial"/>
                <a:cs typeface="Arial"/>
                <a:sym typeface="Arial"/>
              </a:rPr>
              <a:t> </a:t>
            </a:r>
            <a:r>
              <a:rPr lang="en-US" sz="2600" dirty="0" err="1">
                <a:solidFill>
                  <a:srgbClr val="000000"/>
                </a:solidFill>
                <a:latin typeface="Arial"/>
                <a:ea typeface="Arial"/>
                <a:cs typeface="Arial"/>
                <a:sym typeface="Arial"/>
              </a:rPr>
              <a:t>khi</a:t>
            </a:r>
            <a:r>
              <a:rPr lang="en-US" sz="2600" dirty="0">
                <a:solidFill>
                  <a:srgbClr val="000000"/>
                </a:solidFill>
                <a:latin typeface="Arial"/>
                <a:ea typeface="Arial"/>
                <a:cs typeface="Arial"/>
                <a:sym typeface="Arial"/>
              </a:rPr>
              <a:t> </a:t>
            </a:r>
            <a:r>
              <a:rPr lang="en-US" sz="2600" dirty="0" err="1">
                <a:solidFill>
                  <a:srgbClr val="000000"/>
                </a:solidFill>
                <a:latin typeface="Arial"/>
                <a:ea typeface="Arial"/>
                <a:cs typeface="Arial"/>
                <a:sym typeface="Arial"/>
              </a:rPr>
              <a:t>đọc</a:t>
            </a:r>
            <a:r>
              <a:rPr lang="en-US" sz="2600" dirty="0">
                <a:solidFill>
                  <a:srgbClr val="000000"/>
                </a:solidFill>
                <a:latin typeface="Arial"/>
                <a:ea typeface="Arial"/>
                <a:cs typeface="Arial"/>
                <a:sym typeface="Arial"/>
              </a:rPr>
              <a:t> (read()) </a:t>
            </a:r>
            <a:r>
              <a:rPr lang="en-US" sz="2600" dirty="0" err="1">
                <a:solidFill>
                  <a:srgbClr val="000000"/>
                </a:solidFill>
                <a:latin typeface="Arial"/>
                <a:ea typeface="Arial"/>
                <a:cs typeface="Arial"/>
                <a:sym typeface="Arial"/>
              </a:rPr>
              <a:t>hết</a:t>
            </a:r>
            <a:r>
              <a:rPr lang="en-US" sz="2600" dirty="0">
                <a:solidFill>
                  <a:srgbClr val="000000"/>
                </a:solidFill>
                <a:latin typeface="Arial"/>
                <a:ea typeface="Arial"/>
                <a:cs typeface="Arial"/>
                <a:sym typeface="Arial"/>
              </a:rPr>
              <a:t> </a:t>
            </a:r>
            <a:r>
              <a:rPr lang="en-US" sz="2600" dirty="0" err="1">
                <a:solidFill>
                  <a:srgbClr val="000000"/>
                </a:solidFill>
                <a:latin typeface="Arial"/>
                <a:ea typeface="Arial"/>
                <a:cs typeface="Arial"/>
                <a:sym typeface="Arial"/>
              </a:rPr>
              <a:t>thì</a:t>
            </a:r>
            <a:r>
              <a:rPr lang="en-US" sz="2600" dirty="0">
                <a:solidFill>
                  <a:srgbClr val="000000"/>
                </a:solidFill>
                <a:latin typeface="Arial"/>
                <a:ea typeface="Arial"/>
                <a:cs typeface="Arial"/>
                <a:sym typeface="Arial"/>
              </a:rPr>
              <a:t> </a:t>
            </a:r>
            <a:r>
              <a:rPr lang="en-US" sz="2600" dirty="0" err="1">
                <a:solidFill>
                  <a:srgbClr val="000000"/>
                </a:solidFill>
                <a:latin typeface="Arial"/>
                <a:ea typeface="Arial"/>
                <a:cs typeface="Arial"/>
                <a:sym typeface="Arial"/>
              </a:rPr>
              <a:t>sẽ</a:t>
            </a:r>
            <a:r>
              <a:rPr lang="en-US" sz="2600" dirty="0">
                <a:solidFill>
                  <a:srgbClr val="000000"/>
                </a:solidFill>
                <a:latin typeface="Arial"/>
                <a:ea typeface="Arial"/>
                <a:cs typeface="Arial"/>
                <a:sym typeface="Arial"/>
              </a:rPr>
              <a:t> </a:t>
            </a:r>
            <a:r>
              <a:rPr lang="en-US" sz="2600" dirty="0" err="1">
                <a:solidFill>
                  <a:srgbClr val="000000"/>
                </a:solidFill>
                <a:latin typeface="Arial"/>
                <a:ea typeface="Arial"/>
                <a:cs typeface="Arial"/>
                <a:sym typeface="Arial"/>
              </a:rPr>
              <a:t>gặp</a:t>
            </a:r>
            <a:r>
              <a:rPr lang="en-US" sz="2600" dirty="0">
                <a:solidFill>
                  <a:srgbClr val="000000"/>
                </a:solidFill>
                <a:latin typeface="Arial"/>
                <a:ea typeface="Arial"/>
                <a:cs typeface="Arial"/>
                <a:sym typeface="Arial"/>
              </a:rPr>
              <a:t> EOF </a:t>
            </a:r>
            <a:r>
              <a:rPr lang="en-US" sz="2600" dirty="0" err="1">
                <a:solidFill>
                  <a:srgbClr val="000000"/>
                </a:solidFill>
                <a:latin typeface="Arial"/>
                <a:ea typeface="Arial"/>
                <a:cs typeface="Arial"/>
                <a:sym typeface="Arial"/>
              </a:rPr>
              <a:t>tức</a:t>
            </a:r>
            <a:r>
              <a:rPr lang="en-US" sz="2600" dirty="0">
                <a:solidFill>
                  <a:srgbClr val="000000"/>
                </a:solidFill>
                <a:latin typeface="Arial"/>
                <a:ea typeface="Arial"/>
                <a:cs typeface="Arial"/>
                <a:sym typeface="Arial"/>
              </a:rPr>
              <a:t> </a:t>
            </a:r>
            <a:r>
              <a:rPr lang="en-US" sz="2600" dirty="0" err="1">
                <a:solidFill>
                  <a:srgbClr val="000000"/>
                </a:solidFill>
                <a:latin typeface="Arial"/>
                <a:ea typeface="Arial"/>
                <a:cs typeface="Arial"/>
                <a:sym typeface="Arial"/>
              </a:rPr>
              <a:t>lệnh</a:t>
            </a:r>
            <a:r>
              <a:rPr lang="en-US" sz="2600" dirty="0">
                <a:solidFill>
                  <a:srgbClr val="000000"/>
                </a:solidFill>
                <a:latin typeface="Arial"/>
                <a:ea typeface="Arial"/>
                <a:cs typeface="Arial"/>
                <a:sym typeface="Arial"/>
              </a:rPr>
              <a:t> read() </a:t>
            </a:r>
            <a:r>
              <a:rPr lang="en-US" sz="2600" dirty="0" err="1">
                <a:solidFill>
                  <a:srgbClr val="000000"/>
                </a:solidFill>
                <a:latin typeface="Arial"/>
                <a:ea typeface="Arial"/>
                <a:cs typeface="Arial"/>
                <a:sym typeface="Arial"/>
              </a:rPr>
              <a:t>trả</a:t>
            </a:r>
            <a:r>
              <a:rPr lang="en-US" sz="2600" dirty="0">
                <a:solidFill>
                  <a:srgbClr val="000000"/>
                </a:solidFill>
                <a:latin typeface="Arial"/>
                <a:ea typeface="Arial"/>
                <a:cs typeface="Arial"/>
                <a:sym typeface="Arial"/>
              </a:rPr>
              <a:t> </a:t>
            </a:r>
            <a:r>
              <a:rPr lang="en-US" sz="2600" dirty="0" err="1">
                <a:solidFill>
                  <a:srgbClr val="000000"/>
                </a:solidFill>
                <a:latin typeface="Arial"/>
                <a:ea typeface="Arial"/>
                <a:cs typeface="Arial"/>
                <a:sym typeface="Arial"/>
              </a:rPr>
              <a:t>về</a:t>
            </a:r>
            <a:r>
              <a:rPr lang="en-US" sz="2600" dirty="0">
                <a:solidFill>
                  <a:srgbClr val="000000"/>
                </a:solidFill>
                <a:latin typeface="Arial"/>
                <a:ea typeface="Arial"/>
                <a:cs typeface="Arial"/>
                <a:sym typeface="Arial"/>
              </a:rPr>
              <a:t> 0.</a:t>
            </a:r>
          </a:p>
        </p:txBody>
      </p:sp>
      <p:sp>
        <p:nvSpPr>
          <p:cNvPr id="18" name="TextBox 18"/>
          <p:cNvSpPr txBox="1"/>
          <p:nvPr/>
        </p:nvSpPr>
        <p:spPr>
          <a:xfrm>
            <a:off x="772061" y="3769756"/>
            <a:ext cx="6398257" cy="359073"/>
          </a:xfrm>
          <a:prstGeom prst="rect">
            <a:avLst/>
          </a:prstGeom>
        </p:spPr>
        <p:txBody>
          <a:bodyPr wrap="square" lIns="0" tIns="0" rIns="0" bIns="0" rtlCol="0" anchor="t">
            <a:spAutoFit/>
          </a:bodyPr>
          <a:lstStyle/>
          <a:p>
            <a:pPr algn="ctr">
              <a:lnSpc>
                <a:spcPts val="2808"/>
              </a:lnSpc>
              <a:spcBef>
                <a:spcPct val="0"/>
              </a:spcBef>
            </a:pPr>
            <a:r>
              <a:rPr lang="en-US" sz="2600" dirty="0">
                <a:solidFill>
                  <a:srgbClr val="000000"/>
                </a:solidFill>
                <a:latin typeface="Arial"/>
                <a:ea typeface="Arial"/>
                <a:cs typeface="Arial"/>
                <a:sym typeface="Arial"/>
              </a:rPr>
              <a:t>Pipe </a:t>
            </a:r>
            <a:r>
              <a:rPr lang="en-US" sz="2600" dirty="0" err="1">
                <a:solidFill>
                  <a:srgbClr val="000000"/>
                </a:solidFill>
                <a:latin typeface="Arial"/>
                <a:ea typeface="Arial"/>
                <a:cs typeface="Arial"/>
                <a:sym typeface="Arial"/>
              </a:rPr>
              <a:t>là</a:t>
            </a:r>
            <a:r>
              <a:rPr lang="en-US" sz="2600" dirty="0">
                <a:solidFill>
                  <a:srgbClr val="000000"/>
                </a:solidFill>
                <a:latin typeface="Arial"/>
                <a:ea typeface="Arial"/>
                <a:cs typeface="Arial"/>
                <a:sym typeface="Arial"/>
              </a:rPr>
              <a:t> </a:t>
            </a:r>
            <a:r>
              <a:rPr lang="en-US" sz="2600" dirty="0" err="1">
                <a:solidFill>
                  <a:srgbClr val="000000"/>
                </a:solidFill>
                <a:latin typeface="Arial"/>
                <a:ea typeface="Arial"/>
                <a:cs typeface="Arial"/>
                <a:sym typeface="Arial"/>
              </a:rPr>
              <a:t>đơn</a:t>
            </a:r>
            <a:r>
              <a:rPr lang="en-US" sz="2600" dirty="0">
                <a:solidFill>
                  <a:srgbClr val="000000"/>
                </a:solidFill>
                <a:latin typeface="Arial"/>
                <a:ea typeface="Arial"/>
                <a:cs typeface="Arial"/>
                <a:sym typeface="Arial"/>
              </a:rPr>
              <a:t> </a:t>
            </a:r>
            <a:r>
              <a:rPr lang="en-US" sz="2600" dirty="0" err="1">
                <a:solidFill>
                  <a:srgbClr val="000000"/>
                </a:solidFill>
                <a:latin typeface="Arial"/>
                <a:ea typeface="Arial"/>
                <a:cs typeface="Arial"/>
                <a:sym typeface="Arial"/>
              </a:rPr>
              <a:t>hướng</a:t>
            </a:r>
            <a:r>
              <a:rPr lang="en-US" sz="2600" dirty="0">
                <a:solidFill>
                  <a:srgbClr val="000000"/>
                </a:solidFill>
                <a:latin typeface="Arial"/>
                <a:ea typeface="Arial"/>
                <a:cs typeface="Arial"/>
                <a:sym typeface="Arial"/>
              </a:rPr>
              <a:t> </a:t>
            </a:r>
            <a:r>
              <a:rPr lang="en-US" sz="2600" dirty="0" err="1">
                <a:solidFill>
                  <a:srgbClr val="000000"/>
                </a:solidFill>
                <a:latin typeface="Arial"/>
                <a:ea typeface="Arial"/>
                <a:cs typeface="Arial"/>
                <a:sym typeface="Arial"/>
              </a:rPr>
              <a:t>chỉ</a:t>
            </a:r>
            <a:r>
              <a:rPr lang="en-US" sz="2600" dirty="0">
                <a:solidFill>
                  <a:srgbClr val="000000"/>
                </a:solidFill>
                <a:latin typeface="Arial"/>
                <a:ea typeface="Arial"/>
                <a:cs typeface="Arial"/>
                <a:sym typeface="Arial"/>
              </a:rPr>
              <a:t> </a:t>
            </a:r>
            <a:r>
              <a:rPr lang="en-US" sz="2600" dirty="0" err="1">
                <a:solidFill>
                  <a:srgbClr val="000000"/>
                </a:solidFill>
                <a:latin typeface="Arial"/>
                <a:ea typeface="Arial"/>
                <a:cs typeface="Arial"/>
                <a:sym typeface="Arial"/>
              </a:rPr>
              <a:t>truyền</a:t>
            </a:r>
            <a:r>
              <a:rPr lang="en-US" sz="2600" dirty="0">
                <a:solidFill>
                  <a:srgbClr val="000000"/>
                </a:solidFill>
                <a:latin typeface="Arial"/>
                <a:ea typeface="Arial"/>
                <a:cs typeface="Arial"/>
                <a:sym typeface="Arial"/>
              </a:rPr>
              <a:t> </a:t>
            </a:r>
            <a:r>
              <a:rPr lang="en-US" sz="2600" dirty="0" err="1">
                <a:solidFill>
                  <a:srgbClr val="000000"/>
                </a:solidFill>
                <a:latin typeface="Arial"/>
                <a:ea typeface="Arial"/>
                <a:cs typeface="Arial"/>
                <a:sym typeface="Arial"/>
              </a:rPr>
              <a:t>theo</a:t>
            </a:r>
            <a:r>
              <a:rPr lang="en-US" sz="2600" dirty="0">
                <a:solidFill>
                  <a:srgbClr val="000000"/>
                </a:solidFill>
                <a:latin typeface="Arial"/>
                <a:ea typeface="Arial"/>
                <a:cs typeface="Arial"/>
                <a:sym typeface="Arial"/>
              </a:rPr>
              <a:t> 1 </a:t>
            </a:r>
            <a:r>
              <a:rPr lang="en-US" sz="2600" dirty="0" err="1">
                <a:solidFill>
                  <a:srgbClr val="000000"/>
                </a:solidFill>
                <a:latin typeface="Arial"/>
                <a:ea typeface="Arial"/>
                <a:cs typeface="Arial"/>
                <a:sym typeface="Arial"/>
              </a:rPr>
              <a:t>chiều</a:t>
            </a:r>
            <a:r>
              <a:rPr lang="en-US" sz="2600" dirty="0">
                <a:solidFill>
                  <a:srgbClr val="000000"/>
                </a:solidFill>
                <a:latin typeface="Arial"/>
                <a:ea typeface="Arial"/>
                <a:cs typeface="Arial"/>
                <a:sym typeface="Arial"/>
              </a:rPr>
              <a:t>.</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9206494"/>
            <a:ext cx="18288000" cy="1080506"/>
            <a:chOff x="0" y="0"/>
            <a:chExt cx="24384000" cy="1440675"/>
          </a:xfrm>
        </p:grpSpPr>
        <p:sp>
          <p:nvSpPr>
            <p:cNvPr id="3" name="Freeform 3"/>
            <p:cNvSpPr/>
            <p:nvPr/>
          </p:nvSpPr>
          <p:spPr>
            <a:xfrm>
              <a:off x="0" y="0"/>
              <a:ext cx="24384000" cy="1440688"/>
            </a:xfrm>
            <a:custGeom>
              <a:avLst/>
              <a:gdLst/>
              <a:ahLst/>
              <a:cxnLst/>
              <a:rect l="l" t="t" r="r" b="b"/>
              <a:pathLst>
                <a:path w="24384000" h="1440688">
                  <a:moveTo>
                    <a:pt x="0" y="0"/>
                  </a:moveTo>
                  <a:lnTo>
                    <a:pt x="24384000" y="0"/>
                  </a:lnTo>
                  <a:lnTo>
                    <a:pt x="24384000" y="1440688"/>
                  </a:lnTo>
                  <a:lnTo>
                    <a:pt x="0" y="1440688"/>
                  </a:lnTo>
                  <a:lnTo>
                    <a:pt x="0" y="0"/>
                  </a:lnTo>
                  <a:close/>
                </a:path>
              </a:pathLst>
            </a:custGeom>
            <a:blipFill>
              <a:blip r:embed="rId3"/>
              <a:stretch>
                <a:fillRect t="-364" b="-364"/>
              </a:stretch>
            </a:blipFill>
          </p:spPr>
        </p:sp>
      </p:grpSp>
      <p:grpSp>
        <p:nvGrpSpPr>
          <p:cNvPr id="4" name="Group 4"/>
          <p:cNvGrpSpPr/>
          <p:nvPr/>
        </p:nvGrpSpPr>
        <p:grpSpPr>
          <a:xfrm>
            <a:off x="15473315" y="9370285"/>
            <a:ext cx="1741541" cy="745693"/>
            <a:chOff x="0" y="0"/>
            <a:chExt cx="2322055" cy="994258"/>
          </a:xfrm>
        </p:grpSpPr>
        <p:sp>
          <p:nvSpPr>
            <p:cNvPr id="5" name="Freeform 5"/>
            <p:cNvSpPr/>
            <p:nvPr/>
          </p:nvSpPr>
          <p:spPr>
            <a:xfrm>
              <a:off x="0" y="0"/>
              <a:ext cx="2322068" cy="994283"/>
            </a:xfrm>
            <a:custGeom>
              <a:avLst/>
              <a:gdLst/>
              <a:ahLst/>
              <a:cxnLst/>
              <a:rect l="l" t="t" r="r" b="b"/>
              <a:pathLst>
                <a:path w="2322068" h="994283">
                  <a:moveTo>
                    <a:pt x="0" y="0"/>
                  </a:moveTo>
                  <a:lnTo>
                    <a:pt x="2322068" y="0"/>
                  </a:lnTo>
                  <a:lnTo>
                    <a:pt x="2322068" y="994283"/>
                  </a:lnTo>
                  <a:lnTo>
                    <a:pt x="0" y="994283"/>
                  </a:lnTo>
                  <a:lnTo>
                    <a:pt x="0" y="0"/>
                  </a:lnTo>
                  <a:close/>
                </a:path>
              </a:pathLst>
            </a:custGeom>
            <a:blipFill>
              <a:blip r:embed="rId4"/>
              <a:stretch>
                <a:fillRect b="-1456"/>
              </a:stretch>
            </a:blipFill>
          </p:spPr>
        </p:sp>
      </p:grpSp>
      <p:grpSp>
        <p:nvGrpSpPr>
          <p:cNvPr id="6" name="Group 6"/>
          <p:cNvGrpSpPr/>
          <p:nvPr/>
        </p:nvGrpSpPr>
        <p:grpSpPr>
          <a:xfrm>
            <a:off x="9981438" y="9581550"/>
            <a:ext cx="4114800" cy="392420"/>
            <a:chOff x="0" y="0"/>
            <a:chExt cx="5486400" cy="523227"/>
          </a:xfrm>
        </p:grpSpPr>
        <p:sp>
          <p:nvSpPr>
            <p:cNvPr id="7" name="Freeform 7"/>
            <p:cNvSpPr/>
            <p:nvPr/>
          </p:nvSpPr>
          <p:spPr>
            <a:xfrm>
              <a:off x="0" y="0"/>
              <a:ext cx="5486400" cy="523222"/>
            </a:xfrm>
            <a:custGeom>
              <a:avLst/>
              <a:gdLst/>
              <a:ahLst/>
              <a:cxnLst/>
              <a:rect l="l" t="t" r="r" b="b"/>
              <a:pathLst>
                <a:path w="5486400" h="523222">
                  <a:moveTo>
                    <a:pt x="0" y="0"/>
                  </a:moveTo>
                  <a:lnTo>
                    <a:pt x="5486400" y="0"/>
                  </a:lnTo>
                  <a:lnTo>
                    <a:pt x="5486400" y="523222"/>
                  </a:lnTo>
                  <a:lnTo>
                    <a:pt x="0" y="523222"/>
                  </a:lnTo>
                  <a:close/>
                </a:path>
              </a:pathLst>
            </a:custGeom>
            <a:blipFill>
              <a:blip r:embed="rId5">
                <a:alphaModFix amt="0"/>
              </a:blip>
              <a:stretch>
                <a:fillRect t="-154315" b="-154316"/>
              </a:stretch>
            </a:blipFill>
          </p:spPr>
        </p:sp>
        <p:sp>
          <p:nvSpPr>
            <p:cNvPr id="8" name="TextBox 8"/>
            <p:cNvSpPr txBox="1"/>
            <p:nvPr/>
          </p:nvSpPr>
          <p:spPr>
            <a:xfrm>
              <a:off x="0" y="-9525"/>
              <a:ext cx="5486400" cy="532752"/>
            </a:xfrm>
            <a:prstGeom prst="rect">
              <a:avLst/>
            </a:prstGeom>
          </p:spPr>
          <p:txBody>
            <a:bodyPr lIns="0" tIns="0" rIns="0" bIns="0" rtlCol="0" anchor="ctr"/>
            <a:lstStyle/>
            <a:p>
              <a:pPr algn="r">
                <a:lnSpc>
                  <a:spcPts val="2520"/>
                </a:lnSpc>
              </a:pPr>
              <a:r>
                <a:rPr lang="en-US" sz="2100">
                  <a:solidFill>
                    <a:srgbClr val="BFBFBF"/>
                  </a:solidFill>
                  <a:latin typeface="Roboto"/>
                  <a:ea typeface="Roboto"/>
                  <a:cs typeface="Roboto"/>
                  <a:sym typeface="Roboto"/>
                </a:rPr>
                <a:t>‹#›</a:t>
              </a:r>
            </a:p>
          </p:txBody>
        </p:sp>
      </p:grpSp>
      <p:sp>
        <p:nvSpPr>
          <p:cNvPr id="9" name="Freeform 9"/>
          <p:cNvSpPr/>
          <p:nvPr/>
        </p:nvSpPr>
        <p:spPr>
          <a:xfrm>
            <a:off x="2659298" y="1782438"/>
            <a:ext cx="9555494" cy="1806568"/>
          </a:xfrm>
          <a:custGeom>
            <a:avLst/>
            <a:gdLst/>
            <a:ahLst/>
            <a:cxnLst/>
            <a:rect l="l" t="t" r="r" b="b"/>
            <a:pathLst>
              <a:path w="9555494" h="1806568">
                <a:moveTo>
                  <a:pt x="0" y="0"/>
                </a:moveTo>
                <a:lnTo>
                  <a:pt x="9555493" y="0"/>
                </a:lnTo>
                <a:lnTo>
                  <a:pt x="9555493" y="1806568"/>
                </a:lnTo>
                <a:lnTo>
                  <a:pt x="0" y="1806568"/>
                </a:lnTo>
                <a:lnTo>
                  <a:pt x="0" y="0"/>
                </a:lnTo>
                <a:close/>
              </a:path>
            </a:pathLst>
          </a:custGeom>
          <a:blipFill>
            <a:blip r:embed="rId6"/>
            <a:stretch>
              <a:fillRect/>
            </a:stretch>
          </a:blipFill>
        </p:spPr>
      </p:sp>
      <p:sp>
        <p:nvSpPr>
          <p:cNvPr id="10" name="Freeform 10"/>
          <p:cNvSpPr/>
          <p:nvPr/>
        </p:nvSpPr>
        <p:spPr>
          <a:xfrm>
            <a:off x="1856600" y="4942580"/>
            <a:ext cx="4530834" cy="3147737"/>
          </a:xfrm>
          <a:custGeom>
            <a:avLst/>
            <a:gdLst/>
            <a:ahLst/>
            <a:cxnLst/>
            <a:rect l="l" t="t" r="r" b="b"/>
            <a:pathLst>
              <a:path w="4530834" h="3147737">
                <a:moveTo>
                  <a:pt x="0" y="0"/>
                </a:moveTo>
                <a:lnTo>
                  <a:pt x="4530834" y="0"/>
                </a:lnTo>
                <a:lnTo>
                  <a:pt x="4530834" y="3147737"/>
                </a:lnTo>
                <a:lnTo>
                  <a:pt x="0" y="3147737"/>
                </a:lnTo>
                <a:lnTo>
                  <a:pt x="0" y="0"/>
                </a:lnTo>
                <a:close/>
              </a:path>
            </a:pathLst>
          </a:custGeom>
          <a:blipFill>
            <a:blip r:embed="rId7"/>
            <a:stretch>
              <a:fillRect/>
            </a:stretch>
          </a:blipFill>
        </p:spPr>
      </p:sp>
      <p:sp>
        <p:nvSpPr>
          <p:cNvPr id="11" name="Freeform 11"/>
          <p:cNvSpPr/>
          <p:nvPr/>
        </p:nvSpPr>
        <p:spPr>
          <a:xfrm>
            <a:off x="8075823" y="4555553"/>
            <a:ext cx="8277936" cy="4228843"/>
          </a:xfrm>
          <a:custGeom>
            <a:avLst/>
            <a:gdLst/>
            <a:ahLst/>
            <a:cxnLst/>
            <a:rect l="l" t="t" r="r" b="b"/>
            <a:pathLst>
              <a:path w="8277936" h="4228843">
                <a:moveTo>
                  <a:pt x="0" y="0"/>
                </a:moveTo>
                <a:lnTo>
                  <a:pt x="8277936" y="0"/>
                </a:lnTo>
                <a:lnTo>
                  <a:pt x="8277936" y="4228843"/>
                </a:lnTo>
                <a:lnTo>
                  <a:pt x="0" y="4228843"/>
                </a:lnTo>
                <a:lnTo>
                  <a:pt x="0" y="0"/>
                </a:lnTo>
                <a:close/>
              </a:path>
            </a:pathLst>
          </a:custGeom>
          <a:blipFill>
            <a:blip r:embed="rId8"/>
            <a:stretch>
              <a:fillRect/>
            </a:stretch>
          </a:blipFill>
        </p:spPr>
      </p:sp>
      <p:sp>
        <p:nvSpPr>
          <p:cNvPr id="12" name="TextBox 12"/>
          <p:cNvSpPr txBox="1"/>
          <p:nvPr/>
        </p:nvSpPr>
        <p:spPr>
          <a:xfrm>
            <a:off x="840743" y="9548498"/>
            <a:ext cx="7754617" cy="323850"/>
          </a:xfrm>
          <a:prstGeom prst="rect">
            <a:avLst/>
          </a:prstGeom>
        </p:spPr>
        <p:txBody>
          <a:bodyPr lIns="0" tIns="0" rIns="0" bIns="0" rtlCol="0" anchor="t">
            <a:spAutoFit/>
          </a:bodyPr>
          <a:lstStyle/>
          <a:p>
            <a:pPr algn="l">
              <a:lnSpc>
                <a:spcPts val="2520"/>
              </a:lnSpc>
            </a:pPr>
            <a:r>
              <a:rPr lang="en-US" sz="2100" spc="450">
                <a:solidFill>
                  <a:srgbClr val="BFBFBF"/>
                </a:solidFill>
                <a:latin typeface="Arial"/>
                <a:ea typeface="Arial"/>
                <a:cs typeface="Arial"/>
                <a:sym typeface="Arial"/>
              </a:rPr>
              <a:t>www.viettelhightech.vn </a:t>
            </a:r>
          </a:p>
        </p:txBody>
      </p:sp>
      <p:sp>
        <p:nvSpPr>
          <p:cNvPr id="13" name="TextBox 13"/>
          <p:cNvSpPr txBox="1"/>
          <p:nvPr/>
        </p:nvSpPr>
        <p:spPr>
          <a:xfrm>
            <a:off x="840743" y="1238893"/>
            <a:ext cx="6887599" cy="521589"/>
          </a:xfrm>
          <a:prstGeom prst="rect">
            <a:avLst/>
          </a:prstGeom>
        </p:spPr>
        <p:txBody>
          <a:bodyPr lIns="0" tIns="0" rIns="0" bIns="0" rtlCol="0" anchor="t">
            <a:spAutoFit/>
          </a:bodyPr>
          <a:lstStyle/>
          <a:p>
            <a:pPr algn="l">
              <a:lnSpc>
                <a:spcPts val="3888"/>
              </a:lnSpc>
              <a:spcBef>
                <a:spcPct val="0"/>
              </a:spcBef>
            </a:pPr>
            <a:r>
              <a:rPr lang="en-US" sz="3600">
                <a:solidFill>
                  <a:srgbClr val="EE0033"/>
                </a:solidFill>
                <a:latin typeface="Arial"/>
                <a:ea typeface="Arial"/>
                <a:cs typeface="Arial"/>
                <a:sym typeface="Arial"/>
              </a:rPr>
              <a:t>Pipe:</a:t>
            </a:r>
          </a:p>
        </p:txBody>
      </p:sp>
      <p:sp>
        <p:nvSpPr>
          <p:cNvPr id="14" name="TextBox 14"/>
          <p:cNvSpPr txBox="1"/>
          <p:nvPr/>
        </p:nvSpPr>
        <p:spPr>
          <a:xfrm>
            <a:off x="1028700" y="3750931"/>
            <a:ext cx="13899059" cy="382524"/>
          </a:xfrm>
          <a:prstGeom prst="rect">
            <a:avLst/>
          </a:prstGeom>
        </p:spPr>
        <p:txBody>
          <a:bodyPr lIns="0" tIns="0" rIns="0" bIns="0" rtlCol="0" anchor="t">
            <a:spAutoFit/>
          </a:bodyPr>
          <a:lstStyle/>
          <a:p>
            <a:pPr algn="l">
              <a:lnSpc>
                <a:spcPts val="2808"/>
              </a:lnSpc>
              <a:spcBef>
                <a:spcPct val="0"/>
              </a:spcBef>
            </a:pPr>
            <a:r>
              <a:rPr lang="en-US" sz="2600">
                <a:solidFill>
                  <a:srgbClr val="000000"/>
                </a:solidFill>
                <a:latin typeface="Arial"/>
                <a:ea typeface="Arial"/>
                <a:cs typeface="Arial"/>
                <a:sym typeface="Arial"/>
              </a:rPr>
              <a:t>Trong quá trình fork(), tiến trình con sẽ kế thừa bản sao của các file descriptor từ tiến trình cha:</a:t>
            </a:r>
          </a:p>
        </p:txBody>
      </p:sp>
      <p:grpSp>
        <p:nvGrpSpPr>
          <p:cNvPr id="15" name="Group 15"/>
          <p:cNvGrpSpPr/>
          <p:nvPr/>
        </p:nvGrpSpPr>
        <p:grpSpPr>
          <a:xfrm>
            <a:off x="451542" y="300771"/>
            <a:ext cx="15770323" cy="767782"/>
            <a:chOff x="0" y="0"/>
            <a:chExt cx="21027098" cy="1023710"/>
          </a:xfrm>
        </p:grpSpPr>
        <p:sp>
          <p:nvSpPr>
            <p:cNvPr id="16" name="Freeform 16"/>
            <p:cNvSpPr/>
            <p:nvPr/>
          </p:nvSpPr>
          <p:spPr>
            <a:xfrm>
              <a:off x="0" y="0"/>
              <a:ext cx="21027095" cy="1023711"/>
            </a:xfrm>
            <a:custGeom>
              <a:avLst/>
              <a:gdLst/>
              <a:ahLst/>
              <a:cxnLst/>
              <a:rect l="l" t="t" r="r" b="b"/>
              <a:pathLst>
                <a:path w="21027095" h="1023711">
                  <a:moveTo>
                    <a:pt x="0" y="0"/>
                  </a:moveTo>
                  <a:lnTo>
                    <a:pt x="21027095" y="0"/>
                  </a:lnTo>
                  <a:lnTo>
                    <a:pt x="21027095" y="1023711"/>
                  </a:lnTo>
                  <a:lnTo>
                    <a:pt x="0" y="1023711"/>
                  </a:lnTo>
                  <a:close/>
                </a:path>
              </a:pathLst>
            </a:custGeom>
            <a:blipFill>
              <a:blip r:embed="rId5">
                <a:alphaModFix amt="0"/>
              </a:blip>
              <a:stretch>
                <a:fillRect t="-350224" b="-350223"/>
              </a:stretch>
            </a:blipFill>
          </p:spPr>
        </p:sp>
        <p:sp>
          <p:nvSpPr>
            <p:cNvPr id="17" name="TextBox 17"/>
            <p:cNvSpPr txBox="1"/>
            <p:nvPr/>
          </p:nvSpPr>
          <p:spPr>
            <a:xfrm>
              <a:off x="0" y="19050"/>
              <a:ext cx="21027098" cy="1004660"/>
            </a:xfrm>
            <a:prstGeom prst="rect">
              <a:avLst/>
            </a:prstGeom>
          </p:spPr>
          <p:txBody>
            <a:bodyPr lIns="0" tIns="0" rIns="0" bIns="0" rtlCol="0" anchor="b"/>
            <a:lstStyle/>
            <a:p>
              <a:pPr algn="l">
                <a:lnSpc>
                  <a:spcPts val="3888"/>
                </a:lnSpc>
              </a:pPr>
              <a:r>
                <a:rPr lang="en-US" sz="3600">
                  <a:solidFill>
                    <a:srgbClr val="EE0033"/>
                  </a:solidFill>
                  <a:latin typeface="Arial"/>
                  <a:ea typeface="Arial"/>
                  <a:cs typeface="Arial"/>
                  <a:sym typeface="Arial"/>
                </a:rPr>
                <a:t>III. INTER-PROCESS COMMUNICATION:</a:t>
              </a:r>
            </a:p>
          </p:txBody>
        </p:sp>
      </p:gr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9206494"/>
            <a:ext cx="18288000" cy="1080506"/>
            <a:chOff x="0" y="0"/>
            <a:chExt cx="24384000" cy="1440675"/>
          </a:xfrm>
        </p:grpSpPr>
        <p:sp>
          <p:nvSpPr>
            <p:cNvPr id="3" name="Freeform 3"/>
            <p:cNvSpPr/>
            <p:nvPr/>
          </p:nvSpPr>
          <p:spPr>
            <a:xfrm>
              <a:off x="0" y="0"/>
              <a:ext cx="24384000" cy="1440688"/>
            </a:xfrm>
            <a:custGeom>
              <a:avLst/>
              <a:gdLst/>
              <a:ahLst/>
              <a:cxnLst/>
              <a:rect l="l" t="t" r="r" b="b"/>
              <a:pathLst>
                <a:path w="24384000" h="1440688">
                  <a:moveTo>
                    <a:pt x="0" y="0"/>
                  </a:moveTo>
                  <a:lnTo>
                    <a:pt x="24384000" y="0"/>
                  </a:lnTo>
                  <a:lnTo>
                    <a:pt x="24384000" y="1440688"/>
                  </a:lnTo>
                  <a:lnTo>
                    <a:pt x="0" y="1440688"/>
                  </a:lnTo>
                  <a:lnTo>
                    <a:pt x="0" y="0"/>
                  </a:lnTo>
                  <a:close/>
                </a:path>
              </a:pathLst>
            </a:custGeom>
            <a:blipFill>
              <a:blip r:embed="rId3"/>
              <a:stretch>
                <a:fillRect t="-364" b="-364"/>
              </a:stretch>
            </a:blipFill>
          </p:spPr>
        </p:sp>
      </p:grpSp>
      <p:grpSp>
        <p:nvGrpSpPr>
          <p:cNvPr id="4" name="Group 4"/>
          <p:cNvGrpSpPr/>
          <p:nvPr/>
        </p:nvGrpSpPr>
        <p:grpSpPr>
          <a:xfrm>
            <a:off x="15473315" y="9370285"/>
            <a:ext cx="1741541" cy="745693"/>
            <a:chOff x="0" y="0"/>
            <a:chExt cx="2322055" cy="994258"/>
          </a:xfrm>
        </p:grpSpPr>
        <p:sp>
          <p:nvSpPr>
            <p:cNvPr id="5" name="Freeform 5"/>
            <p:cNvSpPr/>
            <p:nvPr/>
          </p:nvSpPr>
          <p:spPr>
            <a:xfrm>
              <a:off x="0" y="0"/>
              <a:ext cx="2322068" cy="994283"/>
            </a:xfrm>
            <a:custGeom>
              <a:avLst/>
              <a:gdLst/>
              <a:ahLst/>
              <a:cxnLst/>
              <a:rect l="l" t="t" r="r" b="b"/>
              <a:pathLst>
                <a:path w="2322068" h="994283">
                  <a:moveTo>
                    <a:pt x="0" y="0"/>
                  </a:moveTo>
                  <a:lnTo>
                    <a:pt x="2322068" y="0"/>
                  </a:lnTo>
                  <a:lnTo>
                    <a:pt x="2322068" y="994283"/>
                  </a:lnTo>
                  <a:lnTo>
                    <a:pt x="0" y="994283"/>
                  </a:lnTo>
                  <a:lnTo>
                    <a:pt x="0" y="0"/>
                  </a:lnTo>
                  <a:close/>
                </a:path>
              </a:pathLst>
            </a:custGeom>
            <a:blipFill>
              <a:blip r:embed="rId4"/>
              <a:stretch>
                <a:fillRect b="-1456"/>
              </a:stretch>
            </a:blipFill>
          </p:spPr>
        </p:sp>
      </p:grpSp>
      <p:grpSp>
        <p:nvGrpSpPr>
          <p:cNvPr id="6" name="Group 6"/>
          <p:cNvGrpSpPr/>
          <p:nvPr/>
        </p:nvGrpSpPr>
        <p:grpSpPr>
          <a:xfrm>
            <a:off x="9981438" y="9581550"/>
            <a:ext cx="4114800" cy="392420"/>
            <a:chOff x="0" y="0"/>
            <a:chExt cx="5486400" cy="523227"/>
          </a:xfrm>
        </p:grpSpPr>
        <p:sp>
          <p:nvSpPr>
            <p:cNvPr id="7" name="Freeform 7"/>
            <p:cNvSpPr/>
            <p:nvPr/>
          </p:nvSpPr>
          <p:spPr>
            <a:xfrm>
              <a:off x="0" y="0"/>
              <a:ext cx="5486400" cy="523222"/>
            </a:xfrm>
            <a:custGeom>
              <a:avLst/>
              <a:gdLst/>
              <a:ahLst/>
              <a:cxnLst/>
              <a:rect l="l" t="t" r="r" b="b"/>
              <a:pathLst>
                <a:path w="5486400" h="523222">
                  <a:moveTo>
                    <a:pt x="0" y="0"/>
                  </a:moveTo>
                  <a:lnTo>
                    <a:pt x="5486400" y="0"/>
                  </a:lnTo>
                  <a:lnTo>
                    <a:pt x="5486400" y="523222"/>
                  </a:lnTo>
                  <a:lnTo>
                    <a:pt x="0" y="523222"/>
                  </a:lnTo>
                  <a:close/>
                </a:path>
              </a:pathLst>
            </a:custGeom>
            <a:blipFill>
              <a:blip r:embed="rId5">
                <a:alphaModFix amt="0"/>
              </a:blip>
              <a:stretch>
                <a:fillRect t="-154315" b="-154316"/>
              </a:stretch>
            </a:blipFill>
          </p:spPr>
        </p:sp>
        <p:sp>
          <p:nvSpPr>
            <p:cNvPr id="8" name="TextBox 8"/>
            <p:cNvSpPr txBox="1"/>
            <p:nvPr/>
          </p:nvSpPr>
          <p:spPr>
            <a:xfrm>
              <a:off x="0" y="-9525"/>
              <a:ext cx="5486400" cy="532752"/>
            </a:xfrm>
            <a:prstGeom prst="rect">
              <a:avLst/>
            </a:prstGeom>
          </p:spPr>
          <p:txBody>
            <a:bodyPr lIns="0" tIns="0" rIns="0" bIns="0" rtlCol="0" anchor="ctr"/>
            <a:lstStyle/>
            <a:p>
              <a:pPr algn="r">
                <a:lnSpc>
                  <a:spcPts val="2520"/>
                </a:lnSpc>
              </a:pPr>
              <a:r>
                <a:rPr lang="en-US" sz="2100">
                  <a:solidFill>
                    <a:srgbClr val="BFBFBF"/>
                  </a:solidFill>
                  <a:latin typeface="Roboto"/>
                  <a:ea typeface="Roboto"/>
                  <a:cs typeface="Roboto"/>
                  <a:sym typeface="Roboto"/>
                </a:rPr>
                <a:t>‹#›</a:t>
              </a:r>
            </a:p>
          </p:txBody>
        </p:sp>
      </p:grpSp>
      <p:sp>
        <p:nvSpPr>
          <p:cNvPr id="9" name="Freeform 9"/>
          <p:cNvSpPr/>
          <p:nvPr/>
        </p:nvSpPr>
        <p:spPr>
          <a:xfrm>
            <a:off x="3713042" y="1219843"/>
            <a:ext cx="4346419" cy="7986650"/>
          </a:xfrm>
          <a:custGeom>
            <a:avLst/>
            <a:gdLst/>
            <a:ahLst/>
            <a:cxnLst/>
            <a:rect l="l" t="t" r="r" b="b"/>
            <a:pathLst>
              <a:path w="4346419" h="7986650">
                <a:moveTo>
                  <a:pt x="0" y="0"/>
                </a:moveTo>
                <a:lnTo>
                  <a:pt x="4346419" y="0"/>
                </a:lnTo>
                <a:lnTo>
                  <a:pt x="4346419" y="7986651"/>
                </a:lnTo>
                <a:lnTo>
                  <a:pt x="0" y="7986651"/>
                </a:lnTo>
                <a:lnTo>
                  <a:pt x="0" y="0"/>
                </a:lnTo>
                <a:close/>
              </a:path>
            </a:pathLst>
          </a:custGeom>
          <a:blipFill>
            <a:blip r:embed="rId6"/>
            <a:stretch>
              <a:fillRect/>
            </a:stretch>
          </a:blipFill>
        </p:spPr>
      </p:sp>
      <p:sp>
        <p:nvSpPr>
          <p:cNvPr id="10" name="Freeform 10"/>
          <p:cNvSpPr/>
          <p:nvPr/>
        </p:nvSpPr>
        <p:spPr>
          <a:xfrm>
            <a:off x="9105780" y="1926921"/>
            <a:ext cx="3568389" cy="5552307"/>
          </a:xfrm>
          <a:custGeom>
            <a:avLst/>
            <a:gdLst/>
            <a:ahLst/>
            <a:cxnLst/>
            <a:rect l="l" t="t" r="r" b="b"/>
            <a:pathLst>
              <a:path w="3568389" h="5552307">
                <a:moveTo>
                  <a:pt x="0" y="0"/>
                </a:moveTo>
                <a:lnTo>
                  <a:pt x="3568389" y="0"/>
                </a:lnTo>
                <a:lnTo>
                  <a:pt x="3568389" y="5552307"/>
                </a:lnTo>
                <a:lnTo>
                  <a:pt x="0" y="5552307"/>
                </a:lnTo>
                <a:lnTo>
                  <a:pt x="0" y="0"/>
                </a:lnTo>
                <a:close/>
              </a:path>
            </a:pathLst>
          </a:custGeom>
          <a:blipFill>
            <a:blip r:embed="rId7"/>
            <a:stretch>
              <a:fillRect/>
            </a:stretch>
          </a:blipFill>
        </p:spPr>
      </p:sp>
      <p:sp>
        <p:nvSpPr>
          <p:cNvPr id="11" name="TextBox 11"/>
          <p:cNvSpPr txBox="1"/>
          <p:nvPr/>
        </p:nvSpPr>
        <p:spPr>
          <a:xfrm>
            <a:off x="840743" y="9548498"/>
            <a:ext cx="7754617" cy="323850"/>
          </a:xfrm>
          <a:prstGeom prst="rect">
            <a:avLst/>
          </a:prstGeom>
        </p:spPr>
        <p:txBody>
          <a:bodyPr lIns="0" tIns="0" rIns="0" bIns="0" rtlCol="0" anchor="t">
            <a:spAutoFit/>
          </a:bodyPr>
          <a:lstStyle/>
          <a:p>
            <a:pPr algn="l">
              <a:lnSpc>
                <a:spcPts val="2520"/>
              </a:lnSpc>
            </a:pPr>
            <a:r>
              <a:rPr lang="en-US" sz="2100" spc="450">
                <a:solidFill>
                  <a:srgbClr val="BFBFBF"/>
                </a:solidFill>
                <a:latin typeface="Arial"/>
                <a:ea typeface="Arial"/>
                <a:cs typeface="Arial"/>
                <a:sym typeface="Arial"/>
              </a:rPr>
              <a:t>www.viettelhightech.vn </a:t>
            </a:r>
          </a:p>
        </p:txBody>
      </p:sp>
      <p:sp>
        <p:nvSpPr>
          <p:cNvPr id="12" name="TextBox 12"/>
          <p:cNvSpPr txBox="1"/>
          <p:nvPr/>
        </p:nvSpPr>
        <p:spPr>
          <a:xfrm>
            <a:off x="840743" y="1238893"/>
            <a:ext cx="6887599" cy="521589"/>
          </a:xfrm>
          <a:prstGeom prst="rect">
            <a:avLst/>
          </a:prstGeom>
        </p:spPr>
        <p:txBody>
          <a:bodyPr lIns="0" tIns="0" rIns="0" bIns="0" rtlCol="0" anchor="t">
            <a:spAutoFit/>
          </a:bodyPr>
          <a:lstStyle/>
          <a:p>
            <a:pPr algn="l">
              <a:lnSpc>
                <a:spcPts val="3888"/>
              </a:lnSpc>
              <a:spcBef>
                <a:spcPct val="0"/>
              </a:spcBef>
            </a:pPr>
            <a:r>
              <a:rPr lang="en-US" sz="3600">
                <a:solidFill>
                  <a:srgbClr val="EE0033"/>
                </a:solidFill>
                <a:latin typeface="Arial"/>
                <a:ea typeface="Arial"/>
                <a:cs typeface="Arial"/>
                <a:sym typeface="Arial"/>
              </a:rPr>
              <a:t>Pipe:</a:t>
            </a:r>
          </a:p>
        </p:txBody>
      </p:sp>
      <p:grpSp>
        <p:nvGrpSpPr>
          <p:cNvPr id="13" name="Group 13"/>
          <p:cNvGrpSpPr/>
          <p:nvPr/>
        </p:nvGrpSpPr>
        <p:grpSpPr>
          <a:xfrm>
            <a:off x="451542" y="300771"/>
            <a:ext cx="15770323" cy="767782"/>
            <a:chOff x="0" y="0"/>
            <a:chExt cx="21027098" cy="1023710"/>
          </a:xfrm>
        </p:grpSpPr>
        <p:sp>
          <p:nvSpPr>
            <p:cNvPr id="14" name="Freeform 14"/>
            <p:cNvSpPr/>
            <p:nvPr/>
          </p:nvSpPr>
          <p:spPr>
            <a:xfrm>
              <a:off x="0" y="0"/>
              <a:ext cx="21027095" cy="1023711"/>
            </a:xfrm>
            <a:custGeom>
              <a:avLst/>
              <a:gdLst/>
              <a:ahLst/>
              <a:cxnLst/>
              <a:rect l="l" t="t" r="r" b="b"/>
              <a:pathLst>
                <a:path w="21027095" h="1023711">
                  <a:moveTo>
                    <a:pt x="0" y="0"/>
                  </a:moveTo>
                  <a:lnTo>
                    <a:pt x="21027095" y="0"/>
                  </a:lnTo>
                  <a:lnTo>
                    <a:pt x="21027095" y="1023711"/>
                  </a:lnTo>
                  <a:lnTo>
                    <a:pt x="0" y="1023711"/>
                  </a:lnTo>
                  <a:close/>
                </a:path>
              </a:pathLst>
            </a:custGeom>
            <a:blipFill>
              <a:blip r:embed="rId5">
                <a:alphaModFix amt="0"/>
              </a:blip>
              <a:stretch>
                <a:fillRect t="-350224" b="-350223"/>
              </a:stretch>
            </a:blipFill>
          </p:spPr>
        </p:sp>
        <p:sp>
          <p:nvSpPr>
            <p:cNvPr id="15" name="TextBox 15"/>
            <p:cNvSpPr txBox="1"/>
            <p:nvPr/>
          </p:nvSpPr>
          <p:spPr>
            <a:xfrm>
              <a:off x="0" y="19050"/>
              <a:ext cx="21027098" cy="1004660"/>
            </a:xfrm>
            <a:prstGeom prst="rect">
              <a:avLst/>
            </a:prstGeom>
          </p:spPr>
          <p:txBody>
            <a:bodyPr lIns="0" tIns="0" rIns="0" bIns="0" rtlCol="0" anchor="b"/>
            <a:lstStyle/>
            <a:p>
              <a:pPr algn="l">
                <a:lnSpc>
                  <a:spcPts val="3888"/>
                </a:lnSpc>
              </a:pPr>
              <a:r>
                <a:rPr lang="en-US" sz="3600">
                  <a:solidFill>
                    <a:srgbClr val="EE0033"/>
                  </a:solidFill>
                  <a:latin typeface="Arial"/>
                  <a:ea typeface="Arial"/>
                  <a:cs typeface="Arial"/>
                  <a:sym typeface="Arial"/>
                </a:rPr>
                <a:t>III. INTER-PROCESS COMMUNICATION:</a:t>
              </a:r>
            </a:p>
          </p:txBody>
        </p:sp>
      </p:gr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9206494"/>
            <a:ext cx="18288000" cy="1080506"/>
            <a:chOff x="0" y="0"/>
            <a:chExt cx="24384000" cy="1440675"/>
          </a:xfrm>
        </p:grpSpPr>
        <p:sp>
          <p:nvSpPr>
            <p:cNvPr id="3" name="Freeform 3"/>
            <p:cNvSpPr/>
            <p:nvPr/>
          </p:nvSpPr>
          <p:spPr>
            <a:xfrm>
              <a:off x="0" y="0"/>
              <a:ext cx="24384000" cy="1440688"/>
            </a:xfrm>
            <a:custGeom>
              <a:avLst/>
              <a:gdLst/>
              <a:ahLst/>
              <a:cxnLst/>
              <a:rect l="l" t="t" r="r" b="b"/>
              <a:pathLst>
                <a:path w="24384000" h="1440688">
                  <a:moveTo>
                    <a:pt x="0" y="0"/>
                  </a:moveTo>
                  <a:lnTo>
                    <a:pt x="24384000" y="0"/>
                  </a:lnTo>
                  <a:lnTo>
                    <a:pt x="24384000" y="1440688"/>
                  </a:lnTo>
                  <a:lnTo>
                    <a:pt x="0" y="1440688"/>
                  </a:lnTo>
                  <a:lnTo>
                    <a:pt x="0" y="0"/>
                  </a:lnTo>
                  <a:close/>
                </a:path>
              </a:pathLst>
            </a:custGeom>
            <a:blipFill>
              <a:blip r:embed="rId3"/>
              <a:stretch>
                <a:fillRect t="-364" b="-364"/>
              </a:stretch>
            </a:blipFill>
          </p:spPr>
        </p:sp>
      </p:grpSp>
      <p:grpSp>
        <p:nvGrpSpPr>
          <p:cNvPr id="4" name="Group 4"/>
          <p:cNvGrpSpPr/>
          <p:nvPr/>
        </p:nvGrpSpPr>
        <p:grpSpPr>
          <a:xfrm>
            <a:off x="15473315" y="9370285"/>
            <a:ext cx="1741541" cy="745693"/>
            <a:chOff x="0" y="0"/>
            <a:chExt cx="2322055" cy="994258"/>
          </a:xfrm>
        </p:grpSpPr>
        <p:sp>
          <p:nvSpPr>
            <p:cNvPr id="5" name="Freeform 5"/>
            <p:cNvSpPr/>
            <p:nvPr/>
          </p:nvSpPr>
          <p:spPr>
            <a:xfrm>
              <a:off x="0" y="0"/>
              <a:ext cx="2322068" cy="994283"/>
            </a:xfrm>
            <a:custGeom>
              <a:avLst/>
              <a:gdLst/>
              <a:ahLst/>
              <a:cxnLst/>
              <a:rect l="l" t="t" r="r" b="b"/>
              <a:pathLst>
                <a:path w="2322068" h="994283">
                  <a:moveTo>
                    <a:pt x="0" y="0"/>
                  </a:moveTo>
                  <a:lnTo>
                    <a:pt x="2322068" y="0"/>
                  </a:lnTo>
                  <a:lnTo>
                    <a:pt x="2322068" y="994283"/>
                  </a:lnTo>
                  <a:lnTo>
                    <a:pt x="0" y="994283"/>
                  </a:lnTo>
                  <a:lnTo>
                    <a:pt x="0" y="0"/>
                  </a:lnTo>
                  <a:close/>
                </a:path>
              </a:pathLst>
            </a:custGeom>
            <a:blipFill>
              <a:blip r:embed="rId4"/>
              <a:stretch>
                <a:fillRect b="-1456"/>
              </a:stretch>
            </a:blipFill>
          </p:spPr>
        </p:sp>
      </p:grpSp>
      <p:grpSp>
        <p:nvGrpSpPr>
          <p:cNvPr id="6" name="Group 6"/>
          <p:cNvGrpSpPr/>
          <p:nvPr/>
        </p:nvGrpSpPr>
        <p:grpSpPr>
          <a:xfrm>
            <a:off x="9981438" y="9581550"/>
            <a:ext cx="4114800" cy="392420"/>
            <a:chOff x="0" y="0"/>
            <a:chExt cx="5486400" cy="523227"/>
          </a:xfrm>
        </p:grpSpPr>
        <p:sp>
          <p:nvSpPr>
            <p:cNvPr id="7" name="Freeform 7"/>
            <p:cNvSpPr/>
            <p:nvPr/>
          </p:nvSpPr>
          <p:spPr>
            <a:xfrm>
              <a:off x="0" y="0"/>
              <a:ext cx="5486400" cy="523222"/>
            </a:xfrm>
            <a:custGeom>
              <a:avLst/>
              <a:gdLst/>
              <a:ahLst/>
              <a:cxnLst/>
              <a:rect l="l" t="t" r="r" b="b"/>
              <a:pathLst>
                <a:path w="5486400" h="523222">
                  <a:moveTo>
                    <a:pt x="0" y="0"/>
                  </a:moveTo>
                  <a:lnTo>
                    <a:pt x="5486400" y="0"/>
                  </a:lnTo>
                  <a:lnTo>
                    <a:pt x="5486400" y="523222"/>
                  </a:lnTo>
                  <a:lnTo>
                    <a:pt x="0" y="523222"/>
                  </a:lnTo>
                  <a:close/>
                </a:path>
              </a:pathLst>
            </a:custGeom>
            <a:blipFill>
              <a:blip r:embed="rId5">
                <a:alphaModFix amt="0"/>
              </a:blip>
              <a:stretch>
                <a:fillRect t="-154315" b="-154316"/>
              </a:stretch>
            </a:blipFill>
          </p:spPr>
        </p:sp>
        <p:sp>
          <p:nvSpPr>
            <p:cNvPr id="8" name="TextBox 8"/>
            <p:cNvSpPr txBox="1"/>
            <p:nvPr/>
          </p:nvSpPr>
          <p:spPr>
            <a:xfrm>
              <a:off x="0" y="-9525"/>
              <a:ext cx="5486400" cy="532752"/>
            </a:xfrm>
            <a:prstGeom prst="rect">
              <a:avLst/>
            </a:prstGeom>
          </p:spPr>
          <p:txBody>
            <a:bodyPr lIns="0" tIns="0" rIns="0" bIns="0" rtlCol="0" anchor="ctr"/>
            <a:lstStyle/>
            <a:p>
              <a:pPr algn="r">
                <a:lnSpc>
                  <a:spcPts val="2520"/>
                </a:lnSpc>
              </a:pPr>
              <a:r>
                <a:rPr lang="en-US" sz="2100">
                  <a:solidFill>
                    <a:srgbClr val="BFBFBF"/>
                  </a:solidFill>
                  <a:latin typeface="Roboto"/>
                  <a:ea typeface="Roboto"/>
                  <a:cs typeface="Roboto"/>
                  <a:sym typeface="Roboto"/>
                </a:rPr>
                <a:t>‹#›</a:t>
              </a:r>
            </a:p>
          </p:txBody>
        </p:sp>
      </p:grpSp>
      <p:sp>
        <p:nvSpPr>
          <p:cNvPr id="9" name="TextBox 9"/>
          <p:cNvSpPr txBox="1"/>
          <p:nvPr/>
        </p:nvSpPr>
        <p:spPr>
          <a:xfrm>
            <a:off x="840743" y="9548498"/>
            <a:ext cx="7754617" cy="323850"/>
          </a:xfrm>
          <a:prstGeom prst="rect">
            <a:avLst/>
          </a:prstGeom>
        </p:spPr>
        <p:txBody>
          <a:bodyPr lIns="0" tIns="0" rIns="0" bIns="0" rtlCol="0" anchor="t">
            <a:spAutoFit/>
          </a:bodyPr>
          <a:lstStyle/>
          <a:p>
            <a:pPr algn="l">
              <a:lnSpc>
                <a:spcPts val="2520"/>
              </a:lnSpc>
            </a:pPr>
            <a:r>
              <a:rPr lang="en-US" sz="2100" spc="450">
                <a:solidFill>
                  <a:srgbClr val="BFBFBF"/>
                </a:solidFill>
                <a:latin typeface="Arial"/>
                <a:ea typeface="Arial"/>
                <a:cs typeface="Arial"/>
                <a:sym typeface="Arial"/>
              </a:rPr>
              <a:t>www.viettelhightech.vn </a:t>
            </a:r>
          </a:p>
        </p:txBody>
      </p:sp>
      <p:sp>
        <p:nvSpPr>
          <p:cNvPr id="10" name="TextBox 10"/>
          <p:cNvSpPr txBox="1"/>
          <p:nvPr/>
        </p:nvSpPr>
        <p:spPr>
          <a:xfrm>
            <a:off x="840743" y="1238893"/>
            <a:ext cx="6887599" cy="521589"/>
          </a:xfrm>
          <a:prstGeom prst="rect">
            <a:avLst/>
          </a:prstGeom>
        </p:spPr>
        <p:txBody>
          <a:bodyPr lIns="0" tIns="0" rIns="0" bIns="0" rtlCol="0" anchor="t">
            <a:spAutoFit/>
          </a:bodyPr>
          <a:lstStyle/>
          <a:p>
            <a:pPr algn="l">
              <a:lnSpc>
                <a:spcPts val="3888"/>
              </a:lnSpc>
              <a:spcBef>
                <a:spcPct val="0"/>
              </a:spcBef>
            </a:pPr>
            <a:r>
              <a:rPr lang="en-US" sz="3600">
                <a:solidFill>
                  <a:srgbClr val="EE0033"/>
                </a:solidFill>
                <a:latin typeface="Arial"/>
                <a:ea typeface="Arial"/>
                <a:cs typeface="Arial"/>
                <a:sym typeface="Arial"/>
              </a:rPr>
              <a:t>Semaphore:</a:t>
            </a:r>
          </a:p>
        </p:txBody>
      </p:sp>
      <p:sp>
        <p:nvSpPr>
          <p:cNvPr id="11" name="TextBox 11"/>
          <p:cNvSpPr txBox="1"/>
          <p:nvPr/>
        </p:nvSpPr>
        <p:spPr>
          <a:xfrm>
            <a:off x="840743" y="1931932"/>
            <a:ext cx="16510567" cy="1007364"/>
          </a:xfrm>
          <a:prstGeom prst="rect">
            <a:avLst/>
          </a:prstGeom>
        </p:spPr>
        <p:txBody>
          <a:bodyPr lIns="0" tIns="0" rIns="0" bIns="0" rtlCol="0" anchor="t">
            <a:spAutoFit/>
          </a:bodyPr>
          <a:lstStyle/>
          <a:p>
            <a:pPr algn="l">
              <a:lnSpc>
                <a:spcPts val="3888"/>
              </a:lnSpc>
              <a:spcBef>
                <a:spcPct val="0"/>
              </a:spcBef>
            </a:pPr>
            <a:r>
              <a:rPr lang="en-US" sz="3600">
                <a:solidFill>
                  <a:srgbClr val="000000"/>
                </a:solidFill>
                <a:latin typeface="Arial"/>
                <a:ea typeface="Arial"/>
                <a:cs typeface="Arial"/>
                <a:sym typeface="Arial"/>
              </a:rPr>
              <a:t>Named semaphore là loại semaphore mà các tiến trình không liên quan đến nhau có thể cùng truy cập vào một semaphore. </a:t>
            </a:r>
          </a:p>
        </p:txBody>
      </p:sp>
      <p:sp>
        <p:nvSpPr>
          <p:cNvPr id="12" name="TextBox 12"/>
          <p:cNvSpPr txBox="1"/>
          <p:nvPr/>
        </p:nvSpPr>
        <p:spPr>
          <a:xfrm>
            <a:off x="840743" y="3681059"/>
            <a:ext cx="15937225" cy="1007364"/>
          </a:xfrm>
          <a:prstGeom prst="rect">
            <a:avLst/>
          </a:prstGeom>
        </p:spPr>
        <p:txBody>
          <a:bodyPr lIns="0" tIns="0" rIns="0" bIns="0" rtlCol="0" anchor="t">
            <a:spAutoFit/>
          </a:bodyPr>
          <a:lstStyle/>
          <a:p>
            <a:pPr algn="l">
              <a:lnSpc>
                <a:spcPts val="3888"/>
              </a:lnSpc>
              <a:spcBef>
                <a:spcPct val="0"/>
              </a:spcBef>
            </a:pPr>
            <a:r>
              <a:rPr lang="en-US" sz="3600">
                <a:solidFill>
                  <a:srgbClr val="000000"/>
                </a:solidFill>
                <a:latin typeface="Arial"/>
                <a:ea typeface="Arial"/>
                <a:cs typeface="Arial"/>
                <a:sym typeface="Arial"/>
              </a:rPr>
              <a:t>Unnamed semaphore được dùng chung giữa các thread. Khi muốn được chia sẻ giữa các process, semaphore phải nằm trong một vùng shared memory. </a:t>
            </a:r>
          </a:p>
        </p:txBody>
      </p:sp>
      <p:grpSp>
        <p:nvGrpSpPr>
          <p:cNvPr id="13" name="Group 13"/>
          <p:cNvGrpSpPr/>
          <p:nvPr/>
        </p:nvGrpSpPr>
        <p:grpSpPr>
          <a:xfrm>
            <a:off x="451542" y="300771"/>
            <a:ext cx="15770323" cy="767782"/>
            <a:chOff x="0" y="0"/>
            <a:chExt cx="21027098" cy="1023710"/>
          </a:xfrm>
        </p:grpSpPr>
        <p:sp>
          <p:nvSpPr>
            <p:cNvPr id="14" name="Freeform 14"/>
            <p:cNvSpPr/>
            <p:nvPr/>
          </p:nvSpPr>
          <p:spPr>
            <a:xfrm>
              <a:off x="0" y="0"/>
              <a:ext cx="21027095" cy="1023711"/>
            </a:xfrm>
            <a:custGeom>
              <a:avLst/>
              <a:gdLst/>
              <a:ahLst/>
              <a:cxnLst/>
              <a:rect l="l" t="t" r="r" b="b"/>
              <a:pathLst>
                <a:path w="21027095" h="1023711">
                  <a:moveTo>
                    <a:pt x="0" y="0"/>
                  </a:moveTo>
                  <a:lnTo>
                    <a:pt x="21027095" y="0"/>
                  </a:lnTo>
                  <a:lnTo>
                    <a:pt x="21027095" y="1023711"/>
                  </a:lnTo>
                  <a:lnTo>
                    <a:pt x="0" y="1023711"/>
                  </a:lnTo>
                  <a:close/>
                </a:path>
              </a:pathLst>
            </a:custGeom>
            <a:blipFill>
              <a:blip r:embed="rId5">
                <a:alphaModFix amt="0"/>
              </a:blip>
              <a:stretch>
                <a:fillRect t="-350224" b="-350223"/>
              </a:stretch>
            </a:blipFill>
          </p:spPr>
        </p:sp>
        <p:sp>
          <p:nvSpPr>
            <p:cNvPr id="15" name="TextBox 15"/>
            <p:cNvSpPr txBox="1"/>
            <p:nvPr/>
          </p:nvSpPr>
          <p:spPr>
            <a:xfrm>
              <a:off x="0" y="19050"/>
              <a:ext cx="21027098" cy="1004660"/>
            </a:xfrm>
            <a:prstGeom prst="rect">
              <a:avLst/>
            </a:prstGeom>
          </p:spPr>
          <p:txBody>
            <a:bodyPr lIns="0" tIns="0" rIns="0" bIns="0" rtlCol="0" anchor="b"/>
            <a:lstStyle/>
            <a:p>
              <a:pPr algn="l">
                <a:lnSpc>
                  <a:spcPts val="3888"/>
                </a:lnSpc>
              </a:pPr>
              <a:r>
                <a:rPr lang="en-US" sz="3600">
                  <a:solidFill>
                    <a:srgbClr val="EE0033"/>
                  </a:solidFill>
                  <a:latin typeface="Arial"/>
                  <a:ea typeface="Arial"/>
                  <a:cs typeface="Arial"/>
                  <a:sym typeface="Arial"/>
                </a:rPr>
                <a:t>III. INTER-PROCESS COMMUNICATION:</a:t>
              </a:r>
            </a:p>
          </p:txBody>
        </p:sp>
      </p:gr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9206494"/>
            <a:ext cx="18288000" cy="1080506"/>
            <a:chOff x="0" y="0"/>
            <a:chExt cx="24384000" cy="1440675"/>
          </a:xfrm>
        </p:grpSpPr>
        <p:sp>
          <p:nvSpPr>
            <p:cNvPr id="3" name="Freeform 3"/>
            <p:cNvSpPr/>
            <p:nvPr/>
          </p:nvSpPr>
          <p:spPr>
            <a:xfrm>
              <a:off x="0" y="0"/>
              <a:ext cx="24384000" cy="1440688"/>
            </a:xfrm>
            <a:custGeom>
              <a:avLst/>
              <a:gdLst/>
              <a:ahLst/>
              <a:cxnLst/>
              <a:rect l="l" t="t" r="r" b="b"/>
              <a:pathLst>
                <a:path w="24384000" h="1440688">
                  <a:moveTo>
                    <a:pt x="0" y="0"/>
                  </a:moveTo>
                  <a:lnTo>
                    <a:pt x="24384000" y="0"/>
                  </a:lnTo>
                  <a:lnTo>
                    <a:pt x="24384000" y="1440688"/>
                  </a:lnTo>
                  <a:lnTo>
                    <a:pt x="0" y="1440688"/>
                  </a:lnTo>
                  <a:lnTo>
                    <a:pt x="0" y="0"/>
                  </a:lnTo>
                  <a:close/>
                </a:path>
              </a:pathLst>
            </a:custGeom>
            <a:blipFill>
              <a:blip r:embed="rId3"/>
              <a:stretch>
                <a:fillRect t="-364" b="-364"/>
              </a:stretch>
            </a:blipFill>
          </p:spPr>
        </p:sp>
      </p:grpSp>
      <p:grpSp>
        <p:nvGrpSpPr>
          <p:cNvPr id="4" name="Group 4"/>
          <p:cNvGrpSpPr/>
          <p:nvPr/>
        </p:nvGrpSpPr>
        <p:grpSpPr>
          <a:xfrm>
            <a:off x="15473315" y="9370285"/>
            <a:ext cx="1741541" cy="745693"/>
            <a:chOff x="0" y="0"/>
            <a:chExt cx="2322055" cy="994258"/>
          </a:xfrm>
        </p:grpSpPr>
        <p:sp>
          <p:nvSpPr>
            <p:cNvPr id="5" name="Freeform 5"/>
            <p:cNvSpPr/>
            <p:nvPr/>
          </p:nvSpPr>
          <p:spPr>
            <a:xfrm>
              <a:off x="0" y="0"/>
              <a:ext cx="2322068" cy="994283"/>
            </a:xfrm>
            <a:custGeom>
              <a:avLst/>
              <a:gdLst/>
              <a:ahLst/>
              <a:cxnLst/>
              <a:rect l="l" t="t" r="r" b="b"/>
              <a:pathLst>
                <a:path w="2322068" h="994283">
                  <a:moveTo>
                    <a:pt x="0" y="0"/>
                  </a:moveTo>
                  <a:lnTo>
                    <a:pt x="2322068" y="0"/>
                  </a:lnTo>
                  <a:lnTo>
                    <a:pt x="2322068" y="994283"/>
                  </a:lnTo>
                  <a:lnTo>
                    <a:pt x="0" y="994283"/>
                  </a:lnTo>
                  <a:lnTo>
                    <a:pt x="0" y="0"/>
                  </a:lnTo>
                  <a:close/>
                </a:path>
              </a:pathLst>
            </a:custGeom>
            <a:blipFill>
              <a:blip r:embed="rId4"/>
              <a:stretch>
                <a:fillRect b="-1456"/>
              </a:stretch>
            </a:blipFill>
          </p:spPr>
        </p:sp>
      </p:grpSp>
      <p:grpSp>
        <p:nvGrpSpPr>
          <p:cNvPr id="6" name="Group 6"/>
          <p:cNvGrpSpPr/>
          <p:nvPr/>
        </p:nvGrpSpPr>
        <p:grpSpPr>
          <a:xfrm>
            <a:off x="9981438" y="9581550"/>
            <a:ext cx="4114800" cy="392420"/>
            <a:chOff x="0" y="0"/>
            <a:chExt cx="5486400" cy="523227"/>
          </a:xfrm>
        </p:grpSpPr>
        <p:sp>
          <p:nvSpPr>
            <p:cNvPr id="7" name="Freeform 7"/>
            <p:cNvSpPr/>
            <p:nvPr/>
          </p:nvSpPr>
          <p:spPr>
            <a:xfrm>
              <a:off x="0" y="0"/>
              <a:ext cx="5486400" cy="523222"/>
            </a:xfrm>
            <a:custGeom>
              <a:avLst/>
              <a:gdLst/>
              <a:ahLst/>
              <a:cxnLst/>
              <a:rect l="l" t="t" r="r" b="b"/>
              <a:pathLst>
                <a:path w="5486400" h="523222">
                  <a:moveTo>
                    <a:pt x="0" y="0"/>
                  </a:moveTo>
                  <a:lnTo>
                    <a:pt x="5486400" y="0"/>
                  </a:lnTo>
                  <a:lnTo>
                    <a:pt x="5486400" y="523222"/>
                  </a:lnTo>
                  <a:lnTo>
                    <a:pt x="0" y="523222"/>
                  </a:lnTo>
                  <a:close/>
                </a:path>
              </a:pathLst>
            </a:custGeom>
            <a:blipFill>
              <a:blip r:embed="rId5">
                <a:alphaModFix amt="0"/>
              </a:blip>
              <a:stretch>
                <a:fillRect t="-154315" b="-154316"/>
              </a:stretch>
            </a:blipFill>
          </p:spPr>
        </p:sp>
        <p:sp>
          <p:nvSpPr>
            <p:cNvPr id="8" name="TextBox 8"/>
            <p:cNvSpPr txBox="1"/>
            <p:nvPr/>
          </p:nvSpPr>
          <p:spPr>
            <a:xfrm>
              <a:off x="0" y="-9525"/>
              <a:ext cx="5486400" cy="532752"/>
            </a:xfrm>
            <a:prstGeom prst="rect">
              <a:avLst/>
            </a:prstGeom>
          </p:spPr>
          <p:txBody>
            <a:bodyPr lIns="0" tIns="0" rIns="0" bIns="0" rtlCol="0" anchor="ctr"/>
            <a:lstStyle/>
            <a:p>
              <a:pPr algn="r">
                <a:lnSpc>
                  <a:spcPts val="2520"/>
                </a:lnSpc>
              </a:pPr>
              <a:r>
                <a:rPr lang="en-US" sz="2100">
                  <a:solidFill>
                    <a:srgbClr val="BFBFBF"/>
                  </a:solidFill>
                  <a:latin typeface="Roboto"/>
                  <a:ea typeface="Roboto"/>
                  <a:cs typeface="Roboto"/>
                  <a:sym typeface="Roboto"/>
                </a:rPr>
                <a:t>‹#›</a:t>
              </a:r>
            </a:p>
          </p:txBody>
        </p:sp>
      </p:grpSp>
      <p:sp>
        <p:nvSpPr>
          <p:cNvPr id="9" name="Freeform 9"/>
          <p:cNvSpPr/>
          <p:nvPr/>
        </p:nvSpPr>
        <p:spPr>
          <a:xfrm>
            <a:off x="1259725" y="3567564"/>
            <a:ext cx="9084797" cy="2394692"/>
          </a:xfrm>
          <a:custGeom>
            <a:avLst/>
            <a:gdLst/>
            <a:ahLst/>
            <a:cxnLst/>
            <a:rect l="l" t="t" r="r" b="b"/>
            <a:pathLst>
              <a:path w="9084797" h="2394692">
                <a:moveTo>
                  <a:pt x="0" y="0"/>
                </a:moveTo>
                <a:lnTo>
                  <a:pt x="9084797" y="0"/>
                </a:lnTo>
                <a:lnTo>
                  <a:pt x="9084797" y="2394693"/>
                </a:lnTo>
                <a:lnTo>
                  <a:pt x="0" y="2394693"/>
                </a:lnTo>
                <a:lnTo>
                  <a:pt x="0" y="0"/>
                </a:lnTo>
                <a:close/>
              </a:path>
            </a:pathLst>
          </a:custGeom>
          <a:blipFill>
            <a:blip r:embed="rId6"/>
            <a:stretch>
              <a:fillRect/>
            </a:stretch>
          </a:blipFill>
        </p:spPr>
      </p:sp>
      <p:sp>
        <p:nvSpPr>
          <p:cNvPr id="10" name="Freeform 10"/>
          <p:cNvSpPr/>
          <p:nvPr/>
        </p:nvSpPr>
        <p:spPr>
          <a:xfrm>
            <a:off x="11295108" y="3719964"/>
            <a:ext cx="5048977" cy="5399421"/>
          </a:xfrm>
          <a:custGeom>
            <a:avLst/>
            <a:gdLst/>
            <a:ahLst/>
            <a:cxnLst/>
            <a:rect l="l" t="t" r="r" b="b"/>
            <a:pathLst>
              <a:path w="5048977" h="5399421">
                <a:moveTo>
                  <a:pt x="0" y="0"/>
                </a:moveTo>
                <a:lnTo>
                  <a:pt x="5048978" y="0"/>
                </a:lnTo>
                <a:lnTo>
                  <a:pt x="5048978" y="5399421"/>
                </a:lnTo>
                <a:lnTo>
                  <a:pt x="0" y="5399421"/>
                </a:lnTo>
                <a:lnTo>
                  <a:pt x="0" y="0"/>
                </a:lnTo>
                <a:close/>
              </a:path>
            </a:pathLst>
          </a:custGeom>
          <a:blipFill>
            <a:blip r:embed="rId7"/>
            <a:stretch>
              <a:fillRect/>
            </a:stretch>
          </a:blipFill>
        </p:spPr>
      </p:sp>
      <p:sp>
        <p:nvSpPr>
          <p:cNvPr id="11" name="Freeform 11"/>
          <p:cNvSpPr/>
          <p:nvPr/>
        </p:nvSpPr>
        <p:spPr>
          <a:xfrm>
            <a:off x="2009416" y="5962257"/>
            <a:ext cx="7585415" cy="3135305"/>
          </a:xfrm>
          <a:custGeom>
            <a:avLst/>
            <a:gdLst/>
            <a:ahLst/>
            <a:cxnLst/>
            <a:rect l="l" t="t" r="r" b="b"/>
            <a:pathLst>
              <a:path w="7585415" h="3135305">
                <a:moveTo>
                  <a:pt x="0" y="0"/>
                </a:moveTo>
                <a:lnTo>
                  <a:pt x="7585415" y="0"/>
                </a:lnTo>
                <a:lnTo>
                  <a:pt x="7585415" y="3135304"/>
                </a:lnTo>
                <a:lnTo>
                  <a:pt x="0" y="3135304"/>
                </a:lnTo>
                <a:lnTo>
                  <a:pt x="0" y="0"/>
                </a:lnTo>
                <a:close/>
              </a:path>
            </a:pathLst>
          </a:custGeom>
          <a:blipFill>
            <a:blip r:embed="rId8"/>
            <a:stretch>
              <a:fillRect/>
            </a:stretch>
          </a:blipFill>
        </p:spPr>
      </p:sp>
      <p:sp>
        <p:nvSpPr>
          <p:cNvPr id="12" name="TextBox 12"/>
          <p:cNvSpPr txBox="1"/>
          <p:nvPr/>
        </p:nvSpPr>
        <p:spPr>
          <a:xfrm>
            <a:off x="840743" y="9548498"/>
            <a:ext cx="7754617" cy="323850"/>
          </a:xfrm>
          <a:prstGeom prst="rect">
            <a:avLst/>
          </a:prstGeom>
        </p:spPr>
        <p:txBody>
          <a:bodyPr lIns="0" tIns="0" rIns="0" bIns="0" rtlCol="0" anchor="t">
            <a:spAutoFit/>
          </a:bodyPr>
          <a:lstStyle/>
          <a:p>
            <a:pPr algn="l">
              <a:lnSpc>
                <a:spcPts val="2520"/>
              </a:lnSpc>
            </a:pPr>
            <a:r>
              <a:rPr lang="en-US" sz="2100" spc="450">
                <a:solidFill>
                  <a:srgbClr val="BFBFBF"/>
                </a:solidFill>
                <a:latin typeface="Arial"/>
                <a:ea typeface="Arial"/>
                <a:cs typeface="Arial"/>
                <a:sym typeface="Arial"/>
              </a:rPr>
              <a:t>www.viettelhightech.vn </a:t>
            </a:r>
          </a:p>
        </p:txBody>
      </p:sp>
      <p:sp>
        <p:nvSpPr>
          <p:cNvPr id="13" name="TextBox 13"/>
          <p:cNvSpPr txBox="1"/>
          <p:nvPr/>
        </p:nvSpPr>
        <p:spPr>
          <a:xfrm>
            <a:off x="840743" y="1238893"/>
            <a:ext cx="6887599" cy="521589"/>
          </a:xfrm>
          <a:prstGeom prst="rect">
            <a:avLst/>
          </a:prstGeom>
        </p:spPr>
        <p:txBody>
          <a:bodyPr lIns="0" tIns="0" rIns="0" bIns="0" rtlCol="0" anchor="t">
            <a:spAutoFit/>
          </a:bodyPr>
          <a:lstStyle/>
          <a:p>
            <a:pPr algn="l">
              <a:lnSpc>
                <a:spcPts val="3888"/>
              </a:lnSpc>
              <a:spcBef>
                <a:spcPct val="0"/>
              </a:spcBef>
            </a:pPr>
            <a:r>
              <a:rPr lang="en-US" sz="3600">
                <a:solidFill>
                  <a:srgbClr val="EE0033"/>
                </a:solidFill>
                <a:latin typeface="Arial"/>
                <a:ea typeface="Arial"/>
                <a:cs typeface="Arial"/>
                <a:sym typeface="Arial"/>
              </a:rPr>
              <a:t>Named semaphore:</a:t>
            </a:r>
          </a:p>
        </p:txBody>
      </p:sp>
      <p:sp>
        <p:nvSpPr>
          <p:cNvPr id="14" name="TextBox 14"/>
          <p:cNvSpPr txBox="1"/>
          <p:nvPr/>
        </p:nvSpPr>
        <p:spPr>
          <a:xfrm>
            <a:off x="840743" y="1846963"/>
            <a:ext cx="15629715" cy="734949"/>
          </a:xfrm>
          <a:prstGeom prst="rect">
            <a:avLst/>
          </a:prstGeom>
        </p:spPr>
        <p:txBody>
          <a:bodyPr lIns="0" tIns="0" rIns="0" bIns="0" rtlCol="0" anchor="t">
            <a:spAutoFit/>
          </a:bodyPr>
          <a:lstStyle/>
          <a:p>
            <a:pPr algn="l">
              <a:lnSpc>
                <a:spcPts val="2808"/>
              </a:lnSpc>
              <a:spcBef>
                <a:spcPct val="0"/>
              </a:spcBef>
            </a:pPr>
            <a:r>
              <a:rPr lang="en-US" sz="2600">
                <a:solidFill>
                  <a:srgbClr val="000000"/>
                </a:solidFill>
                <a:latin typeface="Arial"/>
                <a:ea typeface="Arial"/>
                <a:cs typeface="Arial"/>
                <a:sym typeface="Arial"/>
              </a:rPr>
              <a:t>Named semaphore được tạo dưới dạng các đối tượng POSIX shared memory nhỏ, các đối tượng này được lưu trong một hệ thống tập tin tmpfs chuyên dụng được mount tại thư mục: /dev/shm </a:t>
            </a:r>
          </a:p>
        </p:txBody>
      </p:sp>
      <p:sp>
        <p:nvSpPr>
          <p:cNvPr id="15" name="TextBox 15"/>
          <p:cNvSpPr txBox="1"/>
          <p:nvPr/>
        </p:nvSpPr>
        <p:spPr>
          <a:xfrm>
            <a:off x="840743" y="2743837"/>
            <a:ext cx="14965665" cy="734949"/>
          </a:xfrm>
          <a:prstGeom prst="rect">
            <a:avLst/>
          </a:prstGeom>
        </p:spPr>
        <p:txBody>
          <a:bodyPr lIns="0" tIns="0" rIns="0" bIns="0" rtlCol="0" anchor="t">
            <a:spAutoFit/>
          </a:bodyPr>
          <a:lstStyle/>
          <a:p>
            <a:pPr algn="l">
              <a:lnSpc>
                <a:spcPts val="2808"/>
              </a:lnSpc>
              <a:spcBef>
                <a:spcPct val="0"/>
              </a:spcBef>
            </a:pPr>
            <a:r>
              <a:rPr lang="en-US" sz="2600">
                <a:solidFill>
                  <a:srgbClr val="000000"/>
                </a:solidFill>
                <a:latin typeface="Arial"/>
                <a:ea typeface="Arial"/>
                <a:cs typeface="Arial"/>
                <a:sym typeface="Arial"/>
              </a:rPr>
              <a:t>Semaphore này vẫn tồn tại ngay cả khi hiện tại không có tiến trình nào đang mở nó, chúng sẽ bị mất khi hệ thống tắt  </a:t>
            </a:r>
          </a:p>
        </p:txBody>
      </p:sp>
      <p:grpSp>
        <p:nvGrpSpPr>
          <p:cNvPr id="16" name="Group 16"/>
          <p:cNvGrpSpPr/>
          <p:nvPr/>
        </p:nvGrpSpPr>
        <p:grpSpPr>
          <a:xfrm>
            <a:off x="451542" y="300771"/>
            <a:ext cx="15770323" cy="767782"/>
            <a:chOff x="0" y="0"/>
            <a:chExt cx="21027098" cy="1023710"/>
          </a:xfrm>
        </p:grpSpPr>
        <p:sp>
          <p:nvSpPr>
            <p:cNvPr id="17" name="Freeform 17"/>
            <p:cNvSpPr/>
            <p:nvPr/>
          </p:nvSpPr>
          <p:spPr>
            <a:xfrm>
              <a:off x="0" y="0"/>
              <a:ext cx="21027095" cy="1023711"/>
            </a:xfrm>
            <a:custGeom>
              <a:avLst/>
              <a:gdLst/>
              <a:ahLst/>
              <a:cxnLst/>
              <a:rect l="l" t="t" r="r" b="b"/>
              <a:pathLst>
                <a:path w="21027095" h="1023711">
                  <a:moveTo>
                    <a:pt x="0" y="0"/>
                  </a:moveTo>
                  <a:lnTo>
                    <a:pt x="21027095" y="0"/>
                  </a:lnTo>
                  <a:lnTo>
                    <a:pt x="21027095" y="1023711"/>
                  </a:lnTo>
                  <a:lnTo>
                    <a:pt x="0" y="1023711"/>
                  </a:lnTo>
                  <a:close/>
                </a:path>
              </a:pathLst>
            </a:custGeom>
            <a:blipFill>
              <a:blip r:embed="rId5">
                <a:alphaModFix amt="0"/>
              </a:blip>
              <a:stretch>
                <a:fillRect t="-350224" b="-350223"/>
              </a:stretch>
            </a:blipFill>
          </p:spPr>
        </p:sp>
        <p:sp>
          <p:nvSpPr>
            <p:cNvPr id="18" name="TextBox 18"/>
            <p:cNvSpPr txBox="1"/>
            <p:nvPr/>
          </p:nvSpPr>
          <p:spPr>
            <a:xfrm>
              <a:off x="0" y="19050"/>
              <a:ext cx="21027098" cy="1004660"/>
            </a:xfrm>
            <a:prstGeom prst="rect">
              <a:avLst/>
            </a:prstGeom>
          </p:spPr>
          <p:txBody>
            <a:bodyPr lIns="0" tIns="0" rIns="0" bIns="0" rtlCol="0" anchor="b"/>
            <a:lstStyle/>
            <a:p>
              <a:pPr algn="l">
                <a:lnSpc>
                  <a:spcPts val="3888"/>
                </a:lnSpc>
              </a:pPr>
              <a:r>
                <a:rPr lang="en-US" sz="3600">
                  <a:solidFill>
                    <a:srgbClr val="EE0033"/>
                  </a:solidFill>
                  <a:latin typeface="Arial"/>
                  <a:ea typeface="Arial"/>
                  <a:cs typeface="Arial"/>
                  <a:sym typeface="Arial"/>
                </a:rPr>
                <a:t>III. INTER-PROCESS COMMUNICATION:</a:t>
              </a:r>
            </a:p>
          </p:txBody>
        </p:sp>
      </p:gr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9206494"/>
            <a:ext cx="18288000" cy="1080506"/>
            <a:chOff x="0" y="0"/>
            <a:chExt cx="24384000" cy="1440675"/>
          </a:xfrm>
        </p:grpSpPr>
        <p:sp>
          <p:nvSpPr>
            <p:cNvPr id="3" name="Freeform 3"/>
            <p:cNvSpPr/>
            <p:nvPr/>
          </p:nvSpPr>
          <p:spPr>
            <a:xfrm>
              <a:off x="0" y="0"/>
              <a:ext cx="24384000" cy="1440688"/>
            </a:xfrm>
            <a:custGeom>
              <a:avLst/>
              <a:gdLst/>
              <a:ahLst/>
              <a:cxnLst/>
              <a:rect l="l" t="t" r="r" b="b"/>
              <a:pathLst>
                <a:path w="24384000" h="1440688">
                  <a:moveTo>
                    <a:pt x="0" y="0"/>
                  </a:moveTo>
                  <a:lnTo>
                    <a:pt x="24384000" y="0"/>
                  </a:lnTo>
                  <a:lnTo>
                    <a:pt x="24384000" y="1440688"/>
                  </a:lnTo>
                  <a:lnTo>
                    <a:pt x="0" y="1440688"/>
                  </a:lnTo>
                  <a:lnTo>
                    <a:pt x="0" y="0"/>
                  </a:lnTo>
                  <a:close/>
                </a:path>
              </a:pathLst>
            </a:custGeom>
            <a:blipFill>
              <a:blip r:embed="rId3"/>
              <a:stretch>
                <a:fillRect t="-364" b="-364"/>
              </a:stretch>
            </a:blipFill>
          </p:spPr>
        </p:sp>
      </p:grpSp>
      <p:grpSp>
        <p:nvGrpSpPr>
          <p:cNvPr id="4" name="Group 4"/>
          <p:cNvGrpSpPr/>
          <p:nvPr/>
        </p:nvGrpSpPr>
        <p:grpSpPr>
          <a:xfrm>
            <a:off x="15473315" y="9370285"/>
            <a:ext cx="1741541" cy="745693"/>
            <a:chOff x="0" y="0"/>
            <a:chExt cx="2322055" cy="994258"/>
          </a:xfrm>
        </p:grpSpPr>
        <p:sp>
          <p:nvSpPr>
            <p:cNvPr id="5" name="Freeform 5"/>
            <p:cNvSpPr/>
            <p:nvPr/>
          </p:nvSpPr>
          <p:spPr>
            <a:xfrm>
              <a:off x="0" y="0"/>
              <a:ext cx="2322068" cy="994283"/>
            </a:xfrm>
            <a:custGeom>
              <a:avLst/>
              <a:gdLst/>
              <a:ahLst/>
              <a:cxnLst/>
              <a:rect l="l" t="t" r="r" b="b"/>
              <a:pathLst>
                <a:path w="2322068" h="994283">
                  <a:moveTo>
                    <a:pt x="0" y="0"/>
                  </a:moveTo>
                  <a:lnTo>
                    <a:pt x="2322068" y="0"/>
                  </a:lnTo>
                  <a:lnTo>
                    <a:pt x="2322068" y="994283"/>
                  </a:lnTo>
                  <a:lnTo>
                    <a:pt x="0" y="994283"/>
                  </a:lnTo>
                  <a:lnTo>
                    <a:pt x="0" y="0"/>
                  </a:lnTo>
                  <a:close/>
                </a:path>
              </a:pathLst>
            </a:custGeom>
            <a:blipFill>
              <a:blip r:embed="rId4"/>
              <a:stretch>
                <a:fillRect b="-1456"/>
              </a:stretch>
            </a:blipFill>
          </p:spPr>
        </p:sp>
      </p:grpSp>
      <p:grpSp>
        <p:nvGrpSpPr>
          <p:cNvPr id="6" name="Group 6"/>
          <p:cNvGrpSpPr/>
          <p:nvPr/>
        </p:nvGrpSpPr>
        <p:grpSpPr>
          <a:xfrm>
            <a:off x="9981438" y="9581550"/>
            <a:ext cx="4114800" cy="392420"/>
            <a:chOff x="0" y="0"/>
            <a:chExt cx="5486400" cy="523227"/>
          </a:xfrm>
        </p:grpSpPr>
        <p:sp>
          <p:nvSpPr>
            <p:cNvPr id="7" name="Freeform 7"/>
            <p:cNvSpPr/>
            <p:nvPr/>
          </p:nvSpPr>
          <p:spPr>
            <a:xfrm>
              <a:off x="0" y="0"/>
              <a:ext cx="5486400" cy="523222"/>
            </a:xfrm>
            <a:custGeom>
              <a:avLst/>
              <a:gdLst/>
              <a:ahLst/>
              <a:cxnLst/>
              <a:rect l="l" t="t" r="r" b="b"/>
              <a:pathLst>
                <a:path w="5486400" h="523222">
                  <a:moveTo>
                    <a:pt x="0" y="0"/>
                  </a:moveTo>
                  <a:lnTo>
                    <a:pt x="5486400" y="0"/>
                  </a:lnTo>
                  <a:lnTo>
                    <a:pt x="5486400" y="523222"/>
                  </a:lnTo>
                  <a:lnTo>
                    <a:pt x="0" y="523222"/>
                  </a:lnTo>
                  <a:close/>
                </a:path>
              </a:pathLst>
            </a:custGeom>
            <a:blipFill>
              <a:blip r:embed="rId5">
                <a:alphaModFix amt="0"/>
              </a:blip>
              <a:stretch>
                <a:fillRect t="-154315" b="-154316"/>
              </a:stretch>
            </a:blipFill>
          </p:spPr>
        </p:sp>
        <p:sp>
          <p:nvSpPr>
            <p:cNvPr id="8" name="TextBox 8"/>
            <p:cNvSpPr txBox="1"/>
            <p:nvPr/>
          </p:nvSpPr>
          <p:spPr>
            <a:xfrm>
              <a:off x="0" y="-9525"/>
              <a:ext cx="5486400" cy="532752"/>
            </a:xfrm>
            <a:prstGeom prst="rect">
              <a:avLst/>
            </a:prstGeom>
          </p:spPr>
          <p:txBody>
            <a:bodyPr lIns="0" tIns="0" rIns="0" bIns="0" rtlCol="0" anchor="ctr"/>
            <a:lstStyle/>
            <a:p>
              <a:pPr algn="r">
                <a:lnSpc>
                  <a:spcPts val="2520"/>
                </a:lnSpc>
              </a:pPr>
              <a:r>
                <a:rPr lang="en-US" sz="2100">
                  <a:solidFill>
                    <a:srgbClr val="BFBFBF"/>
                  </a:solidFill>
                  <a:latin typeface="Roboto"/>
                  <a:ea typeface="Roboto"/>
                  <a:cs typeface="Roboto"/>
                  <a:sym typeface="Roboto"/>
                </a:rPr>
                <a:t>‹#›</a:t>
              </a:r>
            </a:p>
          </p:txBody>
        </p:sp>
      </p:grpSp>
      <p:sp>
        <p:nvSpPr>
          <p:cNvPr id="9" name="Freeform 9"/>
          <p:cNvSpPr/>
          <p:nvPr/>
        </p:nvSpPr>
        <p:spPr>
          <a:xfrm>
            <a:off x="2963834" y="2194062"/>
            <a:ext cx="10701653" cy="1900405"/>
          </a:xfrm>
          <a:custGeom>
            <a:avLst/>
            <a:gdLst/>
            <a:ahLst/>
            <a:cxnLst/>
            <a:rect l="l" t="t" r="r" b="b"/>
            <a:pathLst>
              <a:path w="10701653" h="1900405">
                <a:moveTo>
                  <a:pt x="0" y="0"/>
                </a:moveTo>
                <a:lnTo>
                  <a:pt x="10701653" y="0"/>
                </a:lnTo>
                <a:lnTo>
                  <a:pt x="10701653" y="1900405"/>
                </a:lnTo>
                <a:lnTo>
                  <a:pt x="0" y="1900405"/>
                </a:lnTo>
                <a:lnTo>
                  <a:pt x="0" y="0"/>
                </a:lnTo>
                <a:close/>
              </a:path>
            </a:pathLst>
          </a:custGeom>
          <a:blipFill>
            <a:blip r:embed="rId6"/>
            <a:stretch>
              <a:fillRect/>
            </a:stretch>
          </a:blipFill>
        </p:spPr>
      </p:sp>
      <p:sp>
        <p:nvSpPr>
          <p:cNvPr id="10" name="Freeform 10"/>
          <p:cNvSpPr/>
          <p:nvPr/>
        </p:nvSpPr>
        <p:spPr>
          <a:xfrm>
            <a:off x="2937154" y="4863182"/>
            <a:ext cx="10728332" cy="1917454"/>
          </a:xfrm>
          <a:custGeom>
            <a:avLst/>
            <a:gdLst/>
            <a:ahLst/>
            <a:cxnLst/>
            <a:rect l="l" t="t" r="r" b="b"/>
            <a:pathLst>
              <a:path w="10728332" h="1917454">
                <a:moveTo>
                  <a:pt x="0" y="0"/>
                </a:moveTo>
                <a:lnTo>
                  <a:pt x="10728333" y="0"/>
                </a:lnTo>
                <a:lnTo>
                  <a:pt x="10728333" y="1917454"/>
                </a:lnTo>
                <a:lnTo>
                  <a:pt x="0" y="1917454"/>
                </a:lnTo>
                <a:lnTo>
                  <a:pt x="0" y="0"/>
                </a:lnTo>
                <a:close/>
              </a:path>
            </a:pathLst>
          </a:custGeom>
          <a:blipFill>
            <a:blip r:embed="rId7"/>
            <a:stretch>
              <a:fillRect/>
            </a:stretch>
          </a:blipFill>
        </p:spPr>
      </p:sp>
      <p:sp>
        <p:nvSpPr>
          <p:cNvPr id="11" name="TextBox 11"/>
          <p:cNvSpPr txBox="1"/>
          <p:nvPr/>
        </p:nvSpPr>
        <p:spPr>
          <a:xfrm>
            <a:off x="840743" y="9548498"/>
            <a:ext cx="7754617" cy="323850"/>
          </a:xfrm>
          <a:prstGeom prst="rect">
            <a:avLst/>
          </a:prstGeom>
        </p:spPr>
        <p:txBody>
          <a:bodyPr lIns="0" tIns="0" rIns="0" bIns="0" rtlCol="0" anchor="t">
            <a:spAutoFit/>
          </a:bodyPr>
          <a:lstStyle/>
          <a:p>
            <a:pPr algn="l">
              <a:lnSpc>
                <a:spcPts val="2520"/>
              </a:lnSpc>
            </a:pPr>
            <a:r>
              <a:rPr lang="en-US" sz="2100" spc="450">
                <a:solidFill>
                  <a:srgbClr val="BFBFBF"/>
                </a:solidFill>
                <a:latin typeface="Arial"/>
                <a:ea typeface="Arial"/>
                <a:cs typeface="Arial"/>
                <a:sym typeface="Arial"/>
              </a:rPr>
              <a:t>www.viettelhightech.vn </a:t>
            </a:r>
          </a:p>
        </p:txBody>
      </p:sp>
      <p:sp>
        <p:nvSpPr>
          <p:cNvPr id="12" name="TextBox 12"/>
          <p:cNvSpPr txBox="1"/>
          <p:nvPr/>
        </p:nvSpPr>
        <p:spPr>
          <a:xfrm>
            <a:off x="840743" y="1238893"/>
            <a:ext cx="6887599" cy="521589"/>
          </a:xfrm>
          <a:prstGeom prst="rect">
            <a:avLst/>
          </a:prstGeom>
        </p:spPr>
        <p:txBody>
          <a:bodyPr lIns="0" tIns="0" rIns="0" bIns="0" rtlCol="0" anchor="t">
            <a:spAutoFit/>
          </a:bodyPr>
          <a:lstStyle/>
          <a:p>
            <a:pPr algn="l">
              <a:lnSpc>
                <a:spcPts val="3888"/>
              </a:lnSpc>
              <a:spcBef>
                <a:spcPct val="0"/>
              </a:spcBef>
            </a:pPr>
            <a:r>
              <a:rPr lang="en-US" sz="3600">
                <a:solidFill>
                  <a:srgbClr val="EE0033"/>
                </a:solidFill>
                <a:latin typeface="Arial"/>
                <a:ea typeface="Arial"/>
                <a:cs typeface="Arial"/>
                <a:sym typeface="Arial"/>
              </a:rPr>
              <a:t>Named semaphore:</a:t>
            </a:r>
          </a:p>
        </p:txBody>
      </p:sp>
      <p:grpSp>
        <p:nvGrpSpPr>
          <p:cNvPr id="13" name="Group 13"/>
          <p:cNvGrpSpPr/>
          <p:nvPr/>
        </p:nvGrpSpPr>
        <p:grpSpPr>
          <a:xfrm>
            <a:off x="451542" y="300771"/>
            <a:ext cx="15770323" cy="767782"/>
            <a:chOff x="0" y="0"/>
            <a:chExt cx="21027098" cy="1023710"/>
          </a:xfrm>
        </p:grpSpPr>
        <p:sp>
          <p:nvSpPr>
            <p:cNvPr id="14" name="Freeform 14"/>
            <p:cNvSpPr/>
            <p:nvPr/>
          </p:nvSpPr>
          <p:spPr>
            <a:xfrm>
              <a:off x="0" y="0"/>
              <a:ext cx="21027095" cy="1023711"/>
            </a:xfrm>
            <a:custGeom>
              <a:avLst/>
              <a:gdLst/>
              <a:ahLst/>
              <a:cxnLst/>
              <a:rect l="l" t="t" r="r" b="b"/>
              <a:pathLst>
                <a:path w="21027095" h="1023711">
                  <a:moveTo>
                    <a:pt x="0" y="0"/>
                  </a:moveTo>
                  <a:lnTo>
                    <a:pt x="21027095" y="0"/>
                  </a:lnTo>
                  <a:lnTo>
                    <a:pt x="21027095" y="1023711"/>
                  </a:lnTo>
                  <a:lnTo>
                    <a:pt x="0" y="1023711"/>
                  </a:lnTo>
                  <a:close/>
                </a:path>
              </a:pathLst>
            </a:custGeom>
            <a:blipFill>
              <a:blip r:embed="rId5">
                <a:alphaModFix amt="0"/>
              </a:blip>
              <a:stretch>
                <a:fillRect t="-350224" b="-350223"/>
              </a:stretch>
            </a:blipFill>
          </p:spPr>
        </p:sp>
        <p:sp>
          <p:nvSpPr>
            <p:cNvPr id="15" name="TextBox 15"/>
            <p:cNvSpPr txBox="1"/>
            <p:nvPr/>
          </p:nvSpPr>
          <p:spPr>
            <a:xfrm>
              <a:off x="0" y="19050"/>
              <a:ext cx="21027098" cy="1004660"/>
            </a:xfrm>
            <a:prstGeom prst="rect">
              <a:avLst/>
            </a:prstGeom>
          </p:spPr>
          <p:txBody>
            <a:bodyPr lIns="0" tIns="0" rIns="0" bIns="0" rtlCol="0" anchor="b"/>
            <a:lstStyle/>
            <a:p>
              <a:pPr algn="l">
                <a:lnSpc>
                  <a:spcPts val="3888"/>
                </a:lnSpc>
              </a:pPr>
              <a:r>
                <a:rPr lang="en-US" sz="3600">
                  <a:solidFill>
                    <a:srgbClr val="EE0033"/>
                  </a:solidFill>
                  <a:latin typeface="Arial"/>
                  <a:ea typeface="Arial"/>
                  <a:cs typeface="Arial"/>
                  <a:sym typeface="Arial"/>
                </a:rPr>
                <a:t>III. INTER-PROCESS COMMUNICATION:</a:t>
              </a:r>
            </a:p>
          </p:txBody>
        </p:sp>
      </p:gr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9206494"/>
            <a:ext cx="18288000" cy="1080506"/>
            <a:chOff x="0" y="0"/>
            <a:chExt cx="24384000" cy="1440675"/>
          </a:xfrm>
        </p:grpSpPr>
        <p:sp>
          <p:nvSpPr>
            <p:cNvPr id="3" name="Freeform 3"/>
            <p:cNvSpPr/>
            <p:nvPr/>
          </p:nvSpPr>
          <p:spPr>
            <a:xfrm>
              <a:off x="0" y="0"/>
              <a:ext cx="24384000" cy="1440688"/>
            </a:xfrm>
            <a:custGeom>
              <a:avLst/>
              <a:gdLst/>
              <a:ahLst/>
              <a:cxnLst/>
              <a:rect l="l" t="t" r="r" b="b"/>
              <a:pathLst>
                <a:path w="24384000" h="1440688">
                  <a:moveTo>
                    <a:pt x="0" y="0"/>
                  </a:moveTo>
                  <a:lnTo>
                    <a:pt x="24384000" y="0"/>
                  </a:lnTo>
                  <a:lnTo>
                    <a:pt x="24384000" y="1440688"/>
                  </a:lnTo>
                  <a:lnTo>
                    <a:pt x="0" y="1440688"/>
                  </a:lnTo>
                  <a:lnTo>
                    <a:pt x="0" y="0"/>
                  </a:lnTo>
                  <a:close/>
                </a:path>
              </a:pathLst>
            </a:custGeom>
            <a:blipFill>
              <a:blip r:embed="rId3"/>
              <a:stretch>
                <a:fillRect t="-364" b="-364"/>
              </a:stretch>
            </a:blipFill>
          </p:spPr>
        </p:sp>
      </p:grpSp>
      <p:grpSp>
        <p:nvGrpSpPr>
          <p:cNvPr id="4" name="Group 4"/>
          <p:cNvGrpSpPr/>
          <p:nvPr/>
        </p:nvGrpSpPr>
        <p:grpSpPr>
          <a:xfrm>
            <a:off x="15473315" y="9370285"/>
            <a:ext cx="1741541" cy="745693"/>
            <a:chOff x="0" y="0"/>
            <a:chExt cx="2322055" cy="994258"/>
          </a:xfrm>
        </p:grpSpPr>
        <p:sp>
          <p:nvSpPr>
            <p:cNvPr id="5" name="Freeform 5"/>
            <p:cNvSpPr/>
            <p:nvPr/>
          </p:nvSpPr>
          <p:spPr>
            <a:xfrm>
              <a:off x="0" y="0"/>
              <a:ext cx="2322068" cy="994283"/>
            </a:xfrm>
            <a:custGeom>
              <a:avLst/>
              <a:gdLst/>
              <a:ahLst/>
              <a:cxnLst/>
              <a:rect l="l" t="t" r="r" b="b"/>
              <a:pathLst>
                <a:path w="2322068" h="994283">
                  <a:moveTo>
                    <a:pt x="0" y="0"/>
                  </a:moveTo>
                  <a:lnTo>
                    <a:pt x="2322068" y="0"/>
                  </a:lnTo>
                  <a:lnTo>
                    <a:pt x="2322068" y="994283"/>
                  </a:lnTo>
                  <a:lnTo>
                    <a:pt x="0" y="994283"/>
                  </a:lnTo>
                  <a:lnTo>
                    <a:pt x="0" y="0"/>
                  </a:lnTo>
                  <a:close/>
                </a:path>
              </a:pathLst>
            </a:custGeom>
            <a:blipFill>
              <a:blip r:embed="rId4"/>
              <a:stretch>
                <a:fillRect b="-1456"/>
              </a:stretch>
            </a:blipFill>
          </p:spPr>
        </p:sp>
      </p:grpSp>
      <p:grpSp>
        <p:nvGrpSpPr>
          <p:cNvPr id="6" name="Group 6"/>
          <p:cNvGrpSpPr/>
          <p:nvPr/>
        </p:nvGrpSpPr>
        <p:grpSpPr>
          <a:xfrm>
            <a:off x="9981438" y="9581550"/>
            <a:ext cx="4114800" cy="392420"/>
            <a:chOff x="0" y="0"/>
            <a:chExt cx="5486400" cy="523227"/>
          </a:xfrm>
        </p:grpSpPr>
        <p:sp>
          <p:nvSpPr>
            <p:cNvPr id="7" name="Freeform 7"/>
            <p:cNvSpPr/>
            <p:nvPr/>
          </p:nvSpPr>
          <p:spPr>
            <a:xfrm>
              <a:off x="0" y="0"/>
              <a:ext cx="5486400" cy="523222"/>
            </a:xfrm>
            <a:custGeom>
              <a:avLst/>
              <a:gdLst/>
              <a:ahLst/>
              <a:cxnLst/>
              <a:rect l="l" t="t" r="r" b="b"/>
              <a:pathLst>
                <a:path w="5486400" h="523222">
                  <a:moveTo>
                    <a:pt x="0" y="0"/>
                  </a:moveTo>
                  <a:lnTo>
                    <a:pt x="5486400" y="0"/>
                  </a:lnTo>
                  <a:lnTo>
                    <a:pt x="5486400" y="523222"/>
                  </a:lnTo>
                  <a:lnTo>
                    <a:pt x="0" y="523222"/>
                  </a:lnTo>
                  <a:close/>
                </a:path>
              </a:pathLst>
            </a:custGeom>
            <a:blipFill>
              <a:blip r:embed="rId5">
                <a:alphaModFix amt="0"/>
              </a:blip>
              <a:stretch>
                <a:fillRect t="-154315" b="-154316"/>
              </a:stretch>
            </a:blipFill>
          </p:spPr>
        </p:sp>
        <p:sp>
          <p:nvSpPr>
            <p:cNvPr id="8" name="TextBox 8"/>
            <p:cNvSpPr txBox="1"/>
            <p:nvPr/>
          </p:nvSpPr>
          <p:spPr>
            <a:xfrm>
              <a:off x="0" y="-9525"/>
              <a:ext cx="5486400" cy="532752"/>
            </a:xfrm>
            <a:prstGeom prst="rect">
              <a:avLst/>
            </a:prstGeom>
          </p:spPr>
          <p:txBody>
            <a:bodyPr lIns="0" tIns="0" rIns="0" bIns="0" rtlCol="0" anchor="ctr"/>
            <a:lstStyle/>
            <a:p>
              <a:pPr algn="r">
                <a:lnSpc>
                  <a:spcPts val="2520"/>
                </a:lnSpc>
              </a:pPr>
              <a:r>
                <a:rPr lang="en-US" sz="2100">
                  <a:solidFill>
                    <a:srgbClr val="BFBFBF"/>
                  </a:solidFill>
                  <a:latin typeface="Roboto"/>
                  <a:ea typeface="Roboto"/>
                  <a:cs typeface="Roboto"/>
                  <a:sym typeface="Roboto"/>
                </a:rPr>
                <a:t>‹#›</a:t>
              </a:r>
            </a:p>
          </p:txBody>
        </p:sp>
      </p:grpSp>
      <p:sp>
        <p:nvSpPr>
          <p:cNvPr id="9" name="Freeform 9"/>
          <p:cNvSpPr/>
          <p:nvPr/>
        </p:nvSpPr>
        <p:spPr>
          <a:xfrm>
            <a:off x="2703359" y="2048315"/>
            <a:ext cx="10926280" cy="1972334"/>
          </a:xfrm>
          <a:custGeom>
            <a:avLst/>
            <a:gdLst/>
            <a:ahLst/>
            <a:cxnLst/>
            <a:rect l="l" t="t" r="r" b="b"/>
            <a:pathLst>
              <a:path w="10926280" h="1972334">
                <a:moveTo>
                  <a:pt x="0" y="0"/>
                </a:moveTo>
                <a:lnTo>
                  <a:pt x="10926280" y="0"/>
                </a:lnTo>
                <a:lnTo>
                  <a:pt x="10926280" y="1972334"/>
                </a:lnTo>
                <a:lnTo>
                  <a:pt x="0" y="1972334"/>
                </a:lnTo>
                <a:lnTo>
                  <a:pt x="0" y="0"/>
                </a:lnTo>
                <a:close/>
              </a:path>
            </a:pathLst>
          </a:custGeom>
          <a:blipFill>
            <a:blip r:embed="rId6"/>
            <a:stretch>
              <a:fillRect/>
            </a:stretch>
          </a:blipFill>
        </p:spPr>
      </p:sp>
      <p:sp>
        <p:nvSpPr>
          <p:cNvPr id="10" name="Freeform 10"/>
          <p:cNvSpPr/>
          <p:nvPr/>
        </p:nvSpPr>
        <p:spPr>
          <a:xfrm>
            <a:off x="2749168" y="4306399"/>
            <a:ext cx="10880471" cy="1986383"/>
          </a:xfrm>
          <a:custGeom>
            <a:avLst/>
            <a:gdLst/>
            <a:ahLst/>
            <a:cxnLst/>
            <a:rect l="l" t="t" r="r" b="b"/>
            <a:pathLst>
              <a:path w="10880471" h="1986383">
                <a:moveTo>
                  <a:pt x="0" y="0"/>
                </a:moveTo>
                <a:lnTo>
                  <a:pt x="10880471" y="0"/>
                </a:lnTo>
                <a:lnTo>
                  <a:pt x="10880471" y="1986383"/>
                </a:lnTo>
                <a:lnTo>
                  <a:pt x="0" y="1986383"/>
                </a:lnTo>
                <a:lnTo>
                  <a:pt x="0" y="0"/>
                </a:lnTo>
                <a:close/>
              </a:path>
            </a:pathLst>
          </a:custGeom>
          <a:blipFill>
            <a:blip r:embed="rId7"/>
            <a:stretch>
              <a:fillRect/>
            </a:stretch>
          </a:blipFill>
        </p:spPr>
      </p:sp>
      <p:sp>
        <p:nvSpPr>
          <p:cNvPr id="11" name="Freeform 11"/>
          <p:cNvSpPr/>
          <p:nvPr/>
        </p:nvSpPr>
        <p:spPr>
          <a:xfrm>
            <a:off x="2703359" y="6581381"/>
            <a:ext cx="11392879" cy="2068246"/>
          </a:xfrm>
          <a:custGeom>
            <a:avLst/>
            <a:gdLst/>
            <a:ahLst/>
            <a:cxnLst/>
            <a:rect l="l" t="t" r="r" b="b"/>
            <a:pathLst>
              <a:path w="11392879" h="2068246">
                <a:moveTo>
                  <a:pt x="0" y="0"/>
                </a:moveTo>
                <a:lnTo>
                  <a:pt x="11392879" y="0"/>
                </a:lnTo>
                <a:lnTo>
                  <a:pt x="11392879" y="2068246"/>
                </a:lnTo>
                <a:lnTo>
                  <a:pt x="0" y="2068246"/>
                </a:lnTo>
                <a:lnTo>
                  <a:pt x="0" y="0"/>
                </a:lnTo>
                <a:close/>
              </a:path>
            </a:pathLst>
          </a:custGeom>
          <a:blipFill>
            <a:blip r:embed="rId8"/>
            <a:stretch>
              <a:fillRect/>
            </a:stretch>
          </a:blipFill>
        </p:spPr>
      </p:sp>
      <p:sp>
        <p:nvSpPr>
          <p:cNvPr id="12" name="TextBox 12"/>
          <p:cNvSpPr txBox="1"/>
          <p:nvPr/>
        </p:nvSpPr>
        <p:spPr>
          <a:xfrm>
            <a:off x="840743" y="9548498"/>
            <a:ext cx="7754617" cy="323850"/>
          </a:xfrm>
          <a:prstGeom prst="rect">
            <a:avLst/>
          </a:prstGeom>
        </p:spPr>
        <p:txBody>
          <a:bodyPr lIns="0" tIns="0" rIns="0" bIns="0" rtlCol="0" anchor="t">
            <a:spAutoFit/>
          </a:bodyPr>
          <a:lstStyle/>
          <a:p>
            <a:pPr algn="l">
              <a:lnSpc>
                <a:spcPts val="2520"/>
              </a:lnSpc>
            </a:pPr>
            <a:r>
              <a:rPr lang="en-US" sz="2100" spc="450">
                <a:solidFill>
                  <a:srgbClr val="BFBFBF"/>
                </a:solidFill>
                <a:latin typeface="Arial"/>
                <a:ea typeface="Arial"/>
                <a:cs typeface="Arial"/>
                <a:sym typeface="Arial"/>
              </a:rPr>
              <a:t>www.viettelhightech.vn </a:t>
            </a:r>
          </a:p>
        </p:txBody>
      </p:sp>
      <p:sp>
        <p:nvSpPr>
          <p:cNvPr id="13" name="TextBox 13"/>
          <p:cNvSpPr txBox="1"/>
          <p:nvPr/>
        </p:nvSpPr>
        <p:spPr>
          <a:xfrm>
            <a:off x="840743" y="1238893"/>
            <a:ext cx="6887599" cy="521589"/>
          </a:xfrm>
          <a:prstGeom prst="rect">
            <a:avLst/>
          </a:prstGeom>
        </p:spPr>
        <p:txBody>
          <a:bodyPr lIns="0" tIns="0" rIns="0" bIns="0" rtlCol="0" anchor="t">
            <a:spAutoFit/>
          </a:bodyPr>
          <a:lstStyle/>
          <a:p>
            <a:pPr algn="l">
              <a:lnSpc>
                <a:spcPts val="3888"/>
              </a:lnSpc>
              <a:spcBef>
                <a:spcPct val="0"/>
              </a:spcBef>
            </a:pPr>
            <a:r>
              <a:rPr lang="en-US" sz="3600">
                <a:solidFill>
                  <a:srgbClr val="EE0033"/>
                </a:solidFill>
                <a:latin typeface="Arial"/>
                <a:ea typeface="Arial"/>
                <a:cs typeface="Arial"/>
                <a:sym typeface="Arial"/>
              </a:rPr>
              <a:t>Named semaphore:</a:t>
            </a:r>
          </a:p>
        </p:txBody>
      </p:sp>
      <p:grpSp>
        <p:nvGrpSpPr>
          <p:cNvPr id="14" name="Group 14"/>
          <p:cNvGrpSpPr/>
          <p:nvPr/>
        </p:nvGrpSpPr>
        <p:grpSpPr>
          <a:xfrm>
            <a:off x="451542" y="300771"/>
            <a:ext cx="15770323" cy="767782"/>
            <a:chOff x="0" y="0"/>
            <a:chExt cx="21027098" cy="1023710"/>
          </a:xfrm>
        </p:grpSpPr>
        <p:sp>
          <p:nvSpPr>
            <p:cNvPr id="15" name="Freeform 15"/>
            <p:cNvSpPr/>
            <p:nvPr/>
          </p:nvSpPr>
          <p:spPr>
            <a:xfrm>
              <a:off x="0" y="0"/>
              <a:ext cx="21027095" cy="1023711"/>
            </a:xfrm>
            <a:custGeom>
              <a:avLst/>
              <a:gdLst/>
              <a:ahLst/>
              <a:cxnLst/>
              <a:rect l="l" t="t" r="r" b="b"/>
              <a:pathLst>
                <a:path w="21027095" h="1023711">
                  <a:moveTo>
                    <a:pt x="0" y="0"/>
                  </a:moveTo>
                  <a:lnTo>
                    <a:pt x="21027095" y="0"/>
                  </a:lnTo>
                  <a:lnTo>
                    <a:pt x="21027095" y="1023711"/>
                  </a:lnTo>
                  <a:lnTo>
                    <a:pt x="0" y="1023711"/>
                  </a:lnTo>
                  <a:close/>
                </a:path>
              </a:pathLst>
            </a:custGeom>
            <a:blipFill>
              <a:blip r:embed="rId5">
                <a:alphaModFix amt="0"/>
              </a:blip>
              <a:stretch>
                <a:fillRect t="-350224" b="-350223"/>
              </a:stretch>
            </a:blipFill>
          </p:spPr>
        </p:sp>
        <p:sp>
          <p:nvSpPr>
            <p:cNvPr id="16" name="TextBox 16"/>
            <p:cNvSpPr txBox="1"/>
            <p:nvPr/>
          </p:nvSpPr>
          <p:spPr>
            <a:xfrm>
              <a:off x="0" y="19050"/>
              <a:ext cx="21027098" cy="1004660"/>
            </a:xfrm>
            <a:prstGeom prst="rect">
              <a:avLst/>
            </a:prstGeom>
          </p:spPr>
          <p:txBody>
            <a:bodyPr lIns="0" tIns="0" rIns="0" bIns="0" rtlCol="0" anchor="b"/>
            <a:lstStyle/>
            <a:p>
              <a:pPr algn="l">
                <a:lnSpc>
                  <a:spcPts val="3888"/>
                </a:lnSpc>
              </a:pPr>
              <a:r>
                <a:rPr lang="en-US" sz="3600">
                  <a:solidFill>
                    <a:srgbClr val="EE0033"/>
                  </a:solidFill>
                  <a:latin typeface="Arial"/>
                  <a:ea typeface="Arial"/>
                  <a:cs typeface="Arial"/>
                  <a:sym typeface="Arial"/>
                </a:rPr>
                <a:t>III. INTER-PROCESS COMMUNICATION:</a:t>
              </a:r>
            </a:p>
          </p:txBody>
        </p:sp>
      </p:gr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9206494"/>
            <a:ext cx="18288000" cy="1080506"/>
            <a:chOff x="0" y="0"/>
            <a:chExt cx="24384000" cy="1440675"/>
          </a:xfrm>
        </p:grpSpPr>
        <p:sp>
          <p:nvSpPr>
            <p:cNvPr id="3" name="Freeform 3"/>
            <p:cNvSpPr/>
            <p:nvPr/>
          </p:nvSpPr>
          <p:spPr>
            <a:xfrm>
              <a:off x="0" y="0"/>
              <a:ext cx="24384000" cy="1440688"/>
            </a:xfrm>
            <a:custGeom>
              <a:avLst/>
              <a:gdLst/>
              <a:ahLst/>
              <a:cxnLst/>
              <a:rect l="l" t="t" r="r" b="b"/>
              <a:pathLst>
                <a:path w="24384000" h="1440688">
                  <a:moveTo>
                    <a:pt x="0" y="0"/>
                  </a:moveTo>
                  <a:lnTo>
                    <a:pt x="24384000" y="0"/>
                  </a:lnTo>
                  <a:lnTo>
                    <a:pt x="24384000" y="1440688"/>
                  </a:lnTo>
                  <a:lnTo>
                    <a:pt x="0" y="1440688"/>
                  </a:lnTo>
                  <a:lnTo>
                    <a:pt x="0" y="0"/>
                  </a:lnTo>
                  <a:close/>
                </a:path>
              </a:pathLst>
            </a:custGeom>
            <a:blipFill>
              <a:blip r:embed="rId3"/>
              <a:stretch>
                <a:fillRect t="-364" b="-364"/>
              </a:stretch>
            </a:blipFill>
          </p:spPr>
        </p:sp>
      </p:grpSp>
      <p:grpSp>
        <p:nvGrpSpPr>
          <p:cNvPr id="4" name="Group 4"/>
          <p:cNvGrpSpPr/>
          <p:nvPr/>
        </p:nvGrpSpPr>
        <p:grpSpPr>
          <a:xfrm>
            <a:off x="15473315" y="9370285"/>
            <a:ext cx="1741541" cy="745693"/>
            <a:chOff x="0" y="0"/>
            <a:chExt cx="2322055" cy="994258"/>
          </a:xfrm>
        </p:grpSpPr>
        <p:sp>
          <p:nvSpPr>
            <p:cNvPr id="5" name="Freeform 5"/>
            <p:cNvSpPr/>
            <p:nvPr/>
          </p:nvSpPr>
          <p:spPr>
            <a:xfrm>
              <a:off x="0" y="0"/>
              <a:ext cx="2322068" cy="994283"/>
            </a:xfrm>
            <a:custGeom>
              <a:avLst/>
              <a:gdLst/>
              <a:ahLst/>
              <a:cxnLst/>
              <a:rect l="l" t="t" r="r" b="b"/>
              <a:pathLst>
                <a:path w="2322068" h="994283">
                  <a:moveTo>
                    <a:pt x="0" y="0"/>
                  </a:moveTo>
                  <a:lnTo>
                    <a:pt x="2322068" y="0"/>
                  </a:lnTo>
                  <a:lnTo>
                    <a:pt x="2322068" y="994283"/>
                  </a:lnTo>
                  <a:lnTo>
                    <a:pt x="0" y="994283"/>
                  </a:lnTo>
                  <a:lnTo>
                    <a:pt x="0" y="0"/>
                  </a:lnTo>
                  <a:close/>
                </a:path>
              </a:pathLst>
            </a:custGeom>
            <a:blipFill>
              <a:blip r:embed="rId4"/>
              <a:stretch>
                <a:fillRect b="-1456"/>
              </a:stretch>
            </a:blipFill>
          </p:spPr>
        </p:sp>
      </p:grpSp>
      <p:grpSp>
        <p:nvGrpSpPr>
          <p:cNvPr id="6" name="Group 6"/>
          <p:cNvGrpSpPr/>
          <p:nvPr/>
        </p:nvGrpSpPr>
        <p:grpSpPr>
          <a:xfrm>
            <a:off x="9981438" y="9581550"/>
            <a:ext cx="4114800" cy="392420"/>
            <a:chOff x="0" y="0"/>
            <a:chExt cx="5486400" cy="523227"/>
          </a:xfrm>
        </p:grpSpPr>
        <p:sp>
          <p:nvSpPr>
            <p:cNvPr id="7" name="Freeform 7"/>
            <p:cNvSpPr/>
            <p:nvPr/>
          </p:nvSpPr>
          <p:spPr>
            <a:xfrm>
              <a:off x="0" y="0"/>
              <a:ext cx="5486400" cy="523222"/>
            </a:xfrm>
            <a:custGeom>
              <a:avLst/>
              <a:gdLst/>
              <a:ahLst/>
              <a:cxnLst/>
              <a:rect l="l" t="t" r="r" b="b"/>
              <a:pathLst>
                <a:path w="5486400" h="523222">
                  <a:moveTo>
                    <a:pt x="0" y="0"/>
                  </a:moveTo>
                  <a:lnTo>
                    <a:pt x="5486400" y="0"/>
                  </a:lnTo>
                  <a:lnTo>
                    <a:pt x="5486400" y="523222"/>
                  </a:lnTo>
                  <a:lnTo>
                    <a:pt x="0" y="523222"/>
                  </a:lnTo>
                  <a:close/>
                </a:path>
              </a:pathLst>
            </a:custGeom>
            <a:blipFill>
              <a:blip r:embed="rId5">
                <a:alphaModFix amt="0"/>
              </a:blip>
              <a:stretch>
                <a:fillRect t="-154315" b="-154316"/>
              </a:stretch>
            </a:blipFill>
          </p:spPr>
        </p:sp>
        <p:sp>
          <p:nvSpPr>
            <p:cNvPr id="8" name="TextBox 8"/>
            <p:cNvSpPr txBox="1"/>
            <p:nvPr/>
          </p:nvSpPr>
          <p:spPr>
            <a:xfrm>
              <a:off x="0" y="-9525"/>
              <a:ext cx="5486400" cy="532752"/>
            </a:xfrm>
            <a:prstGeom prst="rect">
              <a:avLst/>
            </a:prstGeom>
          </p:spPr>
          <p:txBody>
            <a:bodyPr lIns="0" tIns="0" rIns="0" bIns="0" rtlCol="0" anchor="ctr"/>
            <a:lstStyle/>
            <a:p>
              <a:pPr algn="r">
                <a:lnSpc>
                  <a:spcPts val="2520"/>
                </a:lnSpc>
              </a:pPr>
              <a:r>
                <a:rPr lang="en-US" sz="2100">
                  <a:solidFill>
                    <a:srgbClr val="BFBFBF"/>
                  </a:solidFill>
                  <a:latin typeface="Roboto"/>
                  <a:ea typeface="Roboto"/>
                  <a:cs typeface="Roboto"/>
                  <a:sym typeface="Roboto"/>
                </a:rPr>
                <a:t>‹#›</a:t>
              </a:r>
            </a:p>
          </p:txBody>
        </p:sp>
      </p:grpSp>
      <p:sp>
        <p:nvSpPr>
          <p:cNvPr id="9" name="Freeform 9"/>
          <p:cNvSpPr/>
          <p:nvPr/>
        </p:nvSpPr>
        <p:spPr>
          <a:xfrm>
            <a:off x="2642251" y="3041280"/>
            <a:ext cx="11499989" cy="2047397"/>
          </a:xfrm>
          <a:custGeom>
            <a:avLst/>
            <a:gdLst/>
            <a:ahLst/>
            <a:cxnLst/>
            <a:rect l="l" t="t" r="r" b="b"/>
            <a:pathLst>
              <a:path w="11499989" h="2047397">
                <a:moveTo>
                  <a:pt x="0" y="0"/>
                </a:moveTo>
                <a:lnTo>
                  <a:pt x="11499989" y="0"/>
                </a:lnTo>
                <a:lnTo>
                  <a:pt x="11499989" y="2047397"/>
                </a:lnTo>
                <a:lnTo>
                  <a:pt x="0" y="2047397"/>
                </a:lnTo>
                <a:lnTo>
                  <a:pt x="0" y="0"/>
                </a:lnTo>
                <a:close/>
              </a:path>
            </a:pathLst>
          </a:custGeom>
          <a:blipFill>
            <a:blip r:embed="rId6"/>
            <a:stretch>
              <a:fillRect/>
            </a:stretch>
          </a:blipFill>
        </p:spPr>
      </p:sp>
      <p:sp>
        <p:nvSpPr>
          <p:cNvPr id="10" name="Freeform 10"/>
          <p:cNvSpPr/>
          <p:nvPr/>
        </p:nvSpPr>
        <p:spPr>
          <a:xfrm>
            <a:off x="2586709" y="7041987"/>
            <a:ext cx="11611072" cy="2083049"/>
          </a:xfrm>
          <a:custGeom>
            <a:avLst/>
            <a:gdLst/>
            <a:ahLst/>
            <a:cxnLst/>
            <a:rect l="l" t="t" r="r" b="b"/>
            <a:pathLst>
              <a:path w="11611072" h="2083049">
                <a:moveTo>
                  <a:pt x="0" y="0"/>
                </a:moveTo>
                <a:lnTo>
                  <a:pt x="11611072" y="0"/>
                </a:lnTo>
                <a:lnTo>
                  <a:pt x="11611072" y="2083049"/>
                </a:lnTo>
                <a:lnTo>
                  <a:pt x="0" y="2083049"/>
                </a:lnTo>
                <a:lnTo>
                  <a:pt x="0" y="0"/>
                </a:lnTo>
                <a:close/>
              </a:path>
            </a:pathLst>
          </a:custGeom>
          <a:blipFill>
            <a:blip r:embed="rId7"/>
            <a:stretch>
              <a:fillRect/>
            </a:stretch>
          </a:blipFill>
        </p:spPr>
      </p:sp>
      <p:sp>
        <p:nvSpPr>
          <p:cNvPr id="11" name="TextBox 11"/>
          <p:cNvSpPr txBox="1"/>
          <p:nvPr/>
        </p:nvSpPr>
        <p:spPr>
          <a:xfrm>
            <a:off x="840743" y="9548498"/>
            <a:ext cx="7754617" cy="323850"/>
          </a:xfrm>
          <a:prstGeom prst="rect">
            <a:avLst/>
          </a:prstGeom>
        </p:spPr>
        <p:txBody>
          <a:bodyPr lIns="0" tIns="0" rIns="0" bIns="0" rtlCol="0" anchor="t">
            <a:spAutoFit/>
          </a:bodyPr>
          <a:lstStyle/>
          <a:p>
            <a:pPr algn="l">
              <a:lnSpc>
                <a:spcPts val="2520"/>
              </a:lnSpc>
            </a:pPr>
            <a:r>
              <a:rPr lang="en-US" sz="2100" spc="450">
                <a:solidFill>
                  <a:srgbClr val="BFBFBF"/>
                </a:solidFill>
                <a:latin typeface="Arial"/>
                <a:ea typeface="Arial"/>
                <a:cs typeface="Arial"/>
                <a:sym typeface="Arial"/>
              </a:rPr>
              <a:t>www.viettelhightech.vn </a:t>
            </a:r>
          </a:p>
        </p:txBody>
      </p:sp>
      <p:sp>
        <p:nvSpPr>
          <p:cNvPr id="12" name="TextBox 12"/>
          <p:cNvSpPr txBox="1"/>
          <p:nvPr/>
        </p:nvSpPr>
        <p:spPr>
          <a:xfrm>
            <a:off x="840743" y="1238893"/>
            <a:ext cx="6887599" cy="521589"/>
          </a:xfrm>
          <a:prstGeom prst="rect">
            <a:avLst/>
          </a:prstGeom>
        </p:spPr>
        <p:txBody>
          <a:bodyPr lIns="0" tIns="0" rIns="0" bIns="0" rtlCol="0" anchor="t">
            <a:spAutoFit/>
          </a:bodyPr>
          <a:lstStyle/>
          <a:p>
            <a:pPr algn="l">
              <a:lnSpc>
                <a:spcPts val="3888"/>
              </a:lnSpc>
              <a:spcBef>
                <a:spcPct val="0"/>
              </a:spcBef>
            </a:pPr>
            <a:r>
              <a:rPr lang="en-US" sz="3600">
                <a:solidFill>
                  <a:srgbClr val="EE0033"/>
                </a:solidFill>
                <a:latin typeface="Arial"/>
                <a:ea typeface="Arial"/>
                <a:cs typeface="Arial"/>
                <a:sym typeface="Arial"/>
              </a:rPr>
              <a:t>Unnamed semaphore:</a:t>
            </a:r>
          </a:p>
        </p:txBody>
      </p:sp>
      <p:sp>
        <p:nvSpPr>
          <p:cNvPr id="13" name="TextBox 13"/>
          <p:cNvSpPr txBox="1"/>
          <p:nvPr/>
        </p:nvSpPr>
        <p:spPr>
          <a:xfrm>
            <a:off x="840743" y="1931932"/>
            <a:ext cx="15488149" cy="1007364"/>
          </a:xfrm>
          <a:prstGeom prst="rect">
            <a:avLst/>
          </a:prstGeom>
        </p:spPr>
        <p:txBody>
          <a:bodyPr lIns="0" tIns="0" rIns="0" bIns="0" rtlCol="0" anchor="t">
            <a:spAutoFit/>
          </a:bodyPr>
          <a:lstStyle/>
          <a:p>
            <a:pPr algn="l">
              <a:lnSpc>
                <a:spcPts val="3888"/>
              </a:lnSpc>
              <a:spcBef>
                <a:spcPct val="0"/>
              </a:spcBef>
            </a:pPr>
            <a:r>
              <a:rPr lang="en-US" sz="3600">
                <a:solidFill>
                  <a:srgbClr val="000000"/>
                </a:solidFill>
                <a:latin typeface="Arial"/>
                <a:ea typeface="Arial"/>
                <a:cs typeface="Arial"/>
                <a:sym typeface="Arial"/>
              </a:rPr>
              <a:t>Unnamed semaphore là các biến có kiểu sem_t, được lưu trong vùng nhớ do chính ứng dụng cấp phát. </a:t>
            </a:r>
          </a:p>
        </p:txBody>
      </p:sp>
      <p:sp>
        <p:nvSpPr>
          <p:cNvPr id="14" name="TextBox 14"/>
          <p:cNvSpPr txBox="1"/>
          <p:nvPr/>
        </p:nvSpPr>
        <p:spPr>
          <a:xfrm>
            <a:off x="817934" y="5260127"/>
            <a:ext cx="16135499" cy="521589"/>
          </a:xfrm>
          <a:prstGeom prst="rect">
            <a:avLst/>
          </a:prstGeom>
        </p:spPr>
        <p:txBody>
          <a:bodyPr lIns="0" tIns="0" rIns="0" bIns="0" rtlCol="0" anchor="t">
            <a:spAutoFit/>
          </a:bodyPr>
          <a:lstStyle/>
          <a:p>
            <a:pPr algn="ctr">
              <a:lnSpc>
                <a:spcPts val="3888"/>
              </a:lnSpc>
              <a:spcBef>
                <a:spcPct val="0"/>
              </a:spcBef>
            </a:pPr>
            <a:r>
              <a:rPr lang="en-US" sz="3600">
                <a:solidFill>
                  <a:srgbClr val="000000"/>
                </a:solidFill>
                <a:latin typeface="Arial"/>
                <a:ea typeface="Arial"/>
                <a:cs typeface="Arial"/>
                <a:sym typeface="Arial"/>
              </a:rPr>
              <a:t>pshared == 0, Semaphore được chia sẻ giữa các thread của cùng một process.</a:t>
            </a:r>
          </a:p>
        </p:txBody>
      </p:sp>
      <p:sp>
        <p:nvSpPr>
          <p:cNvPr id="15" name="TextBox 15"/>
          <p:cNvSpPr txBox="1"/>
          <p:nvPr/>
        </p:nvSpPr>
        <p:spPr>
          <a:xfrm>
            <a:off x="840743" y="5953166"/>
            <a:ext cx="16396922" cy="1007364"/>
          </a:xfrm>
          <a:prstGeom prst="rect">
            <a:avLst/>
          </a:prstGeom>
        </p:spPr>
        <p:txBody>
          <a:bodyPr lIns="0" tIns="0" rIns="0" bIns="0" rtlCol="0" anchor="t">
            <a:spAutoFit/>
          </a:bodyPr>
          <a:lstStyle/>
          <a:p>
            <a:pPr algn="l">
              <a:lnSpc>
                <a:spcPts val="3888"/>
              </a:lnSpc>
              <a:spcBef>
                <a:spcPct val="0"/>
              </a:spcBef>
            </a:pPr>
            <a:r>
              <a:rPr lang="en-US" sz="3600">
                <a:solidFill>
                  <a:srgbClr val="000000"/>
                </a:solidFill>
                <a:latin typeface="Arial"/>
                <a:ea typeface="Arial"/>
                <a:cs typeface="Arial"/>
                <a:sym typeface="Arial"/>
              </a:rPr>
              <a:t>pshared != 0, Semaphore được chia sẻ giữa các process. Trường hợp này, sem phải nằm trong shared memory, </a:t>
            </a:r>
          </a:p>
        </p:txBody>
      </p:sp>
      <p:grpSp>
        <p:nvGrpSpPr>
          <p:cNvPr id="16" name="Group 16"/>
          <p:cNvGrpSpPr/>
          <p:nvPr/>
        </p:nvGrpSpPr>
        <p:grpSpPr>
          <a:xfrm>
            <a:off x="451542" y="300771"/>
            <a:ext cx="15770323" cy="767782"/>
            <a:chOff x="0" y="0"/>
            <a:chExt cx="21027098" cy="1023710"/>
          </a:xfrm>
        </p:grpSpPr>
        <p:sp>
          <p:nvSpPr>
            <p:cNvPr id="17" name="Freeform 17"/>
            <p:cNvSpPr/>
            <p:nvPr/>
          </p:nvSpPr>
          <p:spPr>
            <a:xfrm>
              <a:off x="0" y="0"/>
              <a:ext cx="21027095" cy="1023711"/>
            </a:xfrm>
            <a:custGeom>
              <a:avLst/>
              <a:gdLst/>
              <a:ahLst/>
              <a:cxnLst/>
              <a:rect l="l" t="t" r="r" b="b"/>
              <a:pathLst>
                <a:path w="21027095" h="1023711">
                  <a:moveTo>
                    <a:pt x="0" y="0"/>
                  </a:moveTo>
                  <a:lnTo>
                    <a:pt x="21027095" y="0"/>
                  </a:lnTo>
                  <a:lnTo>
                    <a:pt x="21027095" y="1023711"/>
                  </a:lnTo>
                  <a:lnTo>
                    <a:pt x="0" y="1023711"/>
                  </a:lnTo>
                  <a:close/>
                </a:path>
              </a:pathLst>
            </a:custGeom>
            <a:blipFill>
              <a:blip r:embed="rId5">
                <a:alphaModFix amt="0"/>
              </a:blip>
              <a:stretch>
                <a:fillRect t="-350224" b="-350223"/>
              </a:stretch>
            </a:blipFill>
          </p:spPr>
        </p:sp>
        <p:sp>
          <p:nvSpPr>
            <p:cNvPr id="18" name="TextBox 18"/>
            <p:cNvSpPr txBox="1"/>
            <p:nvPr/>
          </p:nvSpPr>
          <p:spPr>
            <a:xfrm>
              <a:off x="0" y="19050"/>
              <a:ext cx="21027098" cy="1004660"/>
            </a:xfrm>
            <a:prstGeom prst="rect">
              <a:avLst/>
            </a:prstGeom>
          </p:spPr>
          <p:txBody>
            <a:bodyPr lIns="0" tIns="0" rIns="0" bIns="0" rtlCol="0" anchor="b"/>
            <a:lstStyle/>
            <a:p>
              <a:pPr algn="l">
                <a:lnSpc>
                  <a:spcPts val="3888"/>
                </a:lnSpc>
              </a:pPr>
              <a:r>
                <a:rPr lang="en-US" sz="3600">
                  <a:solidFill>
                    <a:srgbClr val="EE0033"/>
                  </a:solidFill>
                  <a:latin typeface="Arial"/>
                  <a:ea typeface="Arial"/>
                  <a:cs typeface="Arial"/>
                  <a:sym typeface="Arial"/>
                </a:rPr>
                <a:t>III. INTER-PROCESS COMMUNICATION:</a:t>
              </a:r>
            </a:p>
          </p:txBody>
        </p:sp>
      </p:gr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9206494"/>
            <a:ext cx="18288000" cy="1080506"/>
            <a:chOff x="0" y="0"/>
            <a:chExt cx="24384000" cy="1440675"/>
          </a:xfrm>
        </p:grpSpPr>
        <p:sp>
          <p:nvSpPr>
            <p:cNvPr id="3" name="Freeform 3"/>
            <p:cNvSpPr/>
            <p:nvPr/>
          </p:nvSpPr>
          <p:spPr>
            <a:xfrm>
              <a:off x="0" y="0"/>
              <a:ext cx="24384000" cy="1440688"/>
            </a:xfrm>
            <a:custGeom>
              <a:avLst/>
              <a:gdLst/>
              <a:ahLst/>
              <a:cxnLst/>
              <a:rect l="l" t="t" r="r" b="b"/>
              <a:pathLst>
                <a:path w="24384000" h="1440688">
                  <a:moveTo>
                    <a:pt x="0" y="0"/>
                  </a:moveTo>
                  <a:lnTo>
                    <a:pt x="24384000" y="0"/>
                  </a:lnTo>
                  <a:lnTo>
                    <a:pt x="24384000" y="1440688"/>
                  </a:lnTo>
                  <a:lnTo>
                    <a:pt x="0" y="1440688"/>
                  </a:lnTo>
                  <a:lnTo>
                    <a:pt x="0" y="0"/>
                  </a:lnTo>
                  <a:close/>
                </a:path>
              </a:pathLst>
            </a:custGeom>
            <a:blipFill>
              <a:blip r:embed="rId3"/>
              <a:stretch>
                <a:fillRect t="-364" b="-364"/>
              </a:stretch>
            </a:blipFill>
          </p:spPr>
        </p:sp>
      </p:grpSp>
      <p:grpSp>
        <p:nvGrpSpPr>
          <p:cNvPr id="4" name="Group 4"/>
          <p:cNvGrpSpPr/>
          <p:nvPr/>
        </p:nvGrpSpPr>
        <p:grpSpPr>
          <a:xfrm>
            <a:off x="15473315" y="9370285"/>
            <a:ext cx="1741541" cy="745693"/>
            <a:chOff x="0" y="0"/>
            <a:chExt cx="2322055" cy="994258"/>
          </a:xfrm>
        </p:grpSpPr>
        <p:sp>
          <p:nvSpPr>
            <p:cNvPr id="5" name="Freeform 5"/>
            <p:cNvSpPr/>
            <p:nvPr/>
          </p:nvSpPr>
          <p:spPr>
            <a:xfrm>
              <a:off x="0" y="0"/>
              <a:ext cx="2322068" cy="994283"/>
            </a:xfrm>
            <a:custGeom>
              <a:avLst/>
              <a:gdLst/>
              <a:ahLst/>
              <a:cxnLst/>
              <a:rect l="l" t="t" r="r" b="b"/>
              <a:pathLst>
                <a:path w="2322068" h="994283">
                  <a:moveTo>
                    <a:pt x="0" y="0"/>
                  </a:moveTo>
                  <a:lnTo>
                    <a:pt x="2322068" y="0"/>
                  </a:lnTo>
                  <a:lnTo>
                    <a:pt x="2322068" y="994283"/>
                  </a:lnTo>
                  <a:lnTo>
                    <a:pt x="0" y="994283"/>
                  </a:lnTo>
                  <a:lnTo>
                    <a:pt x="0" y="0"/>
                  </a:lnTo>
                  <a:close/>
                </a:path>
              </a:pathLst>
            </a:custGeom>
            <a:blipFill>
              <a:blip r:embed="rId4"/>
              <a:stretch>
                <a:fillRect b="-1456"/>
              </a:stretch>
            </a:blipFill>
          </p:spPr>
        </p:sp>
      </p:grpSp>
      <p:grpSp>
        <p:nvGrpSpPr>
          <p:cNvPr id="6" name="Group 6"/>
          <p:cNvGrpSpPr/>
          <p:nvPr/>
        </p:nvGrpSpPr>
        <p:grpSpPr>
          <a:xfrm>
            <a:off x="9981438" y="9581550"/>
            <a:ext cx="4114800" cy="392420"/>
            <a:chOff x="0" y="0"/>
            <a:chExt cx="5486400" cy="523227"/>
          </a:xfrm>
        </p:grpSpPr>
        <p:sp>
          <p:nvSpPr>
            <p:cNvPr id="7" name="Freeform 7"/>
            <p:cNvSpPr/>
            <p:nvPr/>
          </p:nvSpPr>
          <p:spPr>
            <a:xfrm>
              <a:off x="0" y="0"/>
              <a:ext cx="5486400" cy="523222"/>
            </a:xfrm>
            <a:custGeom>
              <a:avLst/>
              <a:gdLst/>
              <a:ahLst/>
              <a:cxnLst/>
              <a:rect l="l" t="t" r="r" b="b"/>
              <a:pathLst>
                <a:path w="5486400" h="523222">
                  <a:moveTo>
                    <a:pt x="0" y="0"/>
                  </a:moveTo>
                  <a:lnTo>
                    <a:pt x="5486400" y="0"/>
                  </a:lnTo>
                  <a:lnTo>
                    <a:pt x="5486400" y="523222"/>
                  </a:lnTo>
                  <a:lnTo>
                    <a:pt x="0" y="523222"/>
                  </a:lnTo>
                  <a:close/>
                </a:path>
              </a:pathLst>
            </a:custGeom>
            <a:blipFill>
              <a:blip r:embed="rId5">
                <a:alphaModFix amt="0"/>
              </a:blip>
              <a:stretch>
                <a:fillRect t="-154315" b="-154316"/>
              </a:stretch>
            </a:blipFill>
          </p:spPr>
        </p:sp>
        <p:sp>
          <p:nvSpPr>
            <p:cNvPr id="8" name="TextBox 8"/>
            <p:cNvSpPr txBox="1"/>
            <p:nvPr/>
          </p:nvSpPr>
          <p:spPr>
            <a:xfrm>
              <a:off x="0" y="-9525"/>
              <a:ext cx="5486400" cy="532752"/>
            </a:xfrm>
            <a:prstGeom prst="rect">
              <a:avLst/>
            </a:prstGeom>
          </p:spPr>
          <p:txBody>
            <a:bodyPr lIns="0" tIns="0" rIns="0" bIns="0" rtlCol="0" anchor="ctr"/>
            <a:lstStyle/>
            <a:p>
              <a:pPr algn="r">
                <a:lnSpc>
                  <a:spcPts val="2520"/>
                </a:lnSpc>
              </a:pPr>
              <a:r>
                <a:rPr lang="en-US" sz="2100">
                  <a:solidFill>
                    <a:srgbClr val="BFBFBF"/>
                  </a:solidFill>
                  <a:latin typeface="Roboto"/>
                  <a:ea typeface="Roboto"/>
                  <a:cs typeface="Roboto"/>
                  <a:sym typeface="Roboto"/>
                </a:rPr>
                <a:t>‹#›</a:t>
              </a:r>
            </a:p>
          </p:txBody>
        </p:sp>
      </p:grpSp>
      <p:grpSp>
        <p:nvGrpSpPr>
          <p:cNvPr id="9" name="Group 9"/>
          <p:cNvGrpSpPr/>
          <p:nvPr/>
        </p:nvGrpSpPr>
        <p:grpSpPr>
          <a:xfrm>
            <a:off x="451542" y="300771"/>
            <a:ext cx="15770323" cy="767782"/>
            <a:chOff x="0" y="0"/>
            <a:chExt cx="21027098" cy="1023710"/>
          </a:xfrm>
        </p:grpSpPr>
        <p:sp>
          <p:nvSpPr>
            <p:cNvPr id="10" name="Freeform 10"/>
            <p:cNvSpPr/>
            <p:nvPr/>
          </p:nvSpPr>
          <p:spPr>
            <a:xfrm>
              <a:off x="0" y="0"/>
              <a:ext cx="21027095" cy="1023711"/>
            </a:xfrm>
            <a:custGeom>
              <a:avLst/>
              <a:gdLst/>
              <a:ahLst/>
              <a:cxnLst/>
              <a:rect l="l" t="t" r="r" b="b"/>
              <a:pathLst>
                <a:path w="21027095" h="1023711">
                  <a:moveTo>
                    <a:pt x="0" y="0"/>
                  </a:moveTo>
                  <a:lnTo>
                    <a:pt x="21027095" y="0"/>
                  </a:lnTo>
                  <a:lnTo>
                    <a:pt x="21027095" y="1023711"/>
                  </a:lnTo>
                  <a:lnTo>
                    <a:pt x="0" y="1023711"/>
                  </a:lnTo>
                  <a:close/>
                </a:path>
              </a:pathLst>
            </a:custGeom>
            <a:blipFill>
              <a:blip r:embed="rId5">
                <a:alphaModFix amt="0"/>
              </a:blip>
              <a:stretch>
                <a:fillRect t="-350224" b="-350223"/>
              </a:stretch>
            </a:blipFill>
          </p:spPr>
        </p:sp>
        <p:sp>
          <p:nvSpPr>
            <p:cNvPr id="11" name="TextBox 11"/>
            <p:cNvSpPr txBox="1"/>
            <p:nvPr/>
          </p:nvSpPr>
          <p:spPr>
            <a:xfrm>
              <a:off x="0" y="19050"/>
              <a:ext cx="21027098" cy="1004660"/>
            </a:xfrm>
            <a:prstGeom prst="rect">
              <a:avLst/>
            </a:prstGeom>
          </p:spPr>
          <p:txBody>
            <a:bodyPr lIns="0" tIns="0" rIns="0" bIns="0" rtlCol="0" anchor="b"/>
            <a:lstStyle/>
            <a:p>
              <a:pPr algn="l">
                <a:lnSpc>
                  <a:spcPts val="3888"/>
                </a:lnSpc>
              </a:pPr>
              <a:r>
                <a:rPr lang="en-US" sz="3600">
                  <a:solidFill>
                    <a:srgbClr val="EE0033"/>
                  </a:solidFill>
                  <a:latin typeface="Arial"/>
                  <a:ea typeface="Arial"/>
                  <a:cs typeface="Arial"/>
                  <a:sym typeface="Arial"/>
                </a:rPr>
                <a:t>III. INTER-PROCESS COMMUNICATION:</a:t>
              </a:r>
            </a:p>
          </p:txBody>
        </p:sp>
      </p:grpSp>
      <p:sp>
        <p:nvSpPr>
          <p:cNvPr id="12" name="Freeform 12"/>
          <p:cNvSpPr/>
          <p:nvPr/>
        </p:nvSpPr>
        <p:spPr>
          <a:xfrm>
            <a:off x="12999142" y="2474077"/>
            <a:ext cx="5137100" cy="4978814"/>
          </a:xfrm>
          <a:custGeom>
            <a:avLst/>
            <a:gdLst/>
            <a:ahLst/>
            <a:cxnLst/>
            <a:rect l="l" t="t" r="r" b="b"/>
            <a:pathLst>
              <a:path w="5137100" h="4978814">
                <a:moveTo>
                  <a:pt x="0" y="0"/>
                </a:moveTo>
                <a:lnTo>
                  <a:pt x="5137100" y="0"/>
                </a:lnTo>
                <a:lnTo>
                  <a:pt x="5137100" y="4978814"/>
                </a:lnTo>
                <a:lnTo>
                  <a:pt x="0" y="4978814"/>
                </a:lnTo>
                <a:lnTo>
                  <a:pt x="0" y="0"/>
                </a:lnTo>
                <a:close/>
              </a:path>
            </a:pathLst>
          </a:custGeom>
          <a:blipFill>
            <a:blip r:embed="rId6"/>
            <a:stretch>
              <a:fillRect/>
            </a:stretch>
          </a:blipFill>
        </p:spPr>
      </p:sp>
      <p:sp>
        <p:nvSpPr>
          <p:cNvPr id="13" name="Freeform 13"/>
          <p:cNvSpPr/>
          <p:nvPr/>
        </p:nvSpPr>
        <p:spPr>
          <a:xfrm>
            <a:off x="329215" y="2100313"/>
            <a:ext cx="4872009" cy="5410849"/>
          </a:xfrm>
          <a:custGeom>
            <a:avLst/>
            <a:gdLst/>
            <a:ahLst/>
            <a:cxnLst/>
            <a:rect l="l" t="t" r="r" b="b"/>
            <a:pathLst>
              <a:path w="4872009" h="5410849">
                <a:moveTo>
                  <a:pt x="0" y="0"/>
                </a:moveTo>
                <a:lnTo>
                  <a:pt x="4872009" y="0"/>
                </a:lnTo>
                <a:lnTo>
                  <a:pt x="4872009" y="5410849"/>
                </a:lnTo>
                <a:lnTo>
                  <a:pt x="0" y="5410849"/>
                </a:lnTo>
                <a:lnTo>
                  <a:pt x="0" y="0"/>
                </a:lnTo>
                <a:close/>
              </a:path>
            </a:pathLst>
          </a:custGeom>
          <a:blipFill>
            <a:blip r:embed="rId7"/>
            <a:stretch>
              <a:fillRect/>
            </a:stretch>
          </a:blipFill>
        </p:spPr>
      </p:sp>
      <p:sp>
        <p:nvSpPr>
          <p:cNvPr id="14" name="Freeform 14"/>
          <p:cNvSpPr/>
          <p:nvPr/>
        </p:nvSpPr>
        <p:spPr>
          <a:xfrm>
            <a:off x="5796906" y="2666575"/>
            <a:ext cx="6906352" cy="4593818"/>
          </a:xfrm>
          <a:custGeom>
            <a:avLst/>
            <a:gdLst/>
            <a:ahLst/>
            <a:cxnLst/>
            <a:rect l="l" t="t" r="r" b="b"/>
            <a:pathLst>
              <a:path w="6906352" h="4593818">
                <a:moveTo>
                  <a:pt x="0" y="0"/>
                </a:moveTo>
                <a:lnTo>
                  <a:pt x="6906352" y="0"/>
                </a:lnTo>
                <a:lnTo>
                  <a:pt x="6906352" y="4593818"/>
                </a:lnTo>
                <a:lnTo>
                  <a:pt x="0" y="4593818"/>
                </a:lnTo>
                <a:lnTo>
                  <a:pt x="0" y="0"/>
                </a:lnTo>
                <a:close/>
              </a:path>
            </a:pathLst>
          </a:custGeom>
          <a:blipFill>
            <a:blip r:embed="rId8"/>
            <a:stretch>
              <a:fillRect/>
            </a:stretch>
          </a:blipFill>
        </p:spPr>
      </p:sp>
      <p:sp>
        <p:nvSpPr>
          <p:cNvPr id="15" name="TextBox 15"/>
          <p:cNvSpPr txBox="1"/>
          <p:nvPr/>
        </p:nvSpPr>
        <p:spPr>
          <a:xfrm>
            <a:off x="840743" y="9548498"/>
            <a:ext cx="7754617" cy="323850"/>
          </a:xfrm>
          <a:prstGeom prst="rect">
            <a:avLst/>
          </a:prstGeom>
        </p:spPr>
        <p:txBody>
          <a:bodyPr lIns="0" tIns="0" rIns="0" bIns="0" rtlCol="0" anchor="t">
            <a:spAutoFit/>
          </a:bodyPr>
          <a:lstStyle/>
          <a:p>
            <a:pPr algn="l">
              <a:lnSpc>
                <a:spcPts val="2520"/>
              </a:lnSpc>
            </a:pPr>
            <a:r>
              <a:rPr lang="en-US" sz="2100" spc="450">
                <a:solidFill>
                  <a:srgbClr val="BFBFBF"/>
                </a:solidFill>
                <a:latin typeface="Arial"/>
                <a:ea typeface="Arial"/>
                <a:cs typeface="Arial"/>
                <a:sym typeface="Arial"/>
              </a:rPr>
              <a:t>www.viettelhightech.vn </a:t>
            </a:r>
          </a:p>
        </p:txBody>
      </p:sp>
      <p:sp>
        <p:nvSpPr>
          <p:cNvPr id="16" name="TextBox 16"/>
          <p:cNvSpPr txBox="1"/>
          <p:nvPr/>
        </p:nvSpPr>
        <p:spPr>
          <a:xfrm>
            <a:off x="840743" y="1238893"/>
            <a:ext cx="6887599" cy="521589"/>
          </a:xfrm>
          <a:prstGeom prst="rect">
            <a:avLst/>
          </a:prstGeom>
        </p:spPr>
        <p:txBody>
          <a:bodyPr lIns="0" tIns="0" rIns="0" bIns="0" rtlCol="0" anchor="t">
            <a:spAutoFit/>
          </a:bodyPr>
          <a:lstStyle/>
          <a:p>
            <a:pPr algn="l">
              <a:lnSpc>
                <a:spcPts val="3888"/>
              </a:lnSpc>
              <a:spcBef>
                <a:spcPct val="0"/>
              </a:spcBef>
            </a:pPr>
            <a:r>
              <a:rPr lang="en-US" sz="3600">
                <a:solidFill>
                  <a:srgbClr val="EE0033"/>
                </a:solidFill>
                <a:latin typeface="Arial"/>
                <a:ea typeface="Arial"/>
                <a:cs typeface="Arial"/>
                <a:sym typeface="Arial"/>
              </a:rPr>
              <a:t>Unnamed semaphore:</a:t>
            </a: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9206494"/>
            <a:ext cx="18288000" cy="1080506"/>
            <a:chOff x="0" y="0"/>
            <a:chExt cx="24384000" cy="1440675"/>
          </a:xfrm>
        </p:grpSpPr>
        <p:sp>
          <p:nvSpPr>
            <p:cNvPr id="3" name="Freeform 3"/>
            <p:cNvSpPr/>
            <p:nvPr/>
          </p:nvSpPr>
          <p:spPr>
            <a:xfrm>
              <a:off x="0" y="0"/>
              <a:ext cx="24384000" cy="1440688"/>
            </a:xfrm>
            <a:custGeom>
              <a:avLst/>
              <a:gdLst/>
              <a:ahLst/>
              <a:cxnLst/>
              <a:rect l="l" t="t" r="r" b="b"/>
              <a:pathLst>
                <a:path w="24384000" h="1440688">
                  <a:moveTo>
                    <a:pt x="0" y="0"/>
                  </a:moveTo>
                  <a:lnTo>
                    <a:pt x="24384000" y="0"/>
                  </a:lnTo>
                  <a:lnTo>
                    <a:pt x="24384000" y="1440688"/>
                  </a:lnTo>
                  <a:lnTo>
                    <a:pt x="0" y="1440688"/>
                  </a:lnTo>
                  <a:lnTo>
                    <a:pt x="0" y="0"/>
                  </a:lnTo>
                  <a:close/>
                </a:path>
              </a:pathLst>
            </a:custGeom>
            <a:blipFill>
              <a:blip r:embed="rId3"/>
              <a:stretch>
                <a:fillRect t="-364" b="-364"/>
              </a:stretch>
            </a:blipFill>
          </p:spPr>
        </p:sp>
      </p:grpSp>
      <p:grpSp>
        <p:nvGrpSpPr>
          <p:cNvPr id="4" name="Group 4"/>
          <p:cNvGrpSpPr/>
          <p:nvPr/>
        </p:nvGrpSpPr>
        <p:grpSpPr>
          <a:xfrm>
            <a:off x="15473315" y="9370285"/>
            <a:ext cx="1741541" cy="745693"/>
            <a:chOff x="0" y="0"/>
            <a:chExt cx="2322055" cy="994258"/>
          </a:xfrm>
        </p:grpSpPr>
        <p:sp>
          <p:nvSpPr>
            <p:cNvPr id="5" name="Freeform 5"/>
            <p:cNvSpPr/>
            <p:nvPr/>
          </p:nvSpPr>
          <p:spPr>
            <a:xfrm>
              <a:off x="0" y="0"/>
              <a:ext cx="2322068" cy="994283"/>
            </a:xfrm>
            <a:custGeom>
              <a:avLst/>
              <a:gdLst/>
              <a:ahLst/>
              <a:cxnLst/>
              <a:rect l="l" t="t" r="r" b="b"/>
              <a:pathLst>
                <a:path w="2322068" h="994283">
                  <a:moveTo>
                    <a:pt x="0" y="0"/>
                  </a:moveTo>
                  <a:lnTo>
                    <a:pt x="2322068" y="0"/>
                  </a:lnTo>
                  <a:lnTo>
                    <a:pt x="2322068" y="994283"/>
                  </a:lnTo>
                  <a:lnTo>
                    <a:pt x="0" y="994283"/>
                  </a:lnTo>
                  <a:lnTo>
                    <a:pt x="0" y="0"/>
                  </a:lnTo>
                  <a:close/>
                </a:path>
              </a:pathLst>
            </a:custGeom>
            <a:blipFill>
              <a:blip r:embed="rId4"/>
              <a:stretch>
                <a:fillRect b="-1456"/>
              </a:stretch>
            </a:blipFill>
          </p:spPr>
        </p:sp>
      </p:grpSp>
      <p:grpSp>
        <p:nvGrpSpPr>
          <p:cNvPr id="6" name="Group 6"/>
          <p:cNvGrpSpPr/>
          <p:nvPr/>
        </p:nvGrpSpPr>
        <p:grpSpPr>
          <a:xfrm>
            <a:off x="9981438" y="9581550"/>
            <a:ext cx="4114800" cy="392420"/>
            <a:chOff x="0" y="0"/>
            <a:chExt cx="5486400" cy="523227"/>
          </a:xfrm>
        </p:grpSpPr>
        <p:sp>
          <p:nvSpPr>
            <p:cNvPr id="7" name="Freeform 7"/>
            <p:cNvSpPr/>
            <p:nvPr/>
          </p:nvSpPr>
          <p:spPr>
            <a:xfrm>
              <a:off x="0" y="0"/>
              <a:ext cx="5486400" cy="523222"/>
            </a:xfrm>
            <a:custGeom>
              <a:avLst/>
              <a:gdLst/>
              <a:ahLst/>
              <a:cxnLst/>
              <a:rect l="l" t="t" r="r" b="b"/>
              <a:pathLst>
                <a:path w="5486400" h="523222">
                  <a:moveTo>
                    <a:pt x="0" y="0"/>
                  </a:moveTo>
                  <a:lnTo>
                    <a:pt x="5486400" y="0"/>
                  </a:lnTo>
                  <a:lnTo>
                    <a:pt x="5486400" y="523222"/>
                  </a:lnTo>
                  <a:lnTo>
                    <a:pt x="0" y="523222"/>
                  </a:lnTo>
                  <a:close/>
                </a:path>
              </a:pathLst>
            </a:custGeom>
            <a:blipFill>
              <a:blip r:embed="rId5">
                <a:alphaModFix amt="0"/>
              </a:blip>
              <a:stretch>
                <a:fillRect t="-154315" b="-154316"/>
              </a:stretch>
            </a:blipFill>
          </p:spPr>
        </p:sp>
        <p:sp>
          <p:nvSpPr>
            <p:cNvPr id="8" name="TextBox 8"/>
            <p:cNvSpPr txBox="1"/>
            <p:nvPr/>
          </p:nvSpPr>
          <p:spPr>
            <a:xfrm>
              <a:off x="0" y="-9525"/>
              <a:ext cx="5486400" cy="532752"/>
            </a:xfrm>
            <a:prstGeom prst="rect">
              <a:avLst/>
            </a:prstGeom>
          </p:spPr>
          <p:txBody>
            <a:bodyPr lIns="0" tIns="0" rIns="0" bIns="0" rtlCol="0" anchor="ctr"/>
            <a:lstStyle/>
            <a:p>
              <a:pPr algn="r">
                <a:lnSpc>
                  <a:spcPts val="2520"/>
                </a:lnSpc>
              </a:pPr>
              <a:r>
                <a:rPr lang="en-US" sz="2100">
                  <a:solidFill>
                    <a:srgbClr val="BFBFBF"/>
                  </a:solidFill>
                  <a:latin typeface="Roboto"/>
                  <a:ea typeface="Roboto"/>
                  <a:cs typeface="Roboto"/>
                  <a:sym typeface="Roboto"/>
                </a:rPr>
                <a:t>‹#›</a:t>
              </a:r>
            </a:p>
          </p:txBody>
        </p:sp>
      </p:grpSp>
      <p:sp>
        <p:nvSpPr>
          <p:cNvPr id="9" name="Freeform 9"/>
          <p:cNvSpPr/>
          <p:nvPr/>
        </p:nvSpPr>
        <p:spPr>
          <a:xfrm>
            <a:off x="5729571" y="6945359"/>
            <a:ext cx="8155008" cy="2035630"/>
          </a:xfrm>
          <a:custGeom>
            <a:avLst/>
            <a:gdLst/>
            <a:ahLst/>
            <a:cxnLst/>
            <a:rect l="l" t="t" r="r" b="b"/>
            <a:pathLst>
              <a:path w="8155008" h="2035630">
                <a:moveTo>
                  <a:pt x="0" y="0"/>
                </a:moveTo>
                <a:lnTo>
                  <a:pt x="8155007" y="0"/>
                </a:lnTo>
                <a:lnTo>
                  <a:pt x="8155007" y="2035630"/>
                </a:lnTo>
                <a:lnTo>
                  <a:pt x="0" y="2035630"/>
                </a:lnTo>
                <a:lnTo>
                  <a:pt x="0" y="0"/>
                </a:lnTo>
                <a:close/>
              </a:path>
            </a:pathLst>
          </a:custGeom>
          <a:blipFill>
            <a:blip r:embed="rId6"/>
            <a:stretch>
              <a:fillRect/>
            </a:stretch>
          </a:blipFill>
        </p:spPr>
      </p:sp>
      <p:sp>
        <p:nvSpPr>
          <p:cNvPr id="10" name="Freeform 10"/>
          <p:cNvSpPr/>
          <p:nvPr/>
        </p:nvSpPr>
        <p:spPr>
          <a:xfrm>
            <a:off x="1260840" y="2133925"/>
            <a:ext cx="3778719" cy="6358726"/>
          </a:xfrm>
          <a:custGeom>
            <a:avLst/>
            <a:gdLst/>
            <a:ahLst/>
            <a:cxnLst/>
            <a:rect l="l" t="t" r="r" b="b"/>
            <a:pathLst>
              <a:path w="3778719" h="6358726">
                <a:moveTo>
                  <a:pt x="0" y="0"/>
                </a:moveTo>
                <a:lnTo>
                  <a:pt x="3778719" y="0"/>
                </a:lnTo>
                <a:lnTo>
                  <a:pt x="3778719" y="6358726"/>
                </a:lnTo>
                <a:lnTo>
                  <a:pt x="0" y="6358726"/>
                </a:lnTo>
                <a:lnTo>
                  <a:pt x="0" y="0"/>
                </a:lnTo>
                <a:close/>
              </a:path>
            </a:pathLst>
          </a:custGeom>
          <a:blipFill>
            <a:blip r:embed="rId7"/>
            <a:stretch>
              <a:fillRect/>
            </a:stretch>
          </a:blipFill>
        </p:spPr>
      </p:sp>
      <p:sp>
        <p:nvSpPr>
          <p:cNvPr id="11" name="Freeform 11"/>
          <p:cNvSpPr/>
          <p:nvPr/>
        </p:nvSpPr>
        <p:spPr>
          <a:xfrm>
            <a:off x="6814220" y="1151443"/>
            <a:ext cx="6302978" cy="5620892"/>
          </a:xfrm>
          <a:custGeom>
            <a:avLst/>
            <a:gdLst/>
            <a:ahLst/>
            <a:cxnLst/>
            <a:rect l="l" t="t" r="r" b="b"/>
            <a:pathLst>
              <a:path w="6302978" h="5620892">
                <a:moveTo>
                  <a:pt x="0" y="0"/>
                </a:moveTo>
                <a:lnTo>
                  <a:pt x="6302977" y="0"/>
                </a:lnTo>
                <a:lnTo>
                  <a:pt x="6302977" y="5620892"/>
                </a:lnTo>
                <a:lnTo>
                  <a:pt x="0" y="5620892"/>
                </a:lnTo>
                <a:lnTo>
                  <a:pt x="0" y="0"/>
                </a:lnTo>
                <a:close/>
              </a:path>
            </a:pathLst>
          </a:custGeom>
          <a:blipFill>
            <a:blip r:embed="rId8"/>
            <a:stretch>
              <a:fillRect/>
            </a:stretch>
          </a:blipFill>
        </p:spPr>
      </p:sp>
      <p:sp>
        <p:nvSpPr>
          <p:cNvPr id="12" name="TextBox 12"/>
          <p:cNvSpPr txBox="1"/>
          <p:nvPr/>
        </p:nvSpPr>
        <p:spPr>
          <a:xfrm>
            <a:off x="840743" y="9548498"/>
            <a:ext cx="7754617" cy="323850"/>
          </a:xfrm>
          <a:prstGeom prst="rect">
            <a:avLst/>
          </a:prstGeom>
        </p:spPr>
        <p:txBody>
          <a:bodyPr lIns="0" tIns="0" rIns="0" bIns="0" rtlCol="0" anchor="t">
            <a:spAutoFit/>
          </a:bodyPr>
          <a:lstStyle/>
          <a:p>
            <a:pPr algn="l">
              <a:lnSpc>
                <a:spcPts val="2520"/>
              </a:lnSpc>
            </a:pPr>
            <a:r>
              <a:rPr lang="en-US" sz="2100" spc="450">
                <a:solidFill>
                  <a:srgbClr val="BFBFBF"/>
                </a:solidFill>
                <a:latin typeface="Arial"/>
                <a:ea typeface="Arial"/>
                <a:cs typeface="Arial"/>
                <a:sym typeface="Arial"/>
              </a:rPr>
              <a:t>www.viettelhightech.vn </a:t>
            </a:r>
          </a:p>
        </p:txBody>
      </p:sp>
      <p:sp>
        <p:nvSpPr>
          <p:cNvPr id="13" name="TextBox 13"/>
          <p:cNvSpPr txBox="1"/>
          <p:nvPr/>
        </p:nvSpPr>
        <p:spPr>
          <a:xfrm>
            <a:off x="840743" y="1238893"/>
            <a:ext cx="6887599" cy="521589"/>
          </a:xfrm>
          <a:prstGeom prst="rect">
            <a:avLst/>
          </a:prstGeom>
        </p:spPr>
        <p:txBody>
          <a:bodyPr lIns="0" tIns="0" rIns="0" bIns="0" rtlCol="0" anchor="t">
            <a:spAutoFit/>
          </a:bodyPr>
          <a:lstStyle/>
          <a:p>
            <a:pPr algn="l">
              <a:lnSpc>
                <a:spcPts val="3888"/>
              </a:lnSpc>
              <a:spcBef>
                <a:spcPct val="0"/>
              </a:spcBef>
            </a:pPr>
            <a:r>
              <a:rPr lang="en-US" sz="3600">
                <a:solidFill>
                  <a:srgbClr val="EE0033"/>
                </a:solidFill>
                <a:latin typeface="Arial"/>
                <a:ea typeface="Arial"/>
                <a:cs typeface="Arial"/>
                <a:sym typeface="Arial"/>
              </a:rPr>
              <a:t>Unnamed semaphore:</a:t>
            </a:r>
          </a:p>
        </p:txBody>
      </p:sp>
      <p:grpSp>
        <p:nvGrpSpPr>
          <p:cNvPr id="14" name="Group 14"/>
          <p:cNvGrpSpPr/>
          <p:nvPr/>
        </p:nvGrpSpPr>
        <p:grpSpPr>
          <a:xfrm>
            <a:off x="451542" y="300771"/>
            <a:ext cx="15770323" cy="767782"/>
            <a:chOff x="0" y="0"/>
            <a:chExt cx="21027098" cy="1023710"/>
          </a:xfrm>
        </p:grpSpPr>
        <p:sp>
          <p:nvSpPr>
            <p:cNvPr id="15" name="Freeform 15"/>
            <p:cNvSpPr/>
            <p:nvPr/>
          </p:nvSpPr>
          <p:spPr>
            <a:xfrm>
              <a:off x="0" y="0"/>
              <a:ext cx="21027095" cy="1023711"/>
            </a:xfrm>
            <a:custGeom>
              <a:avLst/>
              <a:gdLst/>
              <a:ahLst/>
              <a:cxnLst/>
              <a:rect l="l" t="t" r="r" b="b"/>
              <a:pathLst>
                <a:path w="21027095" h="1023711">
                  <a:moveTo>
                    <a:pt x="0" y="0"/>
                  </a:moveTo>
                  <a:lnTo>
                    <a:pt x="21027095" y="0"/>
                  </a:lnTo>
                  <a:lnTo>
                    <a:pt x="21027095" y="1023711"/>
                  </a:lnTo>
                  <a:lnTo>
                    <a:pt x="0" y="1023711"/>
                  </a:lnTo>
                  <a:close/>
                </a:path>
              </a:pathLst>
            </a:custGeom>
            <a:blipFill>
              <a:blip r:embed="rId5">
                <a:alphaModFix amt="0"/>
              </a:blip>
              <a:stretch>
                <a:fillRect t="-350224" b="-350223"/>
              </a:stretch>
            </a:blipFill>
          </p:spPr>
        </p:sp>
        <p:sp>
          <p:nvSpPr>
            <p:cNvPr id="16" name="TextBox 16"/>
            <p:cNvSpPr txBox="1"/>
            <p:nvPr/>
          </p:nvSpPr>
          <p:spPr>
            <a:xfrm>
              <a:off x="0" y="19050"/>
              <a:ext cx="21027098" cy="1004660"/>
            </a:xfrm>
            <a:prstGeom prst="rect">
              <a:avLst/>
            </a:prstGeom>
          </p:spPr>
          <p:txBody>
            <a:bodyPr lIns="0" tIns="0" rIns="0" bIns="0" rtlCol="0" anchor="b"/>
            <a:lstStyle/>
            <a:p>
              <a:pPr algn="l">
                <a:lnSpc>
                  <a:spcPts val="3888"/>
                </a:lnSpc>
              </a:pPr>
              <a:r>
                <a:rPr lang="en-US" sz="3600">
                  <a:solidFill>
                    <a:srgbClr val="EE0033"/>
                  </a:solidFill>
                  <a:latin typeface="Arial"/>
                  <a:ea typeface="Arial"/>
                  <a:cs typeface="Arial"/>
                  <a:sym typeface="Arial"/>
                </a:rPr>
                <a:t>III. INTER-PROCESS COMMUNICATION:</a:t>
              </a:r>
            </a:p>
          </p:txBody>
        </p:sp>
      </p:gr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9206494"/>
            <a:ext cx="18288000" cy="1080506"/>
            <a:chOff x="0" y="0"/>
            <a:chExt cx="24384000" cy="1440675"/>
          </a:xfrm>
        </p:grpSpPr>
        <p:sp>
          <p:nvSpPr>
            <p:cNvPr id="3" name="Freeform 3"/>
            <p:cNvSpPr/>
            <p:nvPr/>
          </p:nvSpPr>
          <p:spPr>
            <a:xfrm>
              <a:off x="0" y="0"/>
              <a:ext cx="24384000" cy="1440688"/>
            </a:xfrm>
            <a:custGeom>
              <a:avLst/>
              <a:gdLst/>
              <a:ahLst/>
              <a:cxnLst/>
              <a:rect l="l" t="t" r="r" b="b"/>
              <a:pathLst>
                <a:path w="24384000" h="1440688">
                  <a:moveTo>
                    <a:pt x="0" y="0"/>
                  </a:moveTo>
                  <a:lnTo>
                    <a:pt x="24384000" y="0"/>
                  </a:lnTo>
                  <a:lnTo>
                    <a:pt x="24384000" y="1440688"/>
                  </a:lnTo>
                  <a:lnTo>
                    <a:pt x="0" y="1440688"/>
                  </a:lnTo>
                  <a:lnTo>
                    <a:pt x="0" y="0"/>
                  </a:lnTo>
                  <a:close/>
                </a:path>
              </a:pathLst>
            </a:custGeom>
            <a:blipFill>
              <a:blip r:embed="rId3"/>
              <a:stretch>
                <a:fillRect t="-364" b="-364"/>
              </a:stretch>
            </a:blipFill>
          </p:spPr>
        </p:sp>
      </p:grpSp>
      <p:grpSp>
        <p:nvGrpSpPr>
          <p:cNvPr id="4" name="Group 4"/>
          <p:cNvGrpSpPr/>
          <p:nvPr/>
        </p:nvGrpSpPr>
        <p:grpSpPr>
          <a:xfrm>
            <a:off x="15473315" y="9370285"/>
            <a:ext cx="1741541" cy="745693"/>
            <a:chOff x="0" y="0"/>
            <a:chExt cx="2322055" cy="994258"/>
          </a:xfrm>
        </p:grpSpPr>
        <p:sp>
          <p:nvSpPr>
            <p:cNvPr id="5" name="Freeform 5"/>
            <p:cNvSpPr/>
            <p:nvPr/>
          </p:nvSpPr>
          <p:spPr>
            <a:xfrm>
              <a:off x="0" y="0"/>
              <a:ext cx="2322068" cy="994283"/>
            </a:xfrm>
            <a:custGeom>
              <a:avLst/>
              <a:gdLst/>
              <a:ahLst/>
              <a:cxnLst/>
              <a:rect l="l" t="t" r="r" b="b"/>
              <a:pathLst>
                <a:path w="2322068" h="994283">
                  <a:moveTo>
                    <a:pt x="0" y="0"/>
                  </a:moveTo>
                  <a:lnTo>
                    <a:pt x="2322068" y="0"/>
                  </a:lnTo>
                  <a:lnTo>
                    <a:pt x="2322068" y="994283"/>
                  </a:lnTo>
                  <a:lnTo>
                    <a:pt x="0" y="994283"/>
                  </a:lnTo>
                  <a:lnTo>
                    <a:pt x="0" y="0"/>
                  </a:lnTo>
                  <a:close/>
                </a:path>
              </a:pathLst>
            </a:custGeom>
            <a:blipFill>
              <a:blip r:embed="rId4"/>
              <a:stretch>
                <a:fillRect b="-1456"/>
              </a:stretch>
            </a:blipFill>
          </p:spPr>
        </p:sp>
      </p:grpSp>
      <p:grpSp>
        <p:nvGrpSpPr>
          <p:cNvPr id="6" name="Group 6"/>
          <p:cNvGrpSpPr/>
          <p:nvPr/>
        </p:nvGrpSpPr>
        <p:grpSpPr>
          <a:xfrm>
            <a:off x="9981438" y="9581550"/>
            <a:ext cx="4114800" cy="392420"/>
            <a:chOff x="0" y="0"/>
            <a:chExt cx="5486400" cy="523227"/>
          </a:xfrm>
        </p:grpSpPr>
        <p:sp>
          <p:nvSpPr>
            <p:cNvPr id="7" name="Freeform 7"/>
            <p:cNvSpPr/>
            <p:nvPr/>
          </p:nvSpPr>
          <p:spPr>
            <a:xfrm>
              <a:off x="0" y="0"/>
              <a:ext cx="5486400" cy="523222"/>
            </a:xfrm>
            <a:custGeom>
              <a:avLst/>
              <a:gdLst/>
              <a:ahLst/>
              <a:cxnLst/>
              <a:rect l="l" t="t" r="r" b="b"/>
              <a:pathLst>
                <a:path w="5486400" h="523222">
                  <a:moveTo>
                    <a:pt x="0" y="0"/>
                  </a:moveTo>
                  <a:lnTo>
                    <a:pt x="5486400" y="0"/>
                  </a:lnTo>
                  <a:lnTo>
                    <a:pt x="5486400" y="523222"/>
                  </a:lnTo>
                  <a:lnTo>
                    <a:pt x="0" y="523222"/>
                  </a:lnTo>
                  <a:close/>
                </a:path>
              </a:pathLst>
            </a:custGeom>
            <a:blipFill>
              <a:blip r:embed="rId5">
                <a:alphaModFix amt="0"/>
              </a:blip>
              <a:stretch>
                <a:fillRect t="-154315" b="-154316"/>
              </a:stretch>
            </a:blipFill>
          </p:spPr>
        </p:sp>
        <p:sp>
          <p:nvSpPr>
            <p:cNvPr id="8" name="TextBox 8"/>
            <p:cNvSpPr txBox="1"/>
            <p:nvPr/>
          </p:nvSpPr>
          <p:spPr>
            <a:xfrm>
              <a:off x="0" y="-9525"/>
              <a:ext cx="5486400" cy="532752"/>
            </a:xfrm>
            <a:prstGeom prst="rect">
              <a:avLst/>
            </a:prstGeom>
          </p:spPr>
          <p:txBody>
            <a:bodyPr lIns="0" tIns="0" rIns="0" bIns="0" rtlCol="0" anchor="ctr"/>
            <a:lstStyle/>
            <a:p>
              <a:pPr algn="r">
                <a:lnSpc>
                  <a:spcPts val="2520"/>
                </a:lnSpc>
              </a:pPr>
              <a:r>
                <a:rPr lang="en-US" sz="2100">
                  <a:solidFill>
                    <a:srgbClr val="BFBFBF"/>
                  </a:solidFill>
                  <a:latin typeface="Roboto"/>
                  <a:ea typeface="Roboto"/>
                  <a:cs typeface="Roboto"/>
                  <a:sym typeface="Roboto"/>
                </a:rPr>
                <a:t>‹#›</a:t>
              </a:r>
            </a:p>
          </p:txBody>
        </p:sp>
      </p:grpSp>
      <p:sp>
        <p:nvSpPr>
          <p:cNvPr id="9" name="TextBox 9"/>
          <p:cNvSpPr txBox="1"/>
          <p:nvPr/>
        </p:nvSpPr>
        <p:spPr>
          <a:xfrm>
            <a:off x="840743" y="9548498"/>
            <a:ext cx="7754617" cy="323850"/>
          </a:xfrm>
          <a:prstGeom prst="rect">
            <a:avLst/>
          </a:prstGeom>
        </p:spPr>
        <p:txBody>
          <a:bodyPr lIns="0" tIns="0" rIns="0" bIns="0" rtlCol="0" anchor="t">
            <a:spAutoFit/>
          </a:bodyPr>
          <a:lstStyle/>
          <a:p>
            <a:pPr algn="l">
              <a:lnSpc>
                <a:spcPts val="2520"/>
              </a:lnSpc>
            </a:pPr>
            <a:r>
              <a:rPr lang="en-US" sz="2100" spc="450">
                <a:solidFill>
                  <a:srgbClr val="BFBFBF"/>
                </a:solidFill>
                <a:latin typeface="Arial"/>
                <a:ea typeface="Arial"/>
                <a:cs typeface="Arial"/>
                <a:sym typeface="Arial"/>
              </a:rPr>
              <a:t>www.viettelhightech.vn </a:t>
            </a:r>
          </a:p>
        </p:txBody>
      </p:sp>
      <p:sp>
        <p:nvSpPr>
          <p:cNvPr id="10" name="TextBox 10"/>
          <p:cNvSpPr txBox="1"/>
          <p:nvPr/>
        </p:nvSpPr>
        <p:spPr>
          <a:xfrm>
            <a:off x="584176" y="1353630"/>
            <a:ext cx="10536843" cy="649605"/>
          </a:xfrm>
          <a:prstGeom prst="rect">
            <a:avLst/>
          </a:prstGeom>
        </p:spPr>
        <p:txBody>
          <a:bodyPr lIns="0" tIns="0" rIns="0" bIns="0" rtlCol="0" anchor="t">
            <a:spAutoFit/>
          </a:bodyPr>
          <a:lstStyle/>
          <a:p>
            <a:pPr algn="l">
              <a:lnSpc>
                <a:spcPts val="4859"/>
              </a:lnSpc>
              <a:spcBef>
                <a:spcPct val="0"/>
              </a:spcBef>
            </a:pPr>
            <a:r>
              <a:rPr lang="en-US" sz="4499">
                <a:solidFill>
                  <a:srgbClr val="EE0033"/>
                </a:solidFill>
                <a:latin typeface="Arial"/>
                <a:ea typeface="Arial"/>
                <a:cs typeface="Arial"/>
                <a:sym typeface="Arial"/>
              </a:rPr>
              <a:t>Mutex và Binary semaphore</a:t>
            </a:r>
          </a:p>
        </p:txBody>
      </p:sp>
      <p:grpSp>
        <p:nvGrpSpPr>
          <p:cNvPr id="11" name="Group 11"/>
          <p:cNvGrpSpPr/>
          <p:nvPr/>
        </p:nvGrpSpPr>
        <p:grpSpPr>
          <a:xfrm>
            <a:off x="451542" y="300771"/>
            <a:ext cx="15770323" cy="767782"/>
            <a:chOff x="0" y="0"/>
            <a:chExt cx="21027098" cy="1023710"/>
          </a:xfrm>
        </p:grpSpPr>
        <p:sp>
          <p:nvSpPr>
            <p:cNvPr id="12" name="Freeform 12"/>
            <p:cNvSpPr/>
            <p:nvPr/>
          </p:nvSpPr>
          <p:spPr>
            <a:xfrm>
              <a:off x="0" y="0"/>
              <a:ext cx="21027095" cy="1023711"/>
            </a:xfrm>
            <a:custGeom>
              <a:avLst/>
              <a:gdLst/>
              <a:ahLst/>
              <a:cxnLst/>
              <a:rect l="l" t="t" r="r" b="b"/>
              <a:pathLst>
                <a:path w="21027095" h="1023711">
                  <a:moveTo>
                    <a:pt x="0" y="0"/>
                  </a:moveTo>
                  <a:lnTo>
                    <a:pt x="21027095" y="0"/>
                  </a:lnTo>
                  <a:lnTo>
                    <a:pt x="21027095" y="1023711"/>
                  </a:lnTo>
                  <a:lnTo>
                    <a:pt x="0" y="1023711"/>
                  </a:lnTo>
                  <a:close/>
                </a:path>
              </a:pathLst>
            </a:custGeom>
            <a:blipFill>
              <a:blip r:embed="rId5">
                <a:alphaModFix amt="0"/>
              </a:blip>
              <a:stretch>
                <a:fillRect t="-350224" b="-350223"/>
              </a:stretch>
            </a:blipFill>
          </p:spPr>
        </p:sp>
        <p:sp>
          <p:nvSpPr>
            <p:cNvPr id="13" name="TextBox 13"/>
            <p:cNvSpPr txBox="1"/>
            <p:nvPr/>
          </p:nvSpPr>
          <p:spPr>
            <a:xfrm>
              <a:off x="0" y="19050"/>
              <a:ext cx="21027098" cy="1004660"/>
            </a:xfrm>
            <a:prstGeom prst="rect">
              <a:avLst/>
            </a:prstGeom>
          </p:spPr>
          <p:txBody>
            <a:bodyPr lIns="0" tIns="0" rIns="0" bIns="0" rtlCol="0" anchor="b"/>
            <a:lstStyle/>
            <a:p>
              <a:pPr algn="l">
                <a:lnSpc>
                  <a:spcPts val="3888"/>
                </a:lnSpc>
              </a:pPr>
              <a:r>
                <a:rPr lang="en-US" sz="3600">
                  <a:solidFill>
                    <a:srgbClr val="EE0033"/>
                  </a:solidFill>
                  <a:latin typeface="Arial"/>
                  <a:ea typeface="Arial"/>
                  <a:cs typeface="Arial"/>
                  <a:sym typeface="Arial"/>
                </a:rPr>
                <a:t>III. INTER-PROCESS COMMUNICATION:</a:t>
              </a:r>
            </a:p>
          </p:txBody>
        </p:sp>
      </p:grpSp>
      <p:sp>
        <p:nvSpPr>
          <p:cNvPr id="14" name="TextBox 14"/>
          <p:cNvSpPr txBox="1"/>
          <p:nvPr/>
        </p:nvSpPr>
        <p:spPr>
          <a:xfrm>
            <a:off x="451542" y="2646426"/>
            <a:ext cx="6543541" cy="2497074"/>
          </a:xfrm>
          <a:prstGeom prst="rect">
            <a:avLst/>
          </a:prstGeom>
        </p:spPr>
        <p:txBody>
          <a:bodyPr lIns="0" tIns="0" rIns="0" bIns="0" rtlCol="0" anchor="t">
            <a:spAutoFit/>
          </a:bodyPr>
          <a:lstStyle/>
          <a:p>
            <a:pPr algn="ctr">
              <a:lnSpc>
                <a:spcPts val="2808"/>
              </a:lnSpc>
            </a:pPr>
            <a:r>
              <a:rPr lang="en-US" sz="2600">
                <a:solidFill>
                  <a:srgbClr val="000000"/>
                </a:solidFill>
                <a:latin typeface="Arial"/>
                <a:ea typeface="Arial"/>
                <a:cs typeface="Arial"/>
                <a:sym typeface="Arial"/>
              </a:rPr>
              <a:t>Mutex</a:t>
            </a:r>
          </a:p>
          <a:p>
            <a:pPr algn="ctr">
              <a:lnSpc>
                <a:spcPts val="2808"/>
              </a:lnSpc>
            </a:pPr>
            <a:endParaRPr lang="en-US" sz="2600">
              <a:solidFill>
                <a:srgbClr val="000000"/>
              </a:solidFill>
              <a:latin typeface="Arial"/>
              <a:ea typeface="Arial"/>
              <a:cs typeface="Arial"/>
              <a:sym typeface="Arial"/>
            </a:endParaRPr>
          </a:p>
          <a:p>
            <a:pPr marL="561341" lvl="1" indent="-280670" algn="l">
              <a:lnSpc>
                <a:spcPts val="2808"/>
              </a:lnSpc>
              <a:buFont typeface="Arial"/>
              <a:buChar char="•"/>
            </a:pPr>
            <a:r>
              <a:rPr lang="en-US" sz="2600">
                <a:solidFill>
                  <a:srgbClr val="000000"/>
                </a:solidFill>
                <a:latin typeface="Arial"/>
                <a:ea typeface="Arial"/>
                <a:cs typeface="Arial"/>
                <a:sym typeface="Arial"/>
              </a:rPr>
              <a:t>Dùng để bảo vệ tài nguyên dùng chung.</a:t>
            </a:r>
          </a:p>
          <a:p>
            <a:pPr algn="l">
              <a:lnSpc>
                <a:spcPts val="2808"/>
              </a:lnSpc>
            </a:pPr>
            <a:endParaRPr lang="en-US" sz="2600">
              <a:solidFill>
                <a:srgbClr val="000000"/>
              </a:solidFill>
              <a:latin typeface="Arial"/>
              <a:ea typeface="Arial"/>
              <a:cs typeface="Arial"/>
              <a:sym typeface="Arial"/>
            </a:endParaRPr>
          </a:p>
          <a:p>
            <a:pPr marL="561341" lvl="1" indent="-280670" algn="l">
              <a:lnSpc>
                <a:spcPts val="2808"/>
              </a:lnSpc>
              <a:buFont typeface="Arial"/>
              <a:buChar char="•"/>
            </a:pPr>
            <a:r>
              <a:rPr lang="en-US" sz="2600">
                <a:solidFill>
                  <a:srgbClr val="000000"/>
                </a:solidFill>
                <a:latin typeface="Arial"/>
                <a:ea typeface="Arial"/>
                <a:cs typeface="Arial"/>
                <a:sym typeface="Arial"/>
              </a:rPr>
              <a:t>Chức năng dựa trên cơ chế khóa.</a:t>
            </a:r>
          </a:p>
          <a:p>
            <a:pPr algn="l">
              <a:lnSpc>
                <a:spcPts val="2808"/>
              </a:lnSpc>
            </a:pPr>
            <a:endParaRPr lang="en-US" sz="2600">
              <a:solidFill>
                <a:srgbClr val="000000"/>
              </a:solidFill>
              <a:latin typeface="Arial"/>
              <a:ea typeface="Arial"/>
              <a:cs typeface="Arial"/>
              <a:sym typeface="Arial"/>
            </a:endParaRPr>
          </a:p>
          <a:p>
            <a:pPr marL="561341" lvl="1" indent="-280670" algn="l">
              <a:lnSpc>
                <a:spcPts val="2808"/>
              </a:lnSpc>
              <a:spcBef>
                <a:spcPct val="0"/>
              </a:spcBef>
              <a:buFont typeface="Arial"/>
              <a:buChar char="•"/>
            </a:pPr>
            <a:r>
              <a:rPr lang="en-US" sz="2600">
                <a:solidFill>
                  <a:srgbClr val="000000"/>
                </a:solidFill>
                <a:latin typeface="Arial"/>
                <a:ea typeface="Arial"/>
                <a:cs typeface="Arial"/>
                <a:sym typeface="Arial"/>
              </a:rPr>
              <a:t>Chỉ thread khóa mới được mở khóa.</a:t>
            </a:r>
          </a:p>
        </p:txBody>
      </p:sp>
      <p:sp>
        <p:nvSpPr>
          <p:cNvPr id="15" name="TextBox 15"/>
          <p:cNvSpPr txBox="1"/>
          <p:nvPr/>
        </p:nvSpPr>
        <p:spPr>
          <a:xfrm>
            <a:off x="8336704" y="2646426"/>
            <a:ext cx="8073709" cy="2497074"/>
          </a:xfrm>
          <a:prstGeom prst="rect">
            <a:avLst/>
          </a:prstGeom>
        </p:spPr>
        <p:txBody>
          <a:bodyPr lIns="0" tIns="0" rIns="0" bIns="0" rtlCol="0" anchor="t">
            <a:spAutoFit/>
          </a:bodyPr>
          <a:lstStyle/>
          <a:p>
            <a:pPr algn="ctr">
              <a:lnSpc>
                <a:spcPts val="2808"/>
              </a:lnSpc>
            </a:pPr>
            <a:r>
              <a:rPr lang="en-US" sz="2600">
                <a:solidFill>
                  <a:srgbClr val="000000"/>
                </a:solidFill>
                <a:latin typeface="Arial"/>
                <a:ea typeface="Arial"/>
                <a:cs typeface="Arial"/>
                <a:sym typeface="Arial"/>
              </a:rPr>
              <a:t>Binary semaphore</a:t>
            </a:r>
          </a:p>
          <a:p>
            <a:pPr algn="ctr">
              <a:lnSpc>
                <a:spcPts val="2808"/>
              </a:lnSpc>
            </a:pPr>
            <a:endParaRPr lang="en-US" sz="2600">
              <a:solidFill>
                <a:srgbClr val="000000"/>
              </a:solidFill>
              <a:latin typeface="Arial"/>
              <a:ea typeface="Arial"/>
              <a:cs typeface="Arial"/>
              <a:sym typeface="Arial"/>
            </a:endParaRPr>
          </a:p>
          <a:p>
            <a:pPr marL="561341" lvl="1" indent="-280670" algn="l">
              <a:lnSpc>
                <a:spcPts val="2808"/>
              </a:lnSpc>
              <a:buFont typeface="Arial"/>
              <a:buChar char="•"/>
            </a:pPr>
            <a:r>
              <a:rPr lang="en-US" sz="2600">
                <a:solidFill>
                  <a:srgbClr val="000000"/>
                </a:solidFill>
                <a:latin typeface="Arial"/>
                <a:ea typeface="Arial"/>
                <a:cs typeface="Arial"/>
                <a:sym typeface="Arial"/>
              </a:rPr>
              <a:t>Là bộ đếm, dùng để đồng bộ hoặc truyền tín hiệu.</a:t>
            </a:r>
          </a:p>
          <a:p>
            <a:pPr algn="l">
              <a:lnSpc>
                <a:spcPts val="2808"/>
              </a:lnSpc>
            </a:pPr>
            <a:endParaRPr lang="en-US" sz="2600">
              <a:solidFill>
                <a:srgbClr val="000000"/>
              </a:solidFill>
              <a:latin typeface="Arial"/>
              <a:ea typeface="Arial"/>
              <a:cs typeface="Arial"/>
              <a:sym typeface="Arial"/>
            </a:endParaRPr>
          </a:p>
          <a:p>
            <a:pPr marL="561341" lvl="1" indent="-280670" algn="l">
              <a:lnSpc>
                <a:spcPts val="2808"/>
              </a:lnSpc>
              <a:buFont typeface="Arial"/>
              <a:buChar char="•"/>
            </a:pPr>
            <a:r>
              <a:rPr lang="en-US" sz="2600">
                <a:solidFill>
                  <a:srgbClr val="000000"/>
                </a:solidFill>
                <a:latin typeface="Arial"/>
                <a:ea typeface="Arial"/>
                <a:cs typeface="Arial"/>
                <a:sym typeface="Arial"/>
              </a:rPr>
              <a:t>Chức năng dựa trên cơ chế truyền tín hiệu.</a:t>
            </a:r>
          </a:p>
          <a:p>
            <a:pPr algn="l">
              <a:lnSpc>
                <a:spcPts val="2808"/>
              </a:lnSpc>
            </a:pPr>
            <a:endParaRPr lang="en-US" sz="2600">
              <a:solidFill>
                <a:srgbClr val="000000"/>
              </a:solidFill>
              <a:latin typeface="Arial"/>
              <a:ea typeface="Arial"/>
              <a:cs typeface="Arial"/>
              <a:sym typeface="Arial"/>
            </a:endParaRPr>
          </a:p>
          <a:p>
            <a:pPr marL="561341" lvl="1" indent="-280670" algn="l">
              <a:lnSpc>
                <a:spcPts val="2808"/>
              </a:lnSpc>
              <a:spcBef>
                <a:spcPct val="0"/>
              </a:spcBef>
              <a:buFont typeface="Arial"/>
              <a:buChar char="•"/>
            </a:pPr>
            <a:r>
              <a:rPr lang="en-US" sz="2600">
                <a:solidFill>
                  <a:srgbClr val="000000"/>
                </a:solidFill>
                <a:latin typeface="Arial"/>
                <a:ea typeface="Arial"/>
                <a:cs typeface="Arial"/>
                <a:sym typeface="Arial"/>
              </a:rPr>
              <a:t>Thread/ process nào cũng có thể mở khóa.</a:t>
            </a: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9206494"/>
            <a:ext cx="18288000" cy="1080506"/>
            <a:chOff x="0" y="0"/>
            <a:chExt cx="24384000" cy="1440675"/>
          </a:xfrm>
        </p:grpSpPr>
        <p:sp>
          <p:nvSpPr>
            <p:cNvPr id="3" name="Freeform 3"/>
            <p:cNvSpPr/>
            <p:nvPr/>
          </p:nvSpPr>
          <p:spPr>
            <a:xfrm>
              <a:off x="0" y="0"/>
              <a:ext cx="24384000" cy="1440688"/>
            </a:xfrm>
            <a:custGeom>
              <a:avLst/>
              <a:gdLst/>
              <a:ahLst/>
              <a:cxnLst/>
              <a:rect l="l" t="t" r="r" b="b"/>
              <a:pathLst>
                <a:path w="24384000" h="1440688">
                  <a:moveTo>
                    <a:pt x="0" y="0"/>
                  </a:moveTo>
                  <a:lnTo>
                    <a:pt x="24384000" y="0"/>
                  </a:lnTo>
                  <a:lnTo>
                    <a:pt x="24384000" y="1440688"/>
                  </a:lnTo>
                  <a:lnTo>
                    <a:pt x="0" y="1440688"/>
                  </a:lnTo>
                  <a:lnTo>
                    <a:pt x="0" y="0"/>
                  </a:lnTo>
                  <a:close/>
                </a:path>
              </a:pathLst>
            </a:custGeom>
            <a:blipFill>
              <a:blip r:embed="rId3"/>
              <a:stretch>
                <a:fillRect t="-364" b="-364"/>
              </a:stretch>
            </a:blipFill>
          </p:spPr>
        </p:sp>
      </p:grpSp>
      <p:grpSp>
        <p:nvGrpSpPr>
          <p:cNvPr id="4" name="Group 4"/>
          <p:cNvGrpSpPr/>
          <p:nvPr/>
        </p:nvGrpSpPr>
        <p:grpSpPr>
          <a:xfrm>
            <a:off x="15473315" y="9370285"/>
            <a:ext cx="1741541" cy="745693"/>
            <a:chOff x="0" y="0"/>
            <a:chExt cx="2322055" cy="994258"/>
          </a:xfrm>
        </p:grpSpPr>
        <p:sp>
          <p:nvSpPr>
            <p:cNvPr id="5" name="Freeform 5"/>
            <p:cNvSpPr/>
            <p:nvPr/>
          </p:nvSpPr>
          <p:spPr>
            <a:xfrm>
              <a:off x="0" y="0"/>
              <a:ext cx="2322068" cy="994283"/>
            </a:xfrm>
            <a:custGeom>
              <a:avLst/>
              <a:gdLst/>
              <a:ahLst/>
              <a:cxnLst/>
              <a:rect l="l" t="t" r="r" b="b"/>
              <a:pathLst>
                <a:path w="2322068" h="994283">
                  <a:moveTo>
                    <a:pt x="0" y="0"/>
                  </a:moveTo>
                  <a:lnTo>
                    <a:pt x="2322068" y="0"/>
                  </a:lnTo>
                  <a:lnTo>
                    <a:pt x="2322068" y="994283"/>
                  </a:lnTo>
                  <a:lnTo>
                    <a:pt x="0" y="994283"/>
                  </a:lnTo>
                  <a:lnTo>
                    <a:pt x="0" y="0"/>
                  </a:lnTo>
                  <a:close/>
                </a:path>
              </a:pathLst>
            </a:custGeom>
            <a:blipFill>
              <a:blip r:embed="rId4"/>
              <a:stretch>
                <a:fillRect b="-1456"/>
              </a:stretch>
            </a:blipFill>
          </p:spPr>
        </p:sp>
      </p:grpSp>
      <p:grpSp>
        <p:nvGrpSpPr>
          <p:cNvPr id="6" name="Group 6"/>
          <p:cNvGrpSpPr/>
          <p:nvPr/>
        </p:nvGrpSpPr>
        <p:grpSpPr>
          <a:xfrm>
            <a:off x="9981438" y="9581550"/>
            <a:ext cx="4114800" cy="392420"/>
            <a:chOff x="0" y="0"/>
            <a:chExt cx="5486400" cy="523227"/>
          </a:xfrm>
        </p:grpSpPr>
        <p:sp>
          <p:nvSpPr>
            <p:cNvPr id="7" name="Freeform 7"/>
            <p:cNvSpPr/>
            <p:nvPr/>
          </p:nvSpPr>
          <p:spPr>
            <a:xfrm>
              <a:off x="0" y="0"/>
              <a:ext cx="5486400" cy="523222"/>
            </a:xfrm>
            <a:custGeom>
              <a:avLst/>
              <a:gdLst/>
              <a:ahLst/>
              <a:cxnLst/>
              <a:rect l="l" t="t" r="r" b="b"/>
              <a:pathLst>
                <a:path w="5486400" h="523222">
                  <a:moveTo>
                    <a:pt x="0" y="0"/>
                  </a:moveTo>
                  <a:lnTo>
                    <a:pt x="5486400" y="0"/>
                  </a:lnTo>
                  <a:lnTo>
                    <a:pt x="5486400" y="523222"/>
                  </a:lnTo>
                  <a:lnTo>
                    <a:pt x="0" y="523222"/>
                  </a:lnTo>
                  <a:close/>
                </a:path>
              </a:pathLst>
            </a:custGeom>
            <a:blipFill>
              <a:blip r:embed="rId5">
                <a:alphaModFix amt="0"/>
              </a:blip>
              <a:stretch>
                <a:fillRect t="-154315" b="-154316"/>
              </a:stretch>
            </a:blipFill>
          </p:spPr>
        </p:sp>
        <p:sp>
          <p:nvSpPr>
            <p:cNvPr id="8" name="TextBox 8"/>
            <p:cNvSpPr txBox="1"/>
            <p:nvPr/>
          </p:nvSpPr>
          <p:spPr>
            <a:xfrm>
              <a:off x="0" y="-9525"/>
              <a:ext cx="5486400" cy="532752"/>
            </a:xfrm>
            <a:prstGeom prst="rect">
              <a:avLst/>
            </a:prstGeom>
          </p:spPr>
          <p:txBody>
            <a:bodyPr lIns="0" tIns="0" rIns="0" bIns="0" rtlCol="0" anchor="ctr"/>
            <a:lstStyle/>
            <a:p>
              <a:pPr algn="r">
                <a:lnSpc>
                  <a:spcPts val="2520"/>
                </a:lnSpc>
              </a:pPr>
              <a:r>
                <a:rPr lang="en-US" sz="2100">
                  <a:solidFill>
                    <a:srgbClr val="BFBFBF"/>
                  </a:solidFill>
                  <a:latin typeface="Roboto"/>
                  <a:ea typeface="Roboto"/>
                  <a:cs typeface="Roboto"/>
                  <a:sym typeface="Roboto"/>
                </a:rPr>
                <a:t>‹#›</a:t>
              </a:r>
            </a:p>
          </p:txBody>
        </p:sp>
      </p:grpSp>
      <p:sp>
        <p:nvSpPr>
          <p:cNvPr id="9" name="TextBox 9"/>
          <p:cNvSpPr txBox="1"/>
          <p:nvPr/>
        </p:nvSpPr>
        <p:spPr>
          <a:xfrm>
            <a:off x="840743" y="9548498"/>
            <a:ext cx="7754617" cy="323850"/>
          </a:xfrm>
          <a:prstGeom prst="rect">
            <a:avLst/>
          </a:prstGeom>
        </p:spPr>
        <p:txBody>
          <a:bodyPr lIns="0" tIns="0" rIns="0" bIns="0" rtlCol="0" anchor="t">
            <a:spAutoFit/>
          </a:bodyPr>
          <a:lstStyle/>
          <a:p>
            <a:pPr algn="l">
              <a:lnSpc>
                <a:spcPts val="2520"/>
              </a:lnSpc>
            </a:pPr>
            <a:r>
              <a:rPr lang="en-US" sz="2100" spc="450">
                <a:solidFill>
                  <a:srgbClr val="BFBFBF"/>
                </a:solidFill>
                <a:latin typeface="Arial"/>
                <a:ea typeface="Arial"/>
                <a:cs typeface="Arial"/>
                <a:sym typeface="Arial"/>
              </a:rPr>
              <a:t>www.viettelhightech.vn </a:t>
            </a:r>
          </a:p>
        </p:txBody>
      </p:sp>
      <p:sp>
        <p:nvSpPr>
          <p:cNvPr id="10" name="TextBox 10"/>
          <p:cNvSpPr txBox="1"/>
          <p:nvPr/>
        </p:nvSpPr>
        <p:spPr>
          <a:xfrm>
            <a:off x="840743" y="1238893"/>
            <a:ext cx="6887599" cy="521589"/>
          </a:xfrm>
          <a:prstGeom prst="rect">
            <a:avLst/>
          </a:prstGeom>
        </p:spPr>
        <p:txBody>
          <a:bodyPr lIns="0" tIns="0" rIns="0" bIns="0" rtlCol="0" anchor="t">
            <a:spAutoFit/>
          </a:bodyPr>
          <a:lstStyle/>
          <a:p>
            <a:pPr algn="l">
              <a:lnSpc>
                <a:spcPts val="3888"/>
              </a:lnSpc>
              <a:spcBef>
                <a:spcPct val="0"/>
              </a:spcBef>
            </a:pPr>
            <a:r>
              <a:rPr lang="en-US" sz="3600">
                <a:solidFill>
                  <a:srgbClr val="EE0033"/>
                </a:solidFill>
                <a:latin typeface="Arial"/>
                <a:ea typeface="Arial"/>
                <a:cs typeface="Arial"/>
                <a:sym typeface="Arial"/>
              </a:rPr>
              <a:t>Shared memory:</a:t>
            </a:r>
          </a:p>
        </p:txBody>
      </p:sp>
      <p:sp>
        <p:nvSpPr>
          <p:cNvPr id="11" name="TextBox 11"/>
          <p:cNvSpPr txBox="1"/>
          <p:nvPr/>
        </p:nvSpPr>
        <p:spPr>
          <a:xfrm>
            <a:off x="840743" y="1931932"/>
            <a:ext cx="16418557" cy="1493139"/>
          </a:xfrm>
          <a:prstGeom prst="rect">
            <a:avLst/>
          </a:prstGeom>
        </p:spPr>
        <p:txBody>
          <a:bodyPr lIns="0" tIns="0" rIns="0" bIns="0" rtlCol="0" anchor="t">
            <a:spAutoFit/>
          </a:bodyPr>
          <a:lstStyle/>
          <a:p>
            <a:pPr algn="l">
              <a:lnSpc>
                <a:spcPts val="3888"/>
              </a:lnSpc>
              <a:spcBef>
                <a:spcPct val="0"/>
              </a:spcBef>
            </a:pPr>
            <a:r>
              <a:rPr lang="en-US" sz="3600">
                <a:solidFill>
                  <a:srgbClr val="000000"/>
                </a:solidFill>
                <a:latin typeface="Arial"/>
                <a:ea typeface="Arial"/>
                <a:cs typeface="Arial"/>
                <a:sym typeface="Arial"/>
              </a:rPr>
              <a:t>POSIX Shared Memory cho phép các tiến trình không có quan hệ với nhau chia sẻ một vùng nhớ đã được memory mapping, mà không cần phải tạo một tập tin trên đĩa tương ứng với vùng nhớ đó.</a:t>
            </a:r>
          </a:p>
        </p:txBody>
      </p:sp>
      <p:sp>
        <p:nvSpPr>
          <p:cNvPr id="12" name="TextBox 12"/>
          <p:cNvSpPr txBox="1"/>
          <p:nvPr/>
        </p:nvSpPr>
        <p:spPr>
          <a:xfrm>
            <a:off x="704924" y="3444121"/>
            <a:ext cx="16441366" cy="1493139"/>
          </a:xfrm>
          <a:prstGeom prst="rect">
            <a:avLst/>
          </a:prstGeom>
        </p:spPr>
        <p:txBody>
          <a:bodyPr lIns="0" tIns="0" rIns="0" bIns="0" rtlCol="0" anchor="t">
            <a:spAutoFit/>
          </a:bodyPr>
          <a:lstStyle/>
          <a:p>
            <a:pPr algn="l">
              <a:lnSpc>
                <a:spcPts val="3888"/>
              </a:lnSpc>
              <a:spcBef>
                <a:spcPct val="0"/>
              </a:spcBef>
            </a:pPr>
            <a:r>
              <a:rPr lang="en-US" sz="3600">
                <a:solidFill>
                  <a:srgbClr val="000000"/>
                </a:solidFill>
                <a:latin typeface="Arial"/>
                <a:ea typeface="Arial"/>
                <a:cs typeface="Arial"/>
                <a:sym typeface="Arial"/>
              </a:rPr>
              <a:t>- Các shared memory object vẫn tồn tại ngay cả khi không còn tiến trình nào đang mở chúng.</a:t>
            </a:r>
          </a:p>
          <a:p>
            <a:pPr algn="l">
              <a:lnSpc>
                <a:spcPts val="3888"/>
              </a:lnSpc>
              <a:spcBef>
                <a:spcPct val="0"/>
              </a:spcBef>
            </a:pPr>
            <a:r>
              <a:rPr lang="en-US" sz="3600">
                <a:solidFill>
                  <a:srgbClr val="000000"/>
                </a:solidFill>
                <a:latin typeface="Arial"/>
                <a:ea typeface="Arial"/>
                <a:cs typeface="Arial"/>
                <a:sym typeface="Arial"/>
              </a:rPr>
              <a:t>- Toàn bộ các object này sẽ biến mất khi hệ thống tắt máy hoặc khởi động lại.</a:t>
            </a:r>
          </a:p>
        </p:txBody>
      </p:sp>
      <p:sp>
        <p:nvSpPr>
          <p:cNvPr id="13" name="Freeform 13"/>
          <p:cNvSpPr/>
          <p:nvPr/>
        </p:nvSpPr>
        <p:spPr>
          <a:xfrm>
            <a:off x="5520905" y="5143500"/>
            <a:ext cx="6818357" cy="3846540"/>
          </a:xfrm>
          <a:custGeom>
            <a:avLst/>
            <a:gdLst/>
            <a:ahLst/>
            <a:cxnLst/>
            <a:rect l="l" t="t" r="r" b="b"/>
            <a:pathLst>
              <a:path w="6818357" h="3846540">
                <a:moveTo>
                  <a:pt x="0" y="0"/>
                </a:moveTo>
                <a:lnTo>
                  <a:pt x="6818358" y="0"/>
                </a:lnTo>
                <a:lnTo>
                  <a:pt x="6818358" y="3846540"/>
                </a:lnTo>
                <a:lnTo>
                  <a:pt x="0" y="3846540"/>
                </a:lnTo>
                <a:lnTo>
                  <a:pt x="0" y="0"/>
                </a:lnTo>
                <a:close/>
              </a:path>
            </a:pathLst>
          </a:custGeom>
          <a:blipFill>
            <a:blip r:embed="rId6"/>
            <a:stretch>
              <a:fillRect/>
            </a:stretch>
          </a:blipFill>
        </p:spPr>
      </p:sp>
      <p:grpSp>
        <p:nvGrpSpPr>
          <p:cNvPr id="14" name="Group 14"/>
          <p:cNvGrpSpPr/>
          <p:nvPr/>
        </p:nvGrpSpPr>
        <p:grpSpPr>
          <a:xfrm>
            <a:off x="451542" y="300771"/>
            <a:ext cx="15770323" cy="767782"/>
            <a:chOff x="0" y="0"/>
            <a:chExt cx="21027098" cy="1023710"/>
          </a:xfrm>
        </p:grpSpPr>
        <p:sp>
          <p:nvSpPr>
            <p:cNvPr id="15" name="Freeform 15"/>
            <p:cNvSpPr/>
            <p:nvPr/>
          </p:nvSpPr>
          <p:spPr>
            <a:xfrm>
              <a:off x="0" y="0"/>
              <a:ext cx="21027095" cy="1023711"/>
            </a:xfrm>
            <a:custGeom>
              <a:avLst/>
              <a:gdLst/>
              <a:ahLst/>
              <a:cxnLst/>
              <a:rect l="l" t="t" r="r" b="b"/>
              <a:pathLst>
                <a:path w="21027095" h="1023711">
                  <a:moveTo>
                    <a:pt x="0" y="0"/>
                  </a:moveTo>
                  <a:lnTo>
                    <a:pt x="21027095" y="0"/>
                  </a:lnTo>
                  <a:lnTo>
                    <a:pt x="21027095" y="1023711"/>
                  </a:lnTo>
                  <a:lnTo>
                    <a:pt x="0" y="1023711"/>
                  </a:lnTo>
                  <a:close/>
                </a:path>
              </a:pathLst>
            </a:custGeom>
            <a:blipFill>
              <a:blip r:embed="rId5">
                <a:alphaModFix amt="0"/>
              </a:blip>
              <a:stretch>
                <a:fillRect t="-350224" b="-350223"/>
              </a:stretch>
            </a:blipFill>
          </p:spPr>
        </p:sp>
        <p:sp>
          <p:nvSpPr>
            <p:cNvPr id="16" name="TextBox 16"/>
            <p:cNvSpPr txBox="1"/>
            <p:nvPr/>
          </p:nvSpPr>
          <p:spPr>
            <a:xfrm>
              <a:off x="0" y="19050"/>
              <a:ext cx="21027098" cy="1004660"/>
            </a:xfrm>
            <a:prstGeom prst="rect">
              <a:avLst/>
            </a:prstGeom>
          </p:spPr>
          <p:txBody>
            <a:bodyPr lIns="0" tIns="0" rIns="0" bIns="0" rtlCol="0" anchor="b"/>
            <a:lstStyle/>
            <a:p>
              <a:pPr algn="l">
                <a:lnSpc>
                  <a:spcPts val="3888"/>
                </a:lnSpc>
              </a:pPr>
              <a:r>
                <a:rPr lang="en-US" sz="3600">
                  <a:solidFill>
                    <a:srgbClr val="EE0033"/>
                  </a:solidFill>
                  <a:latin typeface="Arial"/>
                  <a:ea typeface="Arial"/>
                  <a:cs typeface="Arial"/>
                  <a:sym typeface="Arial"/>
                </a:rPr>
                <a:t>III. INTER-PROCESS COMMUNICATION:</a:t>
              </a:r>
            </a:p>
          </p:txBody>
        </p:sp>
      </p:gr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9206494"/>
            <a:ext cx="18288000" cy="1080506"/>
            <a:chOff x="0" y="0"/>
            <a:chExt cx="24384000" cy="1440675"/>
          </a:xfrm>
        </p:grpSpPr>
        <p:sp>
          <p:nvSpPr>
            <p:cNvPr id="3" name="Freeform 3"/>
            <p:cNvSpPr/>
            <p:nvPr/>
          </p:nvSpPr>
          <p:spPr>
            <a:xfrm>
              <a:off x="0" y="0"/>
              <a:ext cx="24384000" cy="1440688"/>
            </a:xfrm>
            <a:custGeom>
              <a:avLst/>
              <a:gdLst/>
              <a:ahLst/>
              <a:cxnLst/>
              <a:rect l="l" t="t" r="r" b="b"/>
              <a:pathLst>
                <a:path w="24384000" h="1440688">
                  <a:moveTo>
                    <a:pt x="0" y="0"/>
                  </a:moveTo>
                  <a:lnTo>
                    <a:pt x="24384000" y="0"/>
                  </a:lnTo>
                  <a:lnTo>
                    <a:pt x="24384000" y="1440688"/>
                  </a:lnTo>
                  <a:lnTo>
                    <a:pt x="0" y="1440688"/>
                  </a:lnTo>
                  <a:lnTo>
                    <a:pt x="0" y="0"/>
                  </a:lnTo>
                  <a:close/>
                </a:path>
              </a:pathLst>
            </a:custGeom>
            <a:blipFill>
              <a:blip r:embed="rId3"/>
              <a:stretch>
                <a:fillRect t="-364" b="-364"/>
              </a:stretch>
            </a:blipFill>
          </p:spPr>
        </p:sp>
      </p:grpSp>
      <p:grpSp>
        <p:nvGrpSpPr>
          <p:cNvPr id="4" name="Group 4"/>
          <p:cNvGrpSpPr/>
          <p:nvPr/>
        </p:nvGrpSpPr>
        <p:grpSpPr>
          <a:xfrm>
            <a:off x="15473315" y="9370285"/>
            <a:ext cx="1741541" cy="745693"/>
            <a:chOff x="0" y="0"/>
            <a:chExt cx="2322055" cy="994258"/>
          </a:xfrm>
        </p:grpSpPr>
        <p:sp>
          <p:nvSpPr>
            <p:cNvPr id="5" name="Freeform 5"/>
            <p:cNvSpPr/>
            <p:nvPr/>
          </p:nvSpPr>
          <p:spPr>
            <a:xfrm>
              <a:off x="0" y="0"/>
              <a:ext cx="2322068" cy="994283"/>
            </a:xfrm>
            <a:custGeom>
              <a:avLst/>
              <a:gdLst/>
              <a:ahLst/>
              <a:cxnLst/>
              <a:rect l="l" t="t" r="r" b="b"/>
              <a:pathLst>
                <a:path w="2322068" h="994283">
                  <a:moveTo>
                    <a:pt x="0" y="0"/>
                  </a:moveTo>
                  <a:lnTo>
                    <a:pt x="2322068" y="0"/>
                  </a:lnTo>
                  <a:lnTo>
                    <a:pt x="2322068" y="994283"/>
                  </a:lnTo>
                  <a:lnTo>
                    <a:pt x="0" y="994283"/>
                  </a:lnTo>
                  <a:lnTo>
                    <a:pt x="0" y="0"/>
                  </a:lnTo>
                  <a:close/>
                </a:path>
              </a:pathLst>
            </a:custGeom>
            <a:blipFill>
              <a:blip r:embed="rId4"/>
              <a:stretch>
                <a:fillRect b="-1456"/>
              </a:stretch>
            </a:blipFill>
          </p:spPr>
        </p:sp>
      </p:grpSp>
      <p:grpSp>
        <p:nvGrpSpPr>
          <p:cNvPr id="6" name="Group 6"/>
          <p:cNvGrpSpPr/>
          <p:nvPr/>
        </p:nvGrpSpPr>
        <p:grpSpPr>
          <a:xfrm>
            <a:off x="9981438" y="9581550"/>
            <a:ext cx="4114800" cy="392420"/>
            <a:chOff x="0" y="0"/>
            <a:chExt cx="5486400" cy="523227"/>
          </a:xfrm>
        </p:grpSpPr>
        <p:sp>
          <p:nvSpPr>
            <p:cNvPr id="7" name="Freeform 7"/>
            <p:cNvSpPr/>
            <p:nvPr/>
          </p:nvSpPr>
          <p:spPr>
            <a:xfrm>
              <a:off x="0" y="0"/>
              <a:ext cx="5486400" cy="523222"/>
            </a:xfrm>
            <a:custGeom>
              <a:avLst/>
              <a:gdLst/>
              <a:ahLst/>
              <a:cxnLst/>
              <a:rect l="l" t="t" r="r" b="b"/>
              <a:pathLst>
                <a:path w="5486400" h="523222">
                  <a:moveTo>
                    <a:pt x="0" y="0"/>
                  </a:moveTo>
                  <a:lnTo>
                    <a:pt x="5486400" y="0"/>
                  </a:lnTo>
                  <a:lnTo>
                    <a:pt x="5486400" y="523222"/>
                  </a:lnTo>
                  <a:lnTo>
                    <a:pt x="0" y="523222"/>
                  </a:lnTo>
                  <a:close/>
                </a:path>
              </a:pathLst>
            </a:custGeom>
            <a:blipFill>
              <a:blip r:embed="rId5">
                <a:alphaModFix amt="0"/>
              </a:blip>
              <a:stretch>
                <a:fillRect t="-154315" b="-154316"/>
              </a:stretch>
            </a:blipFill>
          </p:spPr>
        </p:sp>
        <p:sp>
          <p:nvSpPr>
            <p:cNvPr id="8" name="TextBox 8"/>
            <p:cNvSpPr txBox="1"/>
            <p:nvPr/>
          </p:nvSpPr>
          <p:spPr>
            <a:xfrm>
              <a:off x="0" y="-9525"/>
              <a:ext cx="5486400" cy="532752"/>
            </a:xfrm>
            <a:prstGeom prst="rect">
              <a:avLst/>
            </a:prstGeom>
          </p:spPr>
          <p:txBody>
            <a:bodyPr lIns="0" tIns="0" rIns="0" bIns="0" rtlCol="0" anchor="ctr"/>
            <a:lstStyle/>
            <a:p>
              <a:pPr algn="r">
                <a:lnSpc>
                  <a:spcPts val="2520"/>
                </a:lnSpc>
              </a:pPr>
              <a:r>
                <a:rPr lang="en-US" sz="2100">
                  <a:solidFill>
                    <a:srgbClr val="BFBFBF"/>
                  </a:solidFill>
                  <a:latin typeface="Roboto"/>
                  <a:ea typeface="Roboto"/>
                  <a:cs typeface="Roboto"/>
                  <a:sym typeface="Roboto"/>
                </a:rPr>
                <a:t>‹#›</a:t>
              </a:r>
            </a:p>
          </p:txBody>
        </p:sp>
      </p:grpSp>
      <p:sp>
        <p:nvSpPr>
          <p:cNvPr id="9" name="TextBox 9"/>
          <p:cNvSpPr txBox="1"/>
          <p:nvPr/>
        </p:nvSpPr>
        <p:spPr>
          <a:xfrm>
            <a:off x="840743" y="9548498"/>
            <a:ext cx="7754617" cy="323850"/>
          </a:xfrm>
          <a:prstGeom prst="rect">
            <a:avLst/>
          </a:prstGeom>
        </p:spPr>
        <p:txBody>
          <a:bodyPr lIns="0" tIns="0" rIns="0" bIns="0" rtlCol="0" anchor="t">
            <a:spAutoFit/>
          </a:bodyPr>
          <a:lstStyle/>
          <a:p>
            <a:pPr algn="l">
              <a:lnSpc>
                <a:spcPts val="2520"/>
              </a:lnSpc>
            </a:pPr>
            <a:r>
              <a:rPr lang="en-US" sz="2100" spc="450">
                <a:solidFill>
                  <a:srgbClr val="BFBFBF"/>
                </a:solidFill>
                <a:latin typeface="Arial"/>
                <a:ea typeface="Arial"/>
                <a:cs typeface="Arial"/>
                <a:sym typeface="Arial"/>
              </a:rPr>
              <a:t>www.viettelhightech.vn </a:t>
            </a:r>
          </a:p>
        </p:txBody>
      </p:sp>
      <p:sp>
        <p:nvSpPr>
          <p:cNvPr id="10" name="TextBox 10"/>
          <p:cNvSpPr txBox="1"/>
          <p:nvPr/>
        </p:nvSpPr>
        <p:spPr>
          <a:xfrm>
            <a:off x="840743" y="1238893"/>
            <a:ext cx="6887599" cy="521589"/>
          </a:xfrm>
          <a:prstGeom prst="rect">
            <a:avLst/>
          </a:prstGeom>
        </p:spPr>
        <p:txBody>
          <a:bodyPr lIns="0" tIns="0" rIns="0" bIns="0" rtlCol="0" anchor="t">
            <a:spAutoFit/>
          </a:bodyPr>
          <a:lstStyle/>
          <a:p>
            <a:pPr algn="l">
              <a:lnSpc>
                <a:spcPts val="3888"/>
              </a:lnSpc>
              <a:spcBef>
                <a:spcPct val="0"/>
              </a:spcBef>
            </a:pPr>
            <a:r>
              <a:rPr lang="en-US" sz="3600">
                <a:solidFill>
                  <a:srgbClr val="EE0033"/>
                </a:solidFill>
                <a:latin typeface="Arial"/>
                <a:ea typeface="Arial"/>
                <a:cs typeface="Arial"/>
                <a:sym typeface="Arial"/>
              </a:rPr>
              <a:t>Shared memory:</a:t>
            </a:r>
          </a:p>
        </p:txBody>
      </p:sp>
      <p:sp>
        <p:nvSpPr>
          <p:cNvPr id="11" name="TextBox 11"/>
          <p:cNvSpPr txBox="1"/>
          <p:nvPr/>
        </p:nvSpPr>
        <p:spPr>
          <a:xfrm>
            <a:off x="1028700" y="2076650"/>
            <a:ext cx="15754201" cy="521589"/>
          </a:xfrm>
          <a:prstGeom prst="rect">
            <a:avLst/>
          </a:prstGeom>
        </p:spPr>
        <p:txBody>
          <a:bodyPr lIns="0" tIns="0" rIns="0" bIns="0" rtlCol="0" anchor="t">
            <a:spAutoFit/>
          </a:bodyPr>
          <a:lstStyle/>
          <a:p>
            <a:pPr algn="ctr">
              <a:lnSpc>
                <a:spcPts val="3888"/>
              </a:lnSpc>
              <a:spcBef>
                <a:spcPct val="0"/>
              </a:spcBef>
            </a:pPr>
            <a:r>
              <a:rPr lang="en-US" sz="3600">
                <a:solidFill>
                  <a:srgbClr val="000000"/>
                </a:solidFill>
                <a:latin typeface="Arial"/>
                <a:ea typeface="Arial"/>
                <a:cs typeface="Arial"/>
                <a:sym typeface="Arial"/>
              </a:rPr>
              <a:t>Để sử dụng một POSIX Shared Memory Object, chúng ta thực hiện hai bước:</a:t>
            </a:r>
          </a:p>
        </p:txBody>
      </p:sp>
      <p:sp>
        <p:nvSpPr>
          <p:cNvPr id="12" name="TextBox 12"/>
          <p:cNvSpPr txBox="1"/>
          <p:nvPr/>
        </p:nvSpPr>
        <p:spPr>
          <a:xfrm>
            <a:off x="1028700" y="2822674"/>
            <a:ext cx="15922228" cy="521589"/>
          </a:xfrm>
          <a:prstGeom prst="rect">
            <a:avLst/>
          </a:prstGeom>
        </p:spPr>
        <p:txBody>
          <a:bodyPr lIns="0" tIns="0" rIns="0" bIns="0" rtlCol="0" anchor="t">
            <a:spAutoFit/>
          </a:bodyPr>
          <a:lstStyle/>
          <a:p>
            <a:pPr algn="ctr">
              <a:lnSpc>
                <a:spcPts val="3888"/>
              </a:lnSpc>
              <a:spcBef>
                <a:spcPct val="0"/>
              </a:spcBef>
            </a:pPr>
            <a:r>
              <a:rPr lang="en-US" sz="3600">
                <a:solidFill>
                  <a:srgbClr val="000000"/>
                </a:solidFill>
                <a:latin typeface="Arial"/>
                <a:ea typeface="Arial"/>
                <a:cs typeface="Arial"/>
                <a:sym typeface="Arial"/>
              </a:rPr>
              <a:t>- Gọi hàm shm_open()để mở một shared memory object với một tên xác định. </a:t>
            </a:r>
          </a:p>
        </p:txBody>
      </p:sp>
      <p:sp>
        <p:nvSpPr>
          <p:cNvPr id="13" name="TextBox 13"/>
          <p:cNvSpPr txBox="1"/>
          <p:nvPr/>
        </p:nvSpPr>
        <p:spPr>
          <a:xfrm>
            <a:off x="1028700" y="3650361"/>
            <a:ext cx="16708768" cy="1493139"/>
          </a:xfrm>
          <a:prstGeom prst="rect">
            <a:avLst/>
          </a:prstGeom>
        </p:spPr>
        <p:txBody>
          <a:bodyPr lIns="0" tIns="0" rIns="0" bIns="0" rtlCol="0" anchor="t">
            <a:spAutoFit/>
          </a:bodyPr>
          <a:lstStyle/>
          <a:p>
            <a:pPr algn="l">
              <a:lnSpc>
                <a:spcPts val="3888"/>
              </a:lnSpc>
              <a:spcBef>
                <a:spcPct val="0"/>
              </a:spcBef>
            </a:pPr>
            <a:r>
              <a:rPr lang="en-US" sz="3600">
                <a:solidFill>
                  <a:srgbClr val="000000"/>
                </a:solidFill>
                <a:latin typeface="Arial"/>
                <a:ea typeface="Arial"/>
                <a:cs typeface="Arial"/>
                <a:sym typeface="Arial"/>
              </a:rPr>
              <a:t>- Truyền file descriptor vừa nhận được vào lời gọi: mmap() với cờ MAP_SHARED để ánh xạ (map) shared memory object vào không gian địa chỉ ảo (virtual address space) của tiến trình.</a:t>
            </a:r>
          </a:p>
        </p:txBody>
      </p:sp>
      <p:grpSp>
        <p:nvGrpSpPr>
          <p:cNvPr id="14" name="Group 14"/>
          <p:cNvGrpSpPr/>
          <p:nvPr/>
        </p:nvGrpSpPr>
        <p:grpSpPr>
          <a:xfrm>
            <a:off x="451542" y="300771"/>
            <a:ext cx="15770323" cy="767782"/>
            <a:chOff x="0" y="0"/>
            <a:chExt cx="21027098" cy="1023710"/>
          </a:xfrm>
        </p:grpSpPr>
        <p:sp>
          <p:nvSpPr>
            <p:cNvPr id="15" name="Freeform 15"/>
            <p:cNvSpPr/>
            <p:nvPr/>
          </p:nvSpPr>
          <p:spPr>
            <a:xfrm>
              <a:off x="0" y="0"/>
              <a:ext cx="21027095" cy="1023711"/>
            </a:xfrm>
            <a:custGeom>
              <a:avLst/>
              <a:gdLst/>
              <a:ahLst/>
              <a:cxnLst/>
              <a:rect l="l" t="t" r="r" b="b"/>
              <a:pathLst>
                <a:path w="21027095" h="1023711">
                  <a:moveTo>
                    <a:pt x="0" y="0"/>
                  </a:moveTo>
                  <a:lnTo>
                    <a:pt x="21027095" y="0"/>
                  </a:lnTo>
                  <a:lnTo>
                    <a:pt x="21027095" y="1023711"/>
                  </a:lnTo>
                  <a:lnTo>
                    <a:pt x="0" y="1023711"/>
                  </a:lnTo>
                  <a:close/>
                </a:path>
              </a:pathLst>
            </a:custGeom>
            <a:blipFill>
              <a:blip r:embed="rId5">
                <a:alphaModFix amt="0"/>
              </a:blip>
              <a:stretch>
                <a:fillRect t="-350224" b="-350223"/>
              </a:stretch>
            </a:blipFill>
          </p:spPr>
        </p:sp>
        <p:sp>
          <p:nvSpPr>
            <p:cNvPr id="16" name="TextBox 16"/>
            <p:cNvSpPr txBox="1"/>
            <p:nvPr/>
          </p:nvSpPr>
          <p:spPr>
            <a:xfrm>
              <a:off x="0" y="19050"/>
              <a:ext cx="21027098" cy="1004660"/>
            </a:xfrm>
            <a:prstGeom prst="rect">
              <a:avLst/>
            </a:prstGeom>
          </p:spPr>
          <p:txBody>
            <a:bodyPr lIns="0" tIns="0" rIns="0" bIns="0" rtlCol="0" anchor="b"/>
            <a:lstStyle/>
            <a:p>
              <a:pPr algn="l">
                <a:lnSpc>
                  <a:spcPts val="3888"/>
                </a:lnSpc>
              </a:pPr>
              <a:r>
                <a:rPr lang="en-US" sz="3600">
                  <a:solidFill>
                    <a:srgbClr val="EE0033"/>
                  </a:solidFill>
                  <a:latin typeface="Arial"/>
                  <a:ea typeface="Arial"/>
                  <a:cs typeface="Arial"/>
                  <a:sym typeface="Arial"/>
                </a:rPr>
                <a:t>III. INTER-PROCESS COMMUNICATION:</a:t>
              </a:r>
            </a:p>
          </p:txBody>
        </p:sp>
      </p:gr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9206494"/>
            <a:ext cx="18288000" cy="1080506"/>
            <a:chOff x="0" y="0"/>
            <a:chExt cx="24384000" cy="1440675"/>
          </a:xfrm>
        </p:grpSpPr>
        <p:sp>
          <p:nvSpPr>
            <p:cNvPr id="3" name="Freeform 3"/>
            <p:cNvSpPr/>
            <p:nvPr/>
          </p:nvSpPr>
          <p:spPr>
            <a:xfrm>
              <a:off x="0" y="0"/>
              <a:ext cx="24384000" cy="1440688"/>
            </a:xfrm>
            <a:custGeom>
              <a:avLst/>
              <a:gdLst/>
              <a:ahLst/>
              <a:cxnLst/>
              <a:rect l="l" t="t" r="r" b="b"/>
              <a:pathLst>
                <a:path w="24384000" h="1440688">
                  <a:moveTo>
                    <a:pt x="0" y="0"/>
                  </a:moveTo>
                  <a:lnTo>
                    <a:pt x="24384000" y="0"/>
                  </a:lnTo>
                  <a:lnTo>
                    <a:pt x="24384000" y="1440688"/>
                  </a:lnTo>
                  <a:lnTo>
                    <a:pt x="0" y="1440688"/>
                  </a:lnTo>
                  <a:lnTo>
                    <a:pt x="0" y="0"/>
                  </a:lnTo>
                  <a:close/>
                </a:path>
              </a:pathLst>
            </a:custGeom>
            <a:blipFill>
              <a:blip r:embed="rId3"/>
              <a:stretch>
                <a:fillRect t="-364" b="-364"/>
              </a:stretch>
            </a:blipFill>
          </p:spPr>
        </p:sp>
      </p:grpSp>
      <p:grpSp>
        <p:nvGrpSpPr>
          <p:cNvPr id="4" name="Group 4"/>
          <p:cNvGrpSpPr/>
          <p:nvPr/>
        </p:nvGrpSpPr>
        <p:grpSpPr>
          <a:xfrm>
            <a:off x="15473315" y="9370285"/>
            <a:ext cx="1741541" cy="745693"/>
            <a:chOff x="0" y="0"/>
            <a:chExt cx="2322055" cy="994258"/>
          </a:xfrm>
        </p:grpSpPr>
        <p:sp>
          <p:nvSpPr>
            <p:cNvPr id="5" name="Freeform 5"/>
            <p:cNvSpPr/>
            <p:nvPr/>
          </p:nvSpPr>
          <p:spPr>
            <a:xfrm>
              <a:off x="0" y="0"/>
              <a:ext cx="2322068" cy="994283"/>
            </a:xfrm>
            <a:custGeom>
              <a:avLst/>
              <a:gdLst/>
              <a:ahLst/>
              <a:cxnLst/>
              <a:rect l="l" t="t" r="r" b="b"/>
              <a:pathLst>
                <a:path w="2322068" h="994283">
                  <a:moveTo>
                    <a:pt x="0" y="0"/>
                  </a:moveTo>
                  <a:lnTo>
                    <a:pt x="2322068" y="0"/>
                  </a:lnTo>
                  <a:lnTo>
                    <a:pt x="2322068" y="994283"/>
                  </a:lnTo>
                  <a:lnTo>
                    <a:pt x="0" y="994283"/>
                  </a:lnTo>
                  <a:lnTo>
                    <a:pt x="0" y="0"/>
                  </a:lnTo>
                  <a:close/>
                </a:path>
              </a:pathLst>
            </a:custGeom>
            <a:blipFill>
              <a:blip r:embed="rId4"/>
              <a:stretch>
                <a:fillRect b="-1456"/>
              </a:stretch>
            </a:blipFill>
          </p:spPr>
        </p:sp>
      </p:grpSp>
      <p:grpSp>
        <p:nvGrpSpPr>
          <p:cNvPr id="6" name="Group 6"/>
          <p:cNvGrpSpPr/>
          <p:nvPr/>
        </p:nvGrpSpPr>
        <p:grpSpPr>
          <a:xfrm>
            <a:off x="9981438" y="9581550"/>
            <a:ext cx="4114800" cy="392420"/>
            <a:chOff x="0" y="0"/>
            <a:chExt cx="5486400" cy="523227"/>
          </a:xfrm>
        </p:grpSpPr>
        <p:sp>
          <p:nvSpPr>
            <p:cNvPr id="7" name="Freeform 7"/>
            <p:cNvSpPr/>
            <p:nvPr/>
          </p:nvSpPr>
          <p:spPr>
            <a:xfrm>
              <a:off x="0" y="0"/>
              <a:ext cx="5486400" cy="523222"/>
            </a:xfrm>
            <a:custGeom>
              <a:avLst/>
              <a:gdLst/>
              <a:ahLst/>
              <a:cxnLst/>
              <a:rect l="l" t="t" r="r" b="b"/>
              <a:pathLst>
                <a:path w="5486400" h="523222">
                  <a:moveTo>
                    <a:pt x="0" y="0"/>
                  </a:moveTo>
                  <a:lnTo>
                    <a:pt x="5486400" y="0"/>
                  </a:lnTo>
                  <a:lnTo>
                    <a:pt x="5486400" y="523222"/>
                  </a:lnTo>
                  <a:lnTo>
                    <a:pt x="0" y="523222"/>
                  </a:lnTo>
                  <a:close/>
                </a:path>
              </a:pathLst>
            </a:custGeom>
            <a:blipFill>
              <a:blip r:embed="rId5">
                <a:alphaModFix amt="0"/>
              </a:blip>
              <a:stretch>
                <a:fillRect t="-154315" b="-154316"/>
              </a:stretch>
            </a:blipFill>
          </p:spPr>
        </p:sp>
        <p:sp>
          <p:nvSpPr>
            <p:cNvPr id="8" name="TextBox 8"/>
            <p:cNvSpPr txBox="1"/>
            <p:nvPr/>
          </p:nvSpPr>
          <p:spPr>
            <a:xfrm>
              <a:off x="0" y="-9525"/>
              <a:ext cx="5486400" cy="532752"/>
            </a:xfrm>
            <a:prstGeom prst="rect">
              <a:avLst/>
            </a:prstGeom>
          </p:spPr>
          <p:txBody>
            <a:bodyPr lIns="0" tIns="0" rIns="0" bIns="0" rtlCol="0" anchor="ctr"/>
            <a:lstStyle/>
            <a:p>
              <a:pPr algn="r">
                <a:lnSpc>
                  <a:spcPts val="2520"/>
                </a:lnSpc>
              </a:pPr>
              <a:r>
                <a:rPr lang="en-US" sz="2100">
                  <a:solidFill>
                    <a:srgbClr val="BFBFBF"/>
                  </a:solidFill>
                  <a:latin typeface="Roboto"/>
                  <a:ea typeface="Roboto"/>
                  <a:cs typeface="Roboto"/>
                  <a:sym typeface="Roboto"/>
                </a:rPr>
                <a:t>‹#›</a:t>
              </a:r>
            </a:p>
          </p:txBody>
        </p:sp>
      </p:grpSp>
      <p:sp>
        <p:nvSpPr>
          <p:cNvPr id="9" name="Freeform 9"/>
          <p:cNvSpPr/>
          <p:nvPr/>
        </p:nvSpPr>
        <p:spPr>
          <a:xfrm>
            <a:off x="1485069" y="3100901"/>
            <a:ext cx="9298786" cy="2191633"/>
          </a:xfrm>
          <a:custGeom>
            <a:avLst/>
            <a:gdLst/>
            <a:ahLst/>
            <a:cxnLst/>
            <a:rect l="l" t="t" r="r" b="b"/>
            <a:pathLst>
              <a:path w="9298786" h="2191633">
                <a:moveTo>
                  <a:pt x="0" y="0"/>
                </a:moveTo>
                <a:lnTo>
                  <a:pt x="9298786" y="0"/>
                </a:lnTo>
                <a:lnTo>
                  <a:pt x="9298786" y="2191633"/>
                </a:lnTo>
                <a:lnTo>
                  <a:pt x="0" y="2191633"/>
                </a:lnTo>
                <a:lnTo>
                  <a:pt x="0" y="0"/>
                </a:lnTo>
                <a:close/>
              </a:path>
            </a:pathLst>
          </a:custGeom>
          <a:blipFill>
            <a:blip r:embed="rId6"/>
            <a:stretch>
              <a:fillRect/>
            </a:stretch>
          </a:blipFill>
        </p:spPr>
      </p:sp>
      <p:sp>
        <p:nvSpPr>
          <p:cNvPr id="10" name="Freeform 10"/>
          <p:cNvSpPr/>
          <p:nvPr/>
        </p:nvSpPr>
        <p:spPr>
          <a:xfrm>
            <a:off x="1485069" y="5513905"/>
            <a:ext cx="8933683" cy="3692589"/>
          </a:xfrm>
          <a:custGeom>
            <a:avLst/>
            <a:gdLst/>
            <a:ahLst/>
            <a:cxnLst/>
            <a:rect l="l" t="t" r="r" b="b"/>
            <a:pathLst>
              <a:path w="8933683" h="3692589">
                <a:moveTo>
                  <a:pt x="0" y="0"/>
                </a:moveTo>
                <a:lnTo>
                  <a:pt x="8933683" y="0"/>
                </a:lnTo>
                <a:lnTo>
                  <a:pt x="8933683" y="3692589"/>
                </a:lnTo>
                <a:lnTo>
                  <a:pt x="0" y="3692589"/>
                </a:lnTo>
                <a:lnTo>
                  <a:pt x="0" y="0"/>
                </a:lnTo>
                <a:close/>
              </a:path>
            </a:pathLst>
          </a:custGeom>
          <a:blipFill>
            <a:blip r:embed="rId7"/>
            <a:stretch>
              <a:fillRect/>
            </a:stretch>
          </a:blipFill>
        </p:spPr>
      </p:sp>
      <p:sp>
        <p:nvSpPr>
          <p:cNvPr id="11" name="Freeform 11"/>
          <p:cNvSpPr/>
          <p:nvPr/>
        </p:nvSpPr>
        <p:spPr>
          <a:xfrm>
            <a:off x="11440597" y="3414814"/>
            <a:ext cx="5568062" cy="5791679"/>
          </a:xfrm>
          <a:custGeom>
            <a:avLst/>
            <a:gdLst/>
            <a:ahLst/>
            <a:cxnLst/>
            <a:rect l="l" t="t" r="r" b="b"/>
            <a:pathLst>
              <a:path w="5568062" h="5791679">
                <a:moveTo>
                  <a:pt x="0" y="0"/>
                </a:moveTo>
                <a:lnTo>
                  <a:pt x="5568062" y="0"/>
                </a:lnTo>
                <a:lnTo>
                  <a:pt x="5568062" y="5791680"/>
                </a:lnTo>
                <a:lnTo>
                  <a:pt x="0" y="5791680"/>
                </a:lnTo>
                <a:lnTo>
                  <a:pt x="0" y="0"/>
                </a:lnTo>
                <a:close/>
              </a:path>
            </a:pathLst>
          </a:custGeom>
          <a:blipFill>
            <a:blip r:embed="rId8"/>
            <a:stretch>
              <a:fillRect/>
            </a:stretch>
          </a:blipFill>
        </p:spPr>
      </p:sp>
      <p:sp>
        <p:nvSpPr>
          <p:cNvPr id="12" name="TextBox 12"/>
          <p:cNvSpPr txBox="1"/>
          <p:nvPr/>
        </p:nvSpPr>
        <p:spPr>
          <a:xfrm>
            <a:off x="840743" y="9548498"/>
            <a:ext cx="7754617" cy="323850"/>
          </a:xfrm>
          <a:prstGeom prst="rect">
            <a:avLst/>
          </a:prstGeom>
        </p:spPr>
        <p:txBody>
          <a:bodyPr lIns="0" tIns="0" rIns="0" bIns="0" rtlCol="0" anchor="t">
            <a:spAutoFit/>
          </a:bodyPr>
          <a:lstStyle/>
          <a:p>
            <a:pPr algn="l">
              <a:lnSpc>
                <a:spcPts val="2520"/>
              </a:lnSpc>
            </a:pPr>
            <a:r>
              <a:rPr lang="en-US" sz="2100" spc="450">
                <a:solidFill>
                  <a:srgbClr val="BFBFBF"/>
                </a:solidFill>
                <a:latin typeface="Arial"/>
                <a:ea typeface="Arial"/>
                <a:cs typeface="Arial"/>
                <a:sym typeface="Arial"/>
              </a:rPr>
              <a:t>www.viettelhightech.vn </a:t>
            </a:r>
          </a:p>
        </p:txBody>
      </p:sp>
      <p:sp>
        <p:nvSpPr>
          <p:cNvPr id="13" name="TextBox 13"/>
          <p:cNvSpPr txBox="1"/>
          <p:nvPr/>
        </p:nvSpPr>
        <p:spPr>
          <a:xfrm>
            <a:off x="840743" y="1238893"/>
            <a:ext cx="6887599" cy="521589"/>
          </a:xfrm>
          <a:prstGeom prst="rect">
            <a:avLst/>
          </a:prstGeom>
        </p:spPr>
        <p:txBody>
          <a:bodyPr lIns="0" tIns="0" rIns="0" bIns="0" rtlCol="0" anchor="t">
            <a:spAutoFit/>
          </a:bodyPr>
          <a:lstStyle/>
          <a:p>
            <a:pPr algn="l">
              <a:lnSpc>
                <a:spcPts val="3888"/>
              </a:lnSpc>
              <a:spcBef>
                <a:spcPct val="0"/>
              </a:spcBef>
            </a:pPr>
            <a:r>
              <a:rPr lang="en-US" sz="3600">
                <a:solidFill>
                  <a:srgbClr val="EE0033"/>
                </a:solidFill>
                <a:latin typeface="Arial"/>
                <a:ea typeface="Arial"/>
                <a:cs typeface="Arial"/>
                <a:sym typeface="Arial"/>
              </a:rPr>
              <a:t>Shared memory:</a:t>
            </a:r>
          </a:p>
        </p:txBody>
      </p:sp>
      <p:sp>
        <p:nvSpPr>
          <p:cNvPr id="14" name="TextBox 14"/>
          <p:cNvSpPr txBox="1"/>
          <p:nvPr/>
        </p:nvSpPr>
        <p:spPr>
          <a:xfrm>
            <a:off x="840743" y="1874462"/>
            <a:ext cx="16221866" cy="1007364"/>
          </a:xfrm>
          <a:prstGeom prst="rect">
            <a:avLst/>
          </a:prstGeom>
        </p:spPr>
        <p:txBody>
          <a:bodyPr lIns="0" tIns="0" rIns="0" bIns="0" rtlCol="0" anchor="t">
            <a:spAutoFit/>
          </a:bodyPr>
          <a:lstStyle/>
          <a:p>
            <a:pPr algn="l">
              <a:lnSpc>
                <a:spcPts val="3888"/>
              </a:lnSpc>
              <a:spcBef>
                <a:spcPct val="0"/>
              </a:spcBef>
            </a:pPr>
            <a:r>
              <a:rPr lang="en-US" sz="3600">
                <a:solidFill>
                  <a:srgbClr val="000000"/>
                </a:solidFill>
                <a:latin typeface="Arial"/>
                <a:ea typeface="Arial"/>
                <a:cs typeface="Arial"/>
                <a:sym typeface="Arial"/>
              </a:rPr>
              <a:t>Khi một shared memory object mới được tạo thì kích thước ban đầu là 0 byte. Phải gọi ftruncate() để đặt kích thước mong muốn.</a:t>
            </a:r>
          </a:p>
        </p:txBody>
      </p:sp>
      <p:grpSp>
        <p:nvGrpSpPr>
          <p:cNvPr id="15" name="Group 15"/>
          <p:cNvGrpSpPr/>
          <p:nvPr/>
        </p:nvGrpSpPr>
        <p:grpSpPr>
          <a:xfrm>
            <a:off x="451542" y="300771"/>
            <a:ext cx="15770323" cy="767782"/>
            <a:chOff x="0" y="0"/>
            <a:chExt cx="21027098" cy="1023710"/>
          </a:xfrm>
        </p:grpSpPr>
        <p:sp>
          <p:nvSpPr>
            <p:cNvPr id="16" name="Freeform 16"/>
            <p:cNvSpPr/>
            <p:nvPr/>
          </p:nvSpPr>
          <p:spPr>
            <a:xfrm>
              <a:off x="0" y="0"/>
              <a:ext cx="21027095" cy="1023711"/>
            </a:xfrm>
            <a:custGeom>
              <a:avLst/>
              <a:gdLst/>
              <a:ahLst/>
              <a:cxnLst/>
              <a:rect l="l" t="t" r="r" b="b"/>
              <a:pathLst>
                <a:path w="21027095" h="1023711">
                  <a:moveTo>
                    <a:pt x="0" y="0"/>
                  </a:moveTo>
                  <a:lnTo>
                    <a:pt x="21027095" y="0"/>
                  </a:lnTo>
                  <a:lnTo>
                    <a:pt x="21027095" y="1023711"/>
                  </a:lnTo>
                  <a:lnTo>
                    <a:pt x="0" y="1023711"/>
                  </a:lnTo>
                  <a:close/>
                </a:path>
              </a:pathLst>
            </a:custGeom>
            <a:blipFill>
              <a:blip r:embed="rId5">
                <a:alphaModFix amt="0"/>
              </a:blip>
              <a:stretch>
                <a:fillRect t="-350224" b="-350223"/>
              </a:stretch>
            </a:blipFill>
          </p:spPr>
        </p:sp>
        <p:sp>
          <p:nvSpPr>
            <p:cNvPr id="17" name="TextBox 17"/>
            <p:cNvSpPr txBox="1"/>
            <p:nvPr/>
          </p:nvSpPr>
          <p:spPr>
            <a:xfrm>
              <a:off x="0" y="19050"/>
              <a:ext cx="21027098" cy="1004660"/>
            </a:xfrm>
            <a:prstGeom prst="rect">
              <a:avLst/>
            </a:prstGeom>
          </p:spPr>
          <p:txBody>
            <a:bodyPr lIns="0" tIns="0" rIns="0" bIns="0" rtlCol="0" anchor="b"/>
            <a:lstStyle/>
            <a:p>
              <a:pPr algn="l">
                <a:lnSpc>
                  <a:spcPts val="3888"/>
                </a:lnSpc>
              </a:pPr>
              <a:r>
                <a:rPr lang="en-US" sz="3600">
                  <a:solidFill>
                    <a:srgbClr val="EE0033"/>
                  </a:solidFill>
                  <a:latin typeface="Arial"/>
                  <a:ea typeface="Arial"/>
                  <a:cs typeface="Arial"/>
                  <a:sym typeface="Arial"/>
                </a:rPr>
                <a:t>III. INTER-PROCESS COMMUNICATION:</a:t>
              </a:r>
            </a:p>
          </p:txBody>
        </p:sp>
      </p:gr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9206494"/>
            <a:ext cx="18288000" cy="1080506"/>
            <a:chOff x="0" y="0"/>
            <a:chExt cx="24384000" cy="1440675"/>
          </a:xfrm>
        </p:grpSpPr>
        <p:sp>
          <p:nvSpPr>
            <p:cNvPr id="3" name="Freeform 3"/>
            <p:cNvSpPr/>
            <p:nvPr/>
          </p:nvSpPr>
          <p:spPr>
            <a:xfrm>
              <a:off x="0" y="0"/>
              <a:ext cx="24384000" cy="1440688"/>
            </a:xfrm>
            <a:custGeom>
              <a:avLst/>
              <a:gdLst/>
              <a:ahLst/>
              <a:cxnLst/>
              <a:rect l="l" t="t" r="r" b="b"/>
              <a:pathLst>
                <a:path w="24384000" h="1440688">
                  <a:moveTo>
                    <a:pt x="0" y="0"/>
                  </a:moveTo>
                  <a:lnTo>
                    <a:pt x="24384000" y="0"/>
                  </a:lnTo>
                  <a:lnTo>
                    <a:pt x="24384000" y="1440688"/>
                  </a:lnTo>
                  <a:lnTo>
                    <a:pt x="0" y="1440688"/>
                  </a:lnTo>
                  <a:lnTo>
                    <a:pt x="0" y="0"/>
                  </a:lnTo>
                  <a:close/>
                </a:path>
              </a:pathLst>
            </a:custGeom>
            <a:blipFill>
              <a:blip r:embed="rId3"/>
              <a:stretch>
                <a:fillRect t="-364" b="-364"/>
              </a:stretch>
            </a:blipFill>
          </p:spPr>
        </p:sp>
      </p:grpSp>
      <p:grpSp>
        <p:nvGrpSpPr>
          <p:cNvPr id="4" name="Group 4"/>
          <p:cNvGrpSpPr/>
          <p:nvPr/>
        </p:nvGrpSpPr>
        <p:grpSpPr>
          <a:xfrm>
            <a:off x="15473315" y="9370285"/>
            <a:ext cx="1741541" cy="745693"/>
            <a:chOff x="0" y="0"/>
            <a:chExt cx="2322055" cy="994258"/>
          </a:xfrm>
        </p:grpSpPr>
        <p:sp>
          <p:nvSpPr>
            <p:cNvPr id="5" name="Freeform 5"/>
            <p:cNvSpPr/>
            <p:nvPr/>
          </p:nvSpPr>
          <p:spPr>
            <a:xfrm>
              <a:off x="0" y="0"/>
              <a:ext cx="2322068" cy="994283"/>
            </a:xfrm>
            <a:custGeom>
              <a:avLst/>
              <a:gdLst/>
              <a:ahLst/>
              <a:cxnLst/>
              <a:rect l="l" t="t" r="r" b="b"/>
              <a:pathLst>
                <a:path w="2322068" h="994283">
                  <a:moveTo>
                    <a:pt x="0" y="0"/>
                  </a:moveTo>
                  <a:lnTo>
                    <a:pt x="2322068" y="0"/>
                  </a:lnTo>
                  <a:lnTo>
                    <a:pt x="2322068" y="994283"/>
                  </a:lnTo>
                  <a:lnTo>
                    <a:pt x="0" y="994283"/>
                  </a:lnTo>
                  <a:lnTo>
                    <a:pt x="0" y="0"/>
                  </a:lnTo>
                  <a:close/>
                </a:path>
              </a:pathLst>
            </a:custGeom>
            <a:blipFill>
              <a:blip r:embed="rId4"/>
              <a:stretch>
                <a:fillRect b="-1456"/>
              </a:stretch>
            </a:blipFill>
          </p:spPr>
        </p:sp>
      </p:grpSp>
      <p:grpSp>
        <p:nvGrpSpPr>
          <p:cNvPr id="6" name="Group 6"/>
          <p:cNvGrpSpPr/>
          <p:nvPr/>
        </p:nvGrpSpPr>
        <p:grpSpPr>
          <a:xfrm>
            <a:off x="9981438" y="9581550"/>
            <a:ext cx="4114800" cy="392420"/>
            <a:chOff x="0" y="0"/>
            <a:chExt cx="5486400" cy="523227"/>
          </a:xfrm>
        </p:grpSpPr>
        <p:sp>
          <p:nvSpPr>
            <p:cNvPr id="7" name="Freeform 7"/>
            <p:cNvSpPr/>
            <p:nvPr/>
          </p:nvSpPr>
          <p:spPr>
            <a:xfrm>
              <a:off x="0" y="0"/>
              <a:ext cx="5486400" cy="523222"/>
            </a:xfrm>
            <a:custGeom>
              <a:avLst/>
              <a:gdLst/>
              <a:ahLst/>
              <a:cxnLst/>
              <a:rect l="l" t="t" r="r" b="b"/>
              <a:pathLst>
                <a:path w="5486400" h="523222">
                  <a:moveTo>
                    <a:pt x="0" y="0"/>
                  </a:moveTo>
                  <a:lnTo>
                    <a:pt x="5486400" y="0"/>
                  </a:lnTo>
                  <a:lnTo>
                    <a:pt x="5486400" y="523222"/>
                  </a:lnTo>
                  <a:lnTo>
                    <a:pt x="0" y="523222"/>
                  </a:lnTo>
                  <a:close/>
                </a:path>
              </a:pathLst>
            </a:custGeom>
            <a:blipFill>
              <a:blip r:embed="rId5">
                <a:alphaModFix amt="0"/>
              </a:blip>
              <a:stretch>
                <a:fillRect t="-154315" b="-154316"/>
              </a:stretch>
            </a:blipFill>
          </p:spPr>
        </p:sp>
        <p:sp>
          <p:nvSpPr>
            <p:cNvPr id="8" name="TextBox 8"/>
            <p:cNvSpPr txBox="1"/>
            <p:nvPr/>
          </p:nvSpPr>
          <p:spPr>
            <a:xfrm>
              <a:off x="0" y="-9525"/>
              <a:ext cx="5486400" cy="532752"/>
            </a:xfrm>
            <a:prstGeom prst="rect">
              <a:avLst/>
            </a:prstGeom>
          </p:spPr>
          <p:txBody>
            <a:bodyPr lIns="0" tIns="0" rIns="0" bIns="0" rtlCol="0" anchor="ctr"/>
            <a:lstStyle/>
            <a:p>
              <a:pPr algn="r">
                <a:lnSpc>
                  <a:spcPts val="2520"/>
                </a:lnSpc>
              </a:pPr>
              <a:r>
                <a:rPr lang="en-US" sz="2100">
                  <a:solidFill>
                    <a:srgbClr val="BFBFBF"/>
                  </a:solidFill>
                  <a:latin typeface="Roboto"/>
                  <a:ea typeface="Roboto"/>
                  <a:cs typeface="Roboto"/>
                  <a:sym typeface="Roboto"/>
                </a:rPr>
                <a:t>‹#›</a:t>
              </a:r>
            </a:p>
          </p:txBody>
        </p:sp>
      </p:grpSp>
      <p:sp>
        <p:nvSpPr>
          <p:cNvPr id="9" name="Freeform 9"/>
          <p:cNvSpPr/>
          <p:nvPr/>
        </p:nvSpPr>
        <p:spPr>
          <a:xfrm>
            <a:off x="2854305" y="3170342"/>
            <a:ext cx="10727484" cy="1973158"/>
          </a:xfrm>
          <a:custGeom>
            <a:avLst/>
            <a:gdLst/>
            <a:ahLst/>
            <a:cxnLst/>
            <a:rect l="l" t="t" r="r" b="b"/>
            <a:pathLst>
              <a:path w="10727484" h="1973158">
                <a:moveTo>
                  <a:pt x="0" y="0"/>
                </a:moveTo>
                <a:lnTo>
                  <a:pt x="10727483" y="0"/>
                </a:lnTo>
                <a:lnTo>
                  <a:pt x="10727483" y="1973158"/>
                </a:lnTo>
                <a:lnTo>
                  <a:pt x="0" y="1973158"/>
                </a:lnTo>
                <a:lnTo>
                  <a:pt x="0" y="0"/>
                </a:lnTo>
                <a:close/>
              </a:path>
            </a:pathLst>
          </a:custGeom>
          <a:blipFill>
            <a:blip r:embed="rId6"/>
            <a:stretch>
              <a:fillRect/>
            </a:stretch>
          </a:blipFill>
        </p:spPr>
      </p:sp>
      <p:sp>
        <p:nvSpPr>
          <p:cNvPr id="10" name="Freeform 10"/>
          <p:cNvSpPr/>
          <p:nvPr/>
        </p:nvSpPr>
        <p:spPr>
          <a:xfrm>
            <a:off x="550570" y="5927552"/>
            <a:ext cx="7934878" cy="2435567"/>
          </a:xfrm>
          <a:custGeom>
            <a:avLst/>
            <a:gdLst/>
            <a:ahLst/>
            <a:cxnLst/>
            <a:rect l="l" t="t" r="r" b="b"/>
            <a:pathLst>
              <a:path w="7934878" h="2435567">
                <a:moveTo>
                  <a:pt x="0" y="0"/>
                </a:moveTo>
                <a:lnTo>
                  <a:pt x="7934878" y="0"/>
                </a:lnTo>
                <a:lnTo>
                  <a:pt x="7934878" y="2435567"/>
                </a:lnTo>
                <a:lnTo>
                  <a:pt x="0" y="2435567"/>
                </a:lnTo>
                <a:lnTo>
                  <a:pt x="0" y="0"/>
                </a:lnTo>
                <a:close/>
              </a:path>
            </a:pathLst>
          </a:custGeom>
          <a:blipFill>
            <a:blip r:embed="rId7"/>
            <a:stretch>
              <a:fillRect/>
            </a:stretch>
          </a:blipFill>
        </p:spPr>
      </p:sp>
      <p:sp>
        <p:nvSpPr>
          <p:cNvPr id="11" name="Freeform 11"/>
          <p:cNvSpPr/>
          <p:nvPr/>
        </p:nvSpPr>
        <p:spPr>
          <a:xfrm>
            <a:off x="8719242" y="5202308"/>
            <a:ext cx="8824814" cy="3886054"/>
          </a:xfrm>
          <a:custGeom>
            <a:avLst/>
            <a:gdLst/>
            <a:ahLst/>
            <a:cxnLst/>
            <a:rect l="l" t="t" r="r" b="b"/>
            <a:pathLst>
              <a:path w="8824814" h="3886054">
                <a:moveTo>
                  <a:pt x="0" y="0"/>
                </a:moveTo>
                <a:lnTo>
                  <a:pt x="8824815" y="0"/>
                </a:lnTo>
                <a:lnTo>
                  <a:pt x="8824815" y="3886054"/>
                </a:lnTo>
                <a:lnTo>
                  <a:pt x="0" y="3886054"/>
                </a:lnTo>
                <a:lnTo>
                  <a:pt x="0" y="0"/>
                </a:lnTo>
                <a:close/>
              </a:path>
            </a:pathLst>
          </a:custGeom>
          <a:blipFill>
            <a:blip r:embed="rId8"/>
            <a:stretch>
              <a:fillRect/>
            </a:stretch>
          </a:blipFill>
        </p:spPr>
      </p:sp>
      <p:sp>
        <p:nvSpPr>
          <p:cNvPr id="12" name="TextBox 12"/>
          <p:cNvSpPr txBox="1"/>
          <p:nvPr/>
        </p:nvSpPr>
        <p:spPr>
          <a:xfrm>
            <a:off x="840743" y="9548498"/>
            <a:ext cx="7754617" cy="323850"/>
          </a:xfrm>
          <a:prstGeom prst="rect">
            <a:avLst/>
          </a:prstGeom>
        </p:spPr>
        <p:txBody>
          <a:bodyPr lIns="0" tIns="0" rIns="0" bIns="0" rtlCol="0" anchor="t">
            <a:spAutoFit/>
          </a:bodyPr>
          <a:lstStyle/>
          <a:p>
            <a:pPr algn="l">
              <a:lnSpc>
                <a:spcPts val="2520"/>
              </a:lnSpc>
            </a:pPr>
            <a:r>
              <a:rPr lang="en-US" sz="2100" spc="450">
                <a:solidFill>
                  <a:srgbClr val="BFBFBF"/>
                </a:solidFill>
                <a:latin typeface="Arial"/>
                <a:ea typeface="Arial"/>
                <a:cs typeface="Arial"/>
                <a:sym typeface="Arial"/>
              </a:rPr>
              <a:t>www.viettelhightech.vn </a:t>
            </a:r>
          </a:p>
        </p:txBody>
      </p:sp>
      <p:sp>
        <p:nvSpPr>
          <p:cNvPr id="13" name="TextBox 13"/>
          <p:cNvSpPr txBox="1"/>
          <p:nvPr/>
        </p:nvSpPr>
        <p:spPr>
          <a:xfrm>
            <a:off x="840743" y="1238893"/>
            <a:ext cx="6887599" cy="521589"/>
          </a:xfrm>
          <a:prstGeom prst="rect">
            <a:avLst/>
          </a:prstGeom>
        </p:spPr>
        <p:txBody>
          <a:bodyPr lIns="0" tIns="0" rIns="0" bIns="0" rtlCol="0" anchor="t">
            <a:spAutoFit/>
          </a:bodyPr>
          <a:lstStyle/>
          <a:p>
            <a:pPr algn="l">
              <a:lnSpc>
                <a:spcPts val="3888"/>
              </a:lnSpc>
              <a:spcBef>
                <a:spcPct val="0"/>
              </a:spcBef>
            </a:pPr>
            <a:r>
              <a:rPr lang="en-US" sz="3600">
                <a:solidFill>
                  <a:srgbClr val="EE0033"/>
                </a:solidFill>
                <a:latin typeface="Arial"/>
                <a:ea typeface="Arial"/>
                <a:cs typeface="Arial"/>
                <a:sym typeface="Arial"/>
              </a:rPr>
              <a:t>Shared memory:</a:t>
            </a:r>
          </a:p>
        </p:txBody>
      </p:sp>
      <p:sp>
        <p:nvSpPr>
          <p:cNvPr id="14" name="TextBox 14"/>
          <p:cNvSpPr txBox="1"/>
          <p:nvPr/>
        </p:nvSpPr>
        <p:spPr>
          <a:xfrm>
            <a:off x="995634" y="1931932"/>
            <a:ext cx="16296731" cy="1007364"/>
          </a:xfrm>
          <a:prstGeom prst="rect">
            <a:avLst/>
          </a:prstGeom>
        </p:spPr>
        <p:txBody>
          <a:bodyPr lIns="0" tIns="0" rIns="0" bIns="0" rtlCol="0" anchor="t">
            <a:spAutoFit/>
          </a:bodyPr>
          <a:lstStyle/>
          <a:p>
            <a:pPr algn="l">
              <a:lnSpc>
                <a:spcPts val="3888"/>
              </a:lnSpc>
              <a:spcBef>
                <a:spcPct val="0"/>
              </a:spcBef>
            </a:pPr>
            <a:r>
              <a:rPr lang="en-US" sz="3600">
                <a:solidFill>
                  <a:srgbClr val="000000"/>
                </a:solidFill>
                <a:latin typeface="Arial"/>
                <a:ea typeface="Arial"/>
                <a:cs typeface="Arial"/>
                <a:sym typeface="Arial"/>
              </a:rPr>
              <a:t>System call mmap() tạo một ánh xạ nội dung của tệp đang mở vào trong không gian địa chỉ ảo của tiến trình gọi.</a:t>
            </a:r>
          </a:p>
        </p:txBody>
      </p:sp>
      <p:grpSp>
        <p:nvGrpSpPr>
          <p:cNvPr id="15" name="Group 15"/>
          <p:cNvGrpSpPr/>
          <p:nvPr/>
        </p:nvGrpSpPr>
        <p:grpSpPr>
          <a:xfrm>
            <a:off x="451542" y="300771"/>
            <a:ext cx="15770323" cy="767782"/>
            <a:chOff x="0" y="0"/>
            <a:chExt cx="21027098" cy="1023710"/>
          </a:xfrm>
        </p:grpSpPr>
        <p:sp>
          <p:nvSpPr>
            <p:cNvPr id="16" name="Freeform 16"/>
            <p:cNvSpPr/>
            <p:nvPr/>
          </p:nvSpPr>
          <p:spPr>
            <a:xfrm>
              <a:off x="0" y="0"/>
              <a:ext cx="21027095" cy="1023711"/>
            </a:xfrm>
            <a:custGeom>
              <a:avLst/>
              <a:gdLst/>
              <a:ahLst/>
              <a:cxnLst/>
              <a:rect l="l" t="t" r="r" b="b"/>
              <a:pathLst>
                <a:path w="21027095" h="1023711">
                  <a:moveTo>
                    <a:pt x="0" y="0"/>
                  </a:moveTo>
                  <a:lnTo>
                    <a:pt x="21027095" y="0"/>
                  </a:lnTo>
                  <a:lnTo>
                    <a:pt x="21027095" y="1023711"/>
                  </a:lnTo>
                  <a:lnTo>
                    <a:pt x="0" y="1023711"/>
                  </a:lnTo>
                  <a:close/>
                </a:path>
              </a:pathLst>
            </a:custGeom>
            <a:blipFill>
              <a:blip r:embed="rId5">
                <a:alphaModFix amt="0"/>
              </a:blip>
              <a:stretch>
                <a:fillRect t="-350224" b="-350223"/>
              </a:stretch>
            </a:blipFill>
          </p:spPr>
        </p:sp>
        <p:sp>
          <p:nvSpPr>
            <p:cNvPr id="17" name="TextBox 17"/>
            <p:cNvSpPr txBox="1"/>
            <p:nvPr/>
          </p:nvSpPr>
          <p:spPr>
            <a:xfrm>
              <a:off x="0" y="19050"/>
              <a:ext cx="21027098" cy="1004660"/>
            </a:xfrm>
            <a:prstGeom prst="rect">
              <a:avLst/>
            </a:prstGeom>
          </p:spPr>
          <p:txBody>
            <a:bodyPr lIns="0" tIns="0" rIns="0" bIns="0" rtlCol="0" anchor="b"/>
            <a:lstStyle/>
            <a:p>
              <a:pPr algn="l">
                <a:lnSpc>
                  <a:spcPts val="3888"/>
                </a:lnSpc>
              </a:pPr>
              <a:r>
                <a:rPr lang="en-US" sz="3600">
                  <a:solidFill>
                    <a:srgbClr val="EE0033"/>
                  </a:solidFill>
                  <a:latin typeface="Arial"/>
                  <a:ea typeface="Arial"/>
                  <a:cs typeface="Arial"/>
                  <a:sym typeface="Arial"/>
                </a:rPr>
                <a:t>III. INTER-PROCESS COMMUNICATION:</a:t>
              </a:r>
            </a:p>
          </p:txBody>
        </p:sp>
      </p:gr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9206494"/>
            <a:ext cx="18288000" cy="1080506"/>
            <a:chOff x="0" y="0"/>
            <a:chExt cx="24384000" cy="1440675"/>
          </a:xfrm>
        </p:grpSpPr>
        <p:sp>
          <p:nvSpPr>
            <p:cNvPr id="3" name="Freeform 3"/>
            <p:cNvSpPr/>
            <p:nvPr/>
          </p:nvSpPr>
          <p:spPr>
            <a:xfrm>
              <a:off x="0" y="0"/>
              <a:ext cx="24384000" cy="1440688"/>
            </a:xfrm>
            <a:custGeom>
              <a:avLst/>
              <a:gdLst/>
              <a:ahLst/>
              <a:cxnLst/>
              <a:rect l="l" t="t" r="r" b="b"/>
              <a:pathLst>
                <a:path w="24384000" h="1440688">
                  <a:moveTo>
                    <a:pt x="0" y="0"/>
                  </a:moveTo>
                  <a:lnTo>
                    <a:pt x="24384000" y="0"/>
                  </a:lnTo>
                  <a:lnTo>
                    <a:pt x="24384000" y="1440688"/>
                  </a:lnTo>
                  <a:lnTo>
                    <a:pt x="0" y="1440688"/>
                  </a:lnTo>
                  <a:lnTo>
                    <a:pt x="0" y="0"/>
                  </a:lnTo>
                  <a:close/>
                </a:path>
              </a:pathLst>
            </a:custGeom>
            <a:blipFill>
              <a:blip r:embed="rId3"/>
              <a:stretch>
                <a:fillRect t="-364" b="-364"/>
              </a:stretch>
            </a:blipFill>
          </p:spPr>
        </p:sp>
      </p:grpSp>
      <p:grpSp>
        <p:nvGrpSpPr>
          <p:cNvPr id="4" name="Group 4"/>
          <p:cNvGrpSpPr/>
          <p:nvPr/>
        </p:nvGrpSpPr>
        <p:grpSpPr>
          <a:xfrm>
            <a:off x="15473315" y="9370285"/>
            <a:ext cx="1741541" cy="745693"/>
            <a:chOff x="0" y="0"/>
            <a:chExt cx="2322055" cy="994258"/>
          </a:xfrm>
        </p:grpSpPr>
        <p:sp>
          <p:nvSpPr>
            <p:cNvPr id="5" name="Freeform 5"/>
            <p:cNvSpPr/>
            <p:nvPr/>
          </p:nvSpPr>
          <p:spPr>
            <a:xfrm>
              <a:off x="0" y="0"/>
              <a:ext cx="2322068" cy="994283"/>
            </a:xfrm>
            <a:custGeom>
              <a:avLst/>
              <a:gdLst/>
              <a:ahLst/>
              <a:cxnLst/>
              <a:rect l="l" t="t" r="r" b="b"/>
              <a:pathLst>
                <a:path w="2322068" h="994283">
                  <a:moveTo>
                    <a:pt x="0" y="0"/>
                  </a:moveTo>
                  <a:lnTo>
                    <a:pt x="2322068" y="0"/>
                  </a:lnTo>
                  <a:lnTo>
                    <a:pt x="2322068" y="994283"/>
                  </a:lnTo>
                  <a:lnTo>
                    <a:pt x="0" y="994283"/>
                  </a:lnTo>
                  <a:lnTo>
                    <a:pt x="0" y="0"/>
                  </a:lnTo>
                  <a:close/>
                </a:path>
              </a:pathLst>
            </a:custGeom>
            <a:blipFill>
              <a:blip r:embed="rId4"/>
              <a:stretch>
                <a:fillRect b="-1456"/>
              </a:stretch>
            </a:blipFill>
          </p:spPr>
        </p:sp>
      </p:grpSp>
      <p:grpSp>
        <p:nvGrpSpPr>
          <p:cNvPr id="6" name="Group 6"/>
          <p:cNvGrpSpPr/>
          <p:nvPr/>
        </p:nvGrpSpPr>
        <p:grpSpPr>
          <a:xfrm>
            <a:off x="9981438" y="9581550"/>
            <a:ext cx="4114800" cy="392420"/>
            <a:chOff x="0" y="0"/>
            <a:chExt cx="5486400" cy="523227"/>
          </a:xfrm>
        </p:grpSpPr>
        <p:sp>
          <p:nvSpPr>
            <p:cNvPr id="7" name="Freeform 7"/>
            <p:cNvSpPr/>
            <p:nvPr/>
          </p:nvSpPr>
          <p:spPr>
            <a:xfrm>
              <a:off x="0" y="0"/>
              <a:ext cx="5486400" cy="523222"/>
            </a:xfrm>
            <a:custGeom>
              <a:avLst/>
              <a:gdLst/>
              <a:ahLst/>
              <a:cxnLst/>
              <a:rect l="l" t="t" r="r" b="b"/>
              <a:pathLst>
                <a:path w="5486400" h="523222">
                  <a:moveTo>
                    <a:pt x="0" y="0"/>
                  </a:moveTo>
                  <a:lnTo>
                    <a:pt x="5486400" y="0"/>
                  </a:lnTo>
                  <a:lnTo>
                    <a:pt x="5486400" y="523222"/>
                  </a:lnTo>
                  <a:lnTo>
                    <a:pt x="0" y="523222"/>
                  </a:lnTo>
                  <a:close/>
                </a:path>
              </a:pathLst>
            </a:custGeom>
            <a:blipFill>
              <a:blip r:embed="rId5">
                <a:alphaModFix amt="0"/>
              </a:blip>
              <a:stretch>
                <a:fillRect t="-154315" b="-154316"/>
              </a:stretch>
            </a:blipFill>
          </p:spPr>
        </p:sp>
        <p:sp>
          <p:nvSpPr>
            <p:cNvPr id="8" name="TextBox 8"/>
            <p:cNvSpPr txBox="1"/>
            <p:nvPr/>
          </p:nvSpPr>
          <p:spPr>
            <a:xfrm>
              <a:off x="0" y="-9525"/>
              <a:ext cx="5486400" cy="532752"/>
            </a:xfrm>
            <a:prstGeom prst="rect">
              <a:avLst/>
            </a:prstGeom>
          </p:spPr>
          <p:txBody>
            <a:bodyPr lIns="0" tIns="0" rIns="0" bIns="0" rtlCol="0" anchor="ctr"/>
            <a:lstStyle/>
            <a:p>
              <a:pPr algn="r">
                <a:lnSpc>
                  <a:spcPts val="2520"/>
                </a:lnSpc>
              </a:pPr>
              <a:r>
                <a:rPr lang="en-US" sz="2100">
                  <a:solidFill>
                    <a:srgbClr val="BFBFBF"/>
                  </a:solidFill>
                  <a:latin typeface="Roboto"/>
                  <a:ea typeface="Roboto"/>
                  <a:cs typeface="Roboto"/>
                  <a:sym typeface="Roboto"/>
                </a:rPr>
                <a:t>‹#›</a:t>
              </a:r>
            </a:p>
          </p:txBody>
        </p:sp>
      </p:grpSp>
      <p:sp>
        <p:nvSpPr>
          <p:cNvPr id="9" name="Freeform 9"/>
          <p:cNvSpPr/>
          <p:nvPr/>
        </p:nvSpPr>
        <p:spPr>
          <a:xfrm>
            <a:off x="2021031" y="1837277"/>
            <a:ext cx="5822590" cy="6107868"/>
          </a:xfrm>
          <a:custGeom>
            <a:avLst/>
            <a:gdLst/>
            <a:ahLst/>
            <a:cxnLst/>
            <a:rect l="l" t="t" r="r" b="b"/>
            <a:pathLst>
              <a:path w="5822590" h="6107868">
                <a:moveTo>
                  <a:pt x="0" y="0"/>
                </a:moveTo>
                <a:lnTo>
                  <a:pt x="5822590" y="0"/>
                </a:lnTo>
                <a:lnTo>
                  <a:pt x="5822590" y="6107868"/>
                </a:lnTo>
                <a:lnTo>
                  <a:pt x="0" y="6107868"/>
                </a:lnTo>
                <a:lnTo>
                  <a:pt x="0" y="0"/>
                </a:lnTo>
                <a:close/>
              </a:path>
            </a:pathLst>
          </a:custGeom>
          <a:blipFill>
            <a:blip r:embed="rId6"/>
            <a:stretch>
              <a:fillRect/>
            </a:stretch>
          </a:blipFill>
        </p:spPr>
      </p:sp>
      <p:sp>
        <p:nvSpPr>
          <p:cNvPr id="10" name="Freeform 10"/>
          <p:cNvSpPr/>
          <p:nvPr/>
        </p:nvSpPr>
        <p:spPr>
          <a:xfrm>
            <a:off x="8587964" y="1894219"/>
            <a:ext cx="7592626" cy="5983266"/>
          </a:xfrm>
          <a:custGeom>
            <a:avLst/>
            <a:gdLst/>
            <a:ahLst/>
            <a:cxnLst/>
            <a:rect l="l" t="t" r="r" b="b"/>
            <a:pathLst>
              <a:path w="7592626" h="5983266">
                <a:moveTo>
                  <a:pt x="0" y="0"/>
                </a:moveTo>
                <a:lnTo>
                  <a:pt x="7592626" y="0"/>
                </a:lnTo>
                <a:lnTo>
                  <a:pt x="7592626" y="5983265"/>
                </a:lnTo>
                <a:lnTo>
                  <a:pt x="0" y="5983265"/>
                </a:lnTo>
                <a:lnTo>
                  <a:pt x="0" y="0"/>
                </a:lnTo>
                <a:close/>
              </a:path>
            </a:pathLst>
          </a:custGeom>
          <a:blipFill>
            <a:blip r:embed="rId7"/>
            <a:stretch>
              <a:fillRect/>
            </a:stretch>
          </a:blipFill>
        </p:spPr>
      </p:sp>
      <p:sp>
        <p:nvSpPr>
          <p:cNvPr id="11" name="Freeform 11"/>
          <p:cNvSpPr/>
          <p:nvPr/>
        </p:nvSpPr>
        <p:spPr>
          <a:xfrm>
            <a:off x="2401461" y="8073679"/>
            <a:ext cx="11335683" cy="1355809"/>
          </a:xfrm>
          <a:custGeom>
            <a:avLst/>
            <a:gdLst/>
            <a:ahLst/>
            <a:cxnLst/>
            <a:rect l="l" t="t" r="r" b="b"/>
            <a:pathLst>
              <a:path w="11335683" h="1355809">
                <a:moveTo>
                  <a:pt x="0" y="0"/>
                </a:moveTo>
                <a:lnTo>
                  <a:pt x="11335683" y="0"/>
                </a:lnTo>
                <a:lnTo>
                  <a:pt x="11335683" y="1355810"/>
                </a:lnTo>
                <a:lnTo>
                  <a:pt x="0" y="1355810"/>
                </a:lnTo>
                <a:lnTo>
                  <a:pt x="0" y="0"/>
                </a:lnTo>
                <a:close/>
              </a:path>
            </a:pathLst>
          </a:custGeom>
          <a:blipFill>
            <a:blip r:embed="rId8"/>
            <a:stretch>
              <a:fillRect/>
            </a:stretch>
          </a:blipFill>
        </p:spPr>
      </p:sp>
      <p:sp>
        <p:nvSpPr>
          <p:cNvPr id="12" name="TextBox 12"/>
          <p:cNvSpPr txBox="1"/>
          <p:nvPr/>
        </p:nvSpPr>
        <p:spPr>
          <a:xfrm>
            <a:off x="840743" y="9548498"/>
            <a:ext cx="7754617" cy="323850"/>
          </a:xfrm>
          <a:prstGeom prst="rect">
            <a:avLst/>
          </a:prstGeom>
        </p:spPr>
        <p:txBody>
          <a:bodyPr lIns="0" tIns="0" rIns="0" bIns="0" rtlCol="0" anchor="t">
            <a:spAutoFit/>
          </a:bodyPr>
          <a:lstStyle/>
          <a:p>
            <a:pPr algn="l">
              <a:lnSpc>
                <a:spcPts val="2520"/>
              </a:lnSpc>
            </a:pPr>
            <a:r>
              <a:rPr lang="en-US" sz="2100" spc="450">
                <a:solidFill>
                  <a:srgbClr val="BFBFBF"/>
                </a:solidFill>
                <a:latin typeface="Arial"/>
                <a:ea typeface="Arial"/>
                <a:cs typeface="Arial"/>
                <a:sym typeface="Arial"/>
              </a:rPr>
              <a:t>www.viettelhightech.vn </a:t>
            </a:r>
          </a:p>
        </p:txBody>
      </p:sp>
      <p:sp>
        <p:nvSpPr>
          <p:cNvPr id="13" name="TextBox 13"/>
          <p:cNvSpPr txBox="1"/>
          <p:nvPr/>
        </p:nvSpPr>
        <p:spPr>
          <a:xfrm>
            <a:off x="840743" y="1238893"/>
            <a:ext cx="6887599" cy="521589"/>
          </a:xfrm>
          <a:prstGeom prst="rect">
            <a:avLst/>
          </a:prstGeom>
        </p:spPr>
        <p:txBody>
          <a:bodyPr lIns="0" tIns="0" rIns="0" bIns="0" rtlCol="0" anchor="t">
            <a:spAutoFit/>
          </a:bodyPr>
          <a:lstStyle/>
          <a:p>
            <a:pPr algn="l">
              <a:lnSpc>
                <a:spcPts val="3888"/>
              </a:lnSpc>
              <a:spcBef>
                <a:spcPct val="0"/>
              </a:spcBef>
            </a:pPr>
            <a:r>
              <a:rPr lang="en-US" sz="3600">
                <a:solidFill>
                  <a:srgbClr val="EE0033"/>
                </a:solidFill>
                <a:latin typeface="Arial"/>
                <a:ea typeface="Arial"/>
                <a:cs typeface="Arial"/>
                <a:sym typeface="Arial"/>
              </a:rPr>
              <a:t>Shared memory:</a:t>
            </a:r>
          </a:p>
        </p:txBody>
      </p:sp>
      <p:grpSp>
        <p:nvGrpSpPr>
          <p:cNvPr id="14" name="Group 14"/>
          <p:cNvGrpSpPr/>
          <p:nvPr/>
        </p:nvGrpSpPr>
        <p:grpSpPr>
          <a:xfrm>
            <a:off x="451542" y="300771"/>
            <a:ext cx="15770323" cy="767782"/>
            <a:chOff x="0" y="0"/>
            <a:chExt cx="21027098" cy="1023710"/>
          </a:xfrm>
        </p:grpSpPr>
        <p:sp>
          <p:nvSpPr>
            <p:cNvPr id="15" name="Freeform 15"/>
            <p:cNvSpPr/>
            <p:nvPr/>
          </p:nvSpPr>
          <p:spPr>
            <a:xfrm>
              <a:off x="0" y="0"/>
              <a:ext cx="21027095" cy="1023711"/>
            </a:xfrm>
            <a:custGeom>
              <a:avLst/>
              <a:gdLst/>
              <a:ahLst/>
              <a:cxnLst/>
              <a:rect l="l" t="t" r="r" b="b"/>
              <a:pathLst>
                <a:path w="21027095" h="1023711">
                  <a:moveTo>
                    <a:pt x="0" y="0"/>
                  </a:moveTo>
                  <a:lnTo>
                    <a:pt x="21027095" y="0"/>
                  </a:lnTo>
                  <a:lnTo>
                    <a:pt x="21027095" y="1023711"/>
                  </a:lnTo>
                  <a:lnTo>
                    <a:pt x="0" y="1023711"/>
                  </a:lnTo>
                  <a:close/>
                </a:path>
              </a:pathLst>
            </a:custGeom>
            <a:blipFill>
              <a:blip r:embed="rId5">
                <a:alphaModFix amt="0"/>
              </a:blip>
              <a:stretch>
                <a:fillRect t="-350224" b="-350223"/>
              </a:stretch>
            </a:blipFill>
          </p:spPr>
        </p:sp>
        <p:sp>
          <p:nvSpPr>
            <p:cNvPr id="16" name="TextBox 16"/>
            <p:cNvSpPr txBox="1"/>
            <p:nvPr/>
          </p:nvSpPr>
          <p:spPr>
            <a:xfrm>
              <a:off x="0" y="19050"/>
              <a:ext cx="21027098" cy="1004660"/>
            </a:xfrm>
            <a:prstGeom prst="rect">
              <a:avLst/>
            </a:prstGeom>
          </p:spPr>
          <p:txBody>
            <a:bodyPr lIns="0" tIns="0" rIns="0" bIns="0" rtlCol="0" anchor="b"/>
            <a:lstStyle/>
            <a:p>
              <a:pPr algn="l">
                <a:lnSpc>
                  <a:spcPts val="3888"/>
                </a:lnSpc>
              </a:pPr>
              <a:r>
                <a:rPr lang="en-US" sz="3600">
                  <a:solidFill>
                    <a:srgbClr val="EE0033"/>
                  </a:solidFill>
                  <a:latin typeface="Arial"/>
                  <a:ea typeface="Arial"/>
                  <a:cs typeface="Arial"/>
                  <a:sym typeface="Arial"/>
                </a:rPr>
                <a:t>III. INTER-PROCESS COMMUNICATION:</a:t>
              </a:r>
            </a:p>
          </p:txBody>
        </p:sp>
      </p:gr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9206494"/>
            <a:ext cx="18288000" cy="1080506"/>
            <a:chOff x="0" y="0"/>
            <a:chExt cx="24384000" cy="1440675"/>
          </a:xfrm>
        </p:grpSpPr>
        <p:sp>
          <p:nvSpPr>
            <p:cNvPr id="3" name="Freeform 3"/>
            <p:cNvSpPr/>
            <p:nvPr/>
          </p:nvSpPr>
          <p:spPr>
            <a:xfrm>
              <a:off x="0" y="0"/>
              <a:ext cx="24384000" cy="1440688"/>
            </a:xfrm>
            <a:custGeom>
              <a:avLst/>
              <a:gdLst/>
              <a:ahLst/>
              <a:cxnLst/>
              <a:rect l="l" t="t" r="r" b="b"/>
              <a:pathLst>
                <a:path w="24384000" h="1440688">
                  <a:moveTo>
                    <a:pt x="0" y="0"/>
                  </a:moveTo>
                  <a:lnTo>
                    <a:pt x="24384000" y="0"/>
                  </a:lnTo>
                  <a:lnTo>
                    <a:pt x="24384000" y="1440688"/>
                  </a:lnTo>
                  <a:lnTo>
                    <a:pt x="0" y="1440688"/>
                  </a:lnTo>
                  <a:lnTo>
                    <a:pt x="0" y="0"/>
                  </a:lnTo>
                  <a:close/>
                </a:path>
              </a:pathLst>
            </a:custGeom>
            <a:blipFill>
              <a:blip r:embed="rId3"/>
              <a:stretch>
                <a:fillRect t="-364" b="-364"/>
              </a:stretch>
            </a:blipFill>
          </p:spPr>
        </p:sp>
      </p:grpSp>
      <p:grpSp>
        <p:nvGrpSpPr>
          <p:cNvPr id="4" name="Group 4"/>
          <p:cNvGrpSpPr/>
          <p:nvPr/>
        </p:nvGrpSpPr>
        <p:grpSpPr>
          <a:xfrm>
            <a:off x="15473315" y="9370285"/>
            <a:ext cx="1741541" cy="745693"/>
            <a:chOff x="0" y="0"/>
            <a:chExt cx="2322055" cy="994258"/>
          </a:xfrm>
        </p:grpSpPr>
        <p:sp>
          <p:nvSpPr>
            <p:cNvPr id="5" name="Freeform 5"/>
            <p:cNvSpPr/>
            <p:nvPr/>
          </p:nvSpPr>
          <p:spPr>
            <a:xfrm>
              <a:off x="0" y="0"/>
              <a:ext cx="2322068" cy="994283"/>
            </a:xfrm>
            <a:custGeom>
              <a:avLst/>
              <a:gdLst/>
              <a:ahLst/>
              <a:cxnLst/>
              <a:rect l="l" t="t" r="r" b="b"/>
              <a:pathLst>
                <a:path w="2322068" h="994283">
                  <a:moveTo>
                    <a:pt x="0" y="0"/>
                  </a:moveTo>
                  <a:lnTo>
                    <a:pt x="2322068" y="0"/>
                  </a:lnTo>
                  <a:lnTo>
                    <a:pt x="2322068" y="994283"/>
                  </a:lnTo>
                  <a:lnTo>
                    <a:pt x="0" y="994283"/>
                  </a:lnTo>
                  <a:lnTo>
                    <a:pt x="0" y="0"/>
                  </a:lnTo>
                  <a:close/>
                </a:path>
              </a:pathLst>
            </a:custGeom>
            <a:blipFill>
              <a:blip r:embed="rId4"/>
              <a:stretch>
                <a:fillRect b="-1456"/>
              </a:stretch>
            </a:blipFill>
          </p:spPr>
        </p:sp>
      </p:grpSp>
      <p:grpSp>
        <p:nvGrpSpPr>
          <p:cNvPr id="6" name="Group 6"/>
          <p:cNvGrpSpPr/>
          <p:nvPr/>
        </p:nvGrpSpPr>
        <p:grpSpPr>
          <a:xfrm>
            <a:off x="9981438" y="9581550"/>
            <a:ext cx="4114800" cy="392420"/>
            <a:chOff x="0" y="0"/>
            <a:chExt cx="5486400" cy="523227"/>
          </a:xfrm>
        </p:grpSpPr>
        <p:sp>
          <p:nvSpPr>
            <p:cNvPr id="7" name="Freeform 7"/>
            <p:cNvSpPr/>
            <p:nvPr/>
          </p:nvSpPr>
          <p:spPr>
            <a:xfrm>
              <a:off x="0" y="0"/>
              <a:ext cx="5486400" cy="523222"/>
            </a:xfrm>
            <a:custGeom>
              <a:avLst/>
              <a:gdLst/>
              <a:ahLst/>
              <a:cxnLst/>
              <a:rect l="l" t="t" r="r" b="b"/>
              <a:pathLst>
                <a:path w="5486400" h="523222">
                  <a:moveTo>
                    <a:pt x="0" y="0"/>
                  </a:moveTo>
                  <a:lnTo>
                    <a:pt x="5486400" y="0"/>
                  </a:lnTo>
                  <a:lnTo>
                    <a:pt x="5486400" y="523222"/>
                  </a:lnTo>
                  <a:lnTo>
                    <a:pt x="0" y="523222"/>
                  </a:lnTo>
                  <a:close/>
                </a:path>
              </a:pathLst>
            </a:custGeom>
            <a:blipFill>
              <a:blip r:embed="rId5">
                <a:alphaModFix amt="0"/>
              </a:blip>
              <a:stretch>
                <a:fillRect t="-154315" b="-154316"/>
              </a:stretch>
            </a:blipFill>
          </p:spPr>
        </p:sp>
        <p:sp>
          <p:nvSpPr>
            <p:cNvPr id="8" name="TextBox 8"/>
            <p:cNvSpPr txBox="1"/>
            <p:nvPr/>
          </p:nvSpPr>
          <p:spPr>
            <a:xfrm>
              <a:off x="0" y="-9525"/>
              <a:ext cx="5486400" cy="532752"/>
            </a:xfrm>
            <a:prstGeom prst="rect">
              <a:avLst/>
            </a:prstGeom>
          </p:spPr>
          <p:txBody>
            <a:bodyPr lIns="0" tIns="0" rIns="0" bIns="0" rtlCol="0" anchor="ctr"/>
            <a:lstStyle/>
            <a:p>
              <a:pPr algn="r">
                <a:lnSpc>
                  <a:spcPts val="2520"/>
                </a:lnSpc>
              </a:pPr>
              <a:r>
                <a:rPr lang="en-US" sz="2100">
                  <a:solidFill>
                    <a:srgbClr val="BFBFBF"/>
                  </a:solidFill>
                  <a:latin typeface="Roboto"/>
                  <a:ea typeface="Roboto"/>
                  <a:cs typeface="Roboto"/>
                  <a:sym typeface="Roboto"/>
                </a:rPr>
                <a:t>‹#›</a:t>
              </a:r>
            </a:p>
          </p:txBody>
        </p:sp>
      </p:grpSp>
      <p:sp>
        <p:nvSpPr>
          <p:cNvPr id="9" name="Freeform 9"/>
          <p:cNvSpPr/>
          <p:nvPr/>
        </p:nvSpPr>
        <p:spPr>
          <a:xfrm>
            <a:off x="3272140" y="4430283"/>
            <a:ext cx="11208917" cy="2747711"/>
          </a:xfrm>
          <a:custGeom>
            <a:avLst/>
            <a:gdLst/>
            <a:ahLst/>
            <a:cxnLst/>
            <a:rect l="l" t="t" r="r" b="b"/>
            <a:pathLst>
              <a:path w="11208917" h="2747711">
                <a:moveTo>
                  <a:pt x="0" y="0"/>
                </a:moveTo>
                <a:lnTo>
                  <a:pt x="11208917" y="0"/>
                </a:lnTo>
                <a:lnTo>
                  <a:pt x="11208917" y="2747712"/>
                </a:lnTo>
                <a:lnTo>
                  <a:pt x="0" y="2747712"/>
                </a:lnTo>
                <a:lnTo>
                  <a:pt x="0" y="0"/>
                </a:lnTo>
                <a:close/>
              </a:path>
            </a:pathLst>
          </a:custGeom>
          <a:blipFill>
            <a:blip r:embed="rId6"/>
            <a:stretch>
              <a:fillRect/>
            </a:stretch>
          </a:blipFill>
        </p:spPr>
      </p:sp>
      <p:sp>
        <p:nvSpPr>
          <p:cNvPr id="10" name="TextBox 10"/>
          <p:cNvSpPr txBox="1"/>
          <p:nvPr/>
        </p:nvSpPr>
        <p:spPr>
          <a:xfrm>
            <a:off x="840743" y="9548498"/>
            <a:ext cx="7754617" cy="323850"/>
          </a:xfrm>
          <a:prstGeom prst="rect">
            <a:avLst/>
          </a:prstGeom>
        </p:spPr>
        <p:txBody>
          <a:bodyPr lIns="0" tIns="0" rIns="0" bIns="0" rtlCol="0" anchor="t">
            <a:spAutoFit/>
          </a:bodyPr>
          <a:lstStyle/>
          <a:p>
            <a:pPr algn="l">
              <a:lnSpc>
                <a:spcPts val="2520"/>
              </a:lnSpc>
            </a:pPr>
            <a:r>
              <a:rPr lang="en-US" sz="2100" spc="450">
                <a:solidFill>
                  <a:srgbClr val="BFBFBF"/>
                </a:solidFill>
                <a:latin typeface="Arial"/>
                <a:ea typeface="Arial"/>
                <a:cs typeface="Arial"/>
                <a:sym typeface="Arial"/>
              </a:rPr>
              <a:t>www.viettelhightech.vn </a:t>
            </a:r>
          </a:p>
        </p:txBody>
      </p:sp>
      <p:sp>
        <p:nvSpPr>
          <p:cNvPr id="11" name="TextBox 11"/>
          <p:cNvSpPr txBox="1"/>
          <p:nvPr/>
        </p:nvSpPr>
        <p:spPr>
          <a:xfrm>
            <a:off x="840743" y="1238893"/>
            <a:ext cx="6887599" cy="521589"/>
          </a:xfrm>
          <a:prstGeom prst="rect">
            <a:avLst/>
          </a:prstGeom>
        </p:spPr>
        <p:txBody>
          <a:bodyPr lIns="0" tIns="0" rIns="0" bIns="0" rtlCol="0" anchor="t">
            <a:spAutoFit/>
          </a:bodyPr>
          <a:lstStyle/>
          <a:p>
            <a:pPr algn="l">
              <a:lnSpc>
                <a:spcPts val="3888"/>
              </a:lnSpc>
              <a:spcBef>
                <a:spcPct val="0"/>
              </a:spcBef>
            </a:pPr>
            <a:r>
              <a:rPr lang="en-US" sz="3600">
                <a:solidFill>
                  <a:srgbClr val="EE0033"/>
                </a:solidFill>
                <a:latin typeface="Arial"/>
                <a:ea typeface="Arial"/>
                <a:cs typeface="Arial"/>
                <a:sym typeface="Arial"/>
              </a:rPr>
              <a:t>Message queue:</a:t>
            </a:r>
          </a:p>
        </p:txBody>
      </p:sp>
      <p:sp>
        <p:nvSpPr>
          <p:cNvPr id="12" name="TextBox 12"/>
          <p:cNvSpPr txBox="1"/>
          <p:nvPr/>
        </p:nvSpPr>
        <p:spPr>
          <a:xfrm>
            <a:off x="840743" y="1931932"/>
            <a:ext cx="17344230" cy="1493139"/>
          </a:xfrm>
          <a:prstGeom prst="rect">
            <a:avLst/>
          </a:prstGeom>
        </p:spPr>
        <p:txBody>
          <a:bodyPr lIns="0" tIns="0" rIns="0" bIns="0" rtlCol="0" anchor="t">
            <a:spAutoFit/>
          </a:bodyPr>
          <a:lstStyle/>
          <a:p>
            <a:pPr algn="l">
              <a:lnSpc>
                <a:spcPts val="3888"/>
              </a:lnSpc>
              <a:spcBef>
                <a:spcPct val="0"/>
              </a:spcBef>
            </a:pPr>
            <a:r>
              <a:rPr lang="en-US" sz="3600">
                <a:solidFill>
                  <a:srgbClr val="000000"/>
                </a:solidFill>
                <a:latin typeface="Arial"/>
                <a:ea typeface="Arial"/>
                <a:cs typeface="Arial"/>
                <a:sym typeface="Arial"/>
              </a:rPr>
              <a:t>Message Queue là một cơ chế IPC cho phép process hoặc thread trao đổi dữ liệu bằng cách gửi và nhận các thông điệp (message) thông qua một hàng đợi do kernel quản lý.</a:t>
            </a:r>
          </a:p>
        </p:txBody>
      </p:sp>
      <p:grpSp>
        <p:nvGrpSpPr>
          <p:cNvPr id="13" name="Group 13"/>
          <p:cNvGrpSpPr/>
          <p:nvPr/>
        </p:nvGrpSpPr>
        <p:grpSpPr>
          <a:xfrm>
            <a:off x="451542" y="300771"/>
            <a:ext cx="15770323" cy="767782"/>
            <a:chOff x="0" y="0"/>
            <a:chExt cx="21027098" cy="1023710"/>
          </a:xfrm>
        </p:grpSpPr>
        <p:sp>
          <p:nvSpPr>
            <p:cNvPr id="14" name="Freeform 14"/>
            <p:cNvSpPr/>
            <p:nvPr/>
          </p:nvSpPr>
          <p:spPr>
            <a:xfrm>
              <a:off x="0" y="0"/>
              <a:ext cx="21027095" cy="1023711"/>
            </a:xfrm>
            <a:custGeom>
              <a:avLst/>
              <a:gdLst/>
              <a:ahLst/>
              <a:cxnLst/>
              <a:rect l="l" t="t" r="r" b="b"/>
              <a:pathLst>
                <a:path w="21027095" h="1023711">
                  <a:moveTo>
                    <a:pt x="0" y="0"/>
                  </a:moveTo>
                  <a:lnTo>
                    <a:pt x="21027095" y="0"/>
                  </a:lnTo>
                  <a:lnTo>
                    <a:pt x="21027095" y="1023711"/>
                  </a:lnTo>
                  <a:lnTo>
                    <a:pt x="0" y="1023711"/>
                  </a:lnTo>
                  <a:close/>
                </a:path>
              </a:pathLst>
            </a:custGeom>
            <a:blipFill>
              <a:blip r:embed="rId5">
                <a:alphaModFix amt="0"/>
              </a:blip>
              <a:stretch>
                <a:fillRect t="-350224" b="-350223"/>
              </a:stretch>
            </a:blipFill>
          </p:spPr>
        </p:sp>
        <p:sp>
          <p:nvSpPr>
            <p:cNvPr id="15" name="TextBox 15"/>
            <p:cNvSpPr txBox="1"/>
            <p:nvPr/>
          </p:nvSpPr>
          <p:spPr>
            <a:xfrm>
              <a:off x="0" y="19050"/>
              <a:ext cx="21027098" cy="1004660"/>
            </a:xfrm>
            <a:prstGeom prst="rect">
              <a:avLst/>
            </a:prstGeom>
          </p:spPr>
          <p:txBody>
            <a:bodyPr lIns="0" tIns="0" rIns="0" bIns="0" rtlCol="0" anchor="b"/>
            <a:lstStyle/>
            <a:p>
              <a:pPr algn="l">
                <a:lnSpc>
                  <a:spcPts val="3888"/>
                </a:lnSpc>
              </a:pPr>
              <a:r>
                <a:rPr lang="en-US" sz="3600">
                  <a:solidFill>
                    <a:srgbClr val="EE0033"/>
                  </a:solidFill>
                  <a:latin typeface="Arial"/>
                  <a:ea typeface="Arial"/>
                  <a:cs typeface="Arial"/>
                  <a:sym typeface="Arial"/>
                </a:rPr>
                <a:t>III. INTER-PROCESS COMMUNICATION:</a:t>
              </a:r>
            </a:p>
          </p:txBody>
        </p:sp>
      </p:gr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9206494"/>
            <a:ext cx="18288000" cy="1080506"/>
            <a:chOff x="0" y="0"/>
            <a:chExt cx="24384000" cy="1440675"/>
          </a:xfrm>
        </p:grpSpPr>
        <p:sp>
          <p:nvSpPr>
            <p:cNvPr id="3" name="Freeform 3"/>
            <p:cNvSpPr/>
            <p:nvPr/>
          </p:nvSpPr>
          <p:spPr>
            <a:xfrm>
              <a:off x="0" y="0"/>
              <a:ext cx="24384000" cy="1440688"/>
            </a:xfrm>
            <a:custGeom>
              <a:avLst/>
              <a:gdLst/>
              <a:ahLst/>
              <a:cxnLst/>
              <a:rect l="l" t="t" r="r" b="b"/>
              <a:pathLst>
                <a:path w="24384000" h="1440688">
                  <a:moveTo>
                    <a:pt x="0" y="0"/>
                  </a:moveTo>
                  <a:lnTo>
                    <a:pt x="24384000" y="0"/>
                  </a:lnTo>
                  <a:lnTo>
                    <a:pt x="24384000" y="1440688"/>
                  </a:lnTo>
                  <a:lnTo>
                    <a:pt x="0" y="1440688"/>
                  </a:lnTo>
                  <a:lnTo>
                    <a:pt x="0" y="0"/>
                  </a:lnTo>
                  <a:close/>
                </a:path>
              </a:pathLst>
            </a:custGeom>
            <a:blipFill>
              <a:blip r:embed="rId3"/>
              <a:stretch>
                <a:fillRect t="-364" b="-364"/>
              </a:stretch>
            </a:blipFill>
          </p:spPr>
        </p:sp>
      </p:grpSp>
      <p:grpSp>
        <p:nvGrpSpPr>
          <p:cNvPr id="4" name="Group 4"/>
          <p:cNvGrpSpPr/>
          <p:nvPr/>
        </p:nvGrpSpPr>
        <p:grpSpPr>
          <a:xfrm>
            <a:off x="15473315" y="9370285"/>
            <a:ext cx="1741541" cy="745693"/>
            <a:chOff x="0" y="0"/>
            <a:chExt cx="2322055" cy="994258"/>
          </a:xfrm>
        </p:grpSpPr>
        <p:sp>
          <p:nvSpPr>
            <p:cNvPr id="5" name="Freeform 5"/>
            <p:cNvSpPr/>
            <p:nvPr/>
          </p:nvSpPr>
          <p:spPr>
            <a:xfrm>
              <a:off x="0" y="0"/>
              <a:ext cx="2322068" cy="994283"/>
            </a:xfrm>
            <a:custGeom>
              <a:avLst/>
              <a:gdLst/>
              <a:ahLst/>
              <a:cxnLst/>
              <a:rect l="l" t="t" r="r" b="b"/>
              <a:pathLst>
                <a:path w="2322068" h="994283">
                  <a:moveTo>
                    <a:pt x="0" y="0"/>
                  </a:moveTo>
                  <a:lnTo>
                    <a:pt x="2322068" y="0"/>
                  </a:lnTo>
                  <a:lnTo>
                    <a:pt x="2322068" y="994283"/>
                  </a:lnTo>
                  <a:lnTo>
                    <a:pt x="0" y="994283"/>
                  </a:lnTo>
                  <a:lnTo>
                    <a:pt x="0" y="0"/>
                  </a:lnTo>
                  <a:close/>
                </a:path>
              </a:pathLst>
            </a:custGeom>
            <a:blipFill>
              <a:blip r:embed="rId4"/>
              <a:stretch>
                <a:fillRect b="-1456"/>
              </a:stretch>
            </a:blipFill>
          </p:spPr>
        </p:sp>
      </p:grpSp>
      <p:grpSp>
        <p:nvGrpSpPr>
          <p:cNvPr id="6" name="Group 6"/>
          <p:cNvGrpSpPr/>
          <p:nvPr/>
        </p:nvGrpSpPr>
        <p:grpSpPr>
          <a:xfrm>
            <a:off x="9981438" y="9581550"/>
            <a:ext cx="4114800" cy="392420"/>
            <a:chOff x="0" y="0"/>
            <a:chExt cx="5486400" cy="523227"/>
          </a:xfrm>
        </p:grpSpPr>
        <p:sp>
          <p:nvSpPr>
            <p:cNvPr id="7" name="Freeform 7"/>
            <p:cNvSpPr/>
            <p:nvPr/>
          </p:nvSpPr>
          <p:spPr>
            <a:xfrm>
              <a:off x="0" y="0"/>
              <a:ext cx="5486400" cy="523222"/>
            </a:xfrm>
            <a:custGeom>
              <a:avLst/>
              <a:gdLst/>
              <a:ahLst/>
              <a:cxnLst/>
              <a:rect l="l" t="t" r="r" b="b"/>
              <a:pathLst>
                <a:path w="5486400" h="523222">
                  <a:moveTo>
                    <a:pt x="0" y="0"/>
                  </a:moveTo>
                  <a:lnTo>
                    <a:pt x="5486400" y="0"/>
                  </a:lnTo>
                  <a:lnTo>
                    <a:pt x="5486400" y="523222"/>
                  </a:lnTo>
                  <a:lnTo>
                    <a:pt x="0" y="523222"/>
                  </a:lnTo>
                  <a:close/>
                </a:path>
              </a:pathLst>
            </a:custGeom>
            <a:blipFill>
              <a:blip r:embed="rId5">
                <a:alphaModFix amt="0"/>
              </a:blip>
              <a:stretch>
                <a:fillRect t="-154315" b="-154316"/>
              </a:stretch>
            </a:blipFill>
          </p:spPr>
        </p:sp>
        <p:sp>
          <p:nvSpPr>
            <p:cNvPr id="8" name="TextBox 8"/>
            <p:cNvSpPr txBox="1"/>
            <p:nvPr/>
          </p:nvSpPr>
          <p:spPr>
            <a:xfrm>
              <a:off x="0" y="-9525"/>
              <a:ext cx="5486400" cy="532752"/>
            </a:xfrm>
            <a:prstGeom prst="rect">
              <a:avLst/>
            </a:prstGeom>
          </p:spPr>
          <p:txBody>
            <a:bodyPr lIns="0" tIns="0" rIns="0" bIns="0" rtlCol="0" anchor="ctr"/>
            <a:lstStyle/>
            <a:p>
              <a:pPr algn="r">
                <a:lnSpc>
                  <a:spcPts val="2520"/>
                </a:lnSpc>
              </a:pPr>
              <a:r>
                <a:rPr lang="en-US" sz="2100">
                  <a:solidFill>
                    <a:srgbClr val="BFBFBF"/>
                  </a:solidFill>
                  <a:latin typeface="Roboto"/>
                  <a:ea typeface="Roboto"/>
                  <a:cs typeface="Roboto"/>
                  <a:sym typeface="Roboto"/>
                </a:rPr>
                <a:t>‹#›</a:t>
              </a:r>
            </a:p>
          </p:txBody>
        </p:sp>
      </p:grpSp>
      <p:sp>
        <p:nvSpPr>
          <p:cNvPr id="9" name="Freeform 9"/>
          <p:cNvSpPr/>
          <p:nvPr/>
        </p:nvSpPr>
        <p:spPr>
          <a:xfrm>
            <a:off x="3238162" y="3156716"/>
            <a:ext cx="11811676" cy="3973569"/>
          </a:xfrm>
          <a:custGeom>
            <a:avLst/>
            <a:gdLst/>
            <a:ahLst/>
            <a:cxnLst/>
            <a:rect l="l" t="t" r="r" b="b"/>
            <a:pathLst>
              <a:path w="11811676" h="3973569">
                <a:moveTo>
                  <a:pt x="0" y="0"/>
                </a:moveTo>
                <a:lnTo>
                  <a:pt x="11811676" y="0"/>
                </a:lnTo>
                <a:lnTo>
                  <a:pt x="11811676" y="3973568"/>
                </a:lnTo>
                <a:lnTo>
                  <a:pt x="0" y="3973568"/>
                </a:lnTo>
                <a:lnTo>
                  <a:pt x="0" y="0"/>
                </a:lnTo>
                <a:close/>
              </a:path>
            </a:pathLst>
          </a:custGeom>
          <a:blipFill>
            <a:blip r:embed="rId6"/>
            <a:stretch>
              <a:fillRect/>
            </a:stretch>
          </a:blipFill>
        </p:spPr>
      </p:sp>
      <p:sp>
        <p:nvSpPr>
          <p:cNvPr id="10" name="TextBox 10"/>
          <p:cNvSpPr txBox="1"/>
          <p:nvPr/>
        </p:nvSpPr>
        <p:spPr>
          <a:xfrm>
            <a:off x="840743" y="9548498"/>
            <a:ext cx="7754617" cy="323850"/>
          </a:xfrm>
          <a:prstGeom prst="rect">
            <a:avLst/>
          </a:prstGeom>
        </p:spPr>
        <p:txBody>
          <a:bodyPr lIns="0" tIns="0" rIns="0" bIns="0" rtlCol="0" anchor="t">
            <a:spAutoFit/>
          </a:bodyPr>
          <a:lstStyle/>
          <a:p>
            <a:pPr algn="l">
              <a:lnSpc>
                <a:spcPts val="2520"/>
              </a:lnSpc>
            </a:pPr>
            <a:r>
              <a:rPr lang="en-US" sz="2100" spc="450">
                <a:solidFill>
                  <a:srgbClr val="BFBFBF"/>
                </a:solidFill>
                <a:latin typeface="Arial"/>
                <a:ea typeface="Arial"/>
                <a:cs typeface="Arial"/>
                <a:sym typeface="Arial"/>
              </a:rPr>
              <a:t>www.viettelhightech.vn </a:t>
            </a:r>
          </a:p>
        </p:txBody>
      </p:sp>
      <p:sp>
        <p:nvSpPr>
          <p:cNvPr id="11" name="TextBox 11"/>
          <p:cNvSpPr txBox="1"/>
          <p:nvPr/>
        </p:nvSpPr>
        <p:spPr>
          <a:xfrm>
            <a:off x="840743" y="1238893"/>
            <a:ext cx="6887599" cy="521589"/>
          </a:xfrm>
          <a:prstGeom prst="rect">
            <a:avLst/>
          </a:prstGeom>
        </p:spPr>
        <p:txBody>
          <a:bodyPr lIns="0" tIns="0" rIns="0" bIns="0" rtlCol="0" anchor="t">
            <a:spAutoFit/>
          </a:bodyPr>
          <a:lstStyle/>
          <a:p>
            <a:pPr algn="l">
              <a:lnSpc>
                <a:spcPts val="3888"/>
              </a:lnSpc>
              <a:spcBef>
                <a:spcPct val="0"/>
              </a:spcBef>
            </a:pPr>
            <a:r>
              <a:rPr lang="en-US" sz="3600">
                <a:solidFill>
                  <a:srgbClr val="EE0033"/>
                </a:solidFill>
                <a:latin typeface="Arial"/>
                <a:ea typeface="Arial"/>
                <a:cs typeface="Arial"/>
                <a:sym typeface="Arial"/>
              </a:rPr>
              <a:t>Message queue:</a:t>
            </a:r>
          </a:p>
        </p:txBody>
      </p:sp>
      <p:sp>
        <p:nvSpPr>
          <p:cNvPr id="12" name="TextBox 12"/>
          <p:cNvSpPr txBox="1"/>
          <p:nvPr/>
        </p:nvSpPr>
        <p:spPr>
          <a:xfrm>
            <a:off x="2715680" y="2207329"/>
            <a:ext cx="6879431" cy="521589"/>
          </a:xfrm>
          <a:prstGeom prst="rect">
            <a:avLst/>
          </a:prstGeom>
        </p:spPr>
        <p:txBody>
          <a:bodyPr lIns="0" tIns="0" rIns="0" bIns="0" rtlCol="0" anchor="t">
            <a:spAutoFit/>
          </a:bodyPr>
          <a:lstStyle/>
          <a:p>
            <a:pPr algn="ctr">
              <a:lnSpc>
                <a:spcPts val="3888"/>
              </a:lnSpc>
              <a:spcBef>
                <a:spcPct val="0"/>
              </a:spcBef>
            </a:pPr>
            <a:r>
              <a:rPr lang="en-US" sz="3600">
                <a:solidFill>
                  <a:srgbClr val="000000"/>
                </a:solidFill>
                <a:latin typeface="Arial"/>
                <a:ea typeface="Arial"/>
                <a:cs typeface="Arial"/>
                <a:sym typeface="Arial"/>
              </a:rPr>
              <a:t>4 Thuộc tính của Message Queue</a:t>
            </a:r>
          </a:p>
        </p:txBody>
      </p:sp>
      <p:grpSp>
        <p:nvGrpSpPr>
          <p:cNvPr id="13" name="Group 13"/>
          <p:cNvGrpSpPr/>
          <p:nvPr/>
        </p:nvGrpSpPr>
        <p:grpSpPr>
          <a:xfrm>
            <a:off x="451542" y="300771"/>
            <a:ext cx="15770323" cy="767782"/>
            <a:chOff x="0" y="0"/>
            <a:chExt cx="21027098" cy="1023710"/>
          </a:xfrm>
        </p:grpSpPr>
        <p:sp>
          <p:nvSpPr>
            <p:cNvPr id="14" name="Freeform 14"/>
            <p:cNvSpPr/>
            <p:nvPr/>
          </p:nvSpPr>
          <p:spPr>
            <a:xfrm>
              <a:off x="0" y="0"/>
              <a:ext cx="21027095" cy="1023711"/>
            </a:xfrm>
            <a:custGeom>
              <a:avLst/>
              <a:gdLst/>
              <a:ahLst/>
              <a:cxnLst/>
              <a:rect l="l" t="t" r="r" b="b"/>
              <a:pathLst>
                <a:path w="21027095" h="1023711">
                  <a:moveTo>
                    <a:pt x="0" y="0"/>
                  </a:moveTo>
                  <a:lnTo>
                    <a:pt x="21027095" y="0"/>
                  </a:lnTo>
                  <a:lnTo>
                    <a:pt x="21027095" y="1023711"/>
                  </a:lnTo>
                  <a:lnTo>
                    <a:pt x="0" y="1023711"/>
                  </a:lnTo>
                  <a:close/>
                </a:path>
              </a:pathLst>
            </a:custGeom>
            <a:blipFill>
              <a:blip r:embed="rId5">
                <a:alphaModFix amt="0"/>
              </a:blip>
              <a:stretch>
                <a:fillRect t="-350224" b="-350223"/>
              </a:stretch>
            </a:blipFill>
          </p:spPr>
        </p:sp>
        <p:sp>
          <p:nvSpPr>
            <p:cNvPr id="15" name="TextBox 15"/>
            <p:cNvSpPr txBox="1"/>
            <p:nvPr/>
          </p:nvSpPr>
          <p:spPr>
            <a:xfrm>
              <a:off x="0" y="19050"/>
              <a:ext cx="21027098" cy="1004660"/>
            </a:xfrm>
            <a:prstGeom prst="rect">
              <a:avLst/>
            </a:prstGeom>
          </p:spPr>
          <p:txBody>
            <a:bodyPr lIns="0" tIns="0" rIns="0" bIns="0" rtlCol="0" anchor="b"/>
            <a:lstStyle/>
            <a:p>
              <a:pPr algn="l">
                <a:lnSpc>
                  <a:spcPts val="3888"/>
                </a:lnSpc>
              </a:pPr>
              <a:r>
                <a:rPr lang="en-US" sz="3600">
                  <a:solidFill>
                    <a:srgbClr val="EE0033"/>
                  </a:solidFill>
                  <a:latin typeface="Arial"/>
                  <a:ea typeface="Arial"/>
                  <a:cs typeface="Arial"/>
                  <a:sym typeface="Arial"/>
                </a:rPr>
                <a:t>III. INTER-PROCESS COMMUNICATION:</a:t>
              </a:r>
            </a:p>
          </p:txBody>
        </p:sp>
      </p:gr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9206494"/>
            <a:ext cx="18288000" cy="1080506"/>
            <a:chOff x="0" y="0"/>
            <a:chExt cx="24384000" cy="1440675"/>
          </a:xfrm>
        </p:grpSpPr>
        <p:sp>
          <p:nvSpPr>
            <p:cNvPr id="3" name="Freeform 3"/>
            <p:cNvSpPr/>
            <p:nvPr/>
          </p:nvSpPr>
          <p:spPr>
            <a:xfrm>
              <a:off x="0" y="0"/>
              <a:ext cx="24384000" cy="1440688"/>
            </a:xfrm>
            <a:custGeom>
              <a:avLst/>
              <a:gdLst/>
              <a:ahLst/>
              <a:cxnLst/>
              <a:rect l="l" t="t" r="r" b="b"/>
              <a:pathLst>
                <a:path w="24384000" h="1440688">
                  <a:moveTo>
                    <a:pt x="0" y="0"/>
                  </a:moveTo>
                  <a:lnTo>
                    <a:pt x="24384000" y="0"/>
                  </a:lnTo>
                  <a:lnTo>
                    <a:pt x="24384000" y="1440688"/>
                  </a:lnTo>
                  <a:lnTo>
                    <a:pt x="0" y="1440688"/>
                  </a:lnTo>
                  <a:lnTo>
                    <a:pt x="0" y="0"/>
                  </a:lnTo>
                  <a:close/>
                </a:path>
              </a:pathLst>
            </a:custGeom>
            <a:blipFill>
              <a:blip r:embed="rId3"/>
              <a:stretch>
                <a:fillRect t="-364" b="-364"/>
              </a:stretch>
            </a:blipFill>
          </p:spPr>
        </p:sp>
      </p:grpSp>
      <p:grpSp>
        <p:nvGrpSpPr>
          <p:cNvPr id="4" name="Group 4"/>
          <p:cNvGrpSpPr/>
          <p:nvPr/>
        </p:nvGrpSpPr>
        <p:grpSpPr>
          <a:xfrm>
            <a:off x="15473315" y="9370285"/>
            <a:ext cx="1741541" cy="745693"/>
            <a:chOff x="0" y="0"/>
            <a:chExt cx="2322055" cy="994258"/>
          </a:xfrm>
        </p:grpSpPr>
        <p:sp>
          <p:nvSpPr>
            <p:cNvPr id="5" name="Freeform 5"/>
            <p:cNvSpPr/>
            <p:nvPr/>
          </p:nvSpPr>
          <p:spPr>
            <a:xfrm>
              <a:off x="0" y="0"/>
              <a:ext cx="2322068" cy="994283"/>
            </a:xfrm>
            <a:custGeom>
              <a:avLst/>
              <a:gdLst/>
              <a:ahLst/>
              <a:cxnLst/>
              <a:rect l="l" t="t" r="r" b="b"/>
              <a:pathLst>
                <a:path w="2322068" h="994283">
                  <a:moveTo>
                    <a:pt x="0" y="0"/>
                  </a:moveTo>
                  <a:lnTo>
                    <a:pt x="2322068" y="0"/>
                  </a:lnTo>
                  <a:lnTo>
                    <a:pt x="2322068" y="994283"/>
                  </a:lnTo>
                  <a:lnTo>
                    <a:pt x="0" y="994283"/>
                  </a:lnTo>
                  <a:lnTo>
                    <a:pt x="0" y="0"/>
                  </a:lnTo>
                  <a:close/>
                </a:path>
              </a:pathLst>
            </a:custGeom>
            <a:blipFill>
              <a:blip r:embed="rId4"/>
              <a:stretch>
                <a:fillRect b="-1456"/>
              </a:stretch>
            </a:blipFill>
          </p:spPr>
        </p:sp>
      </p:grpSp>
      <p:grpSp>
        <p:nvGrpSpPr>
          <p:cNvPr id="6" name="Group 6"/>
          <p:cNvGrpSpPr/>
          <p:nvPr/>
        </p:nvGrpSpPr>
        <p:grpSpPr>
          <a:xfrm>
            <a:off x="9981438" y="9581550"/>
            <a:ext cx="4114800" cy="392420"/>
            <a:chOff x="0" y="0"/>
            <a:chExt cx="5486400" cy="523227"/>
          </a:xfrm>
        </p:grpSpPr>
        <p:sp>
          <p:nvSpPr>
            <p:cNvPr id="7" name="Freeform 7"/>
            <p:cNvSpPr/>
            <p:nvPr/>
          </p:nvSpPr>
          <p:spPr>
            <a:xfrm>
              <a:off x="0" y="0"/>
              <a:ext cx="5486400" cy="523222"/>
            </a:xfrm>
            <a:custGeom>
              <a:avLst/>
              <a:gdLst/>
              <a:ahLst/>
              <a:cxnLst/>
              <a:rect l="l" t="t" r="r" b="b"/>
              <a:pathLst>
                <a:path w="5486400" h="523222">
                  <a:moveTo>
                    <a:pt x="0" y="0"/>
                  </a:moveTo>
                  <a:lnTo>
                    <a:pt x="5486400" y="0"/>
                  </a:lnTo>
                  <a:lnTo>
                    <a:pt x="5486400" y="523222"/>
                  </a:lnTo>
                  <a:lnTo>
                    <a:pt x="0" y="523222"/>
                  </a:lnTo>
                  <a:close/>
                </a:path>
              </a:pathLst>
            </a:custGeom>
            <a:blipFill>
              <a:blip r:embed="rId5">
                <a:alphaModFix amt="0"/>
              </a:blip>
              <a:stretch>
                <a:fillRect t="-154315" b="-154316"/>
              </a:stretch>
            </a:blipFill>
          </p:spPr>
        </p:sp>
        <p:sp>
          <p:nvSpPr>
            <p:cNvPr id="8" name="TextBox 8"/>
            <p:cNvSpPr txBox="1"/>
            <p:nvPr/>
          </p:nvSpPr>
          <p:spPr>
            <a:xfrm>
              <a:off x="0" y="-9525"/>
              <a:ext cx="5486400" cy="532752"/>
            </a:xfrm>
            <a:prstGeom prst="rect">
              <a:avLst/>
            </a:prstGeom>
          </p:spPr>
          <p:txBody>
            <a:bodyPr lIns="0" tIns="0" rIns="0" bIns="0" rtlCol="0" anchor="ctr"/>
            <a:lstStyle/>
            <a:p>
              <a:pPr algn="r">
                <a:lnSpc>
                  <a:spcPts val="2520"/>
                </a:lnSpc>
              </a:pPr>
              <a:r>
                <a:rPr lang="en-US" sz="2100">
                  <a:solidFill>
                    <a:srgbClr val="BFBFBF"/>
                  </a:solidFill>
                  <a:latin typeface="Roboto"/>
                  <a:ea typeface="Roboto"/>
                  <a:cs typeface="Roboto"/>
                  <a:sym typeface="Roboto"/>
                </a:rPr>
                <a:t>‹#›</a:t>
              </a:r>
            </a:p>
          </p:txBody>
        </p:sp>
      </p:grpSp>
      <p:sp>
        <p:nvSpPr>
          <p:cNvPr id="9" name="Freeform 9"/>
          <p:cNvSpPr/>
          <p:nvPr/>
        </p:nvSpPr>
        <p:spPr>
          <a:xfrm>
            <a:off x="3233658" y="2025070"/>
            <a:ext cx="9008096" cy="2433515"/>
          </a:xfrm>
          <a:custGeom>
            <a:avLst/>
            <a:gdLst/>
            <a:ahLst/>
            <a:cxnLst/>
            <a:rect l="l" t="t" r="r" b="b"/>
            <a:pathLst>
              <a:path w="9008096" h="2433515">
                <a:moveTo>
                  <a:pt x="0" y="0"/>
                </a:moveTo>
                <a:lnTo>
                  <a:pt x="9008096" y="0"/>
                </a:lnTo>
                <a:lnTo>
                  <a:pt x="9008096" y="2433515"/>
                </a:lnTo>
                <a:lnTo>
                  <a:pt x="0" y="2433515"/>
                </a:lnTo>
                <a:lnTo>
                  <a:pt x="0" y="0"/>
                </a:lnTo>
                <a:close/>
              </a:path>
            </a:pathLst>
          </a:custGeom>
          <a:blipFill>
            <a:blip r:embed="rId6"/>
            <a:stretch>
              <a:fillRect/>
            </a:stretch>
          </a:blipFill>
        </p:spPr>
      </p:sp>
      <p:sp>
        <p:nvSpPr>
          <p:cNvPr id="10" name="Freeform 10"/>
          <p:cNvSpPr/>
          <p:nvPr/>
        </p:nvSpPr>
        <p:spPr>
          <a:xfrm>
            <a:off x="3143785" y="4723173"/>
            <a:ext cx="9187842" cy="1743334"/>
          </a:xfrm>
          <a:custGeom>
            <a:avLst/>
            <a:gdLst/>
            <a:ahLst/>
            <a:cxnLst/>
            <a:rect l="l" t="t" r="r" b="b"/>
            <a:pathLst>
              <a:path w="9187842" h="1743334">
                <a:moveTo>
                  <a:pt x="0" y="0"/>
                </a:moveTo>
                <a:lnTo>
                  <a:pt x="9187842" y="0"/>
                </a:lnTo>
                <a:lnTo>
                  <a:pt x="9187842" y="1743334"/>
                </a:lnTo>
                <a:lnTo>
                  <a:pt x="0" y="1743334"/>
                </a:lnTo>
                <a:lnTo>
                  <a:pt x="0" y="0"/>
                </a:lnTo>
                <a:close/>
              </a:path>
            </a:pathLst>
          </a:custGeom>
          <a:blipFill>
            <a:blip r:embed="rId7"/>
            <a:stretch>
              <a:fillRect/>
            </a:stretch>
          </a:blipFill>
        </p:spPr>
      </p:sp>
      <p:sp>
        <p:nvSpPr>
          <p:cNvPr id="11" name="Freeform 11"/>
          <p:cNvSpPr/>
          <p:nvPr/>
        </p:nvSpPr>
        <p:spPr>
          <a:xfrm>
            <a:off x="3143785" y="6855446"/>
            <a:ext cx="9070806" cy="1637397"/>
          </a:xfrm>
          <a:custGeom>
            <a:avLst/>
            <a:gdLst/>
            <a:ahLst/>
            <a:cxnLst/>
            <a:rect l="l" t="t" r="r" b="b"/>
            <a:pathLst>
              <a:path w="9070806" h="1637397">
                <a:moveTo>
                  <a:pt x="0" y="0"/>
                </a:moveTo>
                <a:lnTo>
                  <a:pt x="9070806" y="0"/>
                </a:lnTo>
                <a:lnTo>
                  <a:pt x="9070806" y="1637397"/>
                </a:lnTo>
                <a:lnTo>
                  <a:pt x="0" y="1637397"/>
                </a:lnTo>
                <a:lnTo>
                  <a:pt x="0" y="0"/>
                </a:lnTo>
                <a:close/>
              </a:path>
            </a:pathLst>
          </a:custGeom>
          <a:blipFill>
            <a:blip r:embed="rId8"/>
            <a:stretch>
              <a:fillRect/>
            </a:stretch>
          </a:blipFill>
        </p:spPr>
      </p:sp>
      <p:sp>
        <p:nvSpPr>
          <p:cNvPr id="12" name="TextBox 12"/>
          <p:cNvSpPr txBox="1"/>
          <p:nvPr/>
        </p:nvSpPr>
        <p:spPr>
          <a:xfrm>
            <a:off x="840743" y="9548498"/>
            <a:ext cx="7754617" cy="323850"/>
          </a:xfrm>
          <a:prstGeom prst="rect">
            <a:avLst/>
          </a:prstGeom>
        </p:spPr>
        <p:txBody>
          <a:bodyPr lIns="0" tIns="0" rIns="0" bIns="0" rtlCol="0" anchor="t">
            <a:spAutoFit/>
          </a:bodyPr>
          <a:lstStyle/>
          <a:p>
            <a:pPr algn="l">
              <a:lnSpc>
                <a:spcPts val="2520"/>
              </a:lnSpc>
            </a:pPr>
            <a:r>
              <a:rPr lang="en-US" sz="2100" spc="450">
                <a:solidFill>
                  <a:srgbClr val="BFBFBF"/>
                </a:solidFill>
                <a:latin typeface="Arial"/>
                <a:ea typeface="Arial"/>
                <a:cs typeface="Arial"/>
                <a:sym typeface="Arial"/>
              </a:rPr>
              <a:t>www.viettelhightech.vn </a:t>
            </a:r>
          </a:p>
        </p:txBody>
      </p:sp>
      <p:sp>
        <p:nvSpPr>
          <p:cNvPr id="13" name="TextBox 13"/>
          <p:cNvSpPr txBox="1"/>
          <p:nvPr/>
        </p:nvSpPr>
        <p:spPr>
          <a:xfrm>
            <a:off x="840743" y="1238893"/>
            <a:ext cx="6887599" cy="521589"/>
          </a:xfrm>
          <a:prstGeom prst="rect">
            <a:avLst/>
          </a:prstGeom>
        </p:spPr>
        <p:txBody>
          <a:bodyPr lIns="0" tIns="0" rIns="0" bIns="0" rtlCol="0" anchor="t">
            <a:spAutoFit/>
          </a:bodyPr>
          <a:lstStyle/>
          <a:p>
            <a:pPr algn="l">
              <a:lnSpc>
                <a:spcPts val="3888"/>
              </a:lnSpc>
              <a:spcBef>
                <a:spcPct val="0"/>
              </a:spcBef>
            </a:pPr>
            <a:r>
              <a:rPr lang="en-US" sz="3600">
                <a:solidFill>
                  <a:srgbClr val="EE0033"/>
                </a:solidFill>
                <a:latin typeface="Arial"/>
                <a:ea typeface="Arial"/>
                <a:cs typeface="Arial"/>
                <a:sym typeface="Arial"/>
              </a:rPr>
              <a:t>Message queue:</a:t>
            </a:r>
          </a:p>
        </p:txBody>
      </p:sp>
      <p:grpSp>
        <p:nvGrpSpPr>
          <p:cNvPr id="14" name="Group 14"/>
          <p:cNvGrpSpPr/>
          <p:nvPr/>
        </p:nvGrpSpPr>
        <p:grpSpPr>
          <a:xfrm>
            <a:off x="451542" y="300771"/>
            <a:ext cx="15770323" cy="767782"/>
            <a:chOff x="0" y="0"/>
            <a:chExt cx="21027098" cy="1023710"/>
          </a:xfrm>
        </p:grpSpPr>
        <p:sp>
          <p:nvSpPr>
            <p:cNvPr id="15" name="Freeform 15"/>
            <p:cNvSpPr/>
            <p:nvPr/>
          </p:nvSpPr>
          <p:spPr>
            <a:xfrm>
              <a:off x="0" y="0"/>
              <a:ext cx="21027095" cy="1023711"/>
            </a:xfrm>
            <a:custGeom>
              <a:avLst/>
              <a:gdLst/>
              <a:ahLst/>
              <a:cxnLst/>
              <a:rect l="l" t="t" r="r" b="b"/>
              <a:pathLst>
                <a:path w="21027095" h="1023711">
                  <a:moveTo>
                    <a:pt x="0" y="0"/>
                  </a:moveTo>
                  <a:lnTo>
                    <a:pt x="21027095" y="0"/>
                  </a:lnTo>
                  <a:lnTo>
                    <a:pt x="21027095" y="1023711"/>
                  </a:lnTo>
                  <a:lnTo>
                    <a:pt x="0" y="1023711"/>
                  </a:lnTo>
                  <a:close/>
                </a:path>
              </a:pathLst>
            </a:custGeom>
            <a:blipFill>
              <a:blip r:embed="rId5">
                <a:alphaModFix amt="0"/>
              </a:blip>
              <a:stretch>
                <a:fillRect t="-350224" b="-350223"/>
              </a:stretch>
            </a:blipFill>
          </p:spPr>
        </p:sp>
        <p:sp>
          <p:nvSpPr>
            <p:cNvPr id="16" name="TextBox 16"/>
            <p:cNvSpPr txBox="1"/>
            <p:nvPr/>
          </p:nvSpPr>
          <p:spPr>
            <a:xfrm>
              <a:off x="0" y="19050"/>
              <a:ext cx="21027098" cy="1004660"/>
            </a:xfrm>
            <a:prstGeom prst="rect">
              <a:avLst/>
            </a:prstGeom>
          </p:spPr>
          <p:txBody>
            <a:bodyPr lIns="0" tIns="0" rIns="0" bIns="0" rtlCol="0" anchor="b"/>
            <a:lstStyle/>
            <a:p>
              <a:pPr algn="l">
                <a:lnSpc>
                  <a:spcPts val="3888"/>
                </a:lnSpc>
              </a:pPr>
              <a:r>
                <a:rPr lang="en-US" sz="3600">
                  <a:solidFill>
                    <a:srgbClr val="EE0033"/>
                  </a:solidFill>
                  <a:latin typeface="Arial"/>
                  <a:ea typeface="Arial"/>
                  <a:cs typeface="Arial"/>
                  <a:sym typeface="Arial"/>
                </a:rPr>
                <a:t>III. INTER-PROCESS COMMUNICATION:</a:t>
              </a:r>
            </a:p>
          </p:txBody>
        </p:sp>
      </p:gr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9206494"/>
            <a:ext cx="18288000" cy="1080506"/>
            <a:chOff x="0" y="0"/>
            <a:chExt cx="24384000" cy="1440675"/>
          </a:xfrm>
        </p:grpSpPr>
        <p:sp>
          <p:nvSpPr>
            <p:cNvPr id="3" name="Freeform 3"/>
            <p:cNvSpPr/>
            <p:nvPr/>
          </p:nvSpPr>
          <p:spPr>
            <a:xfrm>
              <a:off x="0" y="0"/>
              <a:ext cx="24384000" cy="1440688"/>
            </a:xfrm>
            <a:custGeom>
              <a:avLst/>
              <a:gdLst/>
              <a:ahLst/>
              <a:cxnLst/>
              <a:rect l="l" t="t" r="r" b="b"/>
              <a:pathLst>
                <a:path w="24384000" h="1440688">
                  <a:moveTo>
                    <a:pt x="0" y="0"/>
                  </a:moveTo>
                  <a:lnTo>
                    <a:pt x="24384000" y="0"/>
                  </a:lnTo>
                  <a:lnTo>
                    <a:pt x="24384000" y="1440688"/>
                  </a:lnTo>
                  <a:lnTo>
                    <a:pt x="0" y="1440688"/>
                  </a:lnTo>
                  <a:lnTo>
                    <a:pt x="0" y="0"/>
                  </a:lnTo>
                  <a:close/>
                </a:path>
              </a:pathLst>
            </a:custGeom>
            <a:blipFill>
              <a:blip r:embed="rId3"/>
              <a:stretch>
                <a:fillRect t="-364" b="-364"/>
              </a:stretch>
            </a:blipFill>
          </p:spPr>
        </p:sp>
      </p:grpSp>
      <p:grpSp>
        <p:nvGrpSpPr>
          <p:cNvPr id="4" name="Group 4"/>
          <p:cNvGrpSpPr/>
          <p:nvPr/>
        </p:nvGrpSpPr>
        <p:grpSpPr>
          <a:xfrm>
            <a:off x="15473315" y="9370285"/>
            <a:ext cx="1741541" cy="745693"/>
            <a:chOff x="0" y="0"/>
            <a:chExt cx="2322055" cy="994258"/>
          </a:xfrm>
        </p:grpSpPr>
        <p:sp>
          <p:nvSpPr>
            <p:cNvPr id="5" name="Freeform 5"/>
            <p:cNvSpPr/>
            <p:nvPr/>
          </p:nvSpPr>
          <p:spPr>
            <a:xfrm>
              <a:off x="0" y="0"/>
              <a:ext cx="2322068" cy="994283"/>
            </a:xfrm>
            <a:custGeom>
              <a:avLst/>
              <a:gdLst/>
              <a:ahLst/>
              <a:cxnLst/>
              <a:rect l="l" t="t" r="r" b="b"/>
              <a:pathLst>
                <a:path w="2322068" h="994283">
                  <a:moveTo>
                    <a:pt x="0" y="0"/>
                  </a:moveTo>
                  <a:lnTo>
                    <a:pt x="2322068" y="0"/>
                  </a:lnTo>
                  <a:lnTo>
                    <a:pt x="2322068" y="994283"/>
                  </a:lnTo>
                  <a:lnTo>
                    <a:pt x="0" y="994283"/>
                  </a:lnTo>
                  <a:lnTo>
                    <a:pt x="0" y="0"/>
                  </a:lnTo>
                  <a:close/>
                </a:path>
              </a:pathLst>
            </a:custGeom>
            <a:blipFill>
              <a:blip r:embed="rId4"/>
              <a:stretch>
                <a:fillRect b="-1456"/>
              </a:stretch>
            </a:blipFill>
          </p:spPr>
        </p:sp>
      </p:grpSp>
      <p:grpSp>
        <p:nvGrpSpPr>
          <p:cNvPr id="6" name="Group 6"/>
          <p:cNvGrpSpPr/>
          <p:nvPr/>
        </p:nvGrpSpPr>
        <p:grpSpPr>
          <a:xfrm>
            <a:off x="9981438" y="9581550"/>
            <a:ext cx="4114800" cy="392420"/>
            <a:chOff x="0" y="0"/>
            <a:chExt cx="5486400" cy="523227"/>
          </a:xfrm>
        </p:grpSpPr>
        <p:sp>
          <p:nvSpPr>
            <p:cNvPr id="7" name="Freeform 7"/>
            <p:cNvSpPr/>
            <p:nvPr/>
          </p:nvSpPr>
          <p:spPr>
            <a:xfrm>
              <a:off x="0" y="0"/>
              <a:ext cx="5486400" cy="523222"/>
            </a:xfrm>
            <a:custGeom>
              <a:avLst/>
              <a:gdLst/>
              <a:ahLst/>
              <a:cxnLst/>
              <a:rect l="l" t="t" r="r" b="b"/>
              <a:pathLst>
                <a:path w="5486400" h="523222">
                  <a:moveTo>
                    <a:pt x="0" y="0"/>
                  </a:moveTo>
                  <a:lnTo>
                    <a:pt x="5486400" y="0"/>
                  </a:lnTo>
                  <a:lnTo>
                    <a:pt x="5486400" y="523222"/>
                  </a:lnTo>
                  <a:lnTo>
                    <a:pt x="0" y="523222"/>
                  </a:lnTo>
                  <a:close/>
                </a:path>
              </a:pathLst>
            </a:custGeom>
            <a:blipFill>
              <a:blip r:embed="rId5">
                <a:alphaModFix amt="0"/>
              </a:blip>
              <a:stretch>
                <a:fillRect t="-154315" b="-154316"/>
              </a:stretch>
            </a:blipFill>
          </p:spPr>
        </p:sp>
        <p:sp>
          <p:nvSpPr>
            <p:cNvPr id="8" name="TextBox 8"/>
            <p:cNvSpPr txBox="1"/>
            <p:nvPr/>
          </p:nvSpPr>
          <p:spPr>
            <a:xfrm>
              <a:off x="0" y="-9525"/>
              <a:ext cx="5486400" cy="532752"/>
            </a:xfrm>
            <a:prstGeom prst="rect">
              <a:avLst/>
            </a:prstGeom>
          </p:spPr>
          <p:txBody>
            <a:bodyPr lIns="0" tIns="0" rIns="0" bIns="0" rtlCol="0" anchor="ctr"/>
            <a:lstStyle/>
            <a:p>
              <a:pPr algn="r">
                <a:lnSpc>
                  <a:spcPts val="2520"/>
                </a:lnSpc>
              </a:pPr>
              <a:r>
                <a:rPr lang="en-US" sz="2100">
                  <a:solidFill>
                    <a:srgbClr val="BFBFBF"/>
                  </a:solidFill>
                  <a:latin typeface="Roboto"/>
                  <a:ea typeface="Roboto"/>
                  <a:cs typeface="Roboto"/>
                  <a:sym typeface="Roboto"/>
                </a:rPr>
                <a:t>‹#›</a:t>
              </a:r>
            </a:p>
          </p:txBody>
        </p:sp>
      </p:grpSp>
      <p:sp>
        <p:nvSpPr>
          <p:cNvPr id="9" name="Freeform 9"/>
          <p:cNvSpPr/>
          <p:nvPr/>
        </p:nvSpPr>
        <p:spPr>
          <a:xfrm>
            <a:off x="2284562" y="1912882"/>
            <a:ext cx="9248296" cy="1868630"/>
          </a:xfrm>
          <a:custGeom>
            <a:avLst/>
            <a:gdLst/>
            <a:ahLst/>
            <a:cxnLst/>
            <a:rect l="l" t="t" r="r" b="b"/>
            <a:pathLst>
              <a:path w="9248296" h="1868630">
                <a:moveTo>
                  <a:pt x="0" y="0"/>
                </a:moveTo>
                <a:lnTo>
                  <a:pt x="9248296" y="0"/>
                </a:lnTo>
                <a:lnTo>
                  <a:pt x="9248296" y="1868630"/>
                </a:lnTo>
                <a:lnTo>
                  <a:pt x="0" y="1868630"/>
                </a:lnTo>
                <a:lnTo>
                  <a:pt x="0" y="0"/>
                </a:lnTo>
                <a:close/>
              </a:path>
            </a:pathLst>
          </a:custGeom>
          <a:blipFill>
            <a:blip r:embed="rId6"/>
            <a:stretch>
              <a:fillRect/>
            </a:stretch>
          </a:blipFill>
        </p:spPr>
      </p:sp>
      <p:sp>
        <p:nvSpPr>
          <p:cNvPr id="10" name="Freeform 10"/>
          <p:cNvSpPr/>
          <p:nvPr/>
        </p:nvSpPr>
        <p:spPr>
          <a:xfrm>
            <a:off x="2460857" y="4075478"/>
            <a:ext cx="8895706" cy="1843008"/>
          </a:xfrm>
          <a:custGeom>
            <a:avLst/>
            <a:gdLst/>
            <a:ahLst/>
            <a:cxnLst/>
            <a:rect l="l" t="t" r="r" b="b"/>
            <a:pathLst>
              <a:path w="8895706" h="1843008">
                <a:moveTo>
                  <a:pt x="0" y="0"/>
                </a:moveTo>
                <a:lnTo>
                  <a:pt x="8895706" y="0"/>
                </a:lnTo>
                <a:lnTo>
                  <a:pt x="8895706" y="1843007"/>
                </a:lnTo>
                <a:lnTo>
                  <a:pt x="0" y="1843007"/>
                </a:lnTo>
                <a:lnTo>
                  <a:pt x="0" y="0"/>
                </a:lnTo>
                <a:close/>
              </a:path>
            </a:pathLst>
          </a:custGeom>
          <a:blipFill>
            <a:blip r:embed="rId7"/>
            <a:stretch>
              <a:fillRect/>
            </a:stretch>
          </a:blipFill>
        </p:spPr>
      </p:sp>
      <p:sp>
        <p:nvSpPr>
          <p:cNvPr id="11" name="TextBox 11"/>
          <p:cNvSpPr txBox="1"/>
          <p:nvPr/>
        </p:nvSpPr>
        <p:spPr>
          <a:xfrm>
            <a:off x="840743" y="9548498"/>
            <a:ext cx="7754617" cy="323850"/>
          </a:xfrm>
          <a:prstGeom prst="rect">
            <a:avLst/>
          </a:prstGeom>
        </p:spPr>
        <p:txBody>
          <a:bodyPr lIns="0" tIns="0" rIns="0" bIns="0" rtlCol="0" anchor="t">
            <a:spAutoFit/>
          </a:bodyPr>
          <a:lstStyle/>
          <a:p>
            <a:pPr algn="l">
              <a:lnSpc>
                <a:spcPts val="2520"/>
              </a:lnSpc>
            </a:pPr>
            <a:r>
              <a:rPr lang="en-US" sz="2100" spc="450">
                <a:solidFill>
                  <a:srgbClr val="BFBFBF"/>
                </a:solidFill>
                <a:latin typeface="Arial"/>
                <a:ea typeface="Arial"/>
                <a:cs typeface="Arial"/>
                <a:sym typeface="Arial"/>
              </a:rPr>
              <a:t>www.viettelhightech.vn </a:t>
            </a:r>
          </a:p>
        </p:txBody>
      </p:sp>
      <p:sp>
        <p:nvSpPr>
          <p:cNvPr id="12" name="TextBox 12"/>
          <p:cNvSpPr txBox="1"/>
          <p:nvPr/>
        </p:nvSpPr>
        <p:spPr>
          <a:xfrm>
            <a:off x="840743" y="1238893"/>
            <a:ext cx="6887599" cy="521589"/>
          </a:xfrm>
          <a:prstGeom prst="rect">
            <a:avLst/>
          </a:prstGeom>
        </p:spPr>
        <p:txBody>
          <a:bodyPr lIns="0" tIns="0" rIns="0" bIns="0" rtlCol="0" anchor="t">
            <a:spAutoFit/>
          </a:bodyPr>
          <a:lstStyle/>
          <a:p>
            <a:pPr algn="l">
              <a:lnSpc>
                <a:spcPts val="3888"/>
              </a:lnSpc>
              <a:spcBef>
                <a:spcPct val="0"/>
              </a:spcBef>
            </a:pPr>
            <a:r>
              <a:rPr lang="en-US" sz="3600">
                <a:solidFill>
                  <a:srgbClr val="EE0033"/>
                </a:solidFill>
                <a:latin typeface="Arial"/>
                <a:ea typeface="Arial"/>
                <a:cs typeface="Arial"/>
                <a:sym typeface="Arial"/>
              </a:rPr>
              <a:t>Message queue:</a:t>
            </a:r>
          </a:p>
        </p:txBody>
      </p:sp>
      <p:grpSp>
        <p:nvGrpSpPr>
          <p:cNvPr id="13" name="Group 13"/>
          <p:cNvGrpSpPr/>
          <p:nvPr/>
        </p:nvGrpSpPr>
        <p:grpSpPr>
          <a:xfrm>
            <a:off x="451542" y="300771"/>
            <a:ext cx="15770323" cy="767782"/>
            <a:chOff x="0" y="0"/>
            <a:chExt cx="21027098" cy="1023710"/>
          </a:xfrm>
        </p:grpSpPr>
        <p:sp>
          <p:nvSpPr>
            <p:cNvPr id="14" name="Freeform 14"/>
            <p:cNvSpPr/>
            <p:nvPr/>
          </p:nvSpPr>
          <p:spPr>
            <a:xfrm>
              <a:off x="0" y="0"/>
              <a:ext cx="21027095" cy="1023711"/>
            </a:xfrm>
            <a:custGeom>
              <a:avLst/>
              <a:gdLst/>
              <a:ahLst/>
              <a:cxnLst/>
              <a:rect l="l" t="t" r="r" b="b"/>
              <a:pathLst>
                <a:path w="21027095" h="1023711">
                  <a:moveTo>
                    <a:pt x="0" y="0"/>
                  </a:moveTo>
                  <a:lnTo>
                    <a:pt x="21027095" y="0"/>
                  </a:lnTo>
                  <a:lnTo>
                    <a:pt x="21027095" y="1023711"/>
                  </a:lnTo>
                  <a:lnTo>
                    <a:pt x="0" y="1023711"/>
                  </a:lnTo>
                  <a:close/>
                </a:path>
              </a:pathLst>
            </a:custGeom>
            <a:blipFill>
              <a:blip r:embed="rId5">
                <a:alphaModFix amt="0"/>
              </a:blip>
              <a:stretch>
                <a:fillRect t="-350224" b="-350223"/>
              </a:stretch>
            </a:blipFill>
          </p:spPr>
        </p:sp>
        <p:sp>
          <p:nvSpPr>
            <p:cNvPr id="15" name="TextBox 15"/>
            <p:cNvSpPr txBox="1"/>
            <p:nvPr/>
          </p:nvSpPr>
          <p:spPr>
            <a:xfrm>
              <a:off x="0" y="19050"/>
              <a:ext cx="21027098" cy="1004660"/>
            </a:xfrm>
            <a:prstGeom prst="rect">
              <a:avLst/>
            </a:prstGeom>
          </p:spPr>
          <p:txBody>
            <a:bodyPr lIns="0" tIns="0" rIns="0" bIns="0" rtlCol="0" anchor="b"/>
            <a:lstStyle/>
            <a:p>
              <a:pPr algn="l">
                <a:lnSpc>
                  <a:spcPts val="3888"/>
                </a:lnSpc>
              </a:pPr>
              <a:r>
                <a:rPr lang="en-US" sz="3600">
                  <a:solidFill>
                    <a:srgbClr val="EE0033"/>
                  </a:solidFill>
                  <a:latin typeface="Arial"/>
                  <a:ea typeface="Arial"/>
                  <a:cs typeface="Arial"/>
                  <a:sym typeface="Arial"/>
                </a:rPr>
                <a:t>III. INTER-PROCESS COMMUNICATION:</a:t>
              </a:r>
            </a:p>
          </p:txBody>
        </p:sp>
      </p:gr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9206494"/>
            <a:ext cx="18288000" cy="1080506"/>
            <a:chOff x="0" y="0"/>
            <a:chExt cx="24384000" cy="1440675"/>
          </a:xfrm>
        </p:grpSpPr>
        <p:sp>
          <p:nvSpPr>
            <p:cNvPr id="3" name="Freeform 3"/>
            <p:cNvSpPr/>
            <p:nvPr/>
          </p:nvSpPr>
          <p:spPr>
            <a:xfrm>
              <a:off x="0" y="0"/>
              <a:ext cx="24384000" cy="1440688"/>
            </a:xfrm>
            <a:custGeom>
              <a:avLst/>
              <a:gdLst/>
              <a:ahLst/>
              <a:cxnLst/>
              <a:rect l="l" t="t" r="r" b="b"/>
              <a:pathLst>
                <a:path w="24384000" h="1440688">
                  <a:moveTo>
                    <a:pt x="0" y="0"/>
                  </a:moveTo>
                  <a:lnTo>
                    <a:pt x="24384000" y="0"/>
                  </a:lnTo>
                  <a:lnTo>
                    <a:pt x="24384000" y="1440688"/>
                  </a:lnTo>
                  <a:lnTo>
                    <a:pt x="0" y="1440688"/>
                  </a:lnTo>
                  <a:lnTo>
                    <a:pt x="0" y="0"/>
                  </a:lnTo>
                  <a:close/>
                </a:path>
              </a:pathLst>
            </a:custGeom>
            <a:blipFill>
              <a:blip r:embed="rId3"/>
              <a:stretch>
                <a:fillRect t="-364" b="-364"/>
              </a:stretch>
            </a:blipFill>
          </p:spPr>
        </p:sp>
      </p:grpSp>
      <p:grpSp>
        <p:nvGrpSpPr>
          <p:cNvPr id="4" name="Group 4"/>
          <p:cNvGrpSpPr/>
          <p:nvPr/>
        </p:nvGrpSpPr>
        <p:grpSpPr>
          <a:xfrm>
            <a:off x="15473315" y="9370285"/>
            <a:ext cx="1741541" cy="745693"/>
            <a:chOff x="0" y="0"/>
            <a:chExt cx="2322055" cy="994258"/>
          </a:xfrm>
        </p:grpSpPr>
        <p:sp>
          <p:nvSpPr>
            <p:cNvPr id="5" name="Freeform 5"/>
            <p:cNvSpPr/>
            <p:nvPr/>
          </p:nvSpPr>
          <p:spPr>
            <a:xfrm>
              <a:off x="0" y="0"/>
              <a:ext cx="2322068" cy="994283"/>
            </a:xfrm>
            <a:custGeom>
              <a:avLst/>
              <a:gdLst/>
              <a:ahLst/>
              <a:cxnLst/>
              <a:rect l="l" t="t" r="r" b="b"/>
              <a:pathLst>
                <a:path w="2322068" h="994283">
                  <a:moveTo>
                    <a:pt x="0" y="0"/>
                  </a:moveTo>
                  <a:lnTo>
                    <a:pt x="2322068" y="0"/>
                  </a:lnTo>
                  <a:lnTo>
                    <a:pt x="2322068" y="994283"/>
                  </a:lnTo>
                  <a:lnTo>
                    <a:pt x="0" y="994283"/>
                  </a:lnTo>
                  <a:lnTo>
                    <a:pt x="0" y="0"/>
                  </a:lnTo>
                  <a:close/>
                </a:path>
              </a:pathLst>
            </a:custGeom>
            <a:blipFill>
              <a:blip r:embed="rId4"/>
              <a:stretch>
                <a:fillRect b="-1456"/>
              </a:stretch>
            </a:blipFill>
          </p:spPr>
        </p:sp>
      </p:grpSp>
      <p:grpSp>
        <p:nvGrpSpPr>
          <p:cNvPr id="6" name="Group 6"/>
          <p:cNvGrpSpPr/>
          <p:nvPr/>
        </p:nvGrpSpPr>
        <p:grpSpPr>
          <a:xfrm>
            <a:off x="9981438" y="9581550"/>
            <a:ext cx="4114800" cy="392420"/>
            <a:chOff x="0" y="0"/>
            <a:chExt cx="5486400" cy="523227"/>
          </a:xfrm>
        </p:grpSpPr>
        <p:sp>
          <p:nvSpPr>
            <p:cNvPr id="7" name="Freeform 7"/>
            <p:cNvSpPr/>
            <p:nvPr/>
          </p:nvSpPr>
          <p:spPr>
            <a:xfrm>
              <a:off x="0" y="0"/>
              <a:ext cx="5486400" cy="523222"/>
            </a:xfrm>
            <a:custGeom>
              <a:avLst/>
              <a:gdLst/>
              <a:ahLst/>
              <a:cxnLst/>
              <a:rect l="l" t="t" r="r" b="b"/>
              <a:pathLst>
                <a:path w="5486400" h="523222">
                  <a:moveTo>
                    <a:pt x="0" y="0"/>
                  </a:moveTo>
                  <a:lnTo>
                    <a:pt x="5486400" y="0"/>
                  </a:lnTo>
                  <a:lnTo>
                    <a:pt x="5486400" y="523222"/>
                  </a:lnTo>
                  <a:lnTo>
                    <a:pt x="0" y="523222"/>
                  </a:lnTo>
                  <a:close/>
                </a:path>
              </a:pathLst>
            </a:custGeom>
            <a:blipFill>
              <a:blip r:embed="rId5">
                <a:alphaModFix amt="0"/>
              </a:blip>
              <a:stretch>
                <a:fillRect t="-154315" b="-154316"/>
              </a:stretch>
            </a:blipFill>
          </p:spPr>
        </p:sp>
        <p:sp>
          <p:nvSpPr>
            <p:cNvPr id="8" name="TextBox 8"/>
            <p:cNvSpPr txBox="1"/>
            <p:nvPr/>
          </p:nvSpPr>
          <p:spPr>
            <a:xfrm>
              <a:off x="0" y="-9525"/>
              <a:ext cx="5486400" cy="532752"/>
            </a:xfrm>
            <a:prstGeom prst="rect">
              <a:avLst/>
            </a:prstGeom>
          </p:spPr>
          <p:txBody>
            <a:bodyPr lIns="0" tIns="0" rIns="0" bIns="0" rtlCol="0" anchor="ctr"/>
            <a:lstStyle/>
            <a:p>
              <a:pPr algn="r">
                <a:lnSpc>
                  <a:spcPts val="2520"/>
                </a:lnSpc>
              </a:pPr>
              <a:r>
                <a:rPr lang="en-US" sz="2100">
                  <a:solidFill>
                    <a:srgbClr val="BFBFBF"/>
                  </a:solidFill>
                  <a:latin typeface="Roboto"/>
                  <a:ea typeface="Roboto"/>
                  <a:cs typeface="Roboto"/>
                  <a:sym typeface="Roboto"/>
                </a:rPr>
                <a:t>‹#›</a:t>
              </a:r>
            </a:p>
          </p:txBody>
        </p:sp>
      </p:grpSp>
      <p:sp>
        <p:nvSpPr>
          <p:cNvPr id="9" name="Freeform 9"/>
          <p:cNvSpPr/>
          <p:nvPr/>
        </p:nvSpPr>
        <p:spPr>
          <a:xfrm>
            <a:off x="3335428" y="7262251"/>
            <a:ext cx="11057878" cy="1944242"/>
          </a:xfrm>
          <a:custGeom>
            <a:avLst/>
            <a:gdLst/>
            <a:ahLst/>
            <a:cxnLst/>
            <a:rect l="l" t="t" r="r" b="b"/>
            <a:pathLst>
              <a:path w="11057878" h="1944242">
                <a:moveTo>
                  <a:pt x="0" y="0"/>
                </a:moveTo>
                <a:lnTo>
                  <a:pt x="11057878" y="0"/>
                </a:lnTo>
                <a:lnTo>
                  <a:pt x="11057878" y="1944243"/>
                </a:lnTo>
                <a:lnTo>
                  <a:pt x="0" y="1944243"/>
                </a:lnTo>
                <a:lnTo>
                  <a:pt x="0" y="0"/>
                </a:lnTo>
                <a:close/>
              </a:path>
            </a:pathLst>
          </a:custGeom>
          <a:blipFill>
            <a:blip r:embed="rId6"/>
            <a:stretch>
              <a:fillRect/>
            </a:stretch>
          </a:blipFill>
        </p:spPr>
      </p:sp>
      <p:sp>
        <p:nvSpPr>
          <p:cNvPr id="10" name="Freeform 10"/>
          <p:cNvSpPr/>
          <p:nvPr/>
        </p:nvSpPr>
        <p:spPr>
          <a:xfrm>
            <a:off x="1119233" y="1924087"/>
            <a:ext cx="8204359" cy="4710890"/>
          </a:xfrm>
          <a:custGeom>
            <a:avLst/>
            <a:gdLst/>
            <a:ahLst/>
            <a:cxnLst/>
            <a:rect l="l" t="t" r="r" b="b"/>
            <a:pathLst>
              <a:path w="8204359" h="4710890">
                <a:moveTo>
                  <a:pt x="0" y="0"/>
                </a:moveTo>
                <a:lnTo>
                  <a:pt x="8204359" y="0"/>
                </a:lnTo>
                <a:lnTo>
                  <a:pt x="8204359" y="4710890"/>
                </a:lnTo>
                <a:lnTo>
                  <a:pt x="0" y="4710890"/>
                </a:lnTo>
                <a:lnTo>
                  <a:pt x="0" y="0"/>
                </a:lnTo>
                <a:close/>
              </a:path>
            </a:pathLst>
          </a:custGeom>
          <a:blipFill>
            <a:blip r:embed="rId7"/>
            <a:stretch>
              <a:fillRect/>
            </a:stretch>
          </a:blipFill>
        </p:spPr>
      </p:sp>
      <p:sp>
        <p:nvSpPr>
          <p:cNvPr id="11" name="Freeform 11"/>
          <p:cNvSpPr/>
          <p:nvPr/>
        </p:nvSpPr>
        <p:spPr>
          <a:xfrm>
            <a:off x="10036912" y="745355"/>
            <a:ext cx="7222388" cy="6354971"/>
          </a:xfrm>
          <a:custGeom>
            <a:avLst/>
            <a:gdLst/>
            <a:ahLst/>
            <a:cxnLst/>
            <a:rect l="l" t="t" r="r" b="b"/>
            <a:pathLst>
              <a:path w="7222388" h="6354971">
                <a:moveTo>
                  <a:pt x="0" y="0"/>
                </a:moveTo>
                <a:lnTo>
                  <a:pt x="7222388" y="0"/>
                </a:lnTo>
                <a:lnTo>
                  <a:pt x="7222388" y="6354971"/>
                </a:lnTo>
                <a:lnTo>
                  <a:pt x="0" y="6354971"/>
                </a:lnTo>
                <a:lnTo>
                  <a:pt x="0" y="0"/>
                </a:lnTo>
                <a:close/>
              </a:path>
            </a:pathLst>
          </a:custGeom>
          <a:blipFill>
            <a:blip r:embed="rId8"/>
            <a:stretch>
              <a:fillRect/>
            </a:stretch>
          </a:blipFill>
        </p:spPr>
      </p:sp>
      <p:sp>
        <p:nvSpPr>
          <p:cNvPr id="12" name="TextBox 12"/>
          <p:cNvSpPr txBox="1"/>
          <p:nvPr/>
        </p:nvSpPr>
        <p:spPr>
          <a:xfrm>
            <a:off x="840743" y="9548498"/>
            <a:ext cx="7754617" cy="323850"/>
          </a:xfrm>
          <a:prstGeom prst="rect">
            <a:avLst/>
          </a:prstGeom>
        </p:spPr>
        <p:txBody>
          <a:bodyPr lIns="0" tIns="0" rIns="0" bIns="0" rtlCol="0" anchor="t">
            <a:spAutoFit/>
          </a:bodyPr>
          <a:lstStyle/>
          <a:p>
            <a:pPr algn="l">
              <a:lnSpc>
                <a:spcPts val="2520"/>
              </a:lnSpc>
            </a:pPr>
            <a:r>
              <a:rPr lang="en-US" sz="2100" spc="450">
                <a:solidFill>
                  <a:srgbClr val="BFBFBF"/>
                </a:solidFill>
                <a:latin typeface="Arial"/>
                <a:ea typeface="Arial"/>
                <a:cs typeface="Arial"/>
                <a:sym typeface="Arial"/>
              </a:rPr>
              <a:t>www.viettelhightech.vn </a:t>
            </a:r>
          </a:p>
        </p:txBody>
      </p:sp>
      <p:sp>
        <p:nvSpPr>
          <p:cNvPr id="13" name="TextBox 13"/>
          <p:cNvSpPr txBox="1"/>
          <p:nvPr/>
        </p:nvSpPr>
        <p:spPr>
          <a:xfrm>
            <a:off x="840743" y="1238893"/>
            <a:ext cx="6887599" cy="521589"/>
          </a:xfrm>
          <a:prstGeom prst="rect">
            <a:avLst/>
          </a:prstGeom>
        </p:spPr>
        <p:txBody>
          <a:bodyPr lIns="0" tIns="0" rIns="0" bIns="0" rtlCol="0" anchor="t">
            <a:spAutoFit/>
          </a:bodyPr>
          <a:lstStyle/>
          <a:p>
            <a:pPr algn="l">
              <a:lnSpc>
                <a:spcPts val="3888"/>
              </a:lnSpc>
              <a:spcBef>
                <a:spcPct val="0"/>
              </a:spcBef>
            </a:pPr>
            <a:r>
              <a:rPr lang="en-US" sz="3600">
                <a:solidFill>
                  <a:srgbClr val="EE0033"/>
                </a:solidFill>
                <a:latin typeface="Arial"/>
                <a:ea typeface="Arial"/>
                <a:cs typeface="Arial"/>
                <a:sym typeface="Arial"/>
              </a:rPr>
              <a:t>Message queue:</a:t>
            </a:r>
          </a:p>
        </p:txBody>
      </p:sp>
      <p:grpSp>
        <p:nvGrpSpPr>
          <p:cNvPr id="14" name="Group 14"/>
          <p:cNvGrpSpPr/>
          <p:nvPr/>
        </p:nvGrpSpPr>
        <p:grpSpPr>
          <a:xfrm>
            <a:off x="451542" y="300771"/>
            <a:ext cx="15770323" cy="767782"/>
            <a:chOff x="0" y="0"/>
            <a:chExt cx="21027098" cy="1023710"/>
          </a:xfrm>
        </p:grpSpPr>
        <p:sp>
          <p:nvSpPr>
            <p:cNvPr id="15" name="Freeform 15"/>
            <p:cNvSpPr/>
            <p:nvPr/>
          </p:nvSpPr>
          <p:spPr>
            <a:xfrm>
              <a:off x="0" y="0"/>
              <a:ext cx="21027095" cy="1023711"/>
            </a:xfrm>
            <a:custGeom>
              <a:avLst/>
              <a:gdLst/>
              <a:ahLst/>
              <a:cxnLst/>
              <a:rect l="l" t="t" r="r" b="b"/>
              <a:pathLst>
                <a:path w="21027095" h="1023711">
                  <a:moveTo>
                    <a:pt x="0" y="0"/>
                  </a:moveTo>
                  <a:lnTo>
                    <a:pt x="21027095" y="0"/>
                  </a:lnTo>
                  <a:lnTo>
                    <a:pt x="21027095" y="1023711"/>
                  </a:lnTo>
                  <a:lnTo>
                    <a:pt x="0" y="1023711"/>
                  </a:lnTo>
                  <a:close/>
                </a:path>
              </a:pathLst>
            </a:custGeom>
            <a:blipFill>
              <a:blip r:embed="rId5">
                <a:alphaModFix amt="0"/>
              </a:blip>
              <a:stretch>
                <a:fillRect t="-350224" b="-350223"/>
              </a:stretch>
            </a:blipFill>
          </p:spPr>
        </p:sp>
        <p:sp>
          <p:nvSpPr>
            <p:cNvPr id="16" name="TextBox 16"/>
            <p:cNvSpPr txBox="1"/>
            <p:nvPr/>
          </p:nvSpPr>
          <p:spPr>
            <a:xfrm>
              <a:off x="0" y="19050"/>
              <a:ext cx="21027098" cy="1004660"/>
            </a:xfrm>
            <a:prstGeom prst="rect">
              <a:avLst/>
            </a:prstGeom>
          </p:spPr>
          <p:txBody>
            <a:bodyPr lIns="0" tIns="0" rIns="0" bIns="0" rtlCol="0" anchor="b"/>
            <a:lstStyle/>
            <a:p>
              <a:pPr algn="l">
                <a:lnSpc>
                  <a:spcPts val="3888"/>
                </a:lnSpc>
              </a:pPr>
              <a:r>
                <a:rPr lang="en-US" sz="3600">
                  <a:solidFill>
                    <a:srgbClr val="EE0033"/>
                  </a:solidFill>
                  <a:latin typeface="Arial"/>
                  <a:ea typeface="Arial"/>
                  <a:cs typeface="Arial"/>
                  <a:sym typeface="Arial"/>
                </a:rPr>
                <a:t>III. INTER-PROCESS COMMUNICATION:</a:t>
              </a:r>
            </a:p>
          </p:txBody>
        </p:sp>
      </p:gr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3"/>
            <a:stretch>
              <a:fillRect/>
            </a:stretch>
          </a:blipFill>
        </p:spPr>
      </p:sp>
      <p:sp>
        <p:nvSpPr>
          <p:cNvPr id="3" name="TextBox 3"/>
          <p:cNvSpPr txBox="1"/>
          <p:nvPr/>
        </p:nvSpPr>
        <p:spPr>
          <a:xfrm>
            <a:off x="92631" y="3773967"/>
            <a:ext cx="18101548" cy="1228725"/>
          </a:xfrm>
          <a:prstGeom prst="rect">
            <a:avLst/>
          </a:prstGeom>
        </p:spPr>
        <p:txBody>
          <a:bodyPr lIns="0" tIns="0" rIns="0" bIns="0" rtlCol="0" anchor="t">
            <a:spAutoFit/>
          </a:bodyPr>
          <a:lstStyle/>
          <a:p>
            <a:pPr algn="ctr">
              <a:lnSpc>
                <a:spcPts val="10800"/>
              </a:lnSpc>
            </a:pPr>
            <a:r>
              <a:rPr lang="en-US" sz="4500">
                <a:solidFill>
                  <a:srgbClr val="FFFFFF"/>
                </a:solidFill>
                <a:latin typeface="Arial"/>
                <a:ea typeface="Arial"/>
                <a:cs typeface="Arial"/>
                <a:sym typeface="Arial"/>
              </a:rPr>
              <a:t>TRÂN TRỌNG CẢM ƠN!</a:t>
            </a:r>
          </a:p>
        </p:txBody>
      </p:sp>
    </p:spTree>
  </p:cSld>
  <p:clrMapOvr>
    <a:masterClrMapping/>
  </p:clrMapOvr>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3"/>
          <a:stretch>
            <a:fillRect/>
          </a:stretch>
        </p:blipFill>
        <p:spPr>
          <a:xfrm>
            <a:off x="13854" y="495300"/>
            <a:ext cx="18602811" cy="8763000"/>
          </a:xfrm>
          <a:prstGeom prst="rect">
            <a:avLst/>
          </a:prstGeom>
        </p:spPr>
      </p:pic>
    </p:spTree>
    <p:extLst>
      <p:ext uri="{BB962C8B-B14F-4D97-AF65-F5344CB8AC3E}">
        <p14:creationId xmlns:p14="http://schemas.microsoft.com/office/powerpoint/2010/main" val="63903196"/>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1066</TotalTime>
  <Words>2927</Words>
  <Application>Microsoft Office PowerPoint</Application>
  <PresentationFormat>Custom</PresentationFormat>
  <Paragraphs>466</Paragraphs>
  <Slides>52</Slides>
  <Notes>52</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52</vt:i4>
      </vt:variant>
    </vt:vector>
  </HeadingPairs>
  <TitlesOfParts>
    <vt:vector size="58" baseType="lpstr">
      <vt:lpstr>Arial</vt:lpstr>
      <vt:lpstr>Arial Italics</vt:lpstr>
      <vt:lpstr>Roboto</vt:lpstr>
      <vt:lpstr>Arial Bold</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Linux Programming.pptx</dc:title>
  <cp:lastModifiedBy>admin</cp:lastModifiedBy>
  <cp:revision>9</cp:revision>
  <dcterms:created xsi:type="dcterms:W3CDTF">2006-08-16T00:00:00Z</dcterms:created>
  <dcterms:modified xsi:type="dcterms:W3CDTF">2026-07-17T01:34:57Z</dcterms:modified>
  <dc:identifier>DAHO8uU64ZQ</dc:identifier>
</cp:coreProperties>
</file>